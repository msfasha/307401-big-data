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media/image6.jpg" ContentType="image/jpg"/>
  <Override PartName="/ppt/media/image8.jpg" ContentType="image/jpg"/>
  <Override PartName="/ppt/theme/theme2.xml" ContentType="application/vnd.openxmlformats-officedocument.theme+xml"/>
  <Override PartName="/ppt/media/image9.jpg" ContentType="image/jpg"/>
  <Override PartName="/ppt/media/image11.jpg" ContentType="image/jpg"/>
  <Override PartName="/ppt/media/image12.jpg" ContentType="image/jpg"/>
  <Override PartName="/ppt/media/image13.jpg" ContentType="image/jpg"/>
  <Override PartName="/ppt/media/image14.jpg" ContentType="image/jpg"/>
  <Override PartName="/ppt/media/image15.jpg" ContentType="image/jpg"/>
  <Override PartName="/ppt/media/image16.jpg" ContentType="image/jpg"/>
  <Override PartName="/ppt/media/image17.jpg" ContentType="image/jpg"/>
  <Override PartName="/ppt/media/image18.jpg" ContentType="image/jpg"/>
  <Override PartName="/ppt/media/image19.jpg" ContentType="image/jpg"/>
  <Override PartName="/ppt/media/image20.jpg" ContentType="image/jpg"/>
  <Override PartName="/ppt/media/image21.jpg" ContentType="image/jpg"/>
  <Override PartName="/ppt/media/image23.jpg" ContentType="image/jpg"/>
  <Override PartName="/ppt/media/image26.jpg" ContentType="image/jpg"/>
  <Override PartName="/ppt/media/image27.jpg" ContentType="image/jpg"/>
  <Override PartName="/ppt/media/image28.jpg" ContentType="image/jpg"/>
  <Override PartName="/ppt/media/image29.jpg" ContentType="image/jpg"/>
  <Override PartName="/ppt/media/image30.jpg" ContentType="image/jpg"/>
  <Override PartName="/ppt/media/image31.jpg" ContentType="image/jpg"/>
  <Override PartName="/ppt/media/image32.jpg" ContentType="image/jpg"/>
  <Override PartName="/ppt/media/image33.jpg" ContentType="image/jpg"/>
  <Override PartName="/ppt/media/image34.jpg" ContentType="image/jpg"/>
  <Override PartName="/ppt/media/image35.jpg" ContentType="image/jpg"/>
  <Override PartName="/ppt/media/image38.jpg" ContentType="image/jpg"/>
  <Override PartName="/ppt/media/image40.jpg" ContentType="image/jpg"/>
  <Override PartName="/ppt/media/image41.jpg" ContentType="image/jpg"/>
  <Override PartName="/ppt/media/image42.jpg" ContentType="image/jpg"/>
  <Override PartName="/ppt/media/image43.jpg" ContentType="image/jpg"/>
  <Override PartName="/ppt/media/image45.jpg" ContentType="image/jpg"/>
  <Override PartName="/ppt/media/image46.jpg" ContentType="image/jp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3" r:id="rId3"/>
    <p:sldId id="257" r:id="rId4"/>
    <p:sldId id="258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D62E87-A939-4BEA-B882-7E8D1ACA2800}" v="10" dt="2025-03-12T05:19:45.6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9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2T05:20:32.571" v="266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38:27.728" v="35" actId="14100"/>
          <ac:spMkLst>
            <pc:docMk/>
            <pc:sldMk cId="0" sldId="257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37:42.926" v="28" actId="700"/>
          <ac:spMkLst>
            <pc:docMk/>
            <pc:sldMk cId="0" sldId="257"/>
            <ac:spMk id="4" creationId="{D8913DB6-5167-530B-D6C2-77F22DA9C3B5}"/>
          </ac:spMkLst>
        </pc:spChg>
        <pc:spChg chg="add del mod ord">
          <ac:chgData name="Mohammed Fasha" userId="cc64f42d-a1a6-4f08-b97b-0c37f877119f" providerId="ADAL" clId="{E8D62E87-A939-4BEA-B882-7E8D1ACA2800}" dt="2025-03-11T17:38:23.726" v="34" actId="21"/>
          <ac:spMkLst>
            <pc:docMk/>
            <pc:sldMk cId="0" sldId="257"/>
            <ac:spMk id="5" creationId="{8011946F-E704-5388-A8EE-8CB51447C4E5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8"/>
            <ac:spMk id="2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38:18.237" v="33" actId="21"/>
          <ac:spMkLst>
            <pc:docMk/>
            <pc:sldMk cId="0" sldId="258"/>
            <ac:spMk id="3" creationId="{8A4374E4-8086-ED28-2C7E-B79363608EC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8:43.516" v="41"/>
          <ac:spMkLst>
            <pc:docMk/>
            <pc:sldMk cId="0" sldId="260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7:39.799" v="189" actId="5793"/>
          <ac:spMkLst>
            <pc:docMk/>
            <pc:sldMk cId="0" sldId="260"/>
            <ac:spMk id="5" creationId="{32ABF7DF-DEAD-3193-0AA9-7B245BE33446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3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8:57.849" v="47"/>
          <ac:spMkLst>
            <pc:docMk/>
            <pc:sldMk cId="0" sldId="263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55.621" v="45" actId="27636"/>
          <ac:spMkLst>
            <pc:docMk/>
            <pc:sldMk cId="0" sldId="263"/>
            <ac:spMk id="4" creationId="{DE05939E-0567-B79A-4161-7B333B52B92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  <pc:spChg chg="del mod">
          <ac:chgData name="Mohammed Fasha" userId="cc64f42d-a1a6-4f08-b97b-0c37f877119f" providerId="ADAL" clId="{E8D62E87-A939-4BEA-B882-7E8D1ACA2800}" dt="2025-03-11T17:39:03.299" v="49" actId="478"/>
          <ac:spMkLst>
            <pc:docMk/>
            <pc:sldMk cId="0" sldId="264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4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8:36.941" v="211" actId="403"/>
          <ac:spMkLst>
            <pc:docMk/>
            <pc:sldMk cId="0" sldId="264"/>
            <ac:spMk id="6" creationId="{03562A3C-DF2A-B49E-1B9F-8566CD52A1F9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9:39.291" v="64" actId="14100"/>
        <pc:sldMkLst>
          <pc:docMk/>
          <pc:sldMk cId="0" sldId="26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5"/>
            <ac:spMk id="3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9:19.095" v="55"/>
          <ac:spMkLst>
            <pc:docMk/>
            <pc:sldMk cId="0" sldId="265"/>
            <ac:spMk id="5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9:39.291" v="64" actId="14100"/>
          <ac:spMkLst>
            <pc:docMk/>
            <pc:sldMk cId="0" sldId="265"/>
            <ac:spMk id="6" creationId="{2E356761-E49C-6DF2-10A7-172015E8F069}"/>
          </ac:spMkLst>
        </pc:spChg>
      </pc:sldChg>
      <pc:sldChg chg="modSp add mod modClrScheme chgLayout">
        <pc:chgData name="Mohammed Fasha" userId="cc64f42d-a1a6-4f08-b97b-0c37f877119f" providerId="ADAL" clId="{E8D62E87-A939-4BEA-B882-7E8D1ACA2800}" dt="2025-03-11T17:40:07.304" v="73" actId="207"/>
        <pc:sldMkLst>
          <pc:docMk/>
          <pc:sldMk cId="0" sldId="266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6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40:07.304" v="73" actId="207"/>
          <ac:spMkLst>
            <pc:docMk/>
            <pc:sldMk cId="0" sldId="266"/>
            <ac:spMk id="3" creationId="{00000000-0000-0000-0000-000000000000}"/>
          </ac:spMkLst>
        </pc:spChg>
      </pc:sldChg>
      <pc:sldChg chg="addSp modSp add mod modClrScheme chgLayout">
        <pc:chgData name="Mohammed Fasha" userId="cc64f42d-a1a6-4f08-b97b-0c37f877119f" providerId="ADAL" clId="{E8D62E87-A939-4BEA-B882-7E8D1ACA2800}" dt="2025-03-11T17:38:09.032" v="32" actId="700"/>
        <pc:sldMkLst>
          <pc:docMk/>
          <pc:sldMk cId="0" sldId="26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7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7"/>
            <ac:spMk id="9" creationId="{9A3DEB72-33D8-CFED-2BCF-6F0F2510A24E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0:32.796" v="77"/>
        <pc:sldMkLst>
          <pc:docMk/>
          <pc:sldMk cId="0" sldId="26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8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0:32.796" v="77"/>
          <ac:spMkLst>
            <pc:docMk/>
            <pc:sldMk cId="0" sldId="268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0:31.417" v="75"/>
          <ac:spMkLst>
            <pc:docMk/>
            <pc:sldMk cId="0" sldId="268"/>
            <ac:spMk id="5" creationId="{606C1567-AF39-CAED-E122-5F02B98CB8E2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0:59.141" v="89"/>
        <pc:sldMkLst>
          <pc:docMk/>
          <pc:sldMk cId="0" sldId="269"/>
        </pc:sldMkLst>
        <pc:spChg chg="mod ord">
          <ac:chgData name="Mohammed Fasha" userId="cc64f42d-a1a6-4f08-b97b-0c37f877119f" providerId="ADAL" clId="{E8D62E87-A939-4BEA-B882-7E8D1ACA2800}" dt="2025-03-11T17:40:55.192" v="86" actId="14100"/>
          <ac:spMkLst>
            <pc:docMk/>
            <pc:sldMk cId="0" sldId="269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0:59.141" v="89"/>
          <ac:spMkLst>
            <pc:docMk/>
            <pc:sldMk cId="0" sldId="269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0:45.293" v="83" actId="14100"/>
          <ac:spMkLst>
            <pc:docMk/>
            <pc:sldMk cId="0" sldId="269"/>
            <ac:spMk id="6" creationId="{A96B9512-6735-2168-2573-037AFE5A36E6}"/>
          </ac:spMkLst>
        </pc:spChg>
        <pc:picChg chg="mod">
          <ac:chgData name="Mohammed Fasha" userId="cc64f42d-a1a6-4f08-b97b-0c37f877119f" providerId="ADAL" clId="{E8D62E87-A939-4BEA-B882-7E8D1ACA2800}" dt="2025-03-11T17:40:57.796" v="87" actId="1076"/>
          <ac:picMkLst>
            <pc:docMk/>
            <pc:sldMk cId="0" sldId="269"/>
            <ac:picMk id="5" creationId="{00000000-0000-0000-0000-000000000000}"/>
          </ac:picMkLst>
        </pc:picChg>
      </pc:sldChg>
      <pc:sldChg chg="modSp add mod chgLayout">
        <pc:chgData name="Mohammed Fasha" userId="cc64f42d-a1a6-4f08-b97b-0c37f877119f" providerId="ADAL" clId="{E8D62E87-A939-4BEA-B882-7E8D1ACA2800}" dt="2025-03-11T17:41:31.050" v="98" actId="120"/>
        <pc:sldMkLst>
          <pc:docMk/>
          <pc:sldMk cId="0" sldId="27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41:31.050" v="98" actId="120"/>
          <ac:spMkLst>
            <pc:docMk/>
            <pc:sldMk cId="0" sldId="270"/>
            <ac:spMk id="3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02.106" v="106"/>
        <pc:sldMkLst>
          <pc:docMk/>
          <pc:sldMk cId="0" sldId="271"/>
        </pc:sldMkLst>
        <pc:spChg chg="mod ord">
          <ac:chgData name="Mohammed Fasha" userId="cc64f42d-a1a6-4f08-b97b-0c37f877119f" providerId="ADAL" clId="{E8D62E87-A939-4BEA-B882-7E8D1ACA2800}" dt="2025-03-11T17:42:00.548" v="104" actId="14100"/>
          <ac:spMkLst>
            <pc:docMk/>
            <pc:sldMk cId="0" sldId="271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02.106" v="106"/>
          <ac:spMkLst>
            <pc:docMk/>
            <pc:sldMk cId="0" sldId="271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1:48.304" v="102" actId="27636"/>
          <ac:spMkLst>
            <pc:docMk/>
            <pc:sldMk cId="0" sldId="271"/>
            <ac:spMk id="7" creationId="{B92DA10B-6357-37BF-59BD-660098D0EBD0}"/>
          </ac:spMkLst>
        </pc:spChg>
      </pc:sldChg>
      <pc:sldChg chg="addSp modSp add mod chgLayout">
        <pc:chgData name="Mohammed Fasha" userId="cc64f42d-a1a6-4f08-b97b-0c37f877119f" providerId="ADAL" clId="{E8D62E87-A939-4BEA-B882-7E8D1ACA2800}" dt="2025-03-11T17:42:13.069" v="111" actId="14100"/>
        <pc:sldMkLst>
          <pc:docMk/>
          <pc:sldMk cId="0" sldId="272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2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42:05.904" v="109"/>
          <ac:spMkLst>
            <pc:docMk/>
            <pc:sldMk cId="0" sldId="272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13.069" v="111" actId="14100"/>
          <ac:spMkLst>
            <pc:docMk/>
            <pc:sldMk cId="0" sldId="272"/>
            <ac:spMk id="7" creationId="{BD008676-47C8-D88A-CD4A-65BB83D57162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25.380" v="116"/>
        <pc:sldMkLst>
          <pc:docMk/>
          <pc:sldMk cId="0" sldId="27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3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25.380" v="116"/>
          <ac:spMkLst>
            <pc:docMk/>
            <pc:sldMk cId="0" sldId="273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24.395" v="114" actId="14100"/>
          <ac:spMkLst>
            <pc:docMk/>
            <pc:sldMk cId="0" sldId="273"/>
            <ac:spMk id="5" creationId="{A64582C4-228C-E54E-39F2-0BC2E25DF3B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34.926" v="122"/>
        <pc:sldMkLst>
          <pc:docMk/>
          <pc:sldMk cId="0" sldId="274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4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34.926" v="122"/>
          <ac:spMkLst>
            <pc:docMk/>
            <pc:sldMk cId="0" sldId="274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33.252" v="120" actId="27636"/>
          <ac:spMkLst>
            <pc:docMk/>
            <pc:sldMk cId="0" sldId="274"/>
            <ac:spMk id="7" creationId="{CF4277E2-2BAC-D76F-20C6-A50B542D2495}"/>
          </ac:spMkLst>
        </pc:spChg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5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4:30.436" v="130"/>
          <ac:spMkLst>
            <pc:docMk/>
            <pc:sldMk cId="0" sldId="275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4:28.623" v="128" actId="5793"/>
          <ac:spMkLst>
            <pc:docMk/>
            <pc:sldMk cId="0" sldId="275"/>
            <ac:spMk id="6" creationId="{9957452C-73BF-8326-CB44-7681D73070DA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06.196" v="150" actId="1076"/>
        <pc:sldMkLst>
          <pc:docMk/>
          <pc:sldMk cId="0" sldId="276"/>
        </pc:sldMkLst>
        <pc:spChg chg="mod ord">
          <ac:chgData name="Mohammed Fasha" userId="cc64f42d-a1a6-4f08-b97b-0c37f877119f" providerId="ADAL" clId="{E8D62E87-A939-4BEA-B882-7E8D1ACA2800}" dt="2025-03-11T17:44:55.023" v="144" actId="700"/>
          <ac:spMkLst>
            <pc:docMk/>
            <pc:sldMk cId="0" sldId="276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4:50.359" v="143"/>
          <ac:spMkLst>
            <pc:docMk/>
            <pc:sldMk cId="0" sldId="276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44:50.357" v="141" actId="478"/>
          <ac:spMkLst>
            <pc:docMk/>
            <pc:sldMk cId="0" sldId="276"/>
            <ac:spMk id="4" creationId="{CEB13356-B410-78B5-20BC-D671A19F0FA1}"/>
          </ac:spMkLst>
        </pc:spChg>
        <pc:spChg chg="add mod ord">
          <ac:chgData name="Mohammed Fasha" userId="cc64f42d-a1a6-4f08-b97b-0c37f877119f" providerId="ADAL" clId="{E8D62E87-A939-4BEA-B882-7E8D1ACA2800}" dt="2025-03-11T17:45:01.337" v="149" actId="27636"/>
          <ac:spMkLst>
            <pc:docMk/>
            <pc:sldMk cId="0" sldId="276"/>
            <ac:spMk id="5" creationId="{0867216F-21D0-D7A3-5E89-A2CFA02B55BE}"/>
          </ac:spMkLst>
        </pc:spChg>
        <pc:picChg chg="mod">
          <ac:chgData name="Mohammed Fasha" userId="cc64f42d-a1a6-4f08-b97b-0c37f877119f" providerId="ADAL" clId="{E8D62E87-A939-4BEA-B882-7E8D1ACA2800}" dt="2025-03-11T17:45:06.196" v="150" actId="1076"/>
          <ac:picMkLst>
            <pc:docMk/>
            <pc:sldMk cId="0" sldId="276"/>
            <ac:picMk id="7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1T17:46:17.088" v="187" actId="1076"/>
        <pc:sldMkLst>
          <pc:docMk/>
          <pc:sldMk cId="0" sldId="277"/>
        </pc:sldMkLst>
        <pc:spChg chg="mod ord">
          <ac:chgData name="Mohammed Fasha" userId="cc64f42d-a1a6-4f08-b97b-0c37f877119f" providerId="ADAL" clId="{E8D62E87-A939-4BEA-B882-7E8D1ACA2800}" dt="2025-03-11T17:46:13.015" v="185" actId="14100"/>
          <ac:spMkLst>
            <pc:docMk/>
            <pc:sldMk cId="0" sldId="277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13.418" v="155"/>
          <ac:spMkLst>
            <pc:docMk/>
            <pc:sldMk cId="0" sldId="277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11.335" v="153" actId="27636"/>
          <ac:spMkLst>
            <pc:docMk/>
            <pc:sldMk cId="0" sldId="277"/>
            <ac:spMk id="6" creationId="{3D3AD5F5-11EB-F4CF-7A5C-D06FD5A5AA42}"/>
          </ac:spMkLst>
        </pc:spChg>
        <pc:picChg chg="mod">
          <ac:chgData name="Mohammed Fasha" userId="cc64f42d-a1a6-4f08-b97b-0c37f877119f" providerId="ADAL" clId="{E8D62E87-A939-4BEA-B882-7E8D1ACA2800}" dt="2025-03-11T17:46:17.088" v="187" actId="1076"/>
          <ac:picMkLst>
            <pc:docMk/>
            <pc:sldMk cId="0" sldId="277"/>
            <ac:picMk id="5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1T17:46:04.712" v="184" actId="27636"/>
        <pc:sldMkLst>
          <pc:docMk/>
          <pc:sldMk cId="0" sldId="27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8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18.787" v="159"/>
          <ac:spMkLst>
            <pc:docMk/>
            <pc:sldMk cId="0" sldId="278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6:04.712" v="184" actId="27636"/>
          <ac:spMkLst>
            <pc:docMk/>
            <pc:sldMk cId="0" sldId="278"/>
            <ac:spMk id="6" creationId="{81843AE0-4921-7733-0D3B-33D489EDB8C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57.541" v="182" actId="14100"/>
        <pc:sldMkLst>
          <pc:docMk/>
          <pc:sldMk cId="0" sldId="279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9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23.444" v="163"/>
          <ac:spMkLst>
            <pc:docMk/>
            <pc:sldMk cId="0" sldId="279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7.541" v="182" actId="14100"/>
          <ac:spMkLst>
            <pc:docMk/>
            <pc:sldMk cId="0" sldId="279"/>
            <ac:spMk id="5" creationId="{1FB820DD-4C9B-BF86-308A-C98745C15617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52.880" v="181" actId="14100"/>
        <pc:sldMkLst>
          <pc:docMk/>
          <pc:sldMk cId="0" sldId="28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0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29.542" v="167"/>
          <ac:spMkLst>
            <pc:docMk/>
            <pc:sldMk cId="0" sldId="280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2.880" v="181" actId="14100"/>
          <ac:spMkLst>
            <pc:docMk/>
            <pc:sldMk cId="0" sldId="280"/>
            <ac:spMk id="6" creationId="{CC4C1BC0-7E6B-75C8-0965-79DE721E7639}"/>
          </ac:spMkLst>
        </pc:sp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1T17:45:46.225" v="180" actId="27636"/>
        <pc:sldMkLst>
          <pc:docMk/>
          <pc:sldMk cId="0" sldId="281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1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33.476" v="171"/>
          <ac:spMkLst>
            <pc:docMk/>
            <pc:sldMk cId="0" sldId="281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6.225" v="180" actId="27636"/>
          <ac:spMkLst>
            <pc:docMk/>
            <pc:sldMk cId="0" sldId="281"/>
            <ac:spMk id="6" creationId="{EB8485EF-5B2E-B9FA-D743-D618D652D00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42.306" v="178"/>
        <pc:sldMkLst>
          <pc:docMk/>
          <pc:sldMk cId="0" sldId="282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2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42.306" v="178"/>
          <ac:spMkLst>
            <pc:docMk/>
            <pc:sldMk cId="0" sldId="282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1.516" v="176" actId="27636"/>
          <ac:spMkLst>
            <pc:docMk/>
            <pc:sldMk cId="0" sldId="282"/>
            <ac:spMk id="7" creationId="{3951CDAE-FE5A-5CF3-E54D-996CD266DF38}"/>
          </ac:spMkLst>
        </pc:sp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3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  <pc:spChg chg="mod">
          <ac:chgData name="Mohammed Fasha" userId="cc64f42d-a1a6-4f08-b97b-0c37f877119f" providerId="ADAL" clId="{E8D62E87-A939-4BEA-B882-7E8D1ACA2800}" dt="2025-03-12T05:20:10.673" v="261" actId="20577"/>
          <ac:spMkLst>
            <pc:docMk/>
            <pc:sldMk cId="1180887711" sldId="283"/>
            <ac:spMk id="2" creationId="{43AB040B-91AB-8FE8-4C82-1572292F6D13}"/>
          </ac:spMkLst>
        </pc:spChg>
        <pc:spChg chg="add del mod">
          <ac:chgData name="Mohammed Fasha" userId="cc64f42d-a1a6-4f08-b97b-0c37f877119f" providerId="ADAL" clId="{E8D62E87-A939-4BEA-B882-7E8D1ACA2800}" dt="2025-03-12T05:20:00.927" v="225" actId="22"/>
          <ac:spMkLst>
            <pc:docMk/>
            <pc:sldMk cId="1180887711" sldId="283"/>
            <ac:spMk id="3" creationId="{55A64582-92CB-E9D1-81BF-7BB7B916451F}"/>
          </ac:spMkLst>
        </pc:spChg>
        <pc:graphicFrameChg chg="add mod">
          <ac:chgData name="Mohammed Fasha" userId="cc64f42d-a1a6-4f08-b97b-0c37f877119f" providerId="ADAL" clId="{E8D62E87-A939-4BEA-B882-7E8D1ACA2800}" dt="2025-03-12T05:19:22.096" v="214"/>
          <ac:graphicFrameMkLst>
            <pc:docMk/>
            <pc:sldMk cId="1180887711" sldId="283"/>
            <ac:graphicFrameMk id="4" creationId="{17363DCE-24DE-BF63-E22D-0F95EBF74D8D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1.140" v="213"/>
          <ac:graphicFrameMkLst>
            <pc:docMk/>
            <pc:sldMk cId="1180887711" sldId="283"/>
            <ac:graphicFrameMk id="5" creationId="{4EE5B16B-E441-1645-57C4-7DDEB7AD638B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1.140" v="213"/>
          <ac:graphicFrameMkLst>
            <pc:docMk/>
            <pc:sldMk cId="1180887711" sldId="283"/>
            <ac:graphicFrameMk id="6" creationId="{DBDF9790-6F30-8AD2-0AAF-561CCFE9DD23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1.140" v="213"/>
          <ac:graphicFrameMkLst>
            <pc:docMk/>
            <pc:sldMk cId="1180887711" sldId="283"/>
            <ac:graphicFrameMk id="7" creationId="{699250CD-AE68-158B-E630-B30424BA3607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1.140" v="213"/>
          <ac:graphicFrameMkLst>
            <pc:docMk/>
            <pc:sldMk cId="1180887711" sldId="283"/>
            <ac:graphicFrameMk id="8" creationId="{F02032CA-8673-3C2A-DE47-FBF071144776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3.683" v="216"/>
          <ac:graphicFrameMkLst>
            <pc:docMk/>
            <pc:sldMk cId="1180887711" sldId="283"/>
            <ac:graphicFrameMk id="9" creationId="{2CB5E88D-8582-CCFE-5F82-7B17B8B16054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2.841" v="215"/>
          <ac:graphicFrameMkLst>
            <pc:docMk/>
            <pc:sldMk cId="1180887711" sldId="283"/>
            <ac:graphicFrameMk id="10" creationId="{88501F2A-DC88-FAF4-EB7A-1A9FEECB626E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2.841" v="215"/>
          <ac:graphicFrameMkLst>
            <pc:docMk/>
            <pc:sldMk cId="1180887711" sldId="283"/>
            <ac:graphicFrameMk id="11" creationId="{D6CB4242-A822-8BBD-6FF5-C628D3CB836E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2.841" v="215"/>
          <ac:graphicFrameMkLst>
            <pc:docMk/>
            <pc:sldMk cId="1180887711" sldId="283"/>
            <ac:graphicFrameMk id="12" creationId="{18E9E8C1-09E2-3DD1-31D6-27926A07E928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22.841" v="215"/>
          <ac:graphicFrameMkLst>
            <pc:docMk/>
            <pc:sldMk cId="1180887711" sldId="283"/>
            <ac:graphicFrameMk id="13" creationId="{1E8E5D5C-FCFF-EDC2-49DD-CE43A819C8C2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45.689" v="224"/>
          <ac:graphicFrameMkLst>
            <pc:docMk/>
            <pc:sldMk cId="1180887711" sldId="283"/>
            <ac:graphicFrameMk id="14" creationId="{F002DCBE-BF68-8247-AC2D-DC4444516238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32.782" v="219"/>
          <ac:graphicFrameMkLst>
            <pc:docMk/>
            <pc:sldMk cId="1180887711" sldId="283"/>
            <ac:graphicFrameMk id="15" creationId="{7E695FBB-EFE4-60BD-63F4-1B23ABEC45A5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32.782" v="219"/>
          <ac:graphicFrameMkLst>
            <pc:docMk/>
            <pc:sldMk cId="1180887711" sldId="283"/>
            <ac:graphicFrameMk id="16" creationId="{7A1AA974-45B3-BCC0-6B25-E1C20871C5A3}"/>
          </ac:graphicFrameMkLst>
        </pc:graphicFrameChg>
        <pc:graphicFrameChg chg="add mod">
          <ac:chgData name="Mohammed Fasha" userId="cc64f42d-a1a6-4f08-b97b-0c37f877119f" providerId="ADAL" clId="{E8D62E87-A939-4BEA-B882-7E8D1ACA2800}" dt="2025-03-12T05:19:32.782" v="219"/>
          <ac:graphicFrameMkLst>
            <pc:docMk/>
            <pc:sldMk cId="1180887711" sldId="283"/>
            <ac:graphicFrameMk id="17" creationId="{9556F071-C204-A3BD-3863-88B3119443D2}"/>
          </ac:graphicFrameMkLst>
        </pc:graphicFrameChg>
        <pc:graphicFrameChg chg="add mod modGraphic">
          <ac:chgData name="Mohammed Fasha" userId="cc64f42d-a1a6-4f08-b97b-0c37f877119f" providerId="ADAL" clId="{E8D62E87-A939-4BEA-B882-7E8D1ACA2800}" dt="2025-03-12T05:19:45.293" v="223" actId="14100"/>
          <ac:graphicFrameMkLst>
            <pc:docMk/>
            <pc:sldMk cId="1180887711" sldId="283"/>
            <ac:graphicFrameMk id="18" creationId="{16C44C7F-ED9B-B8EA-88D0-ECC66C84CE60}"/>
          </ac:graphicFrameMkLst>
        </pc:graphicFrameChg>
        <pc:picChg chg="add mod ord">
          <ac:chgData name="Mohammed Fasha" userId="cc64f42d-a1a6-4f08-b97b-0c37f877119f" providerId="ADAL" clId="{E8D62E87-A939-4BEA-B882-7E8D1ACA2800}" dt="2025-03-12T05:20:19.943" v="264" actId="1076"/>
          <ac:picMkLst>
            <pc:docMk/>
            <pc:sldMk cId="1180887711" sldId="283"/>
            <ac:picMk id="20" creationId="{842D6109-309C-0C16-24AA-D861D462313C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  <pc:spChg chg="mod">
          <ac:chgData name="Mohammed Fasha" userId="cc64f42d-a1a6-4f08-b97b-0c37f877119f" providerId="ADAL" clId="{E8D62E87-A939-4BEA-B882-7E8D1ACA2800}" dt="2025-03-11T17:37:15.801" v="24" actId="1076"/>
          <ac:spMkLst>
            <pc:docMk/>
            <pc:sldMk cId="1489447582" sldId="455"/>
            <ac:spMk id="9" creationId="{F599965F-D781-62F6-30A4-33D89AC89080}"/>
          </ac:spMkLst>
        </pc:spChg>
        <pc:picChg chg="add mod">
          <ac:chgData name="Mohammed Fasha" userId="cc64f42d-a1a6-4f08-b97b-0c37f877119f" providerId="ADAL" clId="{E8D62E87-A939-4BEA-B882-7E8D1ACA2800}" dt="2025-03-11T17:37:18.452" v="25" actId="1076"/>
          <ac:picMkLst>
            <pc:docMk/>
            <pc:sldMk cId="1489447582" sldId="455"/>
            <ac:picMk id="2" creationId="{311AA999-5041-D07E-4766-C4C16B0A5ADB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2" creationId="{0F61AE11-FE2F-E8C7-76F8-4648B97755B7}"/>
            </ac:spMkLst>
          </pc:spChg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hyperlink" Target="https://youtu.be/LEzQVPvNTNo?si=JQlcwb1fimzxVs_9&amp;t=753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hyperlink" Target="https://youtu.be/LEzQVPvNTNo?si=JS4-3Qxyu3o7TD9q&amp;t=873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 dirty="0"/>
              <a:t>307401</a:t>
            </a:r>
            <a:endParaRPr sz="3600" dirty="0"/>
          </a:p>
          <a:p>
            <a:pPr marL="2540" algn="ctr">
              <a:lnSpc>
                <a:spcPts val="4105"/>
              </a:lnSpc>
            </a:pPr>
            <a:r>
              <a:rPr sz="3600" dirty="0"/>
              <a:t>Big</a:t>
            </a:r>
            <a:r>
              <a:rPr sz="3600" spc="-105" dirty="0"/>
              <a:t> </a:t>
            </a:r>
            <a:r>
              <a:rPr sz="3600" dirty="0"/>
              <a:t>Data</a:t>
            </a:r>
            <a:r>
              <a:rPr sz="3600" spc="-95" dirty="0"/>
              <a:t> </a:t>
            </a:r>
            <a:r>
              <a:rPr sz="3600" dirty="0"/>
              <a:t>and</a:t>
            </a:r>
            <a:r>
              <a:rPr sz="3600" spc="-100" dirty="0"/>
              <a:t> </a:t>
            </a:r>
            <a:r>
              <a:rPr sz="3600" dirty="0"/>
              <a:t>Data</a:t>
            </a:r>
            <a:r>
              <a:rPr sz="3600" spc="-95" dirty="0"/>
              <a:t> </a:t>
            </a:r>
            <a:r>
              <a:rPr sz="3600" spc="-10" dirty="0"/>
              <a:t>Warehouses</a:t>
            </a:r>
            <a:endParaRPr sz="3600" dirty="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Introduction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7926" y="5022326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 dirty="0">
                <a:solidFill>
                  <a:srgbClr val="FFFFFF"/>
                </a:solidFill>
              </a:rPr>
              <a:t>Introduction</a:t>
            </a:r>
            <a:r>
              <a:rPr sz="2800" spc="-8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284085" y="1691716"/>
            <a:ext cx="10816349" cy="24654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open-</a:t>
            </a:r>
            <a:r>
              <a:rPr sz="2000" dirty="0">
                <a:latin typeface="Calibri"/>
                <a:cs typeface="Calibri"/>
              </a:rPr>
              <a:t>source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framework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overseen </a:t>
            </a:r>
            <a:r>
              <a:rPr sz="2000" dirty="0">
                <a:latin typeface="Calibri"/>
                <a:cs typeface="Calibri"/>
              </a:rPr>
              <a:t>by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Software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Foundation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which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written</a:t>
            </a:r>
            <a:endParaRPr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in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Java</a:t>
            </a:r>
            <a:r>
              <a:rPr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storing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huge</a:t>
            </a:r>
            <a:r>
              <a:rPr sz="2000" spc="-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datasets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cluster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commodity</a:t>
            </a:r>
            <a:r>
              <a:rPr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hardware</a:t>
            </a:r>
            <a:r>
              <a:rPr sz="2000" spc="-10" dirty="0">
                <a:latin typeface="Calibri"/>
                <a:cs typeface="Calibri"/>
              </a:rPr>
              <a:t>.</a:t>
            </a:r>
            <a:endParaRPr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There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mainly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two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problems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addresses:</a:t>
            </a:r>
            <a:endParaRPr sz="2000" dirty="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store</a:t>
            </a:r>
            <a:r>
              <a:rPr sz="18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huge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amount</a:t>
            </a:r>
            <a:r>
              <a:rPr sz="18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of</a:t>
            </a:r>
            <a:r>
              <a:rPr sz="18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 dirty="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process</a:t>
            </a:r>
            <a:r>
              <a:rPr sz="18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that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stored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traditional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approach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like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RDBMS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sufficient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due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heterogeneity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data.</a:t>
            </a:r>
            <a:endParaRPr sz="2000" dirty="0">
              <a:latin typeface="Calibri"/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solution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problem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i.e.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storing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processing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data</a:t>
            </a:r>
            <a:r>
              <a:rPr lang="en-US" sz="2000" spc="-20" dirty="0">
                <a:latin typeface="Calibri"/>
                <a:cs typeface="Calibri"/>
              </a:rPr>
              <a:t>.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History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dirty="0">
                <a:latin typeface="Calibri"/>
                <a:cs typeface="Calibri"/>
              </a:rPr>
              <a:t>: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Open-source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by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Doug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Cutting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Mike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Cafarella.</a:t>
            </a:r>
            <a:endParaRPr sz="1200" dirty="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Challenges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managing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processing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large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volumes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web</a:t>
            </a:r>
            <a:r>
              <a:rPr sz="1200" spc="-10" dirty="0">
                <a:latin typeface="Calibri"/>
                <a:cs typeface="Calibri"/>
              </a:rPr>
              <a:t> data.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Influence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(2003-2004):</a:t>
            </a:r>
            <a:endParaRPr sz="14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Google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Papers: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Introduction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Google’s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(Google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File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System)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 dirty="0">
                <a:latin typeface="Calibri"/>
                <a:cs typeface="Calibri"/>
              </a:rPr>
              <a:t>.</a:t>
            </a:r>
            <a:endParaRPr sz="12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Hadoop’s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core </a:t>
            </a:r>
            <a:r>
              <a:rPr sz="1200" spc="-10" dirty="0">
                <a:latin typeface="Calibri"/>
                <a:cs typeface="Calibri"/>
              </a:rPr>
              <a:t>concepts.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dirty="0">
                <a:latin typeface="Calibri"/>
                <a:cs typeface="Calibri"/>
              </a:rPr>
              <a:t>Birth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Hadoop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 dirty="0">
                <a:latin typeface="Calibri"/>
                <a:cs typeface="Calibri"/>
              </a:rPr>
              <a:t>):</a:t>
            </a:r>
            <a:endParaRPr sz="14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Creation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separate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project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within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Apache </a:t>
            </a:r>
            <a:r>
              <a:rPr sz="1200" spc="-10" dirty="0">
                <a:latin typeface="Calibri"/>
                <a:cs typeface="Calibri"/>
              </a:rPr>
              <a:t>Nutch.</a:t>
            </a:r>
            <a:endParaRPr sz="12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 dirty="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 dirty="0">
                <a:latin typeface="Calibri"/>
                <a:cs typeface="Calibri"/>
              </a:rPr>
              <a:t>!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began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investing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contributing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Hadoop’s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development.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 dirty="0">
                <a:latin typeface="Calibri"/>
                <a:cs typeface="Calibri"/>
              </a:rPr>
              <a:t>Doug</a:t>
            </a:r>
            <a:r>
              <a:rPr sz="1100" spc="-1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dirty="0">
                <a:latin typeface="Calibri"/>
                <a:cs typeface="Calibri"/>
              </a:rPr>
              <a:t>Early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Beginnings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dirty="0">
                <a:latin typeface="Calibri"/>
                <a:cs typeface="Calibri"/>
              </a:rPr>
              <a:t>Mike</a:t>
            </a:r>
            <a:r>
              <a:rPr sz="1100" spc="-1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Apache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 dirty="0">
                <a:latin typeface="Calibri"/>
                <a:cs typeface="Calibri"/>
              </a:rPr>
              <a:t>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became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Apache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top-</a:t>
            </a:r>
            <a:r>
              <a:rPr sz="1200" dirty="0">
                <a:latin typeface="Calibri"/>
                <a:cs typeface="Calibri"/>
              </a:rPr>
              <a:t>level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project.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Core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components: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HDFS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(Hadoop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Distributed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File</a:t>
            </a:r>
            <a:r>
              <a:rPr sz="1200" spc="-10" dirty="0">
                <a:latin typeface="Calibri"/>
                <a:cs typeface="Calibri"/>
              </a:rPr>
              <a:t> System)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MapReduce.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Rapid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growth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community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contributions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adoption.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 dirty="0">
                <a:latin typeface="Calibri"/>
                <a:cs typeface="Calibri"/>
              </a:rPr>
              <a:t>Ecosystem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Expansion</a:t>
            </a:r>
            <a:r>
              <a:rPr sz="1200" spc="-7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(2009-2011):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New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projects: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Hive,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Pig,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HBase,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Zookeeper.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Formation</a:t>
            </a:r>
            <a:r>
              <a:rPr sz="1200" spc="-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companies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like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Cloudera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commercial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support.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Industry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Adoption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(2012-2014):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Mainstream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use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by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major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companies: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Facebook,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LinkedIn,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eBay.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Introduction</a:t>
            </a:r>
            <a:r>
              <a:rPr sz="1200" spc="-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2.0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</a:t>
            </a:r>
            <a:r>
              <a:rPr sz="1200" spc="-20" dirty="0">
                <a:latin typeface="Calibri"/>
                <a:cs typeface="Calibri"/>
              </a:rPr>
              <a:t> YARN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(Yet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Another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Resource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Negotiator).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Summit: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Annual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conference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advancements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use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cases.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Modern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Era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(2015-Present):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Widespread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enterprise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adoption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various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Big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applications.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Integration</a:t>
            </a:r>
            <a:r>
              <a:rPr sz="1200" spc="-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platforms: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AWS </a:t>
            </a:r>
            <a:r>
              <a:rPr sz="1200" dirty="0">
                <a:latin typeface="Calibri"/>
                <a:cs typeface="Calibri"/>
              </a:rPr>
              <a:t>EMR,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Google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Dataproc.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Ongoing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development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enhancements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ecosystem.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Impact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Hadoop: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Pioneered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Big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revolution.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Enabled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scalable,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distributed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processing.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Fostered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strong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open-</a:t>
            </a:r>
            <a:r>
              <a:rPr sz="1200" dirty="0">
                <a:latin typeface="Calibri"/>
                <a:cs typeface="Calibri"/>
              </a:rPr>
              <a:t>source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community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ecosystem.</a:t>
            </a:r>
            <a:endParaRPr sz="1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dirty="0">
                <a:solidFill>
                  <a:srgbClr val="FFFFFF"/>
                </a:solidFill>
              </a:rPr>
              <a:t>Hadoop Echo System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enables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amounts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 dirty="0">
                <a:latin typeface="Calibri"/>
                <a:cs typeface="Calibri"/>
              </a:rPr>
              <a:t>Basically, Hadoop has the following three components:</a:t>
            </a:r>
            <a:endParaRPr lang="en-US" sz="2000" dirty="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(Hadoop</a:t>
            </a:r>
            <a:r>
              <a:rPr lang="en-US" sz="2000" spc="-9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File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System):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file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system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high-</a:t>
            </a:r>
            <a:r>
              <a:rPr lang="en-US" sz="2000" spc="-10" dirty="0">
                <a:latin typeface="Calibri"/>
                <a:cs typeface="Calibri"/>
              </a:rPr>
              <a:t>throughput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framework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parallel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sets.</a:t>
            </a:r>
            <a:endParaRPr lang="en-US" sz="2000" dirty="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 dirty="0">
                <a:latin typeface="Calibri"/>
                <a:cs typeface="Calibri"/>
              </a:rPr>
              <a:t>,</a:t>
            </a:r>
            <a:r>
              <a:rPr lang="en-US" sz="2000" spc="-9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Manager.</a:t>
            </a:r>
            <a:endParaRPr lang="en-US" sz="2000" dirty="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 dirty="0">
                <a:latin typeface="Calibri"/>
                <a:cs typeface="Calibri"/>
              </a:rPr>
              <a:t>Other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Storm,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Spark,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Flume,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Sqoop,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Oozie, Zookeeper…etc. </a:t>
            </a:r>
            <a:r>
              <a:rPr lang="en-US" sz="2000" dirty="0">
                <a:latin typeface="Calibri"/>
                <a:cs typeface="Calibri"/>
              </a:rPr>
              <a:t>These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comprehensive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solution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computing</a:t>
            </a:r>
            <a:r>
              <a:rPr lang="en-US" sz="2000" spc="-8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environment.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488254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HDFS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Hadoop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Distributed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File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650115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46664" y="769426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1981200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4800600"/>
            <a:ext cx="4724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requests data</a:t>
            </a:r>
            <a:r>
              <a:rPr lang="en-US" sz="1400" dirty="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 err="1"/>
              <a:t>NameNode</a:t>
            </a:r>
            <a:r>
              <a:rPr lang="en-US" sz="1400" b="1" dirty="0"/>
              <a:t> retrieves metadata</a:t>
            </a:r>
            <a:r>
              <a:rPr lang="en-US" sz="1400" dirty="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reads/writes data blocks</a:t>
            </a:r>
            <a:r>
              <a:rPr lang="en-US" sz="1400" dirty="0"/>
              <a:t> directly from/to the </a:t>
            </a:r>
            <a:r>
              <a:rPr lang="en-US" sz="1400" dirty="0" err="1"/>
              <a:t>DataNodes</a:t>
            </a:r>
            <a:r>
              <a:rPr lang="en-US" sz="14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Data replication</a:t>
            </a:r>
            <a:r>
              <a:rPr lang="en-US" sz="1400" dirty="0"/>
              <a:t> occurs across multiple </a:t>
            </a:r>
            <a:r>
              <a:rPr lang="en-US" sz="1400" dirty="0" err="1"/>
              <a:t>DataNodes</a:t>
            </a:r>
            <a:r>
              <a:rPr lang="en-US" sz="1400" dirty="0"/>
              <a:t> for redundancy.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 dirty="0">
                <a:solidFill>
                  <a:srgbClr val="FFFFFF"/>
                </a:solidFill>
              </a:rPr>
              <a:t>YARN,</a:t>
            </a:r>
            <a:r>
              <a:rPr sz="2800" spc="-100" dirty="0">
                <a:solidFill>
                  <a:srgbClr val="FFFFFF"/>
                </a:solidFill>
              </a:rPr>
              <a:t> </a:t>
            </a:r>
            <a:r>
              <a:rPr sz="2800" spc="-40" dirty="0">
                <a:solidFill>
                  <a:srgbClr val="FFFFFF"/>
                </a:solidFill>
              </a:rPr>
              <a:t>Yet</a:t>
            </a:r>
            <a:r>
              <a:rPr sz="2800" spc="-10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Another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Resource</a:t>
            </a:r>
            <a:r>
              <a:rPr sz="2800" spc="-11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394675" cy="499103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5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Clients submit jobs</a:t>
            </a:r>
            <a:r>
              <a:rPr lang="en-US" sz="1400" dirty="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Scheduler assigns resources</a:t>
            </a:r>
            <a:r>
              <a:rPr lang="en-US" sz="1400" dirty="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Application Master is launched</a:t>
            </a:r>
            <a:r>
              <a:rPr lang="en-US" sz="1400" dirty="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Node Managers execute tasks</a:t>
            </a:r>
            <a:r>
              <a:rPr lang="en-US" sz="1400" dirty="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Results are sent back to clients</a:t>
            </a:r>
            <a:r>
              <a:rPr lang="en-US" sz="1400" dirty="0"/>
              <a:t> after completion.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9756" y="746482"/>
            <a:ext cx="2526199" cy="79923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 dirty="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8214456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Map Reduce is a 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 dirty="0">
                <a:latin typeface="Calibri"/>
                <a:cs typeface="Calibri"/>
              </a:rPr>
              <a:t>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algorithm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Key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endParaRPr lang="en-US" sz="2000" dirty="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Takes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converts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another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set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data,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where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individual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elements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are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broken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down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into </a:t>
            </a:r>
            <a:r>
              <a:rPr lang="en-US" sz="1800" spc="-10" dirty="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45" dirty="0">
                <a:latin typeface="Calibri"/>
                <a:cs typeface="Calibri"/>
              </a:rPr>
              <a:t>Takes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output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from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mapper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5" dirty="0">
                <a:latin typeface="Calibri"/>
                <a:cs typeface="Calibri"/>
              </a:rPr>
              <a:t> and </a:t>
            </a:r>
            <a:r>
              <a:rPr lang="en-US" sz="1800" spc="-10" dirty="0">
                <a:latin typeface="Calibri"/>
                <a:cs typeface="Calibri"/>
              </a:rPr>
              <a:t>combines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those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smaller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tuples.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Workflow: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file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multiple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pieces.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Processes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produces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Organizes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by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Aggregates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sorted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pairs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generates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output.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Examples: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spc="-10" dirty="0">
                <a:latin typeface="Calibri"/>
                <a:cs typeface="Calibri"/>
              </a:rPr>
              <a:t>Word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Count: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Count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number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occurrences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each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word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text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file.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latin typeface="Calibri"/>
                <a:cs typeface="Calibri"/>
              </a:rPr>
              <a:t>Log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Analysis: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Process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web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server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logs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to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find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number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hits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URL.</a:t>
            </a:r>
            <a:endParaRPr lang="en-US" sz="18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5861" y="2101670"/>
            <a:ext cx="4757171" cy="1887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9050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1500"/>
              </a:spcBef>
            </a:pPr>
            <a:r>
              <a:rPr sz="2000" spc="-10" dirty="0">
                <a:solidFill>
                  <a:srgbClr val="FFFFFF"/>
                </a:solidFill>
              </a:rPr>
              <a:t>Workflow</a:t>
            </a:r>
            <a:r>
              <a:rPr sz="2000" spc="-6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Scenario</a:t>
            </a:r>
            <a:r>
              <a:rPr sz="2000" spc="-6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from</a:t>
            </a:r>
            <a:r>
              <a:rPr sz="2000" spc="-4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the</a:t>
            </a:r>
            <a:r>
              <a:rPr sz="2000" spc="-2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Client</a:t>
            </a:r>
            <a:r>
              <a:rPr sz="2000" spc="-35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to </a:t>
            </a:r>
            <a:r>
              <a:rPr sz="2000" spc="-10" dirty="0">
                <a:solidFill>
                  <a:srgbClr val="FFFFFF"/>
                </a:solidFill>
              </a:rPr>
              <a:t>NameNode/DataNode</a:t>
            </a:r>
            <a:r>
              <a:rPr sz="2000" spc="-55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with</a:t>
            </a:r>
            <a:r>
              <a:rPr sz="2000" spc="-3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Internals</a:t>
            </a:r>
            <a:r>
              <a:rPr sz="2000" spc="-5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and</a:t>
            </a:r>
            <a:r>
              <a:rPr sz="2000" spc="-45" dirty="0">
                <a:solidFill>
                  <a:srgbClr val="FFFFFF"/>
                </a:solidFill>
              </a:rPr>
              <a:t> </a:t>
            </a:r>
            <a:r>
              <a:rPr sz="2000" spc="-10" dirty="0">
                <a:solidFill>
                  <a:srgbClr val="FFFFFF"/>
                </a:solidFill>
              </a:rPr>
              <a:t>Subcomponent</a:t>
            </a:r>
            <a:endParaRPr sz="20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5" y="1706007"/>
            <a:ext cx="5811915" cy="5111592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74625" indent="-161925">
              <a:lnSpc>
                <a:spcPct val="100000"/>
              </a:lnSpc>
              <a:spcBef>
                <a:spcPts val="640"/>
              </a:spcBef>
              <a:buAutoNum type="arabicPeriod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Client</a:t>
            </a:r>
            <a:r>
              <a:rPr lang="en-US" sz="1400" spc="-30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Submission:</a:t>
            </a:r>
          </a:p>
          <a:p>
            <a:pPr marL="12700" marR="160020">
              <a:lnSpc>
                <a:spcPct val="70000"/>
              </a:lnSpc>
              <a:spcBef>
                <a:spcPts val="1015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client</a:t>
            </a:r>
            <a:r>
              <a:rPr lang="en-US" sz="1400" spc="-30" dirty="0"/>
              <a:t> </a:t>
            </a:r>
            <a:r>
              <a:rPr lang="en-US" sz="1400" dirty="0"/>
              <a:t>submits</a:t>
            </a:r>
            <a:r>
              <a:rPr lang="en-US" sz="1400" spc="-5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a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MapReduce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job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Hadoop</a:t>
            </a:r>
            <a:r>
              <a:rPr lang="en-US" sz="1400" spc="-10" dirty="0"/>
              <a:t> </a:t>
            </a:r>
            <a:r>
              <a:rPr lang="en-US" sz="1400" spc="-20" dirty="0"/>
              <a:t>cluster</a:t>
            </a:r>
            <a:r>
              <a:rPr lang="en-US" sz="1400" spc="-20" dirty="0">
                <a:solidFill>
                  <a:srgbClr val="000000"/>
                </a:solidFill>
              </a:rPr>
              <a:t>.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job </a:t>
            </a:r>
            <a:r>
              <a:rPr lang="en-US" sz="1400" dirty="0">
                <a:solidFill>
                  <a:srgbClr val="000000"/>
                </a:solidFill>
              </a:rPr>
              <a:t>includes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Mapper</a:t>
            </a:r>
            <a:r>
              <a:rPr lang="en-US" sz="1400" spc="-5" dirty="0"/>
              <a:t> </a:t>
            </a:r>
            <a:r>
              <a:rPr lang="en-US" sz="1400" dirty="0"/>
              <a:t>and</a:t>
            </a:r>
            <a:r>
              <a:rPr lang="en-US" sz="1400" spc="-30" dirty="0"/>
              <a:t> </a:t>
            </a:r>
            <a:r>
              <a:rPr lang="en-US" sz="1400" dirty="0"/>
              <a:t>Reducer</a:t>
            </a:r>
            <a:r>
              <a:rPr lang="en-US" sz="1400" spc="-15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code,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configuration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parameters.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already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stored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Hadoop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Distributed</a:t>
            </a:r>
            <a:r>
              <a:rPr lang="en-US" sz="1400" spc="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File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System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(HDFS)</a:t>
            </a:r>
          </a:p>
          <a:p>
            <a:pPr marL="175260" indent="-162560">
              <a:lnSpc>
                <a:spcPct val="100000"/>
              </a:lnSpc>
              <a:spcBef>
                <a:spcPts val="525"/>
              </a:spcBef>
              <a:buAutoNum type="arabicPeriod" startAt="2"/>
              <a:tabLst>
                <a:tab pos="175260" algn="l"/>
              </a:tabLst>
            </a:pPr>
            <a:r>
              <a:rPr lang="en-US" sz="1400" spc="-10" dirty="0" err="1">
                <a:solidFill>
                  <a:srgbClr val="0070C0"/>
                </a:solidFill>
              </a:rPr>
              <a:t>ResourceManager</a:t>
            </a:r>
            <a:r>
              <a:rPr lang="en-US" sz="1400" dirty="0">
                <a:solidFill>
                  <a:srgbClr val="0070C0"/>
                </a:solidFill>
              </a:rPr>
              <a:t> and</a:t>
            </a:r>
            <a:r>
              <a:rPr lang="en-US" sz="1400" spc="5" dirty="0">
                <a:solidFill>
                  <a:srgbClr val="0070C0"/>
                </a:solidFill>
              </a:rPr>
              <a:t> </a:t>
            </a:r>
            <a:r>
              <a:rPr lang="en-US" sz="1400" dirty="0">
                <a:solidFill>
                  <a:srgbClr val="0070C0"/>
                </a:solidFill>
              </a:rPr>
              <a:t>Job</a:t>
            </a:r>
            <a:r>
              <a:rPr lang="en-US" sz="1400" spc="10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Scheduling:</a:t>
            </a:r>
          </a:p>
          <a:p>
            <a:pPr marL="12700" marR="6413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/>
              <a:t>ResourceManager</a:t>
            </a:r>
            <a:r>
              <a:rPr lang="en-US" sz="1400" dirty="0"/>
              <a:t> receives</a:t>
            </a:r>
            <a:r>
              <a:rPr lang="en-US" sz="1400" spc="-20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job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submission</a:t>
            </a:r>
            <a:r>
              <a:rPr lang="en-US" sz="1400" spc="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delegates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job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 </a:t>
            </a:r>
            <a:r>
              <a:rPr lang="en-US" sz="1400" spc="-10" dirty="0" err="1"/>
              <a:t>ApplicationsManager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2700">
              <a:lnSpc>
                <a:spcPts val="1325"/>
              </a:lnSpc>
              <a:spcBef>
                <a:spcPts val="540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ApplicationsManager</a:t>
            </a:r>
            <a:r>
              <a:rPr lang="en-US" sz="1400" spc="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allocates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new </a:t>
            </a:r>
            <a:r>
              <a:rPr lang="en-US" sz="1400" spc="-10" dirty="0" err="1">
                <a:solidFill>
                  <a:srgbClr val="000000"/>
                </a:solidFill>
              </a:rPr>
              <a:t>ApplicationMaster</a:t>
            </a:r>
            <a:r>
              <a:rPr lang="en-US" sz="1400" spc="3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(</a:t>
            </a:r>
            <a:r>
              <a:rPr lang="en-US" sz="1400" spc="-10" dirty="0" err="1">
                <a:solidFill>
                  <a:srgbClr val="000000"/>
                </a:solidFill>
              </a:rPr>
              <a:t>AppMaster</a:t>
            </a:r>
            <a:r>
              <a:rPr lang="en-US" sz="1400" spc="-10" dirty="0">
                <a:solidFill>
                  <a:srgbClr val="000000"/>
                </a:solidFill>
              </a:rPr>
              <a:t>)</a:t>
            </a:r>
          </a:p>
          <a:p>
            <a:pPr marL="12700">
              <a:lnSpc>
                <a:spcPts val="1325"/>
              </a:lnSpc>
            </a:pPr>
            <a:r>
              <a:rPr lang="en-US" sz="1400" spc="-10" dirty="0">
                <a:solidFill>
                  <a:srgbClr val="000000"/>
                </a:solidFill>
              </a:rPr>
              <a:t>instance </a:t>
            </a:r>
            <a:r>
              <a:rPr lang="en-US" sz="1400" dirty="0">
                <a:solidFill>
                  <a:srgbClr val="000000"/>
                </a:solidFill>
              </a:rPr>
              <a:t>for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20" dirty="0">
                <a:solidFill>
                  <a:srgbClr val="000000"/>
                </a:solidFill>
              </a:rPr>
              <a:t>job.</a:t>
            </a:r>
          </a:p>
          <a:p>
            <a:pPr marL="175260" indent="-162560">
              <a:lnSpc>
                <a:spcPct val="100000"/>
              </a:lnSpc>
              <a:spcBef>
                <a:spcPts val="530"/>
              </a:spcBef>
              <a:buAutoNum type="arabicPeriod" startAt="3"/>
              <a:tabLst>
                <a:tab pos="175260" algn="l"/>
              </a:tabLst>
            </a:pPr>
            <a:r>
              <a:rPr lang="en-US" sz="1400" spc="-10" dirty="0" err="1">
                <a:solidFill>
                  <a:srgbClr val="0070C0"/>
                </a:solidFill>
              </a:rPr>
              <a:t>ApplicationMaster</a:t>
            </a:r>
            <a:r>
              <a:rPr lang="en-US" sz="1400" spc="5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Initialization:</a:t>
            </a:r>
          </a:p>
          <a:p>
            <a:pPr marL="12700" marR="112395">
              <a:lnSpc>
                <a:spcPct val="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/>
              <a:t>ApplicationMaster</a:t>
            </a:r>
            <a:r>
              <a:rPr lang="en-US" sz="1400" spc="20" dirty="0"/>
              <a:t> </a:t>
            </a:r>
            <a:r>
              <a:rPr lang="en-US" sz="1400" dirty="0"/>
              <a:t>negotiates</a:t>
            </a:r>
            <a:r>
              <a:rPr lang="en-US" sz="1400" spc="5" dirty="0"/>
              <a:t> </a:t>
            </a:r>
            <a:r>
              <a:rPr lang="en-US" sz="1400" spc="-10" dirty="0"/>
              <a:t>resources</a:t>
            </a:r>
            <a:r>
              <a:rPr lang="en-US" sz="1400" spc="-15" dirty="0"/>
              <a:t> </a:t>
            </a:r>
            <a:r>
              <a:rPr lang="en-US" sz="1400" dirty="0"/>
              <a:t>from</a:t>
            </a:r>
            <a:r>
              <a:rPr lang="en-US" sz="1400" spc="-20" dirty="0"/>
              <a:t> </a:t>
            </a:r>
            <a:r>
              <a:rPr lang="en-US" sz="1400" dirty="0"/>
              <a:t>the </a:t>
            </a:r>
            <a:r>
              <a:rPr lang="en-US" sz="1400" spc="-10" dirty="0" err="1"/>
              <a:t>ResourceManager</a:t>
            </a:r>
            <a:r>
              <a:rPr lang="en-US" sz="1400" spc="-10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requests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spc="-10" dirty="0"/>
              <a:t>containers </a:t>
            </a:r>
            <a:r>
              <a:rPr lang="en-US" sz="1400" spc="-10" dirty="0">
                <a:solidFill>
                  <a:srgbClr val="000000"/>
                </a:solidFill>
              </a:rPr>
              <a:t>(execution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environments)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on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various </a:t>
            </a:r>
            <a:r>
              <a:rPr lang="en-US" sz="1400" spc="-10" dirty="0" err="1"/>
              <a:t>NodeManagers</a:t>
            </a:r>
            <a:r>
              <a:rPr lang="en-US" sz="1400" spc="-5" dirty="0"/>
              <a:t> </a:t>
            </a:r>
            <a:r>
              <a:rPr lang="en-US" sz="1400" dirty="0"/>
              <a:t>(Data</a:t>
            </a:r>
            <a:r>
              <a:rPr lang="en-US" sz="1400" spc="-10" dirty="0"/>
              <a:t> Nodes)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74625" indent="-161925">
              <a:lnSpc>
                <a:spcPct val="100000"/>
              </a:lnSpc>
              <a:spcBef>
                <a:spcPts val="540"/>
              </a:spcBef>
              <a:buAutoNum type="arabicPeriod" startAt="4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Data</a:t>
            </a:r>
            <a:r>
              <a:rPr lang="en-US" sz="1400" spc="-4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Splitting:</a:t>
            </a:r>
          </a:p>
          <a:p>
            <a:pPr marL="12700" marR="118110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ApplicationMaster</a:t>
            </a:r>
            <a:r>
              <a:rPr lang="en-US" sz="1400" spc="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communicates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with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 </a:t>
            </a:r>
            <a:r>
              <a:rPr lang="en-US" sz="1400" dirty="0" err="1">
                <a:solidFill>
                  <a:srgbClr val="000000"/>
                </a:solidFill>
              </a:rPr>
              <a:t>NameNode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locate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the </a:t>
            </a:r>
            <a:r>
              <a:rPr lang="en-US" sz="1400" dirty="0">
                <a:solidFill>
                  <a:srgbClr val="000000"/>
                </a:solidFill>
              </a:rPr>
              <a:t>input</a:t>
            </a:r>
            <a:r>
              <a:rPr lang="en-US" sz="1400" spc="-4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blocks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stored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across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DataNodes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2700" marR="39941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input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split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into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chunks,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splits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are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assigned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the </a:t>
            </a:r>
            <a:r>
              <a:rPr lang="en-US" sz="1400" spc="-10" dirty="0">
                <a:solidFill>
                  <a:srgbClr val="000000"/>
                </a:solidFill>
              </a:rPr>
              <a:t>containers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on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DataNodes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where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located.</a:t>
            </a:r>
          </a:p>
          <a:p>
            <a:pPr marL="174625" indent="-161925">
              <a:lnSpc>
                <a:spcPct val="100000"/>
              </a:lnSpc>
              <a:spcBef>
                <a:spcPts val="545"/>
              </a:spcBef>
              <a:buAutoNum type="arabicPeriod" startAt="5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Mapper</a:t>
            </a:r>
            <a:r>
              <a:rPr lang="en-US" sz="1400" spc="-2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Execution:</a:t>
            </a: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NodeManagers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launch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Mapper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tasks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allocated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containers.</a:t>
            </a:r>
          </a:p>
          <a:p>
            <a:pPr marL="12700" marR="10985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Each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Mapper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processes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its</a:t>
            </a:r>
            <a:r>
              <a:rPr lang="en-US" sz="1400" spc="-4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assigned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5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chunk,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producing</a:t>
            </a:r>
            <a:r>
              <a:rPr lang="en-US" sz="1400" spc="-4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intermediate </a:t>
            </a:r>
            <a:r>
              <a:rPr lang="en-US" sz="1400" spc="-25" dirty="0">
                <a:solidFill>
                  <a:srgbClr val="000000"/>
                </a:solidFill>
              </a:rPr>
              <a:t>key-</a:t>
            </a:r>
            <a:r>
              <a:rPr lang="en-US" sz="1400" dirty="0">
                <a:solidFill>
                  <a:srgbClr val="000000"/>
                </a:solidFill>
              </a:rPr>
              <a:t>value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pairs.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07911" y="1760956"/>
            <a:ext cx="4634865" cy="4881880"/>
          </a:xfrm>
          <a:prstGeom prst="rect">
            <a:avLst/>
          </a:prstGeom>
        </p:spPr>
        <p:txBody>
          <a:bodyPr vert="horz" wrap="square" lIns="0" tIns="119380" rIns="0" bIns="0" rtlCol="0">
            <a:spAutoFit/>
          </a:bodyPr>
          <a:lstStyle/>
          <a:p>
            <a:pPr marL="186690" indent="-173990">
              <a:lnSpc>
                <a:spcPct val="100000"/>
              </a:lnSpc>
              <a:spcBef>
                <a:spcPts val="940"/>
              </a:spcBef>
              <a:buAutoNum type="arabicPeriod" startAt="6"/>
              <a:tabLst>
                <a:tab pos="186690" algn="l"/>
              </a:tabLst>
            </a:pP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Shuffling</a:t>
            </a:r>
            <a:r>
              <a:rPr sz="1400" spc="-6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and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Sorting:</a:t>
            </a:r>
            <a:endParaRPr sz="1400" dirty="0">
              <a:latin typeface="Calibri"/>
              <a:cs typeface="Calibri"/>
            </a:endParaRPr>
          </a:p>
          <a:p>
            <a:pPr marL="12700" marR="5080">
              <a:lnSpc>
                <a:spcPts val="1510"/>
              </a:lnSpc>
              <a:spcBef>
                <a:spcPts val="1030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intermediate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key-</a:t>
            </a:r>
            <a:r>
              <a:rPr sz="1400" dirty="0">
                <a:latin typeface="Calibri"/>
                <a:cs typeface="Calibri"/>
              </a:rPr>
              <a:t>value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pairs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shuffled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sorted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key. </a:t>
            </a:r>
            <a:r>
              <a:rPr sz="1400" dirty="0">
                <a:latin typeface="Calibri"/>
                <a:cs typeface="Calibri"/>
              </a:rPr>
              <a:t>This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involves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transferring</a:t>
            </a:r>
            <a:r>
              <a:rPr sz="14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sz="14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across</a:t>
            </a:r>
            <a:r>
              <a:rPr sz="14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network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group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all </a:t>
            </a:r>
            <a:r>
              <a:rPr sz="1400" dirty="0">
                <a:latin typeface="Calibri"/>
                <a:cs typeface="Calibri"/>
              </a:rPr>
              <a:t>values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same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key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together.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10"/>
              </a:spcBef>
              <a:buClr>
                <a:srgbClr val="0070C0"/>
              </a:buClr>
              <a:buAutoNum type="arabicPeriod" startAt="7"/>
              <a:tabLst>
                <a:tab pos="186055" algn="l"/>
              </a:tabLst>
            </a:pP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Reducer</a:t>
            </a:r>
            <a:r>
              <a:rPr sz="1400" spc="-1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Executio</a:t>
            </a:r>
            <a:r>
              <a:rPr lang="en-US" sz="1400" spc="-10" dirty="0">
                <a:solidFill>
                  <a:srgbClr val="006FC0"/>
                </a:solidFill>
                <a:latin typeface="Calibri"/>
                <a:cs typeface="Calibri"/>
              </a:rPr>
              <a:t>n: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NodeManagers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launch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Reducer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tasks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containers.</a:t>
            </a:r>
            <a:endParaRPr sz="1400" dirty="0">
              <a:latin typeface="Calibri"/>
              <a:cs typeface="Calibri"/>
            </a:endParaRPr>
          </a:p>
          <a:p>
            <a:pPr marL="12700" marR="55880">
              <a:lnSpc>
                <a:spcPts val="1510"/>
              </a:lnSpc>
              <a:spcBef>
                <a:spcPts val="1030"/>
              </a:spcBef>
            </a:pPr>
            <a:r>
              <a:rPr sz="1400" dirty="0">
                <a:latin typeface="Calibri"/>
                <a:cs typeface="Calibri"/>
              </a:rPr>
              <a:t>Each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Reducer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processes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assigned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key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group,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aggregating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the </a:t>
            </a:r>
            <a:r>
              <a:rPr sz="1400" dirty="0">
                <a:latin typeface="Calibri"/>
                <a:cs typeface="Calibri"/>
              </a:rPr>
              <a:t>values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produce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output.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10"/>
              </a:spcBef>
              <a:buClr>
                <a:srgbClr val="0070C0"/>
              </a:buClr>
              <a:buAutoNum type="arabicPeriod" startAt="8"/>
              <a:tabLst>
                <a:tab pos="186055" algn="l"/>
              </a:tabLst>
            </a:pP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Writing</a:t>
            </a:r>
            <a:r>
              <a:rPr sz="14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 Output:</a:t>
            </a:r>
            <a:endParaRPr sz="1400" dirty="0">
              <a:latin typeface="Calibri"/>
              <a:cs typeface="Calibri"/>
            </a:endParaRPr>
          </a:p>
          <a:p>
            <a:pPr marL="12700" marR="66675">
              <a:lnSpc>
                <a:spcPts val="1510"/>
              </a:lnSpc>
              <a:spcBef>
                <a:spcPts val="10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Reducers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write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output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HDFS,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which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managed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NameNode.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600"/>
              </a:lnSpc>
              <a:spcBef>
                <a:spcPts val="8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ApplicationMaster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monitors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job's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progress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10" dirty="0">
                <a:latin typeface="Calibri"/>
                <a:cs typeface="Calibri"/>
              </a:rPr>
              <a:t> updates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600"/>
              </a:lnSpc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ResourceManager.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30"/>
              </a:spcBef>
              <a:buClr>
                <a:srgbClr val="0070C0"/>
              </a:buClr>
              <a:buAutoNum type="arabicPeriod" startAt="9"/>
              <a:tabLst>
                <a:tab pos="186055" algn="l"/>
              </a:tabLst>
            </a:pP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Job</a:t>
            </a:r>
            <a:r>
              <a:rPr sz="1400" spc="-2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Completion:</a:t>
            </a:r>
            <a:endParaRPr sz="1400" dirty="0">
              <a:latin typeface="Calibri"/>
              <a:cs typeface="Calibri"/>
            </a:endParaRPr>
          </a:p>
          <a:p>
            <a:pPr marL="12700" marR="748665">
              <a:lnSpc>
                <a:spcPts val="1510"/>
              </a:lnSpc>
              <a:spcBef>
                <a:spcPts val="1015"/>
              </a:spcBef>
            </a:pPr>
            <a:r>
              <a:rPr sz="1400" dirty="0">
                <a:latin typeface="Calibri"/>
                <a:cs typeface="Calibri"/>
              </a:rPr>
              <a:t>Once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all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Mapper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Reducer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tasks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complete,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the </a:t>
            </a:r>
            <a:r>
              <a:rPr sz="1400" spc="-10" dirty="0">
                <a:latin typeface="Calibri"/>
                <a:cs typeface="Calibri"/>
              </a:rPr>
              <a:t>ApplicationMaster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informs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ResourceManager.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595"/>
              </a:lnSpc>
              <a:spcBef>
                <a:spcPts val="8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client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notified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job's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completion,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0" dirty="0">
                <a:latin typeface="Calibri"/>
                <a:cs typeface="Calibri"/>
              </a:rPr>
              <a:t> final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595"/>
              </a:lnSpc>
            </a:pPr>
            <a:r>
              <a:rPr sz="1400" dirty="0">
                <a:latin typeface="Calibri"/>
                <a:cs typeface="Calibri"/>
              </a:rPr>
              <a:t>results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available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HDFS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95211" y="797509"/>
            <a:ext cx="11802110" cy="748665"/>
          </a:xfrm>
          <a:custGeom>
            <a:avLst/>
            <a:gdLst/>
            <a:ahLst/>
            <a:cxnLst/>
            <a:rect l="l" t="t" r="r" b="b"/>
            <a:pathLst>
              <a:path w="11802110" h="748665">
                <a:moveTo>
                  <a:pt x="11801602" y="0"/>
                </a:moveTo>
                <a:lnTo>
                  <a:pt x="0" y="0"/>
                </a:lnTo>
                <a:lnTo>
                  <a:pt x="0" y="748207"/>
                </a:lnTo>
                <a:lnTo>
                  <a:pt x="11801602" y="748207"/>
                </a:lnTo>
                <a:lnTo>
                  <a:pt x="11801602" y="0"/>
                </a:lnTo>
                <a:close/>
              </a:path>
            </a:pathLst>
          </a:custGeom>
          <a:solidFill>
            <a:srgbClr val="6733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dirty="0">
                <a:solidFill>
                  <a:srgbClr val="FFFFFF"/>
                </a:solidFill>
              </a:rPr>
              <a:t>Map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Reduce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Movie</a:t>
            </a:r>
            <a:r>
              <a:rPr sz="2800" spc="-8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Count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Example</a:t>
            </a:r>
            <a:endParaRPr sz="28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A3DEB72-33D8-CFED-2BCF-6F0F2510A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87185" y="1728076"/>
            <a:ext cx="5809615" cy="419658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95211" y="1728089"/>
            <a:ext cx="5900801" cy="23889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 dirty="0">
                <a:solidFill>
                  <a:srgbClr val="FFFFFF"/>
                </a:solidFill>
              </a:rPr>
              <a:t>Hive-</a:t>
            </a:r>
            <a:r>
              <a:rPr sz="2800" dirty="0">
                <a:solidFill>
                  <a:srgbClr val="FFFFFF"/>
                </a:solidFill>
              </a:rPr>
              <a:t>Data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Warehouse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lang="en-US" sz="2800" dirty="0">
                <a:solidFill>
                  <a:srgbClr val="FFFFFF"/>
                </a:solidFill>
              </a:rPr>
              <a:t>T</a:t>
            </a:r>
            <a:r>
              <a:rPr sz="2800" dirty="0">
                <a:solidFill>
                  <a:srgbClr val="FFFFFF"/>
                </a:solidFill>
              </a:rPr>
              <a:t>op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Hive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warehouse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infrastructure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built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querying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datasets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using </a:t>
            </a:r>
            <a:r>
              <a:rPr lang="en-US" sz="2000" spc="-20" dirty="0">
                <a:latin typeface="Calibri"/>
                <a:cs typeface="Calibri"/>
              </a:rPr>
              <a:t>SQL-</a:t>
            </a:r>
            <a:r>
              <a:rPr lang="en-US" sz="2000" dirty="0">
                <a:latin typeface="Calibri"/>
                <a:cs typeface="Calibri"/>
              </a:rPr>
              <a:t>like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syntax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(HiveQL).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Create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Facebook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solve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MapReduce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challenges.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Components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spc="-10" dirty="0" err="1">
                <a:latin typeface="Calibri"/>
                <a:cs typeface="Calibri"/>
              </a:rPr>
              <a:t>Metastore</a:t>
            </a:r>
            <a:r>
              <a:rPr lang="en-US" sz="1800" spc="-10" dirty="0">
                <a:latin typeface="Calibri"/>
                <a:cs typeface="Calibri"/>
              </a:rPr>
              <a:t>:</a:t>
            </a:r>
            <a:r>
              <a:rPr lang="en-US" sz="1800" spc="-7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Stores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metadata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for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tables.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Driver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Manages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execution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HiveQL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statements.</a:t>
            </a:r>
            <a:endParaRPr lang="en-US" sz="1800" dirty="0">
              <a:latin typeface="Calibri"/>
              <a:cs typeface="Calibri"/>
            </a:endParaRPr>
          </a:p>
          <a:p>
            <a:pPr marL="756285" marR="407034" lvl="1" indent="-287020">
              <a:lnSpc>
                <a:spcPts val="1939"/>
              </a:lnSpc>
              <a:spcBef>
                <a:spcPts val="53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Compiler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0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Converts</a:t>
            </a:r>
            <a:r>
              <a:rPr lang="en-US" sz="1800" spc="-7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HiveQL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queries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MapReduce tasks.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ts val="2280"/>
              </a:lnSpc>
              <a:spcBef>
                <a:spcPts val="7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summarization,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query,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analysis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HDFS.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16577" y="1748135"/>
            <a:ext cx="5101762" cy="49712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17363"/>
            <a:ext cx="6627703" cy="7085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5875" rIns="0" bIns="0" rtlCol="0">
            <a:spAutoFit/>
          </a:bodyPr>
          <a:lstStyle/>
          <a:p>
            <a:pPr marL="91440" marR="411480">
              <a:lnSpc>
                <a:spcPts val="2700"/>
              </a:lnSpc>
              <a:spcBef>
                <a:spcPts val="125"/>
              </a:spcBef>
            </a:pPr>
            <a:r>
              <a:rPr sz="2500" dirty="0">
                <a:solidFill>
                  <a:srgbClr val="FFFFFF"/>
                </a:solidFill>
              </a:rPr>
              <a:t>Sample</a:t>
            </a:r>
            <a:r>
              <a:rPr sz="2500" spc="-7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Hive</a:t>
            </a:r>
            <a:r>
              <a:rPr sz="2500" spc="-7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Commands</a:t>
            </a:r>
            <a:r>
              <a:rPr sz="2500" spc="-6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–</a:t>
            </a:r>
            <a:r>
              <a:rPr sz="2500" spc="-70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Declarative, </a:t>
            </a:r>
            <a:r>
              <a:rPr sz="2500" dirty="0">
                <a:solidFill>
                  <a:srgbClr val="FFFFFF"/>
                </a:solidFill>
              </a:rPr>
              <a:t>SQL</a:t>
            </a:r>
            <a:r>
              <a:rPr sz="2500" spc="-80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Like</a:t>
            </a:r>
            <a:r>
              <a:rPr sz="2500" spc="-85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Commands</a:t>
            </a:r>
            <a:endParaRPr sz="25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6B9512-6735-2168-2573-037AFE5A3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304974" cy="4991039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2000" b="1" dirty="0">
                <a:latin typeface="Calibri"/>
                <a:cs typeface="Calibri"/>
              </a:rPr>
              <a:t>Benefits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Hive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over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MapReduce</a:t>
            </a:r>
            <a:endParaRPr lang="en-US" sz="2000" dirty="0">
              <a:latin typeface="Calibri"/>
              <a:cs typeface="Calibri"/>
            </a:endParaRPr>
          </a:p>
          <a:p>
            <a:pPr marL="12700" marR="24130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	SQL-</a:t>
            </a:r>
            <a:r>
              <a:rPr lang="en-US" sz="2000" b="1" dirty="0">
                <a:latin typeface="Calibri"/>
                <a:cs typeface="Calibri"/>
              </a:rPr>
              <a:t>Like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Query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Language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HiveQL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similar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SQL,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people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SQL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knowledge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work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12700" marR="5080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Schema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on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Read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defines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schema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when</a:t>
            </a:r>
            <a:r>
              <a:rPr lang="en-US" sz="2000" spc="-25" dirty="0">
                <a:latin typeface="Calibri"/>
                <a:cs typeface="Calibri"/>
              </a:rPr>
              <a:t> the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it's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loaded,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ideal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for </a:t>
            </a:r>
            <a:r>
              <a:rPr lang="en-US" sz="2000" spc="-10" dirty="0">
                <a:latin typeface="Calibri"/>
                <a:cs typeface="Calibri"/>
              </a:rPr>
              <a:t>unstructured</a:t>
            </a:r>
            <a:r>
              <a:rPr lang="en-US" sz="2000" dirty="0">
                <a:latin typeface="Calibri"/>
                <a:cs typeface="Calibri"/>
              </a:rPr>
              <a:t> or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semi-</a:t>
            </a:r>
            <a:r>
              <a:rPr lang="en-US" sz="2000" spc="-10" dirty="0">
                <a:latin typeface="Calibri"/>
                <a:cs typeface="Calibri"/>
              </a:rPr>
              <a:t>structured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12700" marR="33655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Data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Summarization</a:t>
            </a:r>
            <a:r>
              <a:rPr lang="en-US" sz="2000" b="1" spc="-7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Analysis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optimized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warehousing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tasks,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such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summarization, </a:t>
            </a:r>
            <a:r>
              <a:rPr lang="en-US" sz="2000" dirty="0">
                <a:latin typeface="Calibri"/>
                <a:cs typeface="Calibri"/>
              </a:rPr>
              <a:t>analysis,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ad-</a:t>
            </a:r>
            <a:r>
              <a:rPr lang="en-US" sz="2000" dirty="0">
                <a:latin typeface="Calibri"/>
                <a:cs typeface="Calibri"/>
              </a:rPr>
              <a:t>hoc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querying.</a:t>
            </a:r>
            <a:endParaRPr lang="en-US" sz="2000" dirty="0">
              <a:latin typeface="Calibri"/>
              <a:cs typeface="Calibri"/>
            </a:endParaRPr>
          </a:p>
          <a:p>
            <a:pPr marL="12700" marR="41910" indent="-3810">
              <a:lnSpc>
                <a:spcPct val="100000"/>
              </a:lnSpc>
              <a:spcBef>
                <a:spcPts val="605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Ease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seamlessly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with </a:t>
            </a:r>
            <a:r>
              <a:rPr lang="en-US" sz="2000" dirty="0">
                <a:latin typeface="Calibri"/>
                <a:cs typeface="Calibri"/>
              </a:rPr>
              <a:t>Hadoop's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efficient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large-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 </a:t>
            </a:r>
            <a:r>
              <a:rPr lang="en-US" sz="2000" spc="-10" dirty="0">
                <a:latin typeface="Calibri"/>
                <a:cs typeface="Calibri"/>
              </a:rPr>
              <a:t>processing.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8297671" y="6621576"/>
            <a:ext cx="353504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https://youtu.be/LEzQVPvNTNo?si=JQlcwb1fimzxVs_9&amp;t=753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29832" y="817363"/>
            <a:ext cx="4878082" cy="55096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PIG</a:t>
            </a:r>
            <a:r>
              <a:rPr sz="2800" spc="-2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High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Level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SQL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Like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Language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546150" cy="423513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8600" marR="285115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/>
              <a:t>Pig</a:t>
            </a:r>
            <a:r>
              <a:rPr lang="en-US" spc="-45" dirty="0"/>
              <a:t> </a:t>
            </a:r>
            <a:r>
              <a:rPr lang="en-US" dirty="0"/>
              <a:t>Latin</a:t>
            </a:r>
            <a:r>
              <a:rPr lang="en-US" spc="-40" dirty="0"/>
              <a:t> </a:t>
            </a:r>
            <a:r>
              <a:rPr lang="en-US" dirty="0"/>
              <a:t>is</a:t>
            </a:r>
            <a:r>
              <a:rPr lang="en-US" spc="-40" dirty="0"/>
              <a:t> </a:t>
            </a:r>
            <a:r>
              <a:rPr lang="en-US" dirty="0"/>
              <a:t>a</a:t>
            </a:r>
            <a:r>
              <a:rPr lang="en-US" spc="-45" dirty="0"/>
              <a:t> </a:t>
            </a:r>
            <a:r>
              <a:rPr lang="en-US" spc="-10" dirty="0"/>
              <a:t>high-</a:t>
            </a:r>
            <a:r>
              <a:rPr lang="en-US" dirty="0"/>
              <a:t>level</a:t>
            </a:r>
            <a:r>
              <a:rPr lang="en-US" spc="-35" dirty="0"/>
              <a:t> 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processing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language</a:t>
            </a:r>
            <a:r>
              <a:rPr lang="en-US" spc="-70" dirty="0">
                <a:solidFill>
                  <a:srgbClr val="FF0000"/>
                </a:solidFill>
              </a:rPr>
              <a:t> </a:t>
            </a:r>
            <a:r>
              <a:rPr lang="en-US" dirty="0"/>
              <a:t>that</a:t>
            </a:r>
            <a:r>
              <a:rPr lang="en-US" spc="-40" dirty="0"/>
              <a:t> </a:t>
            </a:r>
            <a:r>
              <a:rPr lang="en-US" dirty="0"/>
              <a:t>simplifies </a:t>
            </a:r>
            <a:r>
              <a:rPr lang="en-US" spc="-10" dirty="0"/>
              <a:t>writing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spc="-20" dirty="0">
                <a:solidFill>
                  <a:srgbClr val="FF0000"/>
                </a:solidFill>
              </a:rPr>
              <a:t>transformations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and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analysis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tasks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over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large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datasets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in</a:t>
            </a:r>
            <a:r>
              <a:rPr lang="en-US" spc="-6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Hadoop</a:t>
            </a:r>
            <a:r>
              <a:rPr lang="en-US" spc="-10" dirty="0"/>
              <a:t>.</a:t>
            </a:r>
          </a:p>
          <a:p>
            <a:pPr marL="241300" indent="-228600">
              <a:lnSpc>
                <a:spcPts val="228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/>
              <a:t>It’s</a:t>
            </a:r>
            <a:r>
              <a:rPr lang="en-US" spc="-40" dirty="0"/>
              <a:t> </a:t>
            </a:r>
            <a:r>
              <a:rPr lang="en-US" dirty="0"/>
              <a:t>part</a:t>
            </a:r>
            <a:r>
              <a:rPr lang="en-US" spc="-25" dirty="0"/>
              <a:t> </a:t>
            </a:r>
            <a:r>
              <a:rPr lang="en-US" dirty="0"/>
              <a:t>of</a:t>
            </a:r>
            <a:r>
              <a:rPr lang="en-US" spc="-30" dirty="0"/>
              <a:t> </a:t>
            </a:r>
            <a:r>
              <a:rPr lang="en-US" dirty="0"/>
              <a:t>the</a:t>
            </a:r>
            <a:r>
              <a:rPr lang="en-US" spc="-25" dirty="0"/>
              <a:t> </a:t>
            </a:r>
            <a:r>
              <a:rPr lang="en-US" dirty="0"/>
              <a:t>Apache</a:t>
            </a:r>
            <a:r>
              <a:rPr lang="en-US" spc="-35" dirty="0"/>
              <a:t> </a:t>
            </a:r>
            <a:r>
              <a:rPr lang="en-US" dirty="0"/>
              <a:t>Pig</a:t>
            </a:r>
            <a:r>
              <a:rPr lang="en-US" spc="-25" dirty="0"/>
              <a:t> </a:t>
            </a:r>
            <a:r>
              <a:rPr lang="en-US" spc="-10" dirty="0"/>
              <a:t>platform,</a:t>
            </a:r>
            <a:r>
              <a:rPr lang="en-US" spc="-20" dirty="0"/>
              <a:t> </a:t>
            </a:r>
            <a:r>
              <a:rPr lang="en-US" dirty="0"/>
              <a:t>which</a:t>
            </a:r>
            <a:r>
              <a:rPr lang="en-US" spc="-35" dirty="0"/>
              <a:t> </a:t>
            </a:r>
            <a:r>
              <a:rPr lang="en-US" dirty="0"/>
              <a:t>runs</a:t>
            </a:r>
            <a:r>
              <a:rPr lang="en-US" spc="-35" dirty="0"/>
              <a:t> </a:t>
            </a:r>
            <a:r>
              <a:rPr lang="en-US" dirty="0"/>
              <a:t>on</a:t>
            </a:r>
            <a:r>
              <a:rPr lang="en-US" spc="-25" dirty="0"/>
              <a:t> </a:t>
            </a:r>
            <a:r>
              <a:rPr lang="en-US" dirty="0"/>
              <a:t>Hadoop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30" dirty="0"/>
              <a:t> </a:t>
            </a:r>
            <a:r>
              <a:rPr lang="en-US" spc="-10" dirty="0"/>
              <a:t>translates</a:t>
            </a:r>
          </a:p>
          <a:p>
            <a:pPr marL="241300">
              <a:lnSpc>
                <a:spcPts val="2280"/>
              </a:lnSpc>
            </a:pPr>
            <a:r>
              <a:rPr lang="en-US" dirty="0"/>
              <a:t>Pig</a:t>
            </a:r>
            <a:r>
              <a:rPr lang="en-US" spc="-55" dirty="0"/>
              <a:t> </a:t>
            </a:r>
            <a:r>
              <a:rPr lang="en-US" dirty="0"/>
              <a:t>Latin</a:t>
            </a:r>
            <a:r>
              <a:rPr lang="en-US" spc="-60" dirty="0"/>
              <a:t> </a:t>
            </a:r>
            <a:r>
              <a:rPr lang="en-US" dirty="0"/>
              <a:t>scripts</a:t>
            </a:r>
            <a:r>
              <a:rPr lang="en-US" spc="-45" dirty="0"/>
              <a:t> </a:t>
            </a:r>
            <a:r>
              <a:rPr lang="en-US" dirty="0"/>
              <a:t>into</a:t>
            </a:r>
            <a:r>
              <a:rPr lang="en-US" spc="-60" dirty="0"/>
              <a:t> </a:t>
            </a:r>
            <a:r>
              <a:rPr lang="en-US" dirty="0"/>
              <a:t>MapReduce</a:t>
            </a:r>
            <a:r>
              <a:rPr lang="en-US" spc="-65" dirty="0"/>
              <a:t> </a:t>
            </a:r>
            <a:r>
              <a:rPr lang="en-US" spc="-10" dirty="0"/>
              <a:t>jobs.</a:t>
            </a:r>
          </a:p>
          <a:p>
            <a:pPr marL="241300" indent="-228600">
              <a:lnSpc>
                <a:spcPts val="2280"/>
              </a:lnSpc>
              <a:spcBef>
                <a:spcPts val="77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</a:rPr>
              <a:t>This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allows</a:t>
            </a:r>
            <a:r>
              <a:rPr lang="en-US" spc="-3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users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to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work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with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big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3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using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simpler</a:t>
            </a:r>
            <a:r>
              <a:rPr lang="en-US" spc="-2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syntax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compared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spc="-25" dirty="0">
                <a:solidFill>
                  <a:srgbClr val="FF0000"/>
                </a:solidFill>
              </a:rPr>
              <a:t>to</a:t>
            </a:r>
          </a:p>
          <a:p>
            <a:pPr marL="241300">
              <a:lnSpc>
                <a:spcPts val="2280"/>
              </a:lnSpc>
            </a:pPr>
            <a:r>
              <a:rPr lang="en-US" dirty="0">
                <a:solidFill>
                  <a:srgbClr val="FF0000"/>
                </a:solidFill>
              </a:rPr>
              <a:t>writing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complex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MapReduce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code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directly</a:t>
            </a:r>
            <a:r>
              <a:rPr lang="en-US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/>
              <a:t>Created</a:t>
            </a:r>
            <a:r>
              <a:rPr lang="en-US" spc="-55" dirty="0"/>
              <a:t> </a:t>
            </a:r>
            <a:r>
              <a:rPr lang="en-US" dirty="0"/>
              <a:t>by</a:t>
            </a:r>
            <a:r>
              <a:rPr lang="en-US" spc="-55" dirty="0"/>
              <a:t> </a:t>
            </a:r>
            <a:r>
              <a:rPr lang="en-US" spc="-20" dirty="0">
                <a:solidFill>
                  <a:srgbClr val="006FC0"/>
                </a:solidFill>
              </a:rPr>
              <a:t>Yahoo</a:t>
            </a:r>
            <a:r>
              <a:rPr lang="en-US" spc="-75" dirty="0">
                <a:solidFill>
                  <a:srgbClr val="006FC0"/>
                </a:solidFill>
              </a:rPr>
              <a:t> </a:t>
            </a:r>
            <a:r>
              <a:rPr lang="en-US" dirty="0"/>
              <a:t>to</a:t>
            </a:r>
            <a:r>
              <a:rPr lang="en-US" spc="-55" dirty="0"/>
              <a:t> </a:t>
            </a:r>
            <a:r>
              <a:rPr lang="en-US" dirty="0"/>
              <a:t>solve</a:t>
            </a:r>
            <a:r>
              <a:rPr lang="en-US" spc="-45" dirty="0"/>
              <a:t> </a:t>
            </a:r>
            <a:r>
              <a:rPr lang="en-US" dirty="0"/>
              <a:t>MapReduce</a:t>
            </a:r>
            <a:r>
              <a:rPr lang="en-US" spc="-75" dirty="0"/>
              <a:t> </a:t>
            </a:r>
            <a:r>
              <a:rPr lang="en-US" spc="-10" dirty="0"/>
              <a:t>challenges.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Architecture</a:t>
            </a:r>
            <a:r>
              <a:rPr lang="en-US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Latin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Scripts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Define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transformation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tasks.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Engine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Executes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these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scripts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Hadoop.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Use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Cases</a:t>
            </a:r>
            <a:r>
              <a:rPr lang="en-US" dirty="0"/>
              <a:t>:</a:t>
            </a:r>
            <a:r>
              <a:rPr lang="en-US" spc="-35" dirty="0"/>
              <a:t> </a:t>
            </a:r>
            <a:r>
              <a:rPr lang="en-US" dirty="0"/>
              <a:t>Data</a:t>
            </a:r>
            <a:r>
              <a:rPr lang="en-US" spc="-50" dirty="0"/>
              <a:t> </a:t>
            </a:r>
            <a:r>
              <a:rPr lang="en-US" dirty="0"/>
              <a:t>cleansing,</a:t>
            </a:r>
            <a:r>
              <a:rPr lang="en-US" spc="-40" dirty="0"/>
              <a:t> </a:t>
            </a:r>
            <a:r>
              <a:rPr lang="en-US" dirty="0"/>
              <a:t>ETL</a:t>
            </a:r>
            <a:r>
              <a:rPr lang="en-US" spc="-70" dirty="0"/>
              <a:t> </a:t>
            </a:r>
            <a:r>
              <a:rPr lang="en-US" dirty="0"/>
              <a:t>(Extract,</a:t>
            </a:r>
            <a:r>
              <a:rPr lang="en-US" spc="-35" dirty="0"/>
              <a:t> </a:t>
            </a:r>
            <a:r>
              <a:rPr lang="en-US" spc="-25" dirty="0"/>
              <a:t>Transform,</a:t>
            </a:r>
            <a:r>
              <a:rPr lang="en-US" spc="-40" dirty="0"/>
              <a:t> </a:t>
            </a:r>
            <a:r>
              <a:rPr lang="en-US" dirty="0"/>
              <a:t>Load)</a:t>
            </a:r>
            <a:r>
              <a:rPr lang="en-US" spc="-50" dirty="0"/>
              <a:t> </a:t>
            </a:r>
            <a:r>
              <a:rPr lang="en-US" spc="-10" dirty="0"/>
              <a:t>operations.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60338" y="2138235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35365" y="5932119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17570" y="688025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46893" y="6328054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17363"/>
            <a:ext cx="5031987" cy="7085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5875" rIns="0" bIns="0" rtlCol="0">
            <a:spAutoFit/>
          </a:bodyPr>
          <a:lstStyle/>
          <a:p>
            <a:pPr marL="91440" marR="1063625">
              <a:lnSpc>
                <a:spcPts val="2700"/>
              </a:lnSpc>
              <a:spcBef>
                <a:spcPts val="125"/>
              </a:spcBef>
            </a:pPr>
            <a:r>
              <a:rPr sz="2500" dirty="0">
                <a:solidFill>
                  <a:srgbClr val="FFFFFF"/>
                </a:solidFill>
              </a:rPr>
              <a:t>Sample</a:t>
            </a:r>
            <a:r>
              <a:rPr sz="2500" spc="-70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Pig</a:t>
            </a:r>
            <a:r>
              <a:rPr sz="2500" spc="-65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Programming </a:t>
            </a:r>
            <a:r>
              <a:rPr sz="2500" dirty="0">
                <a:solidFill>
                  <a:srgbClr val="FFFFFF"/>
                </a:solidFill>
              </a:rPr>
              <a:t>Language</a:t>
            </a:r>
            <a:r>
              <a:rPr sz="2500" spc="-110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Commands</a:t>
            </a:r>
            <a:endParaRPr sz="25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92DA10B-6357-37BF-59BD-660098D0E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031986" cy="4991039"/>
          </a:xfrm>
        </p:spPr>
        <p:txBody>
          <a:bodyPr>
            <a:normAutofit lnSpcReduction="10000"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lang="en-US" sz="2000" b="1" dirty="0">
                <a:latin typeface="Calibri"/>
                <a:cs typeface="Calibri"/>
              </a:rPr>
              <a:t>Benefits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Pig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Latin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over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MapReduce</a:t>
            </a:r>
            <a:endParaRPr lang="en-US" sz="2000" dirty="0">
              <a:latin typeface="Calibri"/>
              <a:cs typeface="Calibri"/>
            </a:endParaRPr>
          </a:p>
          <a:p>
            <a:pPr marL="241300" marR="148590" indent="-229235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Simpler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Syntax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concise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understand,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accessible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</a:t>
            </a:r>
            <a:r>
              <a:rPr lang="en-US" sz="2000" dirty="0">
                <a:latin typeface="Calibri"/>
                <a:cs typeface="Calibri"/>
              </a:rPr>
              <a:t>those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SQL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knowledge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without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deep </a:t>
            </a:r>
            <a:r>
              <a:rPr lang="en-US" sz="2000" spc="-10" dirty="0">
                <a:latin typeface="Calibri"/>
                <a:cs typeface="Calibri"/>
              </a:rPr>
              <a:t>understanding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Java.</a:t>
            </a:r>
            <a:endParaRPr lang="en-US" sz="2000" dirty="0">
              <a:latin typeface="Calibri"/>
              <a:cs typeface="Calibri"/>
            </a:endParaRPr>
          </a:p>
          <a:p>
            <a:pPr marL="241300" marR="5080" indent="-229235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Less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Code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script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requires </a:t>
            </a:r>
            <a:r>
              <a:rPr lang="en-US" sz="2000" dirty="0">
                <a:latin typeface="Calibri"/>
                <a:cs typeface="Calibri"/>
              </a:rPr>
              <a:t>fewer</a:t>
            </a:r>
            <a:r>
              <a:rPr lang="en-US" sz="2000" spc="-10" dirty="0">
                <a:latin typeface="Calibri"/>
                <a:cs typeface="Calibri"/>
              </a:rPr>
              <a:t> lines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code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compared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MapReduce,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reducing development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time.</a:t>
            </a:r>
            <a:endParaRPr lang="en-US" sz="2000" dirty="0">
              <a:latin typeface="Calibri"/>
              <a:cs typeface="Calibri"/>
            </a:endParaRPr>
          </a:p>
          <a:p>
            <a:pPr marL="241300" marR="177800" indent="-229235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Built-</a:t>
            </a:r>
            <a:r>
              <a:rPr lang="en-US" sz="2000" b="1" dirty="0">
                <a:latin typeface="Calibri"/>
                <a:cs typeface="Calibri"/>
              </a:rPr>
              <a:t>in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Operations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 built-</a:t>
            </a:r>
            <a:r>
              <a:rPr lang="en-US" sz="2000" spc="-25" dirty="0">
                <a:latin typeface="Calibri"/>
                <a:cs typeface="Calibri"/>
              </a:rPr>
              <a:t>in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common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like </a:t>
            </a:r>
            <a:r>
              <a:rPr lang="en-US" sz="2000" dirty="0">
                <a:latin typeface="Calibri"/>
                <a:cs typeface="Calibri"/>
              </a:rPr>
              <a:t>filtering,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grouping,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joining,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would </a:t>
            </a:r>
            <a:r>
              <a:rPr lang="en-US" sz="2000" dirty="0">
                <a:latin typeface="Calibri"/>
                <a:cs typeface="Calibri"/>
              </a:rPr>
              <a:t>require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extensive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coding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MapReduce.</a:t>
            </a:r>
            <a:endParaRPr lang="en-US" sz="2000" dirty="0">
              <a:latin typeface="Calibri"/>
              <a:cs typeface="Calibri"/>
            </a:endParaRPr>
          </a:p>
          <a:p>
            <a:pPr marL="241300" marR="198755" indent="-229235">
              <a:lnSpc>
                <a:spcPct val="90000"/>
              </a:lnSpc>
              <a:spcBef>
                <a:spcPts val="96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Data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Flow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Language</a:t>
            </a:r>
            <a:r>
              <a:rPr lang="en-US" sz="2000" spc="-10" dirty="0">
                <a:latin typeface="Calibri"/>
                <a:cs typeface="Calibri"/>
              </a:rPr>
              <a:t>: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transformations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flow-</a:t>
            </a:r>
            <a:r>
              <a:rPr lang="en-US" sz="2000" spc="-20" dirty="0">
                <a:latin typeface="Calibri"/>
                <a:cs typeface="Calibri"/>
              </a:rPr>
              <a:t>like </a:t>
            </a:r>
            <a:r>
              <a:rPr lang="en-US" sz="2000" spc="-25" dirty="0">
                <a:latin typeface="Calibri"/>
                <a:cs typeface="Calibri"/>
              </a:rPr>
              <a:t>manner,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simpler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breaking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down </a:t>
            </a:r>
            <a:r>
              <a:rPr lang="en-US" sz="2000" dirty="0">
                <a:latin typeface="Calibri"/>
                <a:cs typeface="Calibri"/>
              </a:rPr>
              <a:t>tasks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Reduce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steps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required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MapReduce.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8240394" y="6591401"/>
            <a:ext cx="358521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https://youtu.be/LEzQVPvNTNo?si=JS4-3Qxyu3o7TD9q&amp;t=873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91098" y="818515"/>
            <a:ext cx="572008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Calibri"/>
                <a:cs typeface="Calibri"/>
              </a:rPr>
              <a:t>Sample</a:t>
            </a:r>
            <a:r>
              <a:rPr sz="1600" b="1" spc="-40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Pig</a:t>
            </a:r>
            <a:r>
              <a:rPr sz="1600" b="1" spc="-55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Latin</a:t>
            </a:r>
            <a:r>
              <a:rPr sz="1600" b="1" spc="-50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Script:</a:t>
            </a:r>
            <a:r>
              <a:rPr sz="1600" b="1" spc="-30" dirty="0">
                <a:latin typeface="Calibri"/>
                <a:cs typeface="Calibri"/>
              </a:rPr>
              <a:t> </a:t>
            </a:r>
            <a:r>
              <a:rPr sz="1600" b="1" spc="-10" dirty="0">
                <a:latin typeface="Calibri"/>
                <a:cs typeface="Calibri"/>
              </a:rPr>
              <a:t>Word</a:t>
            </a:r>
            <a:r>
              <a:rPr sz="1600" b="1" spc="-30" dirty="0">
                <a:latin typeface="Calibri"/>
                <a:cs typeface="Calibri"/>
              </a:rPr>
              <a:t> </a:t>
            </a:r>
            <a:r>
              <a:rPr sz="1600" b="1" spc="-20" dirty="0">
                <a:latin typeface="Calibri"/>
                <a:cs typeface="Calibri"/>
              </a:rPr>
              <a:t>Count</a:t>
            </a:r>
            <a:endParaRPr sz="1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Calibri"/>
                <a:cs typeface="Calibri"/>
              </a:rPr>
              <a:t>This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script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reads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a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text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file,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splits</a:t>
            </a:r>
            <a:r>
              <a:rPr sz="1600" spc="-5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each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line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into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words,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and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counts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spc="-25" dirty="0">
                <a:latin typeface="Calibri"/>
                <a:cs typeface="Calibri"/>
              </a:rPr>
              <a:t>the</a:t>
            </a:r>
            <a:endParaRPr sz="1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Calibri"/>
                <a:cs typeface="Calibri"/>
              </a:rPr>
              <a:t>occurrences</a:t>
            </a:r>
            <a:r>
              <a:rPr sz="1600" spc="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of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each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spc="-30" dirty="0">
                <a:latin typeface="Calibri"/>
                <a:cs typeface="Calibri"/>
              </a:rPr>
              <a:t>word—</a:t>
            </a:r>
            <a:r>
              <a:rPr sz="1600" dirty="0">
                <a:latin typeface="Calibri"/>
                <a:cs typeface="Calibri"/>
              </a:rPr>
              <a:t>a classic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example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data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processing.</a:t>
            </a:r>
            <a:endParaRPr sz="16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82746" y="1682037"/>
            <a:ext cx="6515285" cy="47878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HBase</a:t>
            </a:r>
            <a:r>
              <a:rPr sz="2800" dirty="0">
                <a:solidFill>
                  <a:srgbClr val="FFFFFF"/>
                </a:solidFill>
              </a:rPr>
              <a:t>	-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Distributed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Database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470386" cy="4991039"/>
          </a:xfrm>
        </p:spPr>
        <p:txBody>
          <a:bodyPr/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NoSQL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database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built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Hadoop, </a:t>
            </a:r>
            <a:r>
              <a:rPr lang="en-US" sz="2000" dirty="0">
                <a:latin typeface="Calibri"/>
                <a:cs typeface="Calibri"/>
              </a:rPr>
              <a:t>specifically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amounts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sparse, </a:t>
            </a:r>
            <a:r>
              <a:rPr lang="en-US" sz="2000" spc="-20" dirty="0">
                <a:latin typeface="Calibri"/>
                <a:cs typeface="Calibri"/>
              </a:rPr>
              <a:t>semi-</a:t>
            </a:r>
            <a:r>
              <a:rPr lang="en-US" sz="2000" dirty="0">
                <a:latin typeface="Calibri"/>
                <a:cs typeface="Calibri"/>
              </a:rPr>
              <a:t>structured,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unstructured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environment.</a:t>
            </a:r>
            <a:endParaRPr lang="en-US" sz="2000" dirty="0">
              <a:latin typeface="Calibri"/>
              <a:cs typeface="Calibri"/>
            </a:endParaRPr>
          </a:p>
          <a:p>
            <a:pPr marL="241300" marR="24765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random,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read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write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data,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well-</a:t>
            </a:r>
            <a:r>
              <a:rPr lang="en-US" sz="2000" dirty="0">
                <a:latin typeface="Calibri"/>
                <a:cs typeface="Calibri"/>
              </a:rPr>
              <a:t>suited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where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fast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individual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essential.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3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 err="1">
                <a:latin typeface="Calibri"/>
                <a:cs typeface="Calibri"/>
              </a:rPr>
              <a:t>HMaster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Manages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cluster.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ts val="2050"/>
              </a:lnSpc>
              <a:spcBef>
                <a:spcPts val="28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 err="1">
                <a:latin typeface="Calibri"/>
                <a:cs typeface="Calibri"/>
              </a:rPr>
              <a:t>RegionServer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8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Handles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read/write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requests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for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regions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the</a:t>
            </a:r>
            <a:endParaRPr lang="en-US" sz="1800" dirty="0">
              <a:latin typeface="Calibri"/>
              <a:cs typeface="Calibri"/>
            </a:endParaRPr>
          </a:p>
          <a:p>
            <a:pPr marL="756285">
              <a:lnSpc>
                <a:spcPts val="2050"/>
              </a:lnSpc>
            </a:pPr>
            <a:r>
              <a:rPr lang="en-US" sz="1800" spc="-10" dirty="0">
                <a:latin typeface="Calibri"/>
                <a:cs typeface="Calibri"/>
              </a:rPr>
              <a:t>database.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spc="-10" dirty="0" err="1">
                <a:latin typeface="Calibri"/>
                <a:cs typeface="Calibri"/>
              </a:rPr>
              <a:t>ZooKeeper</a:t>
            </a:r>
            <a:r>
              <a:rPr lang="en-US" sz="1800" spc="-10" dirty="0">
                <a:latin typeface="Calibri"/>
                <a:cs typeface="Calibri"/>
              </a:rPr>
              <a:t>:</a:t>
            </a:r>
            <a:r>
              <a:rPr lang="en-US" sz="1800" spc="-9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Manages</a:t>
            </a:r>
            <a:r>
              <a:rPr lang="en-US" sz="1800" spc="-8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distributed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coordination.</a:t>
            </a:r>
            <a:endParaRPr lang="en-US" sz="1800" dirty="0">
              <a:latin typeface="Calibri"/>
              <a:cs typeface="Calibri"/>
            </a:endParaRPr>
          </a:p>
          <a:p>
            <a:pPr marL="241300" marR="40640" indent="-229235">
              <a:lnSpc>
                <a:spcPts val="2160"/>
              </a:lnSpc>
              <a:spcBef>
                <a:spcPts val="102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read/write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suitable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large-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storage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6760" y="823934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67960" y="2172032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Key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Features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HBase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4582C4-228C-E54E-39F2-0BC2E25DF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892489" cy="4991039"/>
          </a:xfrm>
        </p:spPr>
        <p:txBody>
          <a:bodyPr/>
          <a:lstStyle/>
          <a:p>
            <a:pPr marL="241300" marR="152400" indent="-229235">
              <a:lnSpc>
                <a:spcPct val="80000"/>
              </a:lnSpc>
              <a:spcBef>
                <a:spcPts val="5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Column-</a:t>
            </a:r>
            <a:r>
              <a:rPr lang="en-US" sz="2000" b="1" dirty="0">
                <a:latin typeface="Calibri"/>
                <a:cs typeface="Calibri"/>
              </a:rPr>
              <a:t>Oriented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Storage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stores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column-</a:t>
            </a:r>
            <a:r>
              <a:rPr lang="en-US" sz="2000" dirty="0">
                <a:latin typeface="Calibri"/>
                <a:cs typeface="Calibri"/>
              </a:rPr>
              <a:t>family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format,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efficient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querying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specific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columns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massive datasets.</a:t>
            </a:r>
            <a:endParaRPr lang="en-US" sz="2000" dirty="0">
              <a:latin typeface="Calibri"/>
              <a:cs typeface="Calibri"/>
            </a:endParaRPr>
          </a:p>
          <a:p>
            <a:pPr marL="241300" marR="218440" indent="-229235">
              <a:lnSpc>
                <a:spcPct val="8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Real-</a:t>
            </a:r>
            <a:r>
              <a:rPr lang="en-US" sz="2000" b="1" dirty="0">
                <a:latin typeface="Calibri"/>
                <a:cs typeface="Calibri"/>
              </a:rPr>
              <a:t>Time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Read/Write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Unlike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is </a:t>
            </a:r>
            <a:r>
              <a:rPr lang="en-US" sz="2000" spc="-10" dirty="0">
                <a:latin typeface="Calibri"/>
                <a:cs typeface="Calibri"/>
              </a:rPr>
              <a:t>optimized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9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batch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processing,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HBase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CRUD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(Create,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Read, </a:t>
            </a:r>
            <a:r>
              <a:rPr lang="en-US" sz="2000" dirty="0">
                <a:latin typeface="Calibri"/>
                <a:cs typeface="Calibri"/>
              </a:rPr>
              <a:t>Update,</a:t>
            </a:r>
            <a:r>
              <a:rPr lang="en-US" sz="2000" spc="-8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Delete)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operations.</a:t>
            </a:r>
            <a:endParaRPr lang="en-US" sz="2000" dirty="0">
              <a:latin typeface="Calibri"/>
              <a:cs typeface="Calibri"/>
            </a:endParaRPr>
          </a:p>
          <a:p>
            <a:pPr marL="239395" marR="386715" indent="-227329" algn="just">
              <a:lnSpc>
                <a:spcPct val="80000"/>
              </a:lnSpc>
              <a:spcBef>
                <a:spcPts val="10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Scalability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horizontally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by 	</a:t>
            </a:r>
            <a:r>
              <a:rPr lang="en-US" sz="2000" dirty="0">
                <a:latin typeface="Calibri"/>
                <a:cs typeface="Calibri"/>
              </a:rPr>
              <a:t>adding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30" dirty="0">
                <a:latin typeface="Calibri"/>
                <a:cs typeface="Calibri"/>
              </a:rPr>
              <a:t>cluster, </a:t>
            </a:r>
            <a:r>
              <a:rPr lang="en-US" sz="2000" spc="-10" dirty="0">
                <a:latin typeface="Calibri"/>
                <a:cs typeface="Calibri"/>
              </a:rPr>
              <a:t>handling 	petabytes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241300" marR="34925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Strong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Consistency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Ensures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r>
              <a:rPr lang="en-US" sz="2000" spc="50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reflect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most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recent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writes,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is </a:t>
            </a:r>
            <a:r>
              <a:rPr lang="en-US" sz="2000" dirty="0">
                <a:latin typeface="Calibri"/>
                <a:cs typeface="Calibri"/>
              </a:rPr>
              <a:t>vital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requiring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accurate,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up-</a:t>
            </a:r>
            <a:r>
              <a:rPr lang="en-US" sz="2000" spc="-25" dirty="0">
                <a:latin typeface="Calibri"/>
                <a:cs typeface="Calibri"/>
              </a:rPr>
              <a:t>to- </a:t>
            </a:r>
            <a:r>
              <a:rPr lang="en-US" sz="2000" dirty="0">
                <a:latin typeface="Calibri"/>
                <a:cs typeface="Calibri"/>
              </a:rPr>
              <a:t>date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information.</a:t>
            </a:r>
            <a:endParaRPr lang="en-US" sz="2000" dirty="0">
              <a:latin typeface="Calibri"/>
              <a:cs typeface="Calibri"/>
            </a:endParaRPr>
          </a:p>
          <a:p>
            <a:pPr marL="241300" marR="5080" indent="-229235">
              <a:lnSpc>
                <a:spcPct val="8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with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Hadoop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in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meaning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leverage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fault- tolerance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scalability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features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76574" y="910306"/>
            <a:ext cx="5164794" cy="58899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48259" cy="4991039"/>
          </a:xfrm>
        </p:spPr>
        <p:txBody>
          <a:bodyPr>
            <a:normAutofit fontScale="92500" lnSpcReduction="10000"/>
          </a:bodyPr>
          <a:lstStyle/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Apache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open-</a:t>
            </a:r>
            <a:r>
              <a:rPr lang="en-US" sz="1700" dirty="0">
                <a:latin typeface="Calibri"/>
                <a:cs typeface="Calibri"/>
              </a:rPr>
              <a:t>source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distributed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processing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engine </a:t>
            </a:r>
            <a:r>
              <a:rPr lang="en-US" sz="1700" dirty="0">
                <a:latin typeface="Calibri"/>
                <a:cs typeface="Calibri"/>
              </a:rPr>
              <a:t>optimized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large-</a:t>
            </a:r>
            <a:r>
              <a:rPr lang="en-US" sz="1700" dirty="0">
                <a:latin typeface="Calibri"/>
                <a:cs typeface="Calibri"/>
              </a:rPr>
              <a:t>scale</a:t>
            </a:r>
            <a:r>
              <a:rPr lang="en-US" sz="1700" spc="-7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processing.</a:t>
            </a:r>
            <a:endParaRPr lang="en-US" sz="1700" dirty="0">
              <a:latin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b="1" spc="-10" dirty="0">
                <a:latin typeface="Calibri"/>
                <a:cs typeface="Calibri"/>
              </a:rPr>
              <a:t>In-</a:t>
            </a:r>
            <a:r>
              <a:rPr lang="en-US" sz="1700" b="1" dirty="0">
                <a:latin typeface="Calibri"/>
                <a:cs typeface="Calibri"/>
              </a:rPr>
              <a:t>Memory</a:t>
            </a:r>
            <a:r>
              <a:rPr lang="en-US" sz="1700" b="1" spc="-50" dirty="0">
                <a:latin typeface="Calibri"/>
                <a:cs typeface="Calibri"/>
              </a:rPr>
              <a:t> </a:t>
            </a:r>
            <a:r>
              <a:rPr lang="en-US" sz="1700" b="1" dirty="0">
                <a:latin typeface="Calibri"/>
                <a:cs typeface="Calibri"/>
              </a:rPr>
              <a:t>Processing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7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keeps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memory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between transformations,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speeding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up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processing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times</a:t>
            </a:r>
            <a:r>
              <a:rPr lang="en-US" sz="1700" spc="-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significantly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compared </a:t>
            </a:r>
            <a:r>
              <a:rPr lang="en-US" sz="1700" dirty="0">
                <a:latin typeface="Calibri"/>
                <a:cs typeface="Calibri"/>
              </a:rPr>
              <a:t>to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disk-</a:t>
            </a:r>
            <a:r>
              <a:rPr lang="en-US" sz="1700" dirty="0">
                <a:latin typeface="Calibri"/>
                <a:cs typeface="Calibri"/>
              </a:rPr>
              <a:t>based</a:t>
            </a:r>
            <a:r>
              <a:rPr lang="en-US" sz="1700" spc="-10" dirty="0">
                <a:latin typeface="Calibri"/>
                <a:cs typeface="Calibri"/>
              </a:rPr>
              <a:t> MapReduce.</a:t>
            </a:r>
            <a:endParaRPr lang="en-US" sz="1700" dirty="0">
              <a:latin typeface="Calibri"/>
              <a:cs typeface="Calibri"/>
            </a:endParaRPr>
          </a:p>
          <a:p>
            <a:pPr marL="241300" marR="104139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Unlike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Hadoop's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MapReduce,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7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z="1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speed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7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ease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spc="-25" dirty="0">
                <a:solidFill>
                  <a:srgbClr val="FF0000"/>
                </a:solidFill>
                <a:latin typeface="Calibri"/>
                <a:cs typeface="Calibri"/>
              </a:rPr>
              <a:t>of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use,</a:t>
            </a:r>
            <a:r>
              <a:rPr lang="en-US" sz="17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handling</a:t>
            </a:r>
            <a:r>
              <a:rPr lang="en-US" sz="17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both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batch</a:t>
            </a:r>
            <a:r>
              <a:rPr lang="en-US" sz="1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real-time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spc="-10" dirty="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lang="en-US" sz="1700" spc="-10" dirty="0">
                <a:latin typeface="Calibri"/>
                <a:cs typeface="Calibri"/>
              </a:rPr>
              <a:t>.</a:t>
            </a:r>
            <a:endParaRPr lang="en-US" sz="1700" dirty="0">
              <a:latin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offers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APIs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various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languages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(Java,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Scala,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Python,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R)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spc="-25" dirty="0">
                <a:latin typeface="Calibri"/>
                <a:cs typeface="Calibri"/>
              </a:rPr>
              <a:t>and </a:t>
            </a:r>
            <a:r>
              <a:rPr lang="en-US" sz="1700" dirty="0">
                <a:latin typeface="Calibri"/>
                <a:cs typeface="Calibri"/>
              </a:rPr>
              <a:t>includes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libraries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SQL,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machine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learning,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streaming,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and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graph processing,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making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it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versatile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big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and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machine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learning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tasks.</a:t>
            </a:r>
            <a:endParaRPr lang="en-US" sz="17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Core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Components:</a:t>
            </a:r>
            <a:endParaRPr lang="en-US" sz="1700" dirty="0">
              <a:latin typeface="Calibri"/>
              <a:cs typeface="Calibri"/>
            </a:endParaRPr>
          </a:p>
          <a:p>
            <a:pPr marL="812800" lvl="1" indent="-342900">
              <a:lnSpc>
                <a:spcPts val="1510"/>
              </a:lnSpc>
              <a:buAutoNum type="arabicPeriod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Core:</a:t>
            </a:r>
            <a:r>
              <a:rPr lang="en-US" sz="1500" b="1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The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foundation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1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Spark’s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API,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handling</a:t>
            </a:r>
            <a:r>
              <a:rPr lang="en-US" sz="1500" spc="-6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basic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data</a:t>
            </a:r>
            <a:endParaRPr lang="en-US" sz="1500" dirty="0">
              <a:latin typeface="Calibri"/>
              <a:cs typeface="Calibri"/>
            </a:endParaRPr>
          </a:p>
          <a:p>
            <a:pPr marL="812800">
              <a:lnSpc>
                <a:spcPts val="1505"/>
              </a:lnSpc>
            </a:pP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and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distributing</a:t>
            </a:r>
            <a:r>
              <a:rPr lang="en-US" sz="1500" spc="-7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tasks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across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the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cluster.</a:t>
            </a:r>
            <a:endParaRPr lang="en-US" sz="1500" dirty="0">
              <a:latin typeface="Calibri"/>
              <a:cs typeface="Calibri"/>
            </a:endParaRPr>
          </a:p>
          <a:p>
            <a:pPr marL="812800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SQL:</a:t>
            </a:r>
            <a:r>
              <a:rPr lang="en-US" sz="15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Enables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SQL-</a:t>
            </a:r>
            <a:r>
              <a:rPr lang="en-US" sz="1500" dirty="0">
                <a:latin typeface="Calibri"/>
                <a:cs typeface="Calibri"/>
              </a:rPr>
              <a:t>like</a:t>
            </a:r>
            <a:r>
              <a:rPr lang="en-US" sz="1500" spc="-2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queries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on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stored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in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distributed </a:t>
            </a:r>
            <a:r>
              <a:rPr lang="en-US" sz="1500" dirty="0">
                <a:latin typeface="Calibri"/>
                <a:cs typeface="Calibri"/>
              </a:rPr>
              <a:t>datasets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(</a:t>
            </a:r>
            <a:r>
              <a:rPr lang="en-US" sz="1500" spc="-10" dirty="0" err="1">
                <a:latin typeface="Calibri"/>
                <a:cs typeface="Calibri"/>
              </a:rPr>
              <a:t>DataFrames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and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Datasets).</a:t>
            </a:r>
            <a:endParaRPr lang="en-US" sz="1500" dirty="0">
              <a:latin typeface="Calibri"/>
              <a:cs typeface="Calibri"/>
            </a:endParaRPr>
          </a:p>
          <a:p>
            <a:pPr marL="812800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Streaming:</a:t>
            </a:r>
            <a:r>
              <a:rPr lang="en-US" sz="15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Allows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of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streams,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enabling </a:t>
            </a:r>
            <a:r>
              <a:rPr lang="en-US" sz="1500" dirty="0">
                <a:latin typeface="Calibri"/>
                <a:cs typeface="Calibri"/>
              </a:rPr>
              <a:t>near</a:t>
            </a:r>
            <a:r>
              <a:rPr lang="en-US" sz="1500" spc="-10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1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analytics.</a:t>
            </a:r>
            <a:endParaRPr lang="en-US" sz="1500" dirty="0">
              <a:latin typeface="Calibri"/>
              <a:cs typeface="Calibri"/>
            </a:endParaRPr>
          </a:p>
          <a:p>
            <a:pPr marL="812800" lvl="1" indent="-342900">
              <a:lnSpc>
                <a:spcPts val="1495"/>
              </a:lnSpc>
              <a:buAutoNum type="arabicPeriod" startAt="2"/>
              <a:tabLst>
                <a:tab pos="812800" algn="l"/>
              </a:tabLst>
            </a:pPr>
            <a:r>
              <a:rPr lang="en-US" sz="1500" b="1" dirty="0" err="1">
                <a:solidFill>
                  <a:srgbClr val="FF0000"/>
                </a:solidFill>
                <a:latin typeface="Calibri"/>
                <a:cs typeface="Calibri"/>
              </a:rPr>
              <a:t>MLlib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:</a:t>
            </a:r>
            <a:r>
              <a:rPr lang="en-US" sz="15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Spark’s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learning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library,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offering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tools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2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scalable</a:t>
            </a:r>
            <a:endParaRPr lang="en-US" sz="1500" dirty="0">
              <a:latin typeface="Calibri"/>
              <a:cs typeface="Calibri"/>
            </a:endParaRPr>
          </a:p>
          <a:p>
            <a:pPr marL="812800">
              <a:lnSpc>
                <a:spcPts val="1505"/>
              </a:lnSpc>
            </a:pP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learning.</a:t>
            </a:r>
            <a:endParaRPr lang="en-US" sz="1500" dirty="0">
              <a:latin typeface="Calibri"/>
              <a:cs typeface="Calibri"/>
            </a:endParaRPr>
          </a:p>
          <a:p>
            <a:pPr marL="812800" lvl="1" indent="-342900">
              <a:lnSpc>
                <a:spcPts val="1775"/>
              </a:lnSpc>
              <a:buAutoNum type="arabicPeriod" startAt="5"/>
              <a:tabLst>
                <a:tab pos="812800" algn="l"/>
              </a:tabLst>
            </a:pPr>
            <a:r>
              <a:rPr lang="en-US" sz="1500" b="1" dirty="0" err="1">
                <a:solidFill>
                  <a:srgbClr val="FF0000"/>
                </a:solidFill>
                <a:latin typeface="Calibri"/>
                <a:cs typeface="Calibri"/>
              </a:rPr>
              <a:t>GraphX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:</a:t>
            </a:r>
            <a:r>
              <a:rPr lang="en-US" sz="1500" b="1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library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large-</a:t>
            </a:r>
            <a:r>
              <a:rPr lang="en-US" sz="1500" dirty="0">
                <a:latin typeface="Calibri"/>
                <a:cs typeface="Calibri"/>
              </a:rPr>
              <a:t>scale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computations.</a:t>
            </a:r>
            <a:endParaRPr lang="en-US" sz="1500" dirty="0">
              <a:latin typeface="Calibri"/>
              <a:cs typeface="Calibri"/>
            </a:endParaRPr>
          </a:p>
          <a:p>
            <a:pPr marL="469900">
              <a:lnSpc>
                <a:spcPts val="1530"/>
              </a:lnSpc>
              <a:spcBef>
                <a:spcPts val="1725"/>
              </a:spcBef>
            </a:pPr>
            <a:r>
              <a:rPr lang="en-US" sz="1500" b="1" dirty="0">
                <a:latin typeface="Calibri"/>
                <a:cs typeface="Calibri"/>
              </a:rPr>
              <a:t>Use</a:t>
            </a:r>
            <a:r>
              <a:rPr lang="en-US" sz="1500" b="1" spc="-45" dirty="0">
                <a:latin typeface="Calibri"/>
                <a:cs typeface="Calibri"/>
              </a:rPr>
              <a:t> </a:t>
            </a:r>
            <a:r>
              <a:rPr lang="en-US" sz="1500" b="1" dirty="0">
                <a:latin typeface="Calibri"/>
                <a:cs typeface="Calibri"/>
              </a:rPr>
              <a:t>Cases</a:t>
            </a:r>
            <a:r>
              <a:rPr lang="en-US" sz="1500" dirty="0">
                <a:latin typeface="Calibri"/>
                <a:cs typeface="Calibri"/>
              </a:rPr>
              <a:t>: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Batch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streams,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learning,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25" dirty="0">
                <a:latin typeface="Calibri"/>
                <a:cs typeface="Calibri"/>
              </a:rPr>
              <a:t>and</a:t>
            </a:r>
            <a:endParaRPr lang="en-US" sz="1500" dirty="0">
              <a:latin typeface="Calibri"/>
              <a:cs typeface="Calibri"/>
            </a:endParaRPr>
          </a:p>
          <a:p>
            <a:pPr marL="469900">
              <a:lnSpc>
                <a:spcPts val="1530"/>
              </a:lnSpc>
            </a:pP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7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processing.</a:t>
            </a:r>
            <a:endParaRPr lang="en-US" sz="15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18967" y="754815"/>
            <a:ext cx="1106272" cy="5838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52752" y="4202722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42" y="2197287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Basic</a:t>
            </a:r>
            <a:r>
              <a:rPr sz="2800" spc="-114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Spark</a:t>
            </a:r>
            <a:r>
              <a:rPr sz="2800" spc="-114" dirty="0">
                <a:solidFill>
                  <a:srgbClr val="FFFFFF"/>
                </a:solidFill>
              </a:rPr>
              <a:t> </a:t>
            </a:r>
            <a:r>
              <a:rPr sz="2800" spc="-25" dirty="0">
                <a:solidFill>
                  <a:srgbClr val="FFFFFF"/>
                </a:solidFill>
              </a:rPr>
              <a:t>Example: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50" dirty="0">
                <a:solidFill>
                  <a:srgbClr val="FFFFFF"/>
                </a:solidFill>
              </a:rPr>
              <a:t>Word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Count</a:t>
            </a:r>
            <a:r>
              <a:rPr sz="2800" spc="-11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in</a:t>
            </a:r>
            <a:r>
              <a:rPr sz="2800" spc="-9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PySpark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7452C-73BF-8326-CB44-7681D730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701224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Calibri"/>
                <a:cs typeface="Calibri"/>
              </a:rPr>
              <a:t>This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example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demonstrates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classic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word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count </a:t>
            </a:r>
            <a:r>
              <a:rPr lang="en-US" sz="1600" dirty="0">
                <a:latin typeface="Calibri"/>
                <a:cs typeface="Calibri"/>
              </a:rPr>
              <a:t>problem,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showing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how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easy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implement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Spark.</a:t>
            </a:r>
            <a:endParaRPr lang="en-US" sz="1600" dirty="0">
              <a:latin typeface="Calibri"/>
              <a:cs typeface="Calibri"/>
            </a:endParaRPr>
          </a:p>
          <a:p>
            <a:endParaRPr lang="en-US" sz="16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173" y="2303427"/>
            <a:ext cx="5524136" cy="444690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090665" y="1840230"/>
            <a:ext cx="5655945" cy="4721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latin typeface="Calibri"/>
                <a:cs typeface="Calibri"/>
              </a:rPr>
              <a:t>Explanation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SparkSession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entry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point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working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with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Spark,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used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initialize </a:t>
            </a:r>
            <a:r>
              <a:rPr sz="1400" spc="-25" dirty="0">
                <a:latin typeface="Calibri"/>
                <a:cs typeface="Calibri"/>
              </a:rPr>
              <a:t>the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context.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2"/>
              <a:tabLst>
                <a:tab pos="150495" algn="l"/>
              </a:tabLst>
            </a:pPr>
            <a:r>
              <a:rPr sz="1400" b="1" spc="-10" dirty="0">
                <a:latin typeface="Calibri"/>
                <a:cs typeface="Calibri"/>
              </a:rPr>
              <a:t>textFile</a:t>
            </a:r>
            <a:r>
              <a:rPr sz="1400" spc="-10" dirty="0">
                <a:latin typeface="Calibri"/>
                <a:cs typeface="Calibri"/>
              </a:rPr>
              <a:t>: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Loads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text file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RDD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(Resilient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Distributed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Dataset), Spark’s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distributed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collection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data.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flatMap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Splits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line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into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words.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filter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Removes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empty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strings.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map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Maps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count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1.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spc="-10" dirty="0">
                <a:latin typeface="Calibri"/>
                <a:cs typeface="Calibri"/>
              </a:rPr>
              <a:t>reduceByKey</a:t>
            </a:r>
            <a:r>
              <a:rPr sz="1400" spc="-1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Aggregates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counts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word,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summing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them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up.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collect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Gathers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output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prints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with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count.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sz="1400" b="1" dirty="0">
                <a:latin typeface="Calibri"/>
                <a:cs typeface="Calibri"/>
              </a:rPr>
              <a:t>Why</a:t>
            </a:r>
            <a:r>
              <a:rPr sz="1400" b="1" spc="-4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Use</a:t>
            </a:r>
            <a:r>
              <a:rPr sz="1400" b="1" spc="-30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Spark?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suitable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wide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range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big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data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applications</a:t>
            </a:r>
            <a:r>
              <a:rPr sz="1400" dirty="0">
                <a:latin typeface="Calibri"/>
                <a:cs typeface="Calibri"/>
              </a:rPr>
              <a:t> due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versatility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and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speed.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It’s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widely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used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for:</a:t>
            </a:r>
            <a:endParaRPr sz="1400" dirty="0">
              <a:latin typeface="Calibri"/>
              <a:cs typeface="Calibri"/>
            </a:endParaRPr>
          </a:p>
          <a:p>
            <a:pPr marL="12700" marR="300355" lvl="1" indent="-762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	ETL</a:t>
            </a:r>
            <a:r>
              <a:rPr sz="1400" b="1" spc="-3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(Extract,</a:t>
            </a:r>
            <a:r>
              <a:rPr sz="1400" b="1" spc="-45" dirty="0">
                <a:latin typeface="Calibri"/>
                <a:cs typeface="Calibri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Transform,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Load)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Ideal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preprocessing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cleaning</a:t>
            </a:r>
            <a:r>
              <a:rPr sz="1400" spc="-10" dirty="0">
                <a:latin typeface="Calibri"/>
                <a:cs typeface="Calibri"/>
              </a:rPr>
              <a:t> large datasets.</a:t>
            </a:r>
            <a:endParaRPr sz="1400" dirty="0">
              <a:latin typeface="Calibri"/>
              <a:cs typeface="Calibri"/>
            </a:endParaRPr>
          </a:p>
          <a:p>
            <a:pPr marL="74930" lvl="1" indent="-6985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Data</a:t>
            </a:r>
            <a:r>
              <a:rPr sz="1400" b="1" spc="-45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Warehousing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and</a:t>
            </a:r>
            <a:r>
              <a:rPr sz="1400" b="1" spc="-2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Analytics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SQL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allows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SQL-</a:t>
            </a:r>
            <a:r>
              <a:rPr sz="1400" spc="-10" dirty="0">
                <a:latin typeface="Calibri"/>
                <a:cs typeface="Calibri"/>
              </a:rPr>
              <a:t>like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querying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large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datasets.</a:t>
            </a:r>
            <a:endParaRPr sz="1400" dirty="0">
              <a:latin typeface="Calibri"/>
              <a:cs typeface="Calibri"/>
            </a:endParaRPr>
          </a:p>
          <a:p>
            <a:pPr marL="12700" marR="458470" lvl="1" indent="-7620">
              <a:lnSpc>
                <a:spcPct val="100000"/>
              </a:lnSpc>
              <a:spcBef>
                <a:spcPts val="5"/>
              </a:spcBef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spc="-10" dirty="0">
                <a:latin typeface="Calibri"/>
                <a:cs typeface="Calibri"/>
              </a:rPr>
              <a:t>	Real-</a:t>
            </a:r>
            <a:r>
              <a:rPr sz="1400" b="1" dirty="0">
                <a:latin typeface="Calibri"/>
                <a:cs typeface="Calibri"/>
              </a:rPr>
              <a:t>Time</a:t>
            </a:r>
            <a:r>
              <a:rPr sz="1400" b="1" spc="-7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Processing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Streaming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enables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real-</a:t>
            </a:r>
            <a:r>
              <a:rPr sz="1400" dirty="0">
                <a:latin typeface="Calibri"/>
                <a:cs typeface="Calibri"/>
              </a:rPr>
              <a:t>time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analytics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and </a:t>
            </a:r>
            <a:r>
              <a:rPr sz="1400" spc="-10" dirty="0">
                <a:latin typeface="Calibri"/>
                <a:cs typeface="Calibri"/>
              </a:rPr>
              <a:t>decision-making.</a:t>
            </a:r>
            <a:endParaRPr sz="1400" dirty="0">
              <a:latin typeface="Calibri"/>
              <a:cs typeface="Calibri"/>
            </a:endParaRPr>
          </a:p>
          <a:p>
            <a:pPr marL="12700" marR="381000" lvl="1" indent="-762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	Machine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Learning</a:t>
            </a:r>
            <a:r>
              <a:rPr sz="1400" b="1" spc="-6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and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AI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MLlib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makes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easy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build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scalable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machine </a:t>
            </a:r>
            <a:r>
              <a:rPr sz="1400" dirty="0">
                <a:latin typeface="Calibri"/>
                <a:cs typeface="Calibri"/>
              </a:rPr>
              <a:t>learning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pipelines.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15200" y="2030506"/>
            <a:ext cx="4038600" cy="1885950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Storm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Stream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Processing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67216F-21D0-D7A3-5E89-A2CFA02B5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609774" cy="4991039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sz="1600" b="1" dirty="0"/>
              <a:t>What is Apache Storm?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Open-source, distributed </a:t>
            </a:r>
            <a:r>
              <a:rPr lang="en-US" sz="1600" b="1" dirty="0"/>
              <a:t>real-time</a:t>
            </a:r>
            <a:r>
              <a:rPr lang="en-US" sz="1600" dirty="0"/>
              <a:t> stream processing system.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Developed by </a:t>
            </a:r>
            <a:r>
              <a:rPr lang="en-US" sz="1600" b="1" dirty="0"/>
              <a:t>Twitter</a:t>
            </a:r>
            <a:r>
              <a:rPr lang="en-US" sz="1600" dirty="0"/>
              <a:t>, now under </a:t>
            </a:r>
            <a:r>
              <a:rPr lang="en-US" sz="1600" b="1" dirty="0"/>
              <a:t>Apache Software Foundation</a:t>
            </a:r>
            <a:r>
              <a:rPr lang="en-US" sz="1600" dirty="0"/>
              <a:t>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Processes high-velocity data with </a:t>
            </a:r>
            <a:r>
              <a:rPr lang="en-US" sz="1600" b="1" dirty="0"/>
              <a:t>low latency</a:t>
            </a:r>
            <a:r>
              <a:rPr lang="en-US" sz="1600" dirty="0"/>
              <a:t> and </a:t>
            </a:r>
            <a:r>
              <a:rPr lang="en-US" sz="1600" b="1" dirty="0"/>
              <a:t>high fault tolerance</a:t>
            </a:r>
            <a:r>
              <a:rPr lang="en-US" sz="1600" dirty="0"/>
              <a:t>.</a:t>
            </a:r>
          </a:p>
          <a:p>
            <a:pPr>
              <a:buNone/>
            </a:pPr>
            <a:r>
              <a:rPr lang="en-US" sz="1600" b="1" dirty="0"/>
              <a:t>Key Features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Scalable</a:t>
            </a:r>
            <a:r>
              <a:rPr lang="en-US" sz="1600" dirty="0"/>
              <a:t> – Supports distributed processing across multiple nodes.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Fault-tolerant</a:t>
            </a:r>
            <a:r>
              <a:rPr lang="en-US" sz="1600" dirty="0"/>
              <a:t> – Automatically reassigns failed tasks.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Guaranteed Processing</a:t>
            </a:r>
            <a:r>
              <a:rPr lang="en-US" sz="1600" dirty="0"/>
              <a:t> – Ensures each message is processed at least once.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Multi-language Support</a:t>
            </a:r>
            <a:r>
              <a:rPr lang="en-US" sz="1600" dirty="0"/>
              <a:t> – Compatible with Java, Python, and more.</a:t>
            </a:r>
          </a:p>
          <a:p>
            <a:pPr>
              <a:buNone/>
            </a:pPr>
            <a:r>
              <a:rPr lang="en-US" sz="1600" b="1" dirty="0"/>
              <a:t>Architecture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Spouts</a:t>
            </a:r>
            <a:r>
              <a:rPr lang="en-US" sz="1600" dirty="0"/>
              <a:t> – Data sources (Kafka, databases, APIs).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Bolts</a:t>
            </a:r>
            <a:r>
              <a:rPr lang="en-US" sz="1600" dirty="0"/>
              <a:t> – Processing components that filter, aggregate, or store data.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Topology</a:t>
            </a:r>
            <a:r>
              <a:rPr lang="en-US" sz="1600" dirty="0"/>
              <a:t> – A directed graph connecting spouts and bolts.</a:t>
            </a:r>
          </a:p>
          <a:p>
            <a:pPr>
              <a:buNone/>
            </a:pPr>
            <a:r>
              <a:rPr lang="en-US" sz="1600" b="1" dirty="0"/>
              <a:t>Use Cases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Real-time Analytics</a:t>
            </a:r>
            <a:r>
              <a:rPr lang="en-US" sz="1600" dirty="0"/>
              <a:t> – Social media monitoring, fraud detection.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Log Processing</a:t>
            </a:r>
            <a:r>
              <a:rPr lang="en-US" sz="1600" dirty="0"/>
              <a:t> – Server logs, IoT data streams.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ETL Pipelines</a:t>
            </a:r>
            <a:r>
              <a:rPr lang="en-US" sz="1600" dirty="0"/>
              <a:t> – Continuous data transformation.</a:t>
            </a:r>
          </a:p>
          <a:p>
            <a:endParaRPr lang="en-US" sz="1600" dirty="0"/>
          </a:p>
          <a:p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25247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Flume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3AD5F5-11EB-F4CF-7A5C-D06FD5A5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2000" b="1" dirty="0"/>
              <a:t>What is Apache Flume?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Open-source tool for collecting, aggregating, and transporting </a:t>
            </a:r>
            <a:r>
              <a:rPr lang="en-US" sz="2000" b="1" dirty="0"/>
              <a:t>large volumes of streaming data</a:t>
            </a:r>
            <a:r>
              <a:rPr lang="en-US" sz="2000" dirty="0"/>
              <a:t> into storage systems like </a:t>
            </a:r>
            <a:r>
              <a:rPr lang="en-US" sz="2000" b="1" dirty="0"/>
              <a:t>HDFS</a:t>
            </a:r>
            <a:r>
              <a:rPr lang="en-US" sz="2000" dirty="0"/>
              <a:t>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Designed for handling </a:t>
            </a:r>
            <a:r>
              <a:rPr lang="en-US" sz="2000" b="1" dirty="0"/>
              <a:t>log data, event streams, and real-time analytics</a:t>
            </a:r>
            <a:r>
              <a:rPr lang="en-US" sz="2000" dirty="0"/>
              <a:t>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Developed under the </a:t>
            </a:r>
            <a:r>
              <a:rPr lang="en-US" sz="2000" b="1" dirty="0"/>
              <a:t>Apache Software Foundation</a:t>
            </a:r>
            <a:r>
              <a:rPr lang="en-US" sz="2000" dirty="0"/>
              <a:t>.</a:t>
            </a:r>
          </a:p>
          <a:p>
            <a:pPr>
              <a:buNone/>
            </a:pPr>
            <a:r>
              <a:rPr lang="en-US" sz="2000" b="1" dirty="0"/>
              <a:t>Key Features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Scalable &amp; Reliable</a:t>
            </a:r>
            <a:r>
              <a:rPr lang="en-US" sz="2000" dirty="0"/>
              <a:t> – Handles high-throughput data ingestion.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Fault-tolerant</a:t>
            </a:r>
            <a:r>
              <a:rPr lang="en-US" sz="2000" dirty="0"/>
              <a:t> – Ensures no data loss with reliable mechanisms.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Flexible &amp; Extensible</a:t>
            </a:r>
            <a:r>
              <a:rPr lang="en-US" sz="2000" dirty="0"/>
              <a:t> – Supports custom data sources and sinks.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Streaming Data Support</a:t>
            </a:r>
            <a:r>
              <a:rPr lang="en-US" sz="2000" dirty="0"/>
              <a:t> – Works with logs, events, and real-time sources.</a:t>
            </a:r>
          </a:p>
          <a:p>
            <a:pPr>
              <a:buNone/>
            </a:pPr>
            <a:r>
              <a:rPr lang="en-US" sz="2000" b="1" dirty="0"/>
              <a:t>Architecture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Source</a:t>
            </a:r>
            <a:r>
              <a:rPr lang="en-US" sz="2000" dirty="0"/>
              <a:t> – Captures data from logs, message queues, or APIs.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Channel</a:t>
            </a:r>
            <a:r>
              <a:rPr lang="en-US" sz="2000" dirty="0"/>
              <a:t> – Temporary buffer that holds data (Memory/File-based).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Sink</a:t>
            </a:r>
            <a:r>
              <a:rPr lang="en-US" sz="2000" dirty="0"/>
              <a:t> – Sends data to storage (HDFS, HBase, Kafka).</a:t>
            </a:r>
          </a:p>
          <a:p>
            <a:pPr>
              <a:buNone/>
            </a:pPr>
            <a:r>
              <a:rPr lang="en-US" sz="2000" b="1" dirty="0"/>
              <a:t>Use Cases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Log Collection</a:t>
            </a:r>
            <a:r>
              <a:rPr lang="en-US" sz="2000" dirty="0"/>
              <a:t> – Aggregating server logs for monitoring.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Event Streaming</a:t>
            </a:r>
            <a:r>
              <a:rPr lang="en-US" sz="2000" dirty="0"/>
              <a:t> – Collecting user activity data for analytics.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ETL Pipelines</a:t>
            </a:r>
            <a:r>
              <a:rPr lang="en-US" sz="2000" dirty="0"/>
              <a:t> – Preprocessing and transporting data to Hadoop ecosystems.</a:t>
            </a: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2528" y="758037"/>
            <a:ext cx="1103868" cy="91053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4788" y="3037464"/>
            <a:ext cx="4549012" cy="232812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Kafka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-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Stream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Processing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>
            <a:normAutofit lnSpcReduction="10000"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35" dirty="0">
                <a:latin typeface="Calibri"/>
                <a:cs typeface="Calibri"/>
              </a:rPr>
              <a:t>to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1939"/>
              </a:lnSpc>
            </a:pP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high-</a:t>
            </a:r>
            <a:r>
              <a:rPr lang="en-US" sz="2000" dirty="0">
                <a:latin typeface="Calibri"/>
                <a:cs typeface="Calibri"/>
              </a:rPr>
              <a:t>throughput,</a:t>
            </a:r>
            <a:r>
              <a:rPr lang="en-US" sz="2000" spc="-20" dirty="0">
                <a:latin typeface="Calibri"/>
                <a:cs typeface="Calibri"/>
              </a:rPr>
              <a:t> 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feeds.</a:t>
            </a:r>
            <a:endParaRPr lang="en-US" sz="2000" dirty="0"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Originally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developed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LinkedIn,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become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backbone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pipelines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analytics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many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large-</a:t>
            </a:r>
            <a:r>
              <a:rPr lang="en-US" sz="2000" spc="-10" dirty="0">
                <a:latin typeface="Calibri"/>
                <a:cs typeface="Calibri"/>
              </a:rPr>
              <a:t>scale systems.</a:t>
            </a:r>
            <a:endParaRPr lang="en-US" sz="2000" dirty="0">
              <a:latin typeface="Calibri"/>
              <a:cs typeface="Calibri"/>
            </a:endParaRPr>
          </a:p>
          <a:p>
            <a:pPr marL="239395" marR="260350" indent="-227329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various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	</a:t>
            </a:r>
            <a:r>
              <a:rPr lang="en-US" sz="2000" dirty="0">
                <a:latin typeface="Calibri"/>
                <a:cs typeface="Calibri"/>
              </a:rPr>
              <a:t>produce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consume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reliably,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efficiently,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at 	</a:t>
            </a:r>
            <a:r>
              <a:rPr lang="en-US" sz="2000" spc="-10" dirty="0">
                <a:latin typeface="Calibri"/>
                <a:cs typeface="Calibri"/>
              </a:rPr>
              <a:t>scale.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Producer: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sends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topics.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Consumer: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from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topics.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Broker: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consumers.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1939"/>
              </a:lnSpc>
            </a:pP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consist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multiple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brokers.</a:t>
            </a:r>
            <a:endParaRPr lang="en-US" sz="2000" dirty="0">
              <a:latin typeface="Calibri"/>
              <a:cs typeface="Calibri"/>
            </a:endParaRPr>
          </a:p>
          <a:p>
            <a:pPr marL="241300" marR="4889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Topic: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category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feed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name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records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are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published. </a:t>
            </a:r>
            <a:r>
              <a:rPr lang="en-US" sz="2000" dirty="0">
                <a:latin typeface="Calibri"/>
                <a:cs typeface="Calibri"/>
              </a:rPr>
              <a:t>Each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topic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multiple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partitions,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parallelize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across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marR="89852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Log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aggregation,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event </a:t>
            </a:r>
            <a:r>
              <a:rPr lang="en-US" sz="2000" dirty="0">
                <a:latin typeface="Calibri"/>
                <a:cs typeface="Calibri"/>
              </a:rPr>
              <a:t>sourcing,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integration.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59954" y="1858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4946" y="847323"/>
            <a:ext cx="1349876" cy="61406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Sqoop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B820DD-4C9B-BF86-308A-C98745C15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04221" cy="4991039"/>
          </a:xfrm>
        </p:spPr>
        <p:txBody>
          <a:bodyPr/>
          <a:lstStyle/>
          <a:p>
            <a:pPr marL="239395" marR="5080" indent="-227329" algn="just">
              <a:lnSpc>
                <a:spcPct val="70000"/>
              </a:lnSpc>
              <a:spcBef>
                <a:spcPts val="78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dirty="0">
                <a:latin typeface="Calibri"/>
                <a:cs typeface="Calibri"/>
              </a:rPr>
              <a:t>Apache</a:t>
            </a:r>
            <a:r>
              <a:rPr lang="en-US" sz="1900" spc="-2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(SQL-</a:t>
            </a:r>
            <a:r>
              <a:rPr lang="en-US" sz="1900" spc="-30" dirty="0">
                <a:latin typeface="Calibri"/>
                <a:cs typeface="Calibri"/>
              </a:rPr>
              <a:t>to-</a:t>
            </a:r>
            <a:r>
              <a:rPr lang="en-US" sz="1900" dirty="0">
                <a:latin typeface="Calibri"/>
                <a:cs typeface="Calibri"/>
              </a:rPr>
              <a:t>Hadoop)</a:t>
            </a:r>
            <a:r>
              <a:rPr lang="en-US" sz="1900" spc="1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tool</a:t>
            </a:r>
            <a:r>
              <a:rPr lang="en-US" sz="19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9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efficiently 	</a:t>
            </a:r>
            <a:r>
              <a:rPr lang="en-US" sz="1900" spc="-20" dirty="0">
                <a:solidFill>
                  <a:srgbClr val="FF0000"/>
                </a:solidFill>
                <a:latin typeface="Calibri"/>
                <a:cs typeface="Calibri"/>
              </a:rPr>
              <a:t>transfer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bulk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9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between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9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structured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9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stores 	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like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relational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databases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(e.g.,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MySQL,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PostgreSQL,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Oracle)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	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warehouses.</a:t>
            </a:r>
            <a:endParaRPr lang="en-US" sz="1900" dirty="0">
              <a:latin typeface="Calibri"/>
              <a:cs typeface="Calibri"/>
            </a:endParaRPr>
          </a:p>
          <a:p>
            <a:pPr marL="241300" marR="21018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simplifies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of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importing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RDBMSs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Hadoop's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ecosystem,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such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as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HDFS,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Hive,</a:t>
            </a:r>
            <a:r>
              <a:rPr lang="en-US" sz="1900" spc="-3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HBase,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</a:t>
            </a:r>
            <a:r>
              <a:rPr lang="en-US" sz="1900" dirty="0">
                <a:latin typeface="Calibri"/>
                <a:cs typeface="Calibri"/>
              </a:rPr>
              <a:t>exporting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processed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back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these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relational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databases.</a:t>
            </a:r>
            <a:endParaRPr lang="en-US" sz="1900" dirty="0">
              <a:latin typeface="Calibri"/>
              <a:cs typeface="Calibri"/>
            </a:endParaRPr>
          </a:p>
          <a:p>
            <a:pPr marL="12700">
              <a:lnSpc>
                <a:spcPts val="2230"/>
              </a:lnSpc>
              <a:spcBef>
                <a:spcPts val="315"/>
              </a:spcBef>
            </a:pPr>
            <a:r>
              <a:rPr lang="en-US" sz="1900" b="1" dirty="0">
                <a:latin typeface="Calibri"/>
                <a:cs typeface="Calibri"/>
              </a:rPr>
              <a:t>Main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Functions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endParaRPr lang="en-US" sz="1900" dirty="0">
              <a:latin typeface="Calibri"/>
              <a:cs typeface="Calibri"/>
            </a:endParaRPr>
          </a:p>
          <a:p>
            <a:pPr marL="756285" lvl="1" indent="-286385">
              <a:lnSpc>
                <a:spcPts val="1930"/>
              </a:lnSpc>
              <a:buFont typeface="Arial MT"/>
              <a:buChar char="•"/>
              <a:tabLst>
                <a:tab pos="756285" algn="l"/>
              </a:tabLst>
            </a:pPr>
            <a:r>
              <a:rPr lang="en-US" sz="1700" b="1" dirty="0">
                <a:latin typeface="Calibri"/>
                <a:cs typeface="Calibri"/>
              </a:rPr>
              <a:t>Import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Pulls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from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relational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databases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into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HDFS.</a:t>
            </a:r>
            <a:endParaRPr lang="en-US" sz="1700" dirty="0">
              <a:latin typeface="Calibri"/>
              <a:cs typeface="Calibri"/>
            </a:endParaRPr>
          </a:p>
          <a:p>
            <a:pPr marL="756285" lvl="1" indent="-286385">
              <a:lnSpc>
                <a:spcPts val="1980"/>
              </a:lnSpc>
              <a:buFont typeface="Arial MT"/>
              <a:buChar char="•"/>
              <a:tabLst>
                <a:tab pos="756285" algn="l"/>
              </a:tabLst>
            </a:pPr>
            <a:r>
              <a:rPr lang="en-US" sz="1700" b="1" dirty="0">
                <a:latin typeface="Calibri"/>
                <a:cs typeface="Calibri"/>
              </a:rPr>
              <a:t>Export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Pushes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7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from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HDFS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back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into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relational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databases.</a:t>
            </a:r>
            <a:endParaRPr lang="en-US" sz="17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lang="en-US" sz="1900" b="1" spc="-10" dirty="0">
                <a:latin typeface="Calibri"/>
                <a:cs typeface="Calibri"/>
              </a:rPr>
              <a:t>Typical</a:t>
            </a:r>
            <a:r>
              <a:rPr lang="en-US" sz="1900" b="1" spc="-50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Use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Cases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for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Sqoop</a:t>
            </a:r>
            <a:endParaRPr lang="en-US" sz="1900" dirty="0">
              <a:latin typeface="Calibri"/>
              <a:cs typeface="Calibri"/>
            </a:endParaRPr>
          </a:p>
          <a:p>
            <a:pPr marL="241300" marR="50419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Data</a:t>
            </a:r>
            <a:r>
              <a:rPr lang="en-US" sz="1900" b="1" spc="-7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Migration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Moving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historical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RDBMSs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into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long-</a:t>
            </a:r>
            <a:r>
              <a:rPr lang="en-US" sz="1900" dirty="0">
                <a:latin typeface="Calibri"/>
                <a:cs typeface="Calibri"/>
              </a:rPr>
              <a:t>term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storage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analysis.</a:t>
            </a:r>
            <a:endParaRPr lang="en-US" sz="1900" dirty="0">
              <a:latin typeface="Calibri"/>
              <a:cs typeface="Calibri"/>
            </a:endParaRPr>
          </a:p>
          <a:p>
            <a:pPr marL="239395" marR="264160" indent="-227329" algn="just">
              <a:lnSpc>
                <a:spcPct val="70000"/>
              </a:lnSpc>
              <a:spcBef>
                <a:spcPts val="10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ETL</a:t>
            </a:r>
            <a:r>
              <a:rPr lang="en-US" sz="1900" b="1" spc="-5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Pipelines</a:t>
            </a:r>
            <a:r>
              <a:rPr lang="en-US" sz="1900" dirty="0">
                <a:latin typeface="Calibri"/>
                <a:cs typeface="Calibri"/>
              </a:rPr>
              <a:t>: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Using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3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as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part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of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an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ETL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pipeline</a:t>
            </a:r>
            <a:r>
              <a:rPr lang="en-US" sz="1900" spc="-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load 	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relational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sources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8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processing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	</a:t>
            </a:r>
            <a:r>
              <a:rPr lang="en-US" sz="1900" dirty="0">
                <a:latin typeface="Calibri"/>
                <a:cs typeface="Calibri"/>
              </a:rPr>
              <a:t>analysis,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then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exporting</a:t>
            </a:r>
            <a:r>
              <a:rPr lang="en-US" sz="1900" spc="-3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results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back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database.</a:t>
            </a:r>
            <a:endParaRPr lang="en-US" sz="1900" dirty="0">
              <a:latin typeface="Calibri"/>
              <a:cs typeface="Calibri"/>
            </a:endParaRPr>
          </a:p>
          <a:p>
            <a:pPr marL="241300" marR="1587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Data</a:t>
            </a:r>
            <a:r>
              <a:rPr lang="en-US" sz="1900" b="1" spc="-8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Synchronization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Regularly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syncing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operational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8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from </a:t>
            </a:r>
            <a:r>
              <a:rPr lang="en-US" sz="1900" spc="-10" dirty="0">
                <a:latin typeface="Calibri"/>
                <a:cs typeface="Calibri"/>
              </a:rPr>
              <a:t>databases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3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near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real-</a:t>
            </a:r>
            <a:r>
              <a:rPr lang="en-US" sz="1900" dirty="0">
                <a:latin typeface="Calibri"/>
                <a:cs typeface="Calibri"/>
              </a:rPr>
              <a:t>time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analysis.</a:t>
            </a:r>
            <a:endParaRPr lang="en-US" sz="19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4443" y="1759585"/>
            <a:ext cx="4483100" cy="346697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3799" cy="4991039"/>
          </a:xfrm>
        </p:spPr>
        <p:txBody>
          <a:bodyPr/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Oozie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z="16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z="16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z="1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25" dirty="0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z="16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16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z="16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sequence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directed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acyclic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(DAG)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end-to-</a:t>
            </a:r>
            <a:r>
              <a:rPr lang="en-US" sz="1600" dirty="0">
                <a:latin typeface="Calibri"/>
                <a:cs typeface="Calibri"/>
              </a:rPr>
              <a:t>end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workflow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management.</a:t>
            </a:r>
            <a:endParaRPr lang="en-US" sz="1600" dirty="0"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	Oozie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particularly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useful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z="16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z="1600" spc="-10" dirty="0">
                <a:latin typeface="Calibri"/>
                <a:cs typeface="Calibri"/>
              </a:rPr>
              <a:t>,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z="1600" spc="-10" dirty="0">
                <a:latin typeface="Calibri"/>
                <a:cs typeface="Calibri"/>
              </a:rPr>
              <a:t>,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z="16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z="16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25" dirty="0">
                <a:latin typeface="Calibri"/>
                <a:cs typeface="Calibri"/>
              </a:rPr>
              <a:t>the </a:t>
            </a:r>
            <a:r>
              <a:rPr lang="en-US" sz="1600" dirty="0">
                <a:latin typeface="Calibri"/>
                <a:cs typeface="Calibri"/>
              </a:rPr>
              <a:t>Hadoop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ecosystem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(such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MapReduce,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Hive,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Pig,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Sqoop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jobs).</a:t>
            </a:r>
            <a:endParaRPr lang="en-US" sz="1600" dirty="0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supports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both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time-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(frequency)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triggers,</a:t>
            </a:r>
            <a:endParaRPr lang="en-US" sz="1600" dirty="0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 sz="1600" dirty="0">
                <a:latin typeface="Calibri"/>
                <a:cs typeface="Calibri"/>
              </a:rPr>
              <a:t>making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versatile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0" dirty="0">
                <a:latin typeface="Calibri"/>
                <a:cs typeface="Calibri"/>
              </a:rPr>
              <a:t> different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types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big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applications.</a:t>
            </a:r>
            <a:endParaRPr lang="en-US" sz="1600" dirty="0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sz="1600" b="1" dirty="0">
                <a:latin typeface="Calibri"/>
                <a:cs typeface="Calibri"/>
              </a:rPr>
              <a:t>Main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Functions:</a:t>
            </a:r>
            <a:endParaRPr lang="en-US" sz="1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spc="-10" dirty="0">
                <a:latin typeface="Calibri"/>
                <a:cs typeface="Calibri"/>
              </a:rPr>
              <a:t>Workflow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Management</a:t>
            </a:r>
            <a:r>
              <a:rPr lang="en-US" sz="1600" spc="-10" dirty="0">
                <a:latin typeface="Calibri"/>
                <a:cs typeface="Calibri"/>
              </a:rPr>
              <a:t>: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Defines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sequences.</a:t>
            </a:r>
            <a:endParaRPr lang="en-US" sz="1600" dirty="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Coordination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Manages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dependencies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schedules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based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availability.</a:t>
            </a:r>
            <a:endParaRPr lang="en-US" sz="1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Retry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Mechanism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Automatically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retries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failed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jobs.</a:t>
            </a:r>
            <a:endParaRPr lang="en-US" sz="1600" dirty="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	</a:t>
            </a:r>
            <a:r>
              <a:rPr lang="en-US" sz="1600" b="1" dirty="0">
                <a:latin typeface="Calibri"/>
                <a:cs typeface="Calibri"/>
              </a:rPr>
              <a:t>Use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Cases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ETL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workflows,</a:t>
            </a:r>
            <a:r>
              <a:rPr lang="en-US" sz="1600" spc="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processing,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managing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complex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dependencies.</a:t>
            </a:r>
            <a:endParaRPr lang="en-US" sz="16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07884" y="1877441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86242" y="905542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963444" cy="4991039"/>
          </a:xfrm>
        </p:spPr>
        <p:txBody>
          <a:bodyPr>
            <a:normAutofit fontScale="92500" lnSpcReduction="100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coordinating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055"/>
              </a:lnSpc>
            </a:pPr>
            <a:r>
              <a:rPr lang="en-US" sz="2000" spc="-10" dirty="0">
                <a:latin typeface="Calibri"/>
                <a:cs typeface="Calibri"/>
              </a:rPr>
              <a:t>distributed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applications.</a:t>
            </a:r>
            <a:endParaRPr lang="en-US" sz="2000" dirty="0"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plays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critical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role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other distributed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systems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maintain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state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providing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reliable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way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together.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6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25" dirty="0">
                <a:latin typeface="Calibri"/>
                <a:cs typeface="Calibri"/>
              </a:rPr>
              <a:t> </a:t>
            </a:r>
            <a:r>
              <a:rPr lang="en-US" sz="2000" b="1" spc="-10" dirty="0" err="1">
                <a:latin typeface="Calibri"/>
                <a:cs typeface="Calibri"/>
              </a:rPr>
              <a:t>ZooKeeper</a:t>
            </a:r>
            <a:endParaRPr lang="en-US" sz="2000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Centralized</a:t>
            </a:r>
            <a:r>
              <a:rPr lang="en-US" sz="2000" b="1" spc="-7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Configuration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 configuration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centralized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manner,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applications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modify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settings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easily.</a:t>
            </a:r>
            <a:endParaRPr lang="en-US" sz="2000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sz="2000" b="1" dirty="0">
                <a:latin typeface="Calibri"/>
                <a:cs typeface="Calibri"/>
              </a:rPr>
              <a:t>Naming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Service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naming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registry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</a:t>
            </a:r>
            <a:r>
              <a:rPr lang="en-US" sz="2000" dirty="0">
                <a:latin typeface="Calibri"/>
                <a:cs typeface="Calibri"/>
              </a:rPr>
              <a:t>services,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them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each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other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resources dynamically.</a:t>
            </a:r>
            <a:endParaRPr lang="en-US" sz="2000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Synchronization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helps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synchronize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processes,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coordination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without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conflicts.</a:t>
            </a:r>
            <a:endParaRPr lang="en-US" sz="2000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sz="2000" b="1" dirty="0">
                <a:latin typeface="Calibri"/>
                <a:cs typeface="Calibri"/>
              </a:rPr>
              <a:t>Group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creation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groups,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enabling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join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leave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groups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dynamically.</a:t>
            </a:r>
            <a:endParaRPr lang="en-US" sz="2000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Watchers</a:t>
            </a:r>
            <a:r>
              <a:rPr lang="en-US" sz="2000" spc="-20" dirty="0">
                <a:latin typeface="Calibri"/>
                <a:cs typeface="Calibri"/>
              </a:rPr>
              <a:t>: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watchers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get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notified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changes,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react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changes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state.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70491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4113" y="2269363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06248" cy="4991039"/>
          </a:xfrm>
        </p:spPr>
        <p:txBody>
          <a:bodyPr>
            <a:normAutofit fontScale="625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web-</a:t>
            </a:r>
            <a:r>
              <a:rPr lang="en-US" sz="2000" dirty="0">
                <a:latin typeface="Calibri"/>
                <a:cs typeface="Calibri"/>
              </a:rPr>
              <a:t>based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tool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provisioning,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managing,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</a:t>
            </a:r>
            <a:endParaRPr lang="en-US" sz="2000" dirty="0">
              <a:latin typeface="Calibri"/>
              <a:cs typeface="Calibri"/>
            </a:endParaRPr>
          </a:p>
          <a:p>
            <a:pPr marL="240665">
              <a:lnSpc>
                <a:spcPts val="1595"/>
              </a:lnSpc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clusters.</a:t>
            </a:r>
            <a:endParaRPr lang="en-US" sz="2000" dirty="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user-</a:t>
            </a:r>
            <a:r>
              <a:rPr lang="en-US" sz="2000" dirty="0">
                <a:latin typeface="Calibri"/>
                <a:cs typeface="Calibri"/>
              </a:rPr>
              <a:t>friendly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complex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 environments,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deploy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 various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Ambari</a:t>
            </a:r>
            <a:endParaRPr lang="en-US" sz="2000" dirty="0">
              <a:latin typeface="Calibri"/>
              <a:cs typeface="Calibri"/>
            </a:endParaRPr>
          </a:p>
          <a:p>
            <a:pPr marL="240665" marR="16510" indent="-228600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Cluster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Provisioning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0" dirty="0">
                <a:latin typeface="Calibri"/>
                <a:cs typeface="Calibri"/>
              </a:rPr>
              <a:t> installation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clusters,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add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remove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through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guided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installation wizard.</a:t>
            </a:r>
            <a:endParaRPr lang="en-US" sz="2000" dirty="0">
              <a:latin typeface="Calibri"/>
              <a:cs typeface="Calibri"/>
            </a:endParaRPr>
          </a:p>
          <a:p>
            <a:pPr marL="240665" marR="292100" indent="-228600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Service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start,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stop,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restart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various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(such</a:t>
            </a:r>
            <a:r>
              <a:rPr lang="en-US" sz="2000" spc="-25" dirty="0">
                <a:latin typeface="Calibri"/>
                <a:cs typeface="Calibri"/>
              </a:rPr>
              <a:t> as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YARN,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etc.)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through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interface.</a:t>
            </a:r>
            <a:endParaRPr lang="en-US" sz="2000" dirty="0">
              <a:latin typeface="Calibri"/>
              <a:cs typeface="Calibri"/>
            </a:endParaRPr>
          </a:p>
          <a:p>
            <a:pPr marL="239395" marR="363855" indent="-227329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Monitoring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Alerts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dashboards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monitoring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 	</a:t>
            </a:r>
            <a:r>
              <a:rPr lang="en-US" sz="2000" dirty="0">
                <a:latin typeface="Calibri"/>
                <a:cs typeface="Calibri"/>
              </a:rPr>
              <a:t>health,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metrics,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usage.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also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setting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alerts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various 	cluster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events</a:t>
            </a:r>
            <a:r>
              <a:rPr lang="en-US" sz="2000" dirty="0">
                <a:latin typeface="Calibri"/>
                <a:cs typeface="Calibri"/>
              </a:rPr>
              <a:t> or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metrics.</a:t>
            </a:r>
            <a:endParaRPr lang="en-US" sz="2000" dirty="0">
              <a:latin typeface="Calibri"/>
              <a:cs typeface="Calibri"/>
            </a:endParaRPr>
          </a:p>
          <a:p>
            <a:pPr marL="239395" marR="325755" indent="-227329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Configuration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 settings</a:t>
            </a:r>
            <a:r>
              <a:rPr lang="en-US" sz="2000" spc="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for 	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including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ability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centralized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manner.</a:t>
            </a:r>
            <a:endParaRPr lang="en-US" sz="2000" dirty="0">
              <a:latin typeface="Calibri"/>
              <a:cs typeface="Calibri"/>
            </a:endParaRPr>
          </a:p>
          <a:p>
            <a:pPr marL="240665" marR="5080" indent="-228600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User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their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permissions,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ensuring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secure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cluster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configurations.</a:t>
            </a:r>
            <a:endParaRPr lang="en-US" sz="2000" dirty="0">
              <a:latin typeface="Calibri"/>
              <a:cs typeface="Calibri"/>
            </a:endParaRPr>
          </a:p>
          <a:p>
            <a:pPr marL="239395" marR="313690" indent="-227329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with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Ambari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Metrics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Alerts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collection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visualization </a:t>
            </a:r>
            <a:r>
              <a:rPr lang="en-US" sz="2000" spc="-25" dirty="0">
                <a:latin typeface="Calibri"/>
                <a:cs typeface="Calibri"/>
              </a:rPr>
              <a:t>of 	</a:t>
            </a:r>
            <a:r>
              <a:rPr lang="en-US" sz="2000" dirty="0">
                <a:latin typeface="Calibri"/>
                <a:cs typeface="Calibri"/>
              </a:rPr>
              <a:t>metrics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from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different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components,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comprehensive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	</a:t>
            </a:r>
            <a:r>
              <a:rPr lang="en-US" sz="2000" spc="-10" dirty="0">
                <a:latin typeface="Calibri"/>
                <a:cs typeface="Calibri"/>
              </a:rPr>
              <a:t>alerting.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30268" y="962385"/>
            <a:ext cx="1234318" cy="50724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95943" y="5071481"/>
            <a:ext cx="2127124" cy="150486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79131" y="1705991"/>
            <a:ext cx="4743196" cy="29865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6836</TotalTime>
  <Words>3620</Words>
  <Application>Microsoft Office PowerPoint</Application>
  <PresentationFormat>Widescreen</PresentationFormat>
  <Paragraphs>313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Arial MT</vt:lpstr>
      <vt:lpstr>Calibri</vt:lpstr>
      <vt:lpstr>Calibri Light</vt:lpstr>
      <vt:lpstr>Office Theme</vt:lpstr>
      <vt:lpstr>307401 Big Data and Data Warehouses</vt:lpstr>
      <vt:lpstr>Types of Processing in Computing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Workflow Scenario from the Client to NameNode/DataNode with Internals and Subcomponent</vt:lpstr>
      <vt:lpstr>Map Reduce Movie Count Example</vt:lpstr>
      <vt:lpstr>Hive-Data Warehouse on Top of Hadoop</vt:lpstr>
      <vt:lpstr>Sample Hive Commands – Declarative, SQL Like Commands</vt:lpstr>
      <vt:lpstr>Apache PIG – High Level SQL Like Language on top of Hadoop</vt:lpstr>
      <vt:lpstr>Sample Pig Programming Language Commands</vt:lpstr>
      <vt:lpstr>Apache HBase - Distributed Database on top of Hadoop</vt:lpstr>
      <vt:lpstr>Key Features of HBase</vt:lpstr>
      <vt:lpstr>Apache Spark</vt:lpstr>
      <vt:lpstr>Basic Spark Example: Word Count in PySpark</vt:lpstr>
      <vt:lpstr>Apache Storm – Stream Processing on top of Hadoop</vt:lpstr>
      <vt:lpstr>Apache Flume</vt:lpstr>
      <vt:lpstr>Apache Kafka - Stream Processing on top of Hadoop</vt:lpstr>
      <vt:lpstr>Apache Sqoop</vt:lpstr>
      <vt:lpstr>Apache Oozie</vt:lpstr>
      <vt:lpstr>Apache Zookeeper</vt:lpstr>
      <vt:lpstr>Apache Ambari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827</cp:revision>
  <dcterms:created xsi:type="dcterms:W3CDTF">2023-03-26T11:17:23Z</dcterms:created>
  <dcterms:modified xsi:type="dcterms:W3CDTF">2025-03-12T05:20:32Z</dcterms:modified>
</cp:coreProperties>
</file>