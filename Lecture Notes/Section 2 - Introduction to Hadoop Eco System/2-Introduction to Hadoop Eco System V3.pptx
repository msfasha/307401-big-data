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media/image6.jpg" ContentType="image/jpg"/>
  <Override PartName="/ppt/media/image8.jpg" ContentType="image/jpg"/>
  <Override PartName="/ppt/theme/theme2.xml" ContentType="application/vnd.openxmlformats-officedocument.theme+xml"/>
  <Override PartName="/ppt/media/image9.jpg" ContentType="image/jpg"/>
  <Override PartName="/ppt/media/image12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ppt/media/image18.jpg" ContentType="image/jpg"/>
  <Override PartName="/ppt/media/image19.jpg" ContentType="image/jpg"/>
  <Override PartName="/ppt/media/image20.jpg" ContentType="image/jpg"/>
  <Override PartName="/ppt/media/image21.jpg" ContentType="image/jpg"/>
  <Override PartName="/ppt/media/image22.jpg" ContentType="image/jpg"/>
  <Override PartName="/ppt/media/image24.jpg" ContentType="image/jpg"/>
  <Override PartName="/ppt/media/image27.jpg" ContentType="image/jpg"/>
  <Override PartName="/ppt/media/image28.jpg" ContentType="image/jpg"/>
  <Override PartName="/ppt/media/image29.jpg" ContentType="image/jpg"/>
  <Override PartName="/ppt/media/image30.jpg" ContentType="image/jpg"/>
  <Override PartName="/ppt/media/image31.jpg" ContentType="image/jpg"/>
  <Override PartName="/ppt/media/image32.jpg" ContentType="image/jpg"/>
  <Override PartName="/ppt/media/image33.jpg" ContentType="image/jpg"/>
  <Override PartName="/ppt/media/image34.jpg" ContentType="image/jpg"/>
  <Override PartName="/ppt/media/image35.jpg" ContentType="image/jpg"/>
  <Override PartName="/ppt/media/image36.jpg" ContentType="image/jpg"/>
  <Override PartName="/ppt/media/image39.jpg" ContentType="image/jpg"/>
  <Override PartName="/ppt/media/image41.jpg" ContentType="image/jpg"/>
  <Override PartName="/ppt/media/image42.jpg" ContentType="image/jpg"/>
  <Override PartName="/ppt/media/image43.jpg" ContentType="image/jpg"/>
  <Override PartName="/ppt/media/image44.jpg" ContentType="image/jpg"/>
  <Override PartName="/ppt/media/image46.jpg" ContentType="image/jpg"/>
  <Override PartName="/ppt/media/image47.jpg" ContentType="image/jp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83" r:id="rId3"/>
    <p:sldId id="284" r:id="rId4"/>
    <p:sldId id="257" r:id="rId5"/>
    <p:sldId id="258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23B"/>
    <a:srgbClr val="67337A"/>
    <a:srgbClr val="00642D"/>
    <a:srgbClr val="98A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D62E87-A939-4BEA-B882-7E8D1ACA2800}" v="10" dt="2025-03-12T05:19:45.6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94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5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ammed Fasha" userId="cc64f42d-a1a6-4f08-b97b-0c37f877119f" providerId="ADAL" clId="{33A44248-7984-4750-8CBD-503C66D5F8B6}"/>
    <pc:docChg chg="custSel addSld modSld">
      <pc:chgData name="Mohammed Fasha" userId="cc64f42d-a1a6-4f08-b97b-0c37f877119f" providerId="ADAL" clId="{33A44248-7984-4750-8CBD-503C66D5F8B6}" dt="2025-03-05T09:13:55.803" v="21" actId="1076"/>
      <pc:docMkLst>
        <pc:docMk/>
      </pc:docMkLst>
      <pc:sldChg chg="addSp delSp modSp add">
        <pc:chgData name="Mohammed Fasha" userId="cc64f42d-a1a6-4f08-b97b-0c37f877119f" providerId="ADAL" clId="{33A44248-7984-4750-8CBD-503C66D5F8B6}" dt="2025-03-05T09:13:55.803" v="21" actId="1076"/>
        <pc:sldMkLst>
          <pc:docMk/>
          <pc:sldMk cId="2982934387" sldId="520"/>
        </pc:sldMkLst>
      </pc:sldChg>
    </pc:docChg>
  </pc:docChgLst>
  <pc:docChgLst>
    <pc:chgData name="Mohammed Fasha" userId="cc64f42d-a1a6-4f08-b97b-0c37f877119f" providerId="ADAL" clId="{E8D62E87-A939-4BEA-B882-7E8D1ACA2800}"/>
    <pc:docChg chg="undo redo custSel addSld delSld modSld sldOrd modMainMaster">
      <pc:chgData name="Mohammed Fasha" userId="cc64f42d-a1a6-4f08-b97b-0c37f877119f" providerId="ADAL" clId="{E8D62E87-A939-4BEA-B882-7E8D1ACA2800}" dt="2025-03-12T05:27:57.613" v="285" actId="20577"/>
      <pc:docMkLst>
        <pc:docMk/>
      </pc:docMkLst>
      <pc:sldChg chg="add">
        <pc:chgData name="Mohammed Fasha" userId="cc64f42d-a1a6-4f08-b97b-0c37f877119f" providerId="ADAL" clId="{E8D62E87-A939-4BEA-B882-7E8D1ACA2800}" dt="2025-03-11T17:36:51.895" v="20"/>
        <pc:sldMkLst>
          <pc:docMk/>
          <pc:sldMk cId="0" sldId="256"/>
        </pc:sldMkLst>
      </pc:sldChg>
      <pc:sldChg chg="addSp delSp modSp add mod chgLayout">
        <pc:chgData name="Mohammed Fasha" userId="cc64f42d-a1a6-4f08-b97b-0c37f877119f" providerId="ADAL" clId="{E8D62E87-A939-4BEA-B882-7E8D1ACA2800}" dt="2025-03-11T17:38:27.728" v="35" actId="14100"/>
        <pc:sldMkLst>
          <pc:docMk/>
          <pc:sldMk cId="0" sldId="257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7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38:27.728" v="35" actId="14100"/>
          <ac:spMkLst>
            <pc:docMk/>
            <pc:sldMk cId="0" sldId="257"/>
            <ac:spMk id="3" creationId="{00000000-0000-0000-0000-000000000000}"/>
          </ac:spMkLst>
        </pc:spChg>
        <pc:spChg chg="add del mod ord">
          <ac:chgData name="Mohammed Fasha" userId="cc64f42d-a1a6-4f08-b97b-0c37f877119f" providerId="ADAL" clId="{E8D62E87-A939-4BEA-B882-7E8D1ACA2800}" dt="2025-03-11T17:37:42.926" v="28" actId="700"/>
          <ac:spMkLst>
            <pc:docMk/>
            <pc:sldMk cId="0" sldId="257"/>
            <ac:spMk id="4" creationId="{D8913DB6-5167-530B-D6C2-77F22DA9C3B5}"/>
          </ac:spMkLst>
        </pc:spChg>
        <pc:spChg chg="add del mod ord">
          <ac:chgData name="Mohammed Fasha" userId="cc64f42d-a1a6-4f08-b97b-0c37f877119f" providerId="ADAL" clId="{E8D62E87-A939-4BEA-B882-7E8D1ACA2800}" dt="2025-03-11T17:38:23.726" v="34" actId="21"/>
          <ac:spMkLst>
            <pc:docMk/>
            <pc:sldMk cId="0" sldId="257"/>
            <ac:spMk id="5" creationId="{8011946F-E704-5388-A8EE-8CB51447C4E5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18.237" v="33" actId="21"/>
        <pc:sldMkLst>
          <pc:docMk/>
          <pc:sldMk cId="0" sldId="25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58"/>
            <ac:spMk id="2" creationId="{00000000-0000-0000-0000-000000000000}"/>
          </ac:spMkLst>
        </pc:spChg>
        <pc:spChg chg="add del mod ord">
          <ac:chgData name="Mohammed Fasha" userId="cc64f42d-a1a6-4f08-b97b-0c37f877119f" providerId="ADAL" clId="{E8D62E87-A939-4BEA-B882-7E8D1ACA2800}" dt="2025-03-11T17:38:18.237" v="33" actId="21"/>
          <ac:spMkLst>
            <pc:docMk/>
            <pc:sldMk cId="0" sldId="258"/>
            <ac:spMk id="3" creationId="{8A4374E4-8086-ED28-2C7E-B79363608EC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7:39.799" v="189" actId="5793"/>
        <pc:sldMkLst>
          <pc:docMk/>
          <pc:sldMk cId="0" sldId="260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0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38:43.516" v="41"/>
          <ac:spMkLst>
            <pc:docMk/>
            <pc:sldMk cId="0" sldId="260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7:39.799" v="189" actId="5793"/>
          <ac:spMkLst>
            <pc:docMk/>
            <pc:sldMk cId="0" sldId="260"/>
            <ac:spMk id="5" creationId="{32ABF7DF-DEAD-3193-0AA9-7B245BE33446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8:57.849" v="47"/>
        <pc:sldMkLst>
          <pc:docMk/>
          <pc:sldMk cId="0" sldId="263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3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38:57.849" v="47"/>
          <ac:spMkLst>
            <pc:docMk/>
            <pc:sldMk cId="0" sldId="263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8:55.621" v="45" actId="27636"/>
          <ac:spMkLst>
            <pc:docMk/>
            <pc:sldMk cId="0" sldId="263"/>
            <ac:spMk id="4" creationId="{DE05939E-0567-B79A-4161-7B333B52B923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8:36.941" v="211" actId="403"/>
        <pc:sldMkLst>
          <pc:docMk/>
          <pc:sldMk cId="0" sldId="264"/>
        </pc:sldMkLst>
        <pc:spChg chg="del mod">
          <ac:chgData name="Mohammed Fasha" userId="cc64f42d-a1a6-4f08-b97b-0c37f877119f" providerId="ADAL" clId="{E8D62E87-A939-4BEA-B882-7E8D1ACA2800}" dt="2025-03-11T17:39:03.299" v="49" actId="478"/>
          <ac:spMkLst>
            <pc:docMk/>
            <pc:sldMk cId="0" sldId="264"/>
            <ac:spMk id="2" creationId="{00000000-0000-0000-0000-000000000000}"/>
          </ac:spMkLst>
        </pc:spChg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4"/>
            <ac:spMk id="4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8:36.941" v="211" actId="403"/>
          <ac:spMkLst>
            <pc:docMk/>
            <pc:sldMk cId="0" sldId="264"/>
            <ac:spMk id="6" creationId="{03562A3C-DF2A-B49E-1B9F-8566CD52A1F9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39:39.291" v="64" actId="14100"/>
        <pc:sldMkLst>
          <pc:docMk/>
          <pc:sldMk cId="0" sldId="265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5"/>
            <ac:spMk id="3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39:19.095" v="55"/>
          <ac:spMkLst>
            <pc:docMk/>
            <pc:sldMk cId="0" sldId="265"/>
            <ac:spMk id="5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9:39.291" v="64" actId="14100"/>
          <ac:spMkLst>
            <pc:docMk/>
            <pc:sldMk cId="0" sldId="265"/>
            <ac:spMk id="6" creationId="{2E356761-E49C-6DF2-10A7-172015E8F069}"/>
          </ac:spMkLst>
        </pc:spChg>
      </pc:sldChg>
      <pc:sldChg chg="modSp add mod modClrScheme chgLayout">
        <pc:chgData name="Mohammed Fasha" userId="cc64f42d-a1a6-4f08-b97b-0c37f877119f" providerId="ADAL" clId="{E8D62E87-A939-4BEA-B882-7E8D1ACA2800}" dt="2025-03-11T17:40:07.304" v="73" actId="207"/>
        <pc:sldMkLst>
          <pc:docMk/>
          <pc:sldMk cId="0" sldId="266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6"/>
            <ac:spMk id="2" creationId="{00000000-0000-0000-0000-000000000000}"/>
          </ac:spMkLst>
        </pc:spChg>
        <pc:spChg chg="mod ord">
          <ac:chgData name="Mohammed Fasha" userId="cc64f42d-a1a6-4f08-b97b-0c37f877119f" providerId="ADAL" clId="{E8D62E87-A939-4BEA-B882-7E8D1ACA2800}" dt="2025-03-11T17:40:07.304" v="73" actId="207"/>
          <ac:spMkLst>
            <pc:docMk/>
            <pc:sldMk cId="0" sldId="266"/>
            <ac:spMk id="3" creationId="{00000000-0000-0000-0000-000000000000}"/>
          </ac:spMkLst>
        </pc:spChg>
      </pc:sldChg>
      <pc:sldChg chg="addSp modSp add mod modClrScheme chgLayout">
        <pc:chgData name="Mohammed Fasha" userId="cc64f42d-a1a6-4f08-b97b-0c37f877119f" providerId="ADAL" clId="{E8D62E87-A939-4BEA-B882-7E8D1ACA2800}" dt="2025-03-11T17:38:09.032" v="32" actId="700"/>
        <pc:sldMkLst>
          <pc:docMk/>
          <pc:sldMk cId="0" sldId="267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7"/>
            <ac:spMk id="6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7"/>
            <ac:spMk id="9" creationId="{9A3DEB72-33D8-CFED-2BCF-6F0F2510A24E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0:32.796" v="77"/>
        <pc:sldMkLst>
          <pc:docMk/>
          <pc:sldMk cId="0" sldId="26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68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0:32.796" v="77"/>
          <ac:spMkLst>
            <pc:docMk/>
            <pc:sldMk cId="0" sldId="268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0:31.417" v="75"/>
          <ac:spMkLst>
            <pc:docMk/>
            <pc:sldMk cId="0" sldId="268"/>
            <ac:spMk id="5" creationId="{606C1567-AF39-CAED-E122-5F02B98CB8E2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0:59.141" v="89"/>
        <pc:sldMkLst>
          <pc:docMk/>
          <pc:sldMk cId="0" sldId="269"/>
        </pc:sldMkLst>
        <pc:spChg chg="mod ord">
          <ac:chgData name="Mohammed Fasha" userId="cc64f42d-a1a6-4f08-b97b-0c37f877119f" providerId="ADAL" clId="{E8D62E87-A939-4BEA-B882-7E8D1ACA2800}" dt="2025-03-11T17:40:55.192" v="86" actId="14100"/>
          <ac:spMkLst>
            <pc:docMk/>
            <pc:sldMk cId="0" sldId="269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0:59.141" v="89"/>
          <ac:spMkLst>
            <pc:docMk/>
            <pc:sldMk cId="0" sldId="269"/>
            <ac:spMk id="4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0:45.293" v="83" actId="14100"/>
          <ac:spMkLst>
            <pc:docMk/>
            <pc:sldMk cId="0" sldId="269"/>
            <ac:spMk id="6" creationId="{A96B9512-6735-2168-2573-037AFE5A36E6}"/>
          </ac:spMkLst>
        </pc:spChg>
        <pc:picChg chg="mod">
          <ac:chgData name="Mohammed Fasha" userId="cc64f42d-a1a6-4f08-b97b-0c37f877119f" providerId="ADAL" clId="{E8D62E87-A939-4BEA-B882-7E8D1ACA2800}" dt="2025-03-11T17:40:57.796" v="87" actId="1076"/>
          <ac:picMkLst>
            <pc:docMk/>
            <pc:sldMk cId="0" sldId="269"/>
            <ac:picMk id="5" creationId="{00000000-0000-0000-0000-000000000000}"/>
          </ac:picMkLst>
        </pc:picChg>
      </pc:sldChg>
      <pc:sldChg chg="modSp add mod chgLayout">
        <pc:chgData name="Mohammed Fasha" userId="cc64f42d-a1a6-4f08-b97b-0c37f877119f" providerId="ADAL" clId="{E8D62E87-A939-4BEA-B882-7E8D1ACA2800}" dt="2025-03-11T17:41:31.050" v="98" actId="120"/>
        <pc:sldMkLst>
          <pc:docMk/>
          <pc:sldMk cId="0" sldId="270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0"/>
            <ac:spMk id="2" creationId="{00000000-0000-0000-0000-000000000000}"/>
          </ac:spMkLst>
        </pc:spChg>
        <pc:spChg chg="mod ord">
          <ac:chgData name="Mohammed Fasha" userId="cc64f42d-a1a6-4f08-b97b-0c37f877119f" providerId="ADAL" clId="{E8D62E87-A939-4BEA-B882-7E8D1ACA2800}" dt="2025-03-11T17:41:31.050" v="98" actId="120"/>
          <ac:spMkLst>
            <pc:docMk/>
            <pc:sldMk cId="0" sldId="270"/>
            <ac:spMk id="3" creationId="{00000000-0000-0000-0000-000000000000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2:02.106" v="106"/>
        <pc:sldMkLst>
          <pc:docMk/>
          <pc:sldMk cId="0" sldId="271"/>
        </pc:sldMkLst>
        <pc:spChg chg="mod ord">
          <ac:chgData name="Mohammed Fasha" userId="cc64f42d-a1a6-4f08-b97b-0c37f877119f" providerId="ADAL" clId="{E8D62E87-A939-4BEA-B882-7E8D1ACA2800}" dt="2025-03-11T17:42:00.548" v="104" actId="14100"/>
          <ac:spMkLst>
            <pc:docMk/>
            <pc:sldMk cId="0" sldId="271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2:02.106" v="106"/>
          <ac:spMkLst>
            <pc:docMk/>
            <pc:sldMk cId="0" sldId="271"/>
            <ac:spMk id="4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1:48.304" v="102" actId="27636"/>
          <ac:spMkLst>
            <pc:docMk/>
            <pc:sldMk cId="0" sldId="271"/>
            <ac:spMk id="7" creationId="{B92DA10B-6357-37BF-59BD-660098D0EBD0}"/>
          </ac:spMkLst>
        </pc:spChg>
      </pc:sldChg>
      <pc:sldChg chg="addSp modSp add mod chgLayout">
        <pc:chgData name="Mohammed Fasha" userId="cc64f42d-a1a6-4f08-b97b-0c37f877119f" providerId="ADAL" clId="{E8D62E87-A939-4BEA-B882-7E8D1ACA2800}" dt="2025-03-11T17:42:13.069" v="111" actId="14100"/>
        <pc:sldMkLst>
          <pc:docMk/>
          <pc:sldMk cId="0" sldId="272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2"/>
            <ac:spMk id="2" creationId="{00000000-0000-0000-0000-000000000000}"/>
          </ac:spMkLst>
        </pc:spChg>
        <pc:spChg chg="mod">
          <ac:chgData name="Mohammed Fasha" userId="cc64f42d-a1a6-4f08-b97b-0c37f877119f" providerId="ADAL" clId="{E8D62E87-A939-4BEA-B882-7E8D1ACA2800}" dt="2025-03-11T17:42:05.904" v="109"/>
          <ac:spMkLst>
            <pc:docMk/>
            <pc:sldMk cId="0" sldId="272"/>
            <ac:spMk id="6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2:13.069" v="111" actId="14100"/>
          <ac:spMkLst>
            <pc:docMk/>
            <pc:sldMk cId="0" sldId="272"/>
            <ac:spMk id="7" creationId="{BD008676-47C8-D88A-CD4A-65BB83D57162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2:25.380" v="116"/>
        <pc:sldMkLst>
          <pc:docMk/>
          <pc:sldMk cId="0" sldId="273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3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2:25.380" v="116"/>
          <ac:spMkLst>
            <pc:docMk/>
            <pc:sldMk cId="0" sldId="273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2:24.395" v="114" actId="14100"/>
          <ac:spMkLst>
            <pc:docMk/>
            <pc:sldMk cId="0" sldId="273"/>
            <ac:spMk id="5" creationId="{A64582C4-228C-E54E-39F2-0BC2E25DF3B3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2:34.926" v="122"/>
        <pc:sldMkLst>
          <pc:docMk/>
          <pc:sldMk cId="0" sldId="274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4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2:34.926" v="122"/>
          <ac:spMkLst>
            <pc:docMk/>
            <pc:sldMk cId="0" sldId="274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2:33.252" v="120" actId="27636"/>
          <ac:spMkLst>
            <pc:docMk/>
            <pc:sldMk cId="0" sldId="274"/>
            <ac:spMk id="7" creationId="{CF4277E2-2BAC-D76F-20C6-A50B542D2495}"/>
          </ac:spMkLst>
        </pc:spChg>
      </pc:sldChg>
      <pc:sldChg chg="addSp delSp modSp add mod modClrScheme chgLayout">
        <pc:chgData name="Mohammed Fasha" userId="cc64f42d-a1a6-4f08-b97b-0c37f877119f" providerId="ADAL" clId="{E8D62E87-A939-4BEA-B882-7E8D1ACA2800}" dt="2025-03-11T17:44:30.436" v="130"/>
        <pc:sldMkLst>
          <pc:docMk/>
          <pc:sldMk cId="0" sldId="275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5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4:30.436" v="130"/>
          <ac:spMkLst>
            <pc:docMk/>
            <pc:sldMk cId="0" sldId="275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4:28.623" v="128" actId="5793"/>
          <ac:spMkLst>
            <pc:docMk/>
            <pc:sldMk cId="0" sldId="275"/>
            <ac:spMk id="6" creationId="{9957452C-73BF-8326-CB44-7681D73070DA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5:06.196" v="150" actId="1076"/>
        <pc:sldMkLst>
          <pc:docMk/>
          <pc:sldMk cId="0" sldId="276"/>
        </pc:sldMkLst>
        <pc:spChg chg="mod ord">
          <ac:chgData name="Mohammed Fasha" userId="cc64f42d-a1a6-4f08-b97b-0c37f877119f" providerId="ADAL" clId="{E8D62E87-A939-4BEA-B882-7E8D1ACA2800}" dt="2025-03-11T17:44:55.023" v="144" actId="700"/>
          <ac:spMkLst>
            <pc:docMk/>
            <pc:sldMk cId="0" sldId="276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4:50.359" v="143"/>
          <ac:spMkLst>
            <pc:docMk/>
            <pc:sldMk cId="0" sldId="276"/>
            <ac:spMk id="3" creationId="{00000000-0000-0000-0000-000000000000}"/>
          </ac:spMkLst>
        </pc:spChg>
        <pc:spChg chg="add del mod ord">
          <ac:chgData name="Mohammed Fasha" userId="cc64f42d-a1a6-4f08-b97b-0c37f877119f" providerId="ADAL" clId="{E8D62E87-A939-4BEA-B882-7E8D1ACA2800}" dt="2025-03-11T17:44:50.357" v="141" actId="478"/>
          <ac:spMkLst>
            <pc:docMk/>
            <pc:sldMk cId="0" sldId="276"/>
            <ac:spMk id="4" creationId="{CEB13356-B410-78B5-20BC-D671A19F0FA1}"/>
          </ac:spMkLst>
        </pc:spChg>
        <pc:spChg chg="add mod ord">
          <ac:chgData name="Mohammed Fasha" userId="cc64f42d-a1a6-4f08-b97b-0c37f877119f" providerId="ADAL" clId="{E8D62E87-A939-4BEA-B882-7E8D1ACA2800}" dt="2025-03-11T17:45:01.337" v="149" actId="27636"/>
          <ac:spMkLst>
            <pc:docMk/>
            <pc:sldMk cId="0" sldId="276"/>
            <ac:spMk id="5" creationId="{0867216F-21D0-D7A3-5E89-A2CFA02B55BE}"/>
          </ac:spMkLst>
        </pc:spChg>
        <pc:picChg chg="mod">
          <ac:chgData name="Mohammed Fasha" userId="cc64f42d-a1a6-4f08-b97b-0c37f877119f" providerId="ADAL" clId="{E8D62E87-A939-4BEA-B882-7E8D1ACA2800}" dt="2025-03-11T17:45:06.196" v="150" actId="1076"/>
          <ac:picMkLst>
            <pc:docMk/>
            <pc:sldMk cId="0" sldId="276"/>
            <ac:picMk id="7" creationId="{00000000-0000-0000-0000-000000000000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1T17:46:17.088" v="187" actId="1076"/>
        <pc:sldMkLst>
          <pc:docMk/>
          <pc:sldMk cId="0" sldId="277"/>
        </pc:sldMkLst>
        <pc:spChg chg="mod ord">
          <ac:chgData name="Mohammed Fasha" userId="cc64f42d-a1a6-4f08-b97b-0c37f877119f" providerId="ADAL" clId="{E8D62E87-A939-4BEA-B882-7E8D1ACA2800}" dt="2025-03-11T17:46:13.015" v="185" actId="14100"/>
          <ac:spMkLst>
            <pc:docMk/>
            <pc:sldMk cId="0" sldId="277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13.418" v="155"/>
          <ac:spMkLst>
            <pc:docMk/>
            <pc:sldMk cId="0" sldId="277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11.335" v="153" actId="27636"/>
          <ac:spMkLst>
            <pc:docMk/>
            <pc:sldMk cId="0" sldId="277"/>
            <ac:spMk id="6" creationId="{3D3AD5F5-11EB-F4CF-7A5C-D06FD5A5AA42}"/>
          </ac:spMkLst>
        </pc:spChg>
        <pc:picChg chg="mod">
          <ac:chgData name="Mohammed Fasha" userId="cc64f42d-a1a6-4f08-b97b-0c37f877119f" providerId="ADAL" clId="{E8D62E87-A939-4BEA-B882-7E8D1ACA2800}" dt="2025-03-11T17:46:17.088" v="187" actId="1076"/>
          <ac:picMkLst>
            <pc:docMk/>
            <pc:sldMk cId="0" sldId="277"/>
            <ac:picMk id="5" creationId="{00000000-0000-0000-0000-000000000000}"/>
          </ac:picMkLst>
        </pc:picChg>
      </pc:sldChg>
      <pc:sldChg chg="addSp delSp modSp add mod chgLayout">
        <pc:chgData name="Mohammed Fasha" userId="cc64f42d-a1a6-4f08-b97b-0c37f877119f" providerId="ADAL" clId="{E8D62E87-A939-4BEA-B882-7E8D1ACA2800}" dt="2025-03-11T17:46:04.712" v="184" actId="27636"/>
        <pc:sldMkLst>
          <pc:docMk/>
          <pc:sldMk cId="0" sldId="278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8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18.787" v="159"/>
          <ac:spMkLst>
            <pc:docMk/>
            <pc:sldMk cId="0" sldId="278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6:04.712" v="184" actId="27636"/>
          <ac:spMkLst>
            <pc:docMk/>
            <pc:sldMk cId="0" sldId="278"/>
            <ac:spMk id="6" creationId="{81843AE0-4921-7733-0D3B-33D489EDB8CC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5:57.541" v="182" actId="14100"/>
        <pc:sldMkLst>
          <pc:docMk/>
          <pc:sldMk cId="0" sldId="279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79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23.444" v="163"/>
          <ac:spMkLst>
            <pc:docMk/>
            <pc:sldMk cId="0" sldId="279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57.541" v="182" actId="14100"/>
          <ac:spMkLst>
            <pc:docMk/>
            <pc:sldMk cId="0" sldId="279"/>
            <ac:spMk id="5" creationId="{1FB820DD-4C9B-BF86-308A-C98745C15617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5:52.880" v="181" actId="14100"/>
        <pc:sldMkLst>
          <pc:docMk/>
          <pc:sldMk cId="0" sldId="280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80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29.542" v="167"/>
          <ac:spMkLst>
            <pc:docMk/>
            <pc:sldMk cId="0" sldId="280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52.880" v="181" actId="14100"/>
          <ac:spMkLst>
            <pc:docMk/>
            <pc:sldMk cId="0" sldId="280"/>
            <ac:spMk id="6" creationId="{CC4C1BC0-7E6B-75C8-0965-79DE721E7639}"/>
          </ac:spMkLst>
        </pc:sp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82709017" sldId="280"/>
        </pc:sldMkLst>
      </pc:sldChg>
      <pc:sldChg chg="addSp delSp modSp add mod chgLayout">
        <pc:chgData name="Mohammed Fasha" userId="cc64f42d-a1a6-4f08-b97b-0c37f877119f" providerId="ADAL" clId="{E8D62E87-A939-4BEA-B882-7E8D1ACA2800}" dt="2025-03-11T17:45:46.225" v="180" actId="27636"/>
        <pc:sldMkLst>
          <pc:docMk/>
          <pc:sldMk cId="0" sldId="281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81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33.476" v="171"/>
          <ac:spMkLst>
            <pc:docMk/>
            <pc:sldMk cId="0" sldId="281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46.225" v="180" actId="27636"/>
          <ac:spMkLst>
            <pc:docMk/>
            <pc:sldMk cId="0" sldId="281"/>
            <ac:spMk id="6" creationId="{EB8485EF-5B2E-B9FA-D743-D618D652D00C}"/>
          </ac:spMkLst>
        </pc:spChg>
      </pc:sldChg>
      <pc:sldChg chg="addSp delSp modSp add mod chgLayout">
        <pc:chgData name="Mohammed Fasha" userId="cc64f42d-a1a6-4f08-b97b-0c37f877119f" providerId="ADAL" clId="{E8D62E87-A939-4BEA-B882-7E8D1ACA2800}" dt="2025-03-11T17:45:42.306" v="178"/>
        <pc:sldMkLst>
          <pc:docMk/>
          <pc:sldMk cId="0" sldId="282"/>
        </pc:sldMkLst>
        <pc:spChg chg="mod ord">
          <ac:chgData name="Mohammed Fasha" userId="cc64f42d-a1a6-4f08-b97b-0c37f877119f" providerId="ADAL" clId="{E8D62E87-A939-4BEA-B882-7E8D1ACA2800}" dt="2025-03-11T17:38:09.032" v="32" actId="700"/>
          <ac:spMkLst>
            <pc:docMk/>
            <pc:sldMk cId="0" sldId="282"/>
            <ac:spMk id="2" creationId="{00000000-0000-0000-0000-000000000000}"/>
          </ac:spMkLst>
        </pc:spChg>
        <pc:spChg chg="del mod">
          <ac:chgData name="Mohammed Fasha" userId="cc64f42d-a1a6-4f08-b97b-0c37f877119f" providerId="ADAL" clId="{E8D62E87-A939-4BEA-B882-7E8D1ACA2800}" dt="2025-03-11T17:45:42.306" v="178"/>
          <ac:spMkLst>
            <pc:docMk/>
            <pc:sldMk cId="0" sldId="282"/>
            <ac:spMk id="3" creationId="{00000000-0000-0000-0000-000000000000}"/>
          </ac:spMkLst>
        </pc:spChg>
        <pc:spChg chg="add mod ord">
          <ac:chgData name="Mohammed Fasha" userId="cc64f42d-a1a6-4f08-b97b-0c37f877119f" providerId="ADAL" clId="{E8D62E87-A939-4BEA-B882-7E8D1ACA2800}" dt="2025-03-11T17:45:41.516" v="176" actId="27636"/>
          <ac:spMkLst>
            <pc:docMk/>
            <pc:sldMk cId="0" sldId="282"/>
            <ac:spMk id="7" creationId="{3951CDAE-FE5A-5CF3-E54D-996CD266DF38}"/>
          </ac:spMkLst>
        </pc:sp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3"/>
        </pc:sldMkLst>
      </pc:sldChg>
      <pc:sldChg chg="addSp delSp modSp new mod ord">
        <pc:chgData name="Mohammed Fasha" userId="cc64f42d-a1a6-4f08-b97b-0c37f877119f" providerId="ADAL" clId="{E8D62E87-A939-4BEA-B882-7E8D1ACA2800}" dt="2025-03-12T05:20:32.571" v="266"/>
        <pc:sldMkLst>
          <pc:docMk/>
          <pc:sldMk cId="1180887711" sldId="283"/>
        </pc:sldMkLst>
        <pc:spChg chg="mod">
          <ac:chgData name="Mohammed Fasha" userId="cc64f42d-a1a6-4f08-b97b-0c37f877119f" providerId="ADAL" clId="{E8D62E87-A939-4BEA-B882-7E8D1ACA2800}" dt="2025-03-12T05:20:10.673" v="261" actId="20577"/>
          <ac:spMkLst>
            <pc:docMk/>
            <pc:sldMk cId="1180887711" sldId="283"/>
            <ac:spMk id="2" creationId="{43AB040B-91AB-8FE8-4C82-1572292F6D13}"/>
          </ac:spMkLst>
        </pc:spChg>
        <pc:spChg chg="add del mod">
          <ac:chgData name="Mohammed Fasha" userId="cc64f42d-a1a6-4f08-b97b-0c37f877119f" providerId="ADAL" clId="{E8D62E87-A939-4BEA-B882-7E8D1ACA2800}" dt="2025-03-12T05:20:00.927" v="225" actId="22"/>
          <ac:spMkLst>
            <pc:docMk/>
            <pc:sldMk cId="1180887711" sldId="283"/>
            <ac:spMk id="3" creationId="{55A64582-92CB-E9D1-81BF-7BB7B916451F}"/>
          </ac:spMkLst>
        </pc:spChg>
        <pc:graphicFrameChg chg="add mod">
          <ac:chgData name="Mohammed Fasha" userId="cc64f42d-a1a6-4f08-b97b-0c37f877119f" providerId="ADAL" clId="{E8D62E87-A939-4BEA-B882-7E8D1ACA2800}" dt="2025-03-12T05:19:22.096" v="214"/>
          <ac:graphicFrameMkLst>
            <pc:docMk/>
            <pc:sldMk cId="1180887711" sldId="283"/>
            <ac:graphicFrameMk id="4" creationId="{17363DCE-24DE-BF63-E22D-0F95EBF74D8D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1.140" v="213"/>
          <ac:graphicFrameMkLst>
            <pc:docMk/>
            <pc:sldMk cId="1180887711" sldId="283"/>
            <ac:graphicFrameMk id="5" creationId="{4EE5B16B-E441-1645-57C4-7DDEB7AD638B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1.140" v="213"/>
          <ac:graphicFrameMkLst>
            <pc:docMk/>
            <pc:sldMk cId="1180887711" sldId="283"/>
            <ac:graphicFrameMk id="6" creationId="{DBDF9790-6F30-8AD2-0AAF-561CCFE9DD23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1.140" v="213"/>
          <ac:graphicFrameMkLst>
            <pc:docMk/>
            <pc:sldMk cId="1180887711" sldId="283"/>
            <ac:graphicFrameMk id="7" creationId="{699250CD-AE68-158B-E630-B30424BA3607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1.140" v="213"/>
          <ac:graphicFrameMkLst>
            <pc:docMk/>
            <pc:sldMk cId="1180887711" sldId="283"/>
            <ac:graphicFrameMk id="8" creationId="{F02032CA-8673-3C2A-DE47-FBF071144776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3.683" v="216"/>
          <ac:graphicFrameMkLst>
            <pc:docMk/>
            <pc:sldMk cId="1180887711" sldId="283"/>
            <ac:graphicFrameMk id="9" creationId="{2CB5E88D-8582-CCFE-5F82-7B17B8B16054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2.841" v="215"/>
          <ac:graphicFrameMkLst>
            <pc:docMk/>
            <pc:sldMk cId="1180887711" sldId="283"/>
            <ac:graphicFrameMk id="10" creationId="{88501F2A-DC88-FAF4-EB7A-1A9FEECB626E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2.841" v="215"/>
          <ac:graphicFrameMkLst>
            <pc:docMk/>
            <pc:sldMk cId="1180887711" sldId="283"/>
            <ac:graphicFrameMk id="11" creationId="{D6CB4242-A822-8BBD-6FF5-C628D3CB836E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2.841" v="215"/>
          <ac:graphicFrameMkLst>
            <pc:docMk/>
            <pc:sldMk cId="1180887711" sldId="283"/>
            <ac:graphicFrameMk id="12" creationId="{18E9E8C1-09E2-3DD1-31D6-27926A07E928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22.841" v="215"/>
          <ac:graphicFrameMkLst>
            <pc:docMk/>
            <pc:sldMk cId="1180887711" sldId="283"/>
            <ac:graphicFrameMk id="13" creationId="{1E8E5D5C-FCFF-EDC2-49DD-CE43A819C8C2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45.689" v="224"/>
          <ac:graphicFrameMkLst>
            <pc:docMk/>
            <pc:sldMk cId="1180887711" sldId="283"/>
            <ac:graphicFrameMk id="14" creationId="{F002DCBE-BF68-8247-AC2D-DC4444516238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32.782" v="219"/>
          <ac:graphicFrameMkLst>
            <pc:docMk/>
            <pc:sldMk cId="1180887711" sldId="283"/>
            <ac:graphicFrameMk id="15" creationId="{7E695FBB-EFE4-60BD-63F4-1B23ABEC45A5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32.782" v="219"/>
          <ac:graphicFrameMkLst>
            <pc:docMk/>
            <pc:sldMk cId="1180887711" sldId="283"/>
            <ac:graphicFrameMk id="16" creationId="{7A1AA974-45B3-BCC0-6B25-E1C20871C5A3}"/>
          </ac:graphicFrameMkLst>
        </pc:graphicFrameChg>
        <pc:graphicFrameChg chg="add mod">
          <ac:chgData name="Mohammed Fasha" userId="cc64f42d-a1a6-4f08-b97b-0c37f877119f" providerId="ADAL" clId="{E8D62E87-A939-4BEA-B882-7E8D1ACA2800}" dt="2025-03-12T05:19:32.782" v="219"/>
          <ac:graphicFrameMkLst>
            <pc:docMk/>
            <pc:sldMk cId="1180887711" sldId="283"/>
            <ac:graphicFrameMk id="17" creationId="{9556F071-C204-A3BD-3863-88B3119443D2}"/>
          </ac:graphicFrameMkLst>
        </pc:graphicFrameChg>
        <pc:graphicFrameChg chg="add mod modGraphic">
          <ac:chgData name="Mohammed Fasha" userId="cc64f42d-a1a6-4f08-b97b-0c37f877119f" providerId="ADAL" clId="{E8D62E87-A939-4BEA-B882-7E8D1ACA2800}" dt="2025-03-12T05:19:45.293" v="223" actId="14100"/>
          <ac:graphicFrameMkLst>
            <pc:docMk/>
            <pc:sldMk cId="1180887711" sldId="283"/>
            <ac:graphicFrameMk id="18" creationId="{16C44C7F-ED9B-B8EA-88D0-ECC66C84CE60}"/>
          </ac:graphicFrameMkLst>
        </pc:graphicFrameChg>
        <pc:picChg chg="add mod ord">
          <ac:chgData name="Mohammed Fasha" userId="cc64f42d-a1a6-4f08-b97b-0c37f877119f" providerId="ADAL" clId="{E8D62E87-A939-4BEA-B882-7E8D1ACA2800}" dt="2025-03-12T05:20:19.943" v="264" actId="1076"/>
          <ac:picMkLst>
            <pc:docMk/>
            <pc:sldMk cId="1180887711" sldId="283"/>
            <ac:picMk id="20" creationId="{842D6109-309C-0C16-24AA-D861D462313C}"/>
          </ac:picMkLst>
        </pc:picChg>
      </pc:sldChg>
      <pc:sldChg chg="new del">
        <pc:chgData name="Mohammed Fasha" userId="cc64f42d-a1a6-4f08-b97b-0c37f877119f" providerId="ADAL" clId="{E8D62E87-A939-4BEA-B882-7E8D1ACA2800}" dt="2025-03-12T05:27:46.813" v="268" actId="680"/>
        <pc:sldMkLst>
          <pc:docMk/>
          <pc:sldMk cId="2805000312" sldId="284"/>
        </pc:sldMkLst>
      </pc:sldChg>
      <pc:sldChg chg="addSp delSp modSp new mod">
        <pc:chgData name="Mohammed Fasha" userId="cc64f42d-a1a6-4f08-b97b-0c37f877119f" providerId="ADAL" clId="{E8D62E87-A939-4BEA-B882-7E8D1ACA2800}" dt="2025-03-12T05:27:57.613" v="285" actId="20577"/>
        <pc:sldMkLst>
          <pc:docMk/>
          <pc:sldMk cId="3902878762" sldId="284"/>
        </pc:sldMkLst>
        <pc:spChg chg="mod">
          <ac:chgData name="Mohammed Fasha" userId="cc64f42d-a1a6-4f08-b97b-0c37f877119f" providerId="ADAL" clId="{E8D62E87-A939-4BEA-B882-7E8D1ACA2800}" dt="2025-03-12T05:27:57.613" v="285" actId="20577"/>
          <ac:spMkLst>
            <pc:docMk/>
            <pc:sldMk cId="3902878762" sldId="284"/>
            <ac:spMk id="2" creationId="{28AF675C-3963-4D6A-1306-49A13120C036}"/>
          </ac:spMkLst>
        </pc:spChg>
        <pc:spChg chg="del">
          <ac:chgData name="Mohammed Fasha" userId="cc64f42d-a1a6-4f08-b97b-0c37f877119f" providerId="ADAL" clId="{E8D62E87-A939-4BEA-B882-7E8D1ACA2800}" dt="2025-03-12T05:27:53.025" v="270" actId="22"/>
          <ac:spMkLst>
            <pc:docMk/>
            <pc:sldMk cId="3902878762" sldId="284"/>
            <ac:spMk id="3" creationId="{3FC7B02C-5192-78B7-D4C2-3551BB7CD8B3}"/>
          </ac:spMkLst>
        </pc:spChg>
        <pc:picChg chg="add mod ord">
          <ac:chgData name="Mohammed Fasha" userId="cc64f42d-a1a6-4f08-b97b-0c37f877119f" providerId="ADAL" clId="{E8D62E87-A939-4BEA-B882-7E8D1ACA2800}" dt="2025-03-12T05:27:53.025" v="270" actId="22"/>
          <ac:picMkLst>
            <pc:docMk/>
            <pc:sldMk cId="3902878762" sldId="284"/>
            <ac:picMk id="5" creationId="{A95C5826-1816-6A55-9BE7-F70077964440}"/>
          </ac:picMkLst>
        </pc:pic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8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1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0" sldId="293"/>
        </pc:sldMkLst>
      </pc:sldChg>
      <pc:sldChg chg="addSp modSp del mod">
        <pc:chgData name="Mohammed Fasha" userId="cc64f42d-a1a6-4f08-b97b-0c37f877119f" providerId="ADAL" clId="{E8D62E87-A939-4BEA-B882-7E8D1ACA2800}" dt="2025-03-11T17:37:36.272" v="26" actId="2696"/>
        <pc:sldMkLst>
          <pc:docMk/>
          <pc:sldMk cId="1489447582" sldId="455"/>
        </pc:sldMkLst>
        <pc:spChg chg="mod">
          <ac:chgData name="Mohammed Fasha" userId="cc64f42d-a1a6-4f08-b97b-0c37f877119f" providerId="ADAL" clId="{E8D62E87-A939-4BEA-B882-7E8D1ACA2800}" dt="2025-03-11T17:37:15.801" v="24" actId="1076"/>
          <ac:spMkLst>
            <pc:docMk/>
            <pc:sldMk cId="1489447582" sldId="455"/>
            <ac:spMk id="9" creationId="{F599965F-D781-62F6-30A4-33D89AC89080}"/>
          </ac:spMkLst>
        </pc:spChg>
        <pc:picChg chg="add mod">
          <ac:chgData name="Mohammed Fasha" userId="cc64f42d-a1a6-4f08-b97b-0c37f877119f" providerId="ADAL" clId="{E8D62E87-A939-4BEA-B882-7E8D1ACA2800}" dt="2025-03-11T17:37:18.452" v="25" actId="1076"/>
          <ac:picMkLst>
            <pc:docMk/>
            <pc:sldMk cId="1489447582" sldId="455"/>
            <ac:picMk id="2" creationId="{311AA999-5041-D07E-4766-C4C16B0A5ADB}"/>
          </ac:picMkLst>
        </pc:picChg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92344261" sldId="46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574210855" sldId="46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908672191" sldId="48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1032783492" sldId="50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436502279" sldId="50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75373168" sldId="50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624540926" sldId="510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42384264" sldId="512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862507572" sldId="513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539197233" sldId="514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464321651" sldId="515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80093838" sldId="516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355427782" sldId="517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3663943781" sldId="518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345974267" sldId="519"/>
        </pc:sldMkLst>
      </pc:sldChg>
      <pc:sldChg chg="del">
        <pc:chgData name="Mohammed Fasha" userId="cc64f42d-a1a6-4f08-b97b-0c37f877119f" providerId="ADAL" clId="{E8D62E87-A939-4BEA-B882-7E8D1ACA2800}" dt="2025-03-11T17:36:25.500" v="0" actId="2696"/>
        <pc:sldMkLst>
          <pc:docMk/>
          <pc:sldMk cId="2982934387" sldId="520"/>
        </pc:sldMkLst>
      </pc:sldChg>
      <pc:sldMasterChg chg="modSldLayout">
        <pc:chgData name="Mohammed Fasha" userId="cc64f42d-a1a6-4f08-b97b-0c37f877119f" providerId="ADAL" clId="{E8D62E87-A939-4BEA-B882-7E8D1ACA2800}" dt="2025-03-11T17:37:56.779" v="31" actId="14100"/>
        <pc:sldMasterMkLst>
          <pc:docMk/>
          <pc:sldMasterMk cId="742811419" sldId="2147483648"/>
        </pc:sldMasterMkLst>
        <pc:sldLayoutChg chg="modSp mod">
          <pc:chgData name="Mohammed Fasha" userId="cc64f42d-a1a6-4f08-b97b-0c37f877119f" providerId="ADAL" clId="{E8D62E87-A939-4BEA-B882-7E8D1ACA2800}" dt="2025-03-11T17:37:56.779" v="31" actId="14100"/>
          <pc:sldLayoutMkLst>
            <pc:docMk/>
            <pc:sldMasterMk cId="742811419" sldId="2147483648"/>
            <pc:sldLayoutMk cId="3573533501" sldId="2147483650"/>
          </pc:sldLayoutMkLst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2" creationId="{0F61AE11-FE2F-E8C7-76F8-4648B97755B7}"/>
            </ac:spMkLst>
          </pc:spChg>
          <pc:spChg chg="mod">
            <ac:chgData name="Mohammed Fasha" userId="cc64f42d-a1a6-4f08-b97b-0c37f877119f" providerId="ADAL" clId="{E8D62E87-A939-4BEA-B882-7E8D1ACA2800}" dt="2025-03-11T17:37:56.779" v="31" actId="14100"/>
            <ac:spMkLst>
              <pc:docMk/>
              <pc:sldMasterMk cId="742811419" sldId="2147483648"/>
              <pc:sldLayoutMk cId="3573533501" sldId="2147483650"/>
              <ac:spMk id="3" creationId="{93FDCCF6-2612-A73C-C264-680D14569853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BA03A4-B9F1-404C-8A74-B1AFD6480953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C3971-340B-41A2-ABD3-FB1A577E48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051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jpg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9B88D-A571-8D68-DA1D-4734ED37A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433490-0BE8-AA6E-9BD9-B3AE42C098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2B6175-CE1C-2163-F07B-89B1D44CD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31D7E-9560-9E2E-E325-EA9FF2B4F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25B4A-CC9F-DFD4-9C8C-EC0E3A6CB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788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AE11-FE2F-E8C7-76F8-4648B9775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4085" y="797523"/>
            <a:ext cx="11069715" cy="748208"/>
          </a:xfrm>
          <a:solidFill>
            <a:srgbClr val="67337A"/>
          </a:solidFill>
        </p:spPr>
        <p:txBody>
          <a:bodyPr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FDCCF6-2612-A73C-C264-680D1456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11069715" cy="4991039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353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3632C-6DEE-7253-7D28-277A733B9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429001"/>
            <a:ext cx="10515600" cy="1410566"/>
          </a:xfrm>
        </p:spPr>
        <p:txBody>
          <a:bodyPr anchor="b">
            <a:normAutofit/>
          </a:bodyPr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46F207-EFC1-8D09-1A43-C1BC66F4B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956175"/>
            <a:ext cx="10515600" cy="1133475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066E6-0CE4-B283-4609-6B87CF61E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88F228-7BFB-DECA-1E8A-FE22303A6A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017116-D906-F8F1-9544-2F31FF8B3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FD8420-94D8-A22A-437F-9C23274717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A4E6A3-979F-577C-6B28-090C8441D5A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65" y="160954"/>
            <a:ext cx="2120835" cy="6365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F73805-8742-DDA0-8BA4-18F7B6B60B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394545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320A-5856-7025-B675-5175C87B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A02420-256F-86BB-2069-DC7FC15985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A8B5D-BE76-5309-6B35-5BB623D54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C55F1A-4711-E07F-4060-9DFA24B5F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BDB2D-A305-9686-67A1-5E6D04DD8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DA501-D721-9762-F1D7-F2633610B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912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D67AB-B0CB-34AE-FB11-E6E73297D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F1467F-4D04-1AE5-F976-549357D164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D808E-728B-7E91-40BC-CEDF06A29F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AC8E04-B37B-1721-DBCE-7A749BD7AC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85EBE9-C42B-6432-1518-88FD8B1A9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A973D-A9C2-1CA6-05F5-A7C82D402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61A04-2021-047C-B370-D0B428F9B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1AC7FB-EE3D-80A6-4C1A-80E359A3F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8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43EC8-462D-17BF-D668-48071F09B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1285AC-0A2F-4AE5-D1B6-5C319BFFE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1CD249-9162-ABF9-19A3-977BDD9DA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EE01C95-124F-0B3B-A8D9-B9C970F19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6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829541-D653-384C-D771-DD8F69A08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33C97-264B-3724-11ED-5BB6B8F25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E226B-01EA-120B-3387-6F48FDA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980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9331-9622-1254-250C-1A826F867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61744-6E94-694D-5ACD-A392EBB2B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72829D-7E3F-4729-5630-2FC6FC338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A95737-F397-134D-F032-CB1CF8533C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454794-C979-4A92-C271-06A8ACAB1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3CABCC-6A8A-037D-30F0-16F152A1C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2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35548-3058-3FF3-095A-5746EA91D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594BFE-AD4C-39A4-E6D7-3D67D9AF06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17F4F-1D08-F5A7-0483-99EBD45B35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2418C9-6621-9F77-5D27-62F1D1DA5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E588C-5B83-3F14-34CB-FBF668EE8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9B9B1A-60F9-9274-969E-5776570FA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06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89562-02BA-F69E-C391-546A16C2F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AC2F76-E2E8-15A6-A3C8-6CB5142D8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6A671-E219-71C5-2625-4964456C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58E91A-8EA7-3C4C-E581-D2E7DE801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236E2-4C17-03F4-B4DC-034FD967F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014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97CBBF0-FFDE-1DC2-A2E8-4E45481189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26B3BF-C276-8333-A7E7-B8D443C6A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EB368-D24B-9EA8-8A8F-0AB2C5F18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D0D11-FA10-A88B-DAAF-BDC5D659D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B60E9-3F05-AAE4-101F-3125133F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803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875" y="103822"/>
            <a:ext cx="403123" cy="52901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9" y="188463"/>
            <a:ext cx="2020001" cy="572459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38800" y="279209"/>
            <a:ext cx="914400" cy="120491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63645" y="2380310"/>
            <a:ext cx="5664708" cy="1068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95203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chemeClr val="tx1"/>
                </a:solidFill>
                <a:latin typeface="Calibri Light"/>
                <a:cs typeface="Calibr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608733"/>
            <a:ext cx="4972685" cy="47301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006FC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3/12/2025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3807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72762C5-8E42-00DD-5440-4A44E725E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4D4F47-A5A1-F247-D7EC-43901BD919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1E946-8B54-76FA-E3B0-E48F8BEE74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78E95-DE77-44D3-BDB9-E242948FB112}" type="datetimeFigureOut">
              <a:rPr lang="en-US" smtClean="0"/>
              <a:t>3/12/2025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E851E2-F7B0-D02A-22FA-EC3877EEE5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B3EB4-6884-55A1-71B3-B7A412117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339690-657A-47AB-B56D-24FB92E3B2DB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94C39A-D09F-3FB5-FC83-3461D4B26A9C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9908" y="103770"/>
            <a:ext cx="403127" cy="57042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541B7E3-0100-0D6B-212C-A14E821244AF}"/>
              </a:ext>
            </a:extLst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5278" y="43208"/>
            <a:ext cx="1171576" cy="594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0C727CE-6255-82CB-CFCB-7738B389789F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0" y="92622"/>
            <a:ext cx="2123320" cy="447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28114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hyperlink" Target="https://youtu.be/LEzQVPvNTNo?si=JQlcwb1fimzxVs_9&amp;t=753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2/06/getting-started-with-apache-pig/" TargetMode="External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eeksforgeeks.org/difference-between-pig-and-hive/" TargetMode="Externa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hyperlink" Target="https://youtu.be/LEzQVPvNTNo?si=JS4-3Qxyu3o7TD9q&amp;t=873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scaler.com/topics/hadoop/hbase-architecture/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jp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" algn="ctr">
              <a:lnSpc>
                <a:spcPts val="4105"/>
              </a:lnSpc>
              <a:spcBef>
                <a:spcPts val="100"/>
              </a:spcBef>
            </a:pPr>
            <a:r>
              <a:rPr sz="3600" spc="-10" dirty="0"/>
              <a:t>307401</a:t>
            </a:r>
            <a:endParaRPr sz="3600" dirty="0"/>
          </a:p>
          <a:p>
            <a:pPr marL="2540" algn="ctr">
              <a:lnSpc>
                <a:spcPts val="4105"/>
              </a:lnSpc>
            </a:pPr>
            <a:r>
              <a:rPr sz="3600" dirty="0"/>
              <a:t>Big</a:t>
            </a:r>
            <a:r>
              <a:rPr sz="3600" spc="-105" dirty="0"/>
              <a:t> </a:t>
            </a:r>
            <a:r>
              <a:rPr sz="3600" dirty="0"/>
              <a:t>Data</a:t>
            </a:r>
            <a:r>
              <a:rPr sz="3600" spc="-95" dirty="0"/>
              <a:t> </a:t>
            </a:r>
            <a:r>
              <a:rPr sz="3600" dirty="0"/>
              <a:t>and</a:t>
            </a:r>
            <a:r>
              <a:rPr sz="3600" spc="-100" dirty="0"/>
              <a:t> </a:t>
            </a:r>
            <a:r>
              <a:rPr sz="3600" dirty="0"/>
              <a:t>Data</a:t>
            </a:r>
            <a:r>
              <a:rPr sz="3600" spc="-95" dirty="0"/>
              <a:t> </a:t>
            </a:r>
            <a:r>
              <a:rPr sz="3600" spc="-10" dirty="0"/>
              <a:t>Warehouses</a:t>
            </a:r>
            <a:endParaRPr sz="3600" dirty="0"/>
          </a:p>
        </p:txBody>
      </p:sp>
      <p:sp>
        <p:nvSpPr>
          <p:cNvPr id="3" name="object 3"/>
          <p:cNvSpPr txBox="1"/>
          <p:nvPr/>
        </p:nvSpPr>
        <p:spPr>
          <a:xfrm>
            <a:off x="4627626" y="3579367"/>
            <a:ext cx="2935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Introduction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Hadoop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87926" y="5022326"/>
            <a:ext cx="2756027" cy="6551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AB040B-91AB-8FE8-4C82-1572292F6D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Processing in Computing</a:t>
            </a:r>
          </a:p>
        </p:txBody>
      </p:sp>
      <p:pic>
        <p:nvPicPr>
          <p:cNvPr id="20" name="Content Placeholder 19">
            <a:extLst>
              <a:ext uri="{FF2B5EF4-FFF2-40B4-BE49-F238E27FC236}">
                <a16:creationId xmlns:a16="http://schemas.microsoft.com/office/drawing/2014/main" id="{842D6109-309C-0C16-24AA-D861D46231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12712" y="2168165"/>
            <a:ext cx="9412999" cy="3694349"/>
          </a:xfrm>
        </p:spPr>
      </p:pic>
    </p:spTree>
    <p:extLst>
      <p:ext uri="{BB962C8B-B14F-4D97-AF65-F5344CB8AC3E}">
        <p14:creationId xmlns:p14="http://schemas.microsoft.com/office/powerpoint/2010/main" val="1180887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F675C-3963-4D6A-1306-49A13120C0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Speedup Concept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5C5826-1816-6A55-9BE7-F70077964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15703" y="1706563"/>
            <a:ext cx="5606556" cy="4991100"/>
          </a:xfrm>
        </p:spPr>
      </p:pic>
    </p:spTree>
    <p:extLst>
      <p:ext uri="{BB962C8B-B14F-4D97-AF65-F5344CB8AC3E}">
        <p14:creationId xmlns:p14="http://schemas.microsoft.com/office/powerpoint/2010/main" val="3902878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 dirty="0">
                <a:solidFill>
                  <a:srgbClr val="FFFFFF"/>
                </a:solidFill>
              </a:rPr>
              <a:t>Introduction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284085" y="1691716"/>
            <a:ext cx="10816349" cy="246541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Hadoop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open-</a:t>
            </a:r>
            <a:r>
              <a:rPr sz="2000" dirty="0">
                <a:latin typeface="Calibri"/>
                <a:cs typeface="Calibri"/>
              </a:rPr>
              <a:t>source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framework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overseen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Apache</a:t>
            </a:r>
            <a:r>
              <a:rPr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Software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Foundation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which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written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Java</a:t>
            </a:r>
            <a:r>
              <a:rPr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storing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huge</a:t>
            </a:r>
            <a:r>
              <a:rPr sz="20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datasets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cluster</a:t>
            </a:r>
            <a:r>
              <a:rPr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commodity</a:t>
            </a:r>
            <a:r>
              <a:rPr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Calibri"/>
                <a:cs typeface="Calibri"/>
              </a:rPr>
              <a:t>hardware</a:t>
            </a:r>
            <a:r>
              <a:rPr sz="2000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mainly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Hadoop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addresses:</a:t>
            </a:r>
            <a:endParaRPr sz="2000" dirty="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5"/>
              </a:spcBef>
              <a:buAutoNum type="arabicPeriod"/>
              <a:tabLst>
                <a:tab pos="927100" algn="l"/>
              </a:tabLst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store</a:t>
            </a:r>
            <a:r>
              <a:rPr sz="18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huge</a:t>
            </a:r>
            <a:r>
              <a:rPr sz="1800" spc="-4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amount</a:t>
            </a:r>
            <a:r>
              <a:rPr sz="18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8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 dirty="0">
              <a:latin typeface="Calibri"/>
              <a:cs typeface="Calibri"/>
            </a:endParaRPr>
          </a:p>
          <a:p>
            <a:pPr marL="927100" lvl="1" indent="-457200">
              <a:lnSpc>
                <a:spcPct val="100000"/>
              </a:lnSpc>
              <a:spcBef>
                <a:spcPts val="290"/>
              </a:spcBef>
              <a:buAutoNum type="arabicPeriod"/>
              <a:tabLst>
                <a:tab pos="927100" algn="l"/>
              </a:tabLst>
            </a:pP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8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8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8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process</a:t>
            </a:r>
            <a:r>
              <a:rPr sz="18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that</a:t>
            </a:r>
            <a:r>
              <a:rPr sz="18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006FC0"/>
                </a:solidFill>
                <a:latin typeface="Calibri"/>
                <a:cs typeface="Calibri"/>
              </a:rPr>
              <a:t>stored</a:t>
            </a:r>
            <a:r>
              <a:rPr sz="1800" spc="-5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006FC0"/>
                </a:solidFill>
                <a:latin typeface="Calibri"/>
                <a:cs typeface="Calibri"/>
              </a:rPr>
              <a:t>data.</a:t>
            </a:r>
            <a:endParaRPr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traditional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approach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like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RDBMS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not</a:t>
            </a:r>
            <a:r>
              <a:rPr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FF0000"/>
                </a:solidFill>
                <a:latin typeface="Calibri"/>
                <a:cs typeface="Calibri"/>
              </a:rPr>
              <a:t>sufficient</a:t>
            </a:r>
            <a:r>
              <a:rPr sz="2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heterogeneity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data.</a:t>
            </a:r>
            <a:endParaRPr sz="2000" dirty="0">
              <a:latin typeface="Calibri"/>
              <a:cs typeface="Calibri"/>
            </a:endParaRPr>
          </a:p>
          <a:p>
            <a:pPr marL="241300" marR="29209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Hadoop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solution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problem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i.e.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storing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processing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big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data</a:t>
            </a:r>
            <a:r>
              <a:rPr lang="en-US" sz="2000" spc="-2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History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28263" y="1670685"/>
            <a:ext cx="1932051" cy="187388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200" y="1670685"/>
            <a:ext cx="2318385" cy="187388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488391" y="4039361"/>
            <a:ext cx="6038850" cy="2350770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697865" indent="-227965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Nutch</a:t>
            </a:r>
            <a:r>
              <a:rPr sz="12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 dirty="0">
                <a:latin typeface="Calibri"/>
                <a:cs typeface="Calibri"/>
              </a:rPr>
              <a:t>: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Open-source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search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engine</a:t>
            </a:r>
            <a:r>
              <a:rPr sz="1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project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Doug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Cutting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Mike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Cafarella.</a:t>
            </a:r>
            <a:endParaRPr sz="1200" dirty="0">
              <a:latin typeface="Calibri"/>
              <a:cs typeface="Calibri"/>
            </a:endParaRPr>
          </a:p>
          <a:p>
            <a:pPr marL="697865" indent="-227965">
              <a:lnSpc>
                <a:spcPct val="100000"/>
              </a:lnSpc>
              <a:spcBef>
                <a:spcPts val="359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dirty="0">
                <a:latin typeface="Calibri"/>
                <a:cs typeface="Calibri"/>
              </a:rPr>
              <a:t>Challenges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managing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processing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large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volumes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web</a:t>
            </a:r>
            <a:r>
              <a:rPr sz="1200" spc="-10" dirty="0">
                <a:latin typeface="Calibri"/>
                <a:cs typeface="Calibri"/>
              </a:rPr>
              <a:t> data.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Google’s</a:t>
            </a:r>
            <a:r>
              <a:rPr sz="14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Influence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(2003-2004):</a:t>
            </a:r>
            <a:endParaRPr sz="1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dirty="0">
                <a:latin typeface="Calibri"/>
                <a:cs typeface="Calibri"/>
              </a:rPr>
              <a:t>Google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Papers: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Introduction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Google’s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GFS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(Google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System)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sz="1200" spc="-10" dirty="0">
                <a:latin typeface="Calibri"/>
                <a:cs typeface="Calibri"/>
              </a:rPr>
              <a:t>.</a:t>
            </a:r>
            <a:endParaRPr sz="12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Inspiration</a:t>
            </a:r>
            <a:r>
              <a:rPr sz="1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Hadoop’s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core </a:t>
            </a:r>
            <a:r>
              <a:rPr sz="1200" spc="-10" dirty="0">
                <a:latin typeface="Calibri"/>
                <a:cs typeface="Calibri"/>
              </a:rPr>
              <a:t>concepts.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25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Birth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Hadoop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</a:t>
            </a:r>
            <a:r>
              <a:rPr sz="1400" spc="-10" dirty="0">
                <a:solidFill>
                  <a:srgbClr val="FF0000"/>
                </a:solidFill>
                <a:latin typeface="Calibri"/>
                <a:cs typeface="Calibri"/>
              </a:rPr>
              <a:t>2005-2006</a:t>
            </a:r>
            <a:r>
              <a:rPr sz="1400" spc="-10" dirty="0">
                <a:latin typeface="Calibri"/>
                <a:cs typeface="Calibri"/>
              </a:rPr>
              <a:t>):</a:t>
            </a:r>
            <a:endParaRPr sz="14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dirty="0">
                <a:latin typeface="Calibri"/>
                <a:cs typeface="Calibri"/>
              </a:rPr>
              <a:t>Creation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as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separate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within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Apache </a:t>
            </a:r>
            <a:r>
              <a:rPr sz="1200" spc="-10" dirty="0">
                <a:latin typeface="Calibri"/>
                <a:cs typeface="Calibri"/>
              </a:rPr>
              <a:t>Nutch.</a:t>
            </a:r>
            <a:endParaRPr sz="12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697865" algn="l"/>
              </a:tabLst>
            </a:pP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Named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after</a:t>
            </a:r>
            <a:r>
              <a:rPr sz="12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Doug</a:t>
            </a:r>
            <a:r>
              <a:rPr sz="12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Cutting’s</a:t>
            </a:r>
            <a:r>
              <a:rPr sz="12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spc="-20" dirty="0">
                <a:solidFill>
                  <a:srgbClr val="FF0000"/>
                </a:solidFill>
                <a:latin typeface="Calibri"/>
                <a:cs typeface="Calibri"/>
              </a:rPr>
              <a:t>son’s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0000"/>
                </a:solidFill>
                <a:latin typeface="Calibri"/>
                <a:cs typeface="Calibri"/>
              </a:rPr>
              <a:t>toy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 elephant.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19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spc="-20" dirty="0">
                <a:solidFill>
                  <a:srgbClr val="FF0000"/>
                </a:solidFill>
                <a:latin typeface="Calibri"/>
                <a:cs typeface="Calibri"/>
              </a:rPr>
              <a:t>Yahoo</a:t>
            </a:r>
            <a:r>
              <a:rPr sz="1400" spc="-20" dirty="0">
                <a:latin typeface="Calibri"/>
                <a:cs typeface="Calibri"/>
              </a:rPr>
              <a:t>!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began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investing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contributing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Hadoop’s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development.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8391" y="3516662"/>
            <a:ext cx="2404110" cy="5473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123315">
              <a:lnSpc>
                <a:spcPct val="100000"/>
              </a:lnSpc>
              <a:spcBef>
                <a:spcPts val="585"/>
              </a:spcBef>
            </a:pPr>
            <a:r>
              <a:rPr sz="1100" dirty="0">
                <a:latin typeface="Calibri"/>
                <a:cs typeface="Calibri"/>
              </a:rPr>
              <a:t>Doug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Cutting</a:t>
            </a:r>
            <a:endParaRPr sz="11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20"/>
              </a:spcBef>
              <a:buFont typeface="Arial MT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Early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Beginnings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(2002-2003):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37457" y="3563239"/>
            <a:ext cx="8432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dirty="0">
                <a:latin typeface="Calibri"/>
                <a:cs typeface="Calibri"/>
              </a:rPr>
              <a:t>Mike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Cafarella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9" name="object 3"/>
          <p:cNvSpPr txBox="1"/>
          <p:nvPr/>
        </p:nvSpPr>
        <p:spPr>
          <a:xfrm>
            <a:off x="6593588" y="1828800"/>
            <a:ext cx="5512359" cy="471225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ts val="202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Apache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</a:t>
            </a:r>
            <a:r>
              <a:rPr sz="1200" spc="-10" dirty="0">
                <a:solidFill>
                  <a:srgbClr val="FF0000"/>
                </a:solidFill>
                <a:latin typeface="Calibri"/>
                <a:cs typeface="Calibri"/>
              </a:rPr>
              <a:t>2008</a:t>
            </a:r>
            <a:r>
              <a:rPr sz="1200" spc="-10" dirty="0">
                <a:latin typeface="Calibri"/>
                <a:cs typeface="Calibri"/>
              </a:rPr>
              <a:t>):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became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Apache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top-</a:t>
            </a:r>
            <a:r>
              <a:rPr sz="1200" dirty="0">
                <a:latin typeface="Calibri"/>
                <a:cs typeface="Calibri"/>
              </a:rPr>
              <a:t>level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project.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Core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components: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HDFS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(Hadoop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Distributed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File</a:t>
            </a:r>
            <a:r>
              <a:rPr sz="1200" spc="-10" dirty="0">
                <a:latin typeface="Calibri"/>
                <a:cs typeface="Calibri"/>
              </a:rPr>
              <a:t> System)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MapReduce.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Rapid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growth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in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community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contributions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adoption.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spc="-10" dirty="0">
                <a:latin typeface="Calibri"/>
                <a:cs typeface="Calibri"/>
              </a:rPr>
              <a:t>Ecosystem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Expansion</a:t>
            </a:r>
            <a:r>
              <a:rPr sz="1200" spc="-7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(2009-2011):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New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projects: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Hive,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Pig,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HBase,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Zookeeper.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Formation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companies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like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Cloudera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commercial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support.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Industry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Adoption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(2012-2014):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Mainstream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by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major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companies: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Facebook,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LinkedIn,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eBay.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4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 dirty="0">
                <a:latin typeface="Calibri"/>
                <a:cs typeface="Calibri"/>
              </a:rPr>
              <a:t>Introduction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2.0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0" dirty="0">
                <a:latin typeface="Calibri"/>
                <a:cs typeface="Calibri"/>
              </a:rPr>
              <a:t> YARN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(Yet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Another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Resource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Negotiator).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8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Summit: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Annual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conference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advancements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use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cases.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0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Modern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Era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(2015-Present):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5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 dirty="0">
                <a:latin typeface="Calibri"/>
                <a:cs typeface="Calibri"/>
              </a:rPr>
              <a:t>Widespread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enterprise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adoption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various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Big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applications.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 dirty="0">
                <a:latin typeface="Calibri"/>
                <a:cs typeface="Calibri"/>
              </a:rPr>
              <a:t>Integration</a:t>
            </a:r>
            <a:r>
              <a:rPr sz="1200" spc="-7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cloud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platforms: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AWS </a:t>
            </a:r>
            <a:r>
              <a:rPr sz="1200" dirty="0">
                <a:latin typeface="Calibri"/>
                <a:cs typeface="Calibri"/>
              </a:rPr>
              <a:t>EMR,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Google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Cloud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Dataproc.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8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Ongoing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development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enhancements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to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Hadoop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ecosystem.</a:t>
            </a:r>
            <a:endParaRPr sz="1200" dirty="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85"/>
              </a:spcBef>
              <a:buFont typeface="Arial MT"/>
              <a:buChar char="•"/>
              <a:tabLst>
                <a:tab pos="241300" algn="l"/>
              </a:tabLst>
            </a:pPr>
            <a:r>
              <a:rPr sz="1200" dirty="0">
                <a:latin typeface="Calibri"/>
                <a:cs typeface="Calibri"/>
              </a:rPr>
              <a:t>Impact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Hadoop: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 dirty="0">
                <a:latin typeface="Calibri"/>
                <a:cs typeface="Calibri"/>
              </a:rPr>
              <a:t>Pioneered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Big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revolution.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60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dirty="0">
                <a:latin typeface="Calibri"/>
                <a:cs typeface="Calibri"/>
              </a:rPr>
              <a:t>Enabled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scalable,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distributed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data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processing.</a:t>
            </a:r>
            <a:endParaRPr sz="1200" dirty="0">
              <a:latin typeface="Calibri"/>
              <a:cs typeface="Calibri"/>
            </a:endParaRPr>
          </a:p>
          <a:p>
            <a:pPr marL="698500" lvl="1" indent="-228600">
              <a:lnSpc>
                <a:spcPts val="1775"/>
              </a:lnSpc>
              <a:buFont typeface="Arial MT"/>
              <a:buChar char="•"/>
              <a:tabLst>
                <a:tab pos="698500" algn="l"/>
              </a:tabLst>
            </a:pPr>
            <a:r>
              <a:rPr sz="1200" spc="-10" dirty="0">
                <a:latin typeface="Calibri"/>
                <a:cs typeface="Calibri"/>
              </a:rPr>
              <a:t>Fostered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strong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open-</a:t>
            </a:r>
            <a:r>
              <a:rPr sz="1200" dirty="0">
                <a:latin typeface="Calibri"/>
                <a:cs typeface="Calibri"/>
              </a:rPr>
              <a:t>source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community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ecosystem.</a:t>
            </a:r>
            <a:endParaRPr sz="1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lang="en-US" sz="2800" dirty="0">
                <a:solidFill>
                  <a:srgbClr val="FFFFFF"/>
                </a:solidFill>
              </a:rPr>
              <a:t>Hadoop Echo System</a:t>
            </a:r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ABF7DF-DEAD-3193-0AA9-7B245BE33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354715" cy="4991039"/>
          </a:xfrm>
        </p:spPr>
        <p:txBody>
          <a:bodyPr>
            <a:normAutofit fontScale="85000" lnSpcReduction="10000"/>
          </a:bodyPr>
          <a:lstStyle/>
          <a:p>
            <a:pPr marL="12700">
              <a:lnSpc>
                <a:spcPts val="2280"/>
              </a:lnSpc>
              <a:spcBef>
                <a:spcPts val="105"/>
              </a:spcBef>
            </a:pP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ecosystem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suite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of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tools</a:t>
            </a:r>
            <a:r>
              <a:rPr lang="en-US"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frameworks</a:t>
            </a:r>
            <a:r>
              <a:rPr lang="en-US" sz="2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enables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handle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amounts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data.  </a:t>
            </a:r>
          </a:p>
          <a:p>
            <a:pPr marL="0" indent="0">
              <a:lnSpc>
                <a:spcPts val="2280"/>
              </a:lnSpc>
              <a:spcBef>
                <a:spcPts val="105"/>
              </a:spcBef>
              <a:buNone/>
            </a:pPr>
            <a:r>
              <a:rPr lang="en-US" sz="2000" dirty="0">
                <a:latin typeface="Calibri"/>
                <a:cs typeface="Calibri"/>
              </a:rPr>
              <a:t>Basically, Hadoop has the following three components:</a:t>
            </a:r>
            <a:endParaRPr lang="en-US" sz="2000" dirty="0">
              <a:solidFill>
                <a:srgbClr val="006FC0"/>
              </a:solidFill>
              <a:latin typeface="Calibri"/>
              <a:cs typeface="Calibri"/>
            </a:endParaRPr>
          </a:p>
          <a:p>
            <a:pPr marL="228600" marR="7620" indent="-215900">
              <a:spcBef>
                <a:spcPts val="1040"/>
              </a:spcBef>
              <a:buAutoNum type="arabicPeriod"/>
              <a:tabLst>
                <a:tab pos="514350" algn="l"/>
              </a:tabLst>
            </a:pP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HDFS</a:t>
            </a:r>
            <a:r>
              <a:rPr lang="en-US" sz="20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(Hadoop</a:t>
            </a:r>
            <a:r>
              <a:rPr lang="en-US" sz="2000" spc="-9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Distributed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File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System):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distributed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file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system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high-</a:t>
            </a:r>
            <a:r>
              <a:rPr lang="en-US" sz="2000" spc="-10" dirty="0">
                <a:latin typeface="Calibri"/>
                <a:cs typeface="Calibri"/>
              </a:rPr>
              <a:t>throughput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application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data.</a:t>
            </a:r>
            <a:endParaRPr lang="en-US" sz="2000" dirty="0">
              <a:latin typeface="Calibri"/>
              <a:cs typeface="Calibri"/>
            </a:endParaRPr>
          </a:p>
          <a:p>
            <a:pPr marL="228600" indent="-215900">
              <a:spcBef>
                <a:spcPts val="725"/>
              </a:spcBef>
              <a:buAutoNum type="arabicPeriod"/>
              <a:tabLst>
                <a:tab pos="514350" algn="l"/>
              </a:tabLst>
            </a:pP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MapReduce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framework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parallel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sets.</a:t>
            </a:r>
            <a:endParaRPr lang="en-US" sz="2000" dirty="0">
              <a:latin typeface="Calibri"/>
              <a:cs typeface="Calibri"/>
            </a:endParaRPr>
          </a:p>
          <a:p>
            <a:pPr marL="228600" indent="-215900">
              <a:spcBef>
                <a:spcPts val="760"/>
              </a:spcBef>
              <a:buAutoNum type="arabicPeriod"/>
              <a:tabLst>
                <a:tab pos="514350" algn="l"/>
              </a:tabLst>
            </a:pPr>
            <a:r>
              <a:rPr lang="en-US" sz="2000" spc="-20" dirty="0">
                <a:solidFill>
                  <a:srgbClr val="FF0000"/>
                </a:solidFill>
                <a:latin typeface="Calibri"/>
                <a:cs typeface="Calibri"/>
              </a:rPr>
              <a:t>YARN</a:t>
            </a:r>
            <a:r>
              <a:rPr lang="en-US" sz="2000" spc="-20" dirty="0">
                <a:latin typeface="Calibri"/>
                <a:cs typeface="Calibri"/>
              </a:rPr>
              <a:t>,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Resource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Manager.</a:t>
            </a:r>
            <a:endParaRPr lang="en-US" sz="2000" dirty="0">
              <a:latin typeface="Calibri"/>
              <a:cs typeface="Calibri"/>
            </a:endParaRPr>
          </a:p>
          <a:p>
            <a:pPr marL="0" indent="0">
              <a:lnSpc>
                <a:spcPct val="150000"/>
              </a:lnSpc>
              <a:spcBef>
                <a:spcPts val="765"/>
              </a:spcBef>
              <a:buNone/>
            </a:pP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ecosystem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components: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Hive,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Pig,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HBase,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Storm,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Spark,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Flume,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Sqoop,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Oozie, Zookeeper…etc. </a:t>
            </a:r>
            <a:r>
              <a:rPr lang="en-US" sz="2000" dirty="0">
                <a:latin typeface="Calibri"/>
                <a:cs typeface="Calibri"/>
              </a:rPr>
              <a:t>These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components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/>
                <a:cs typeface="Calibri"/>
              </a:rPr>
              <a:t>work</a:t>
            </a:r>
            <a:r>
              <a:rPr lang="en-US" sz="20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FF0000"/>
                </a:solidFill>
                <a:latin typeface="Calibri"/>
                <a:cs typeface="Calibri"/>
              </a:rPr>
              <a:t>together</a:t>
            </a:r>
            <a:r>
              <a:rPr lang="en-US" sz="2000" b="1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comprehensive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solution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 </a:t>
            </a:r>
            <a:r>
              <a:rPr lang="en-US" sz="2000" dirty="0">
                <a:latin typeface="Calibri"/>
                <a:cs typeface="Calibri"/>
              </a:rPr>
              <a:t>processing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distributed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computing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environment.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38800" y="1488254"/>
            <a:ext cx="6267449" cy="47601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HDFS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–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Hadoop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Distributed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File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System</a:t>
            </a:r>
            <a:endParaRPr sz="280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05939E-0567-B79A-4161-7B333B52B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650115" cy="499103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/>
              <a:t>What is HDFS?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b="1" dirty="0"/>
              <a:t>Hadoop Distributed File System (HDFS)</a:t>
            </a:r>
            <a:r>
              <a:rPr lang="en-US" dirty="0"/>
              <a:t> is the storage layer in Hadoop.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It enables </a:t>
            </a:r>
            <a:r>
              <a:rPr lang="en-US" b="1" dirty="0"/>
              <a:t>distributed storage</a:t>
            </a:r>
            <a:r>
              <a:rPr lang="en-US" dirty="0"/>
              <a:t> and </a:t>
            </a:r>
            <a:r>
              <a:rPr lang="en-US" b="1" dirty="0"/>
              <a:t>fault tolerance</a:t>
            </a:r>
            <a:r>
              <a:rPr lang="en-US" dirty="0"/>
              <a:t> by replicating data across multiple nodes.</a:t>
            </a:r>
          </a:p>
          <a:p>
            <a:r>
              <a:rPr lang="en-US" b="1" dirty="0"/>
              <a:t>Key Components of HDFS</a:t>
            </a:r>
          </a:p>
          <a:p>
            <a:pPr>
              <a:buNone/>
            </a:pPr>
            <a:r>
              <a:rPr lang="en-US" b="1" dirty="0"/>
              <a:t>1. </a:t>
            </a:r>
            <a:r>
              <a:rPr lang="en-US" b="1" dirty="0" err="1"/>
              <a:t>NameNode</a:t>
            </a:r>
            <a:endParaRPr lang="en-US" b="1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Acts as the </a:t>
            </a:r>
            <a:r>
              <a:rPr lang="en-US" b="1" dirty="0"/>
              <a:t>master node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Manages </a:t>
            </a:r>
            <a:r>
              <a:rPr lang="en-US" b="1" dirty="0"/>
              <a:t>metadata</a:t>
            </a:r>
            <a:r>
              <a:rPr lang="en-US" dirty="0"/>
              <a:t> (file locations, permissions, and structure).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Does not store actual data.</a:t>
            </a:r>
          </a:p>
          <a:p>
            <a:pPr>
              <a:buNone/>
            </a:pPr>
            <a:r>
              <a:rPr lang="en-US" b="1" dirty="0"/>
              <a:t>2. </a:t>
            </a:r>
            <a:r>
              <a:rPr lang="en-US" b="1" dirty="0" err="1"/>
              <a:t>DataNodes</a:t>
            </a:r>
            <a:endParaRPr lang="en-US" b="1" dirty="0"/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Store actual data in </a:t>
            </a:r>
            <a:r>
              <a:rPr lang="en-US" b="1" dirty="0"/>
              <a:t>blocks</a:t>
            </a:r>
            <a:r>
              <a:rPr lang="en-US" dirty="0"/>
              <a:t>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Handle read/write requests from clients.</a:t>
            </a:r>
          </a:p>
          <a:p>
            <a:pPr marL="285750" indent="-228600">
              <a:buFont typeface="Arial" panose="020B0604020202020204" pitchFamily="34" charset="0"/>
              <a:buChar char="•"/>
            </a:pPr>
            <a:r>
              <a:rPr lang="en-US" dirty="0"/>
              <a:t>Perform </a:t>
            </a:r>
            <a:r>
              <a:rPr lang="en-US" b="1" dirty="0"/>
              <a:t>data replication</a:t>
            </a:r>
            <a:r>
              <a:rPr lang="en-US" dirty="0"/>
              <a:t> to ensure fault tolerance.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46664" y="769426"/>
            <a:ext cx="2164620" cy="80972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34200" y="1981200"/>
            <a:ext cx="5162233" cy="2687321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9DF82E4D-F670-4282-BAE7-C7495F79CCDF}"/>
              </a:ext>
            </a:extLst>
          </p:cNvPr>
          <p:cNvSpPr txBox="1"/>
          <p:nvPr/>
        </p:nvSpPr>
        <p:spPr>
          <a:xfrm>
            <a:off x="7010400" y="4800600"/>
            <a:ext cx="47244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 dirty="0"/>
              <a:t>How HDFS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Client requests data</a:t>
            </a:r>
            <a:r>
              <a:rPr lang="en-US" sz="1400" dirty="0"/>
              <a:t> from HDFS.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 err="1"/>
              <a:t>NameNode</a:t>
            </a:r>
            <a:r>
              <a:rPr lang="en-US" sz="1400" b="1" dirty="0"/>
              <a:t> retrieves metadata</a:t>
            </a:r>
            <a:r>
              <a:rPr lang="en-US" sz="1400" dirty="0"/>
              <a:t> and provides block locations.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Client reads/writes data blocks</a:t>
            </a:r>
            <a:r>
              <a:rPr lang="en-US" sz="1400" dirty="0"/>
              <a:t> directly from/to the </a:t>
            </a:r>
            <a:r>
              <a:rPr lang="en-US" sz="1400" dirty="0" err="1"/>
              <a:t>DataNodes</a:t>
            </a:r>
            <a:r>
              <a:rPr lang="en-US" sz="1400" dirty="0"/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Data replication</a:t>
            </a:r>
            <a:r>
              <a:rPr lang="en-US" sz="1400" dirty="0"/>
              <a:t> occurs across multiple </a:t>
            </a:r>
            <a:r>
              <a:rPr lang="en-US" sz="1400" dirty="0" err="1"/>
              <a:t>DataNodes</a:t>
            </a:r>
            <a:r>
              <a:rPr lang="en-US" sz="1400" dirty="0"/>
              <a:t> for redundancy.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8004" y="865141"/>
            <a:ext cx="1810851" cy="65766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25" dirty="0">
                <a:solidFill>
                  <a:srgbClr val="FFFFFF"/>
                </a:solidFill>
              </a:rPr>
              <a:t>YARN,</a:t>
            </a:r>
            <a:r>
              <a:rPr sz="2800" spc="-100" dirty="0">
                <a:solidFill>
                  <a:srgbClr val="FFFFFF"/>
                </a:solidFill>
              </a:rPr>
              <a:t> </a:t>
            </a:r>
            <a:r>
              <a:rPr sz="2800" spc="-40" dirty="0">
                <a:solidFill>
                  <a:srgbClr val="FFFFFF"/>
                </a:solidFill>
              </a:rPr>
              <a:t>Yet</a:t>
            </a:r>
            <a:r>
              <a:rPr sz="2800" spc="-10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Another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Resource</a:t>
            </a:r>
            <a:r>
              <a:rPr sz="2800" spc="-11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Negotiator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562A3C-DF2A-B49E-1B9F-8566CD52A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394675" cy="4991039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/>
              <a:t>What is YARN?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YARN (Yet Another Resource Negotiator) is the resource management layer in Hadoop.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It efficiently allocates resources and schedules tasks for processing big data jobs.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Key Components of YARN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1. Resource Manager (RM) - </a:t>
            </a:r>
            <a:r>
              <a:rPr lang="en-US" sz="1400" dirty="0"/>
              <a:t>Central component managing resource allocation.</a:t>
            </a:r>
          </a:p>
          <a:p>
            <a:pPr marL="228600">
              <a:lnSpc>
                <a:spcPct val="150000"/>
              </a:lnSpc>
            </a:pPr>
            <a:r>
              <a:rPr lang="en-US" sz="1400" dirty="0"/>
              <a:t>It has two main parts: 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Application Manager</a:t>
            </a:r>
            <a:r>
              <a:rPr lang="en-US" sz="1400" dirty="0"/>
              <a:t> – Manages job submission and execution.</a:t>
            </a:r>
          </a:p>
          <a:p>
            <a:pPr marL="57150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/>
              <a:t>Scheduler</a:t>
            </a:r>
            <a:r>
              <a:rPr lang="en-US" sz="1400" dirty="0"/>
              <a:t> – Allocates resources to tasks based on policies.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2. Node Managers (NM)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Runs on each </a:t>
            </a:r>
            <a:r>
              <a:rPr lang="en-US" sz="1400" dirty="0" err="1"/>
              <a:t>DataNode</a:t>
            </a:r>
            <a:r>
              <a:rPr lang="en-US" sz="1400" dirty="0"/>
              <a:t> to execute tasks.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Manages </a:t>
            </a:r>
            <a:r>
              <a:rPr lang="en-US" sz="1400" b="1" dirty="0"/>
              <a:t>Containers</a:t>
            </a:r>
            <a:r>
              <a:rPr lang="en-US" sz="1400" dirty="0"/>
              <a:t>, which are allocated resources for executing tasks.</a:t>
            </a:r>
          </a:p>
          <a:p>
            <a:pPr>
              <a:lnSpc>
                <a:spcPct val="150000"/>
              </a:lnSpc>
              <a:buNone/>
            </a:pPr>
            <a:r>
              <a:rPr lang="en-US" sz="1400" b="1" dirty="0"/>
              <a:t>3. Application Master (AM)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Runs within a container and coordinates job execution.</a:t>
            </a:r>
          </a:p>
          <a:p>
            <a:pPr marL="57150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Communicates with the Resource Manager and Node Managers.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sz="1600" dirty="0"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78760" y="1828800"/>
            <a:ext cx="5332265" cy="261416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37A93A7-942A-06C0-4C09-F9DE377D5C10}"/>
              </a:ext>
            </a:extLst>
          </p:cNvPr>
          <p:cNvSpPr txBox="1"/>
          <p:nvPr/>
        </p:nvSpPr>
        <p:spPr>
          <a:xfrm>
            <a:off x="7125970" y="4541095"/>
            <a:ext cx="454818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None/>
            </a:pPr>
            <a:r>
              <a:rPr lang="en-US" sz="1400" b="1" dirty="0"/>
              <a:t>How YARN Works?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Clients submit jobs</a:t>
            </a:r>
            <a:r>
              <a:rPr lang="en-US" sz="1400" dirty="0"/>
              <a:t> to the Resource Manager.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Scheduler assigns resources</a:t>
            </a:r>
            <a:r>
              <a:rPr lang="en-US" sz="1400" dirty="0"/>
              <a:t> based on job size and priority.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Application Master is launched</a:t>
            </a:r>
            <a:r>
              <a:rPr lang="en-US" sz="1400" dirty="0"/>
              <a:t> in a container to oversee execution.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Node Managers execute tasks</a:t>
            </a:r>
            <a:r>
              <a:rPr lang="en-US" sz="1400" dirty="0"/>
              <a:t> in their respective containers.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400" b="1" dirty="0"/>
              <a:t>Results are sent back to clients</a:t>
            </a:r>
            <a:r>
              <a:rPr lang="en-US" sz="1400" dirty="0"/>
              <a:t> after completion.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19756" y="746482"/>
            <a:ext cx="2526199" cy="79923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10" dirty="0">
                <a:solidFill>
                  <a:srgbClr val="FFFFFF"/>
                </a:solidFill>
              </a:rPr>
              <a:t>MapReduce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356761-E49C-6DF2-10A7-172015E8F0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8214456" cy="4991039"/>
          </a:xfrm>
        </p:spPr>
        <p:txBody>
          <a:bodyPr>
            <a:normAutofit fontScale="92500"/>
          </a:bodyPr>
          <a:lstStyle/>
          <a:p>
            <a:pPr marL="241300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Map Reduce is a 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programming</a:t>
            </a:r>
            <a:r>
              <a:rPr lang="en-US"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model</a:t>
            </a:r>
            <a:r>
              <a:rPr lang="en-US" sz="20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processing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</a:t>
            </a:r>
            <a:endParaRPr lang="en-US" sz="2000" dirty="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lang="en-US" sz="2000" dirty="0">
                <a:latin typeface="Calibri"/>
                <a:cs typeface="Calibri"/>
              </a:rPr>
              <a:t>sets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parallel</a:t>
            </a:r>
            <a:r>
              <a:rPr lang="en-US" sz="2000" dirty="0">
                <a:latin typeface="Calibri"/>
                <a:cs typeface="Calibri"/>
              </a:rPr>
              <a:t>,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algorithm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Key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Components:</a:t>
            </a:r>
            <a:endParaRPr lang="en-US" sz="2000" dirty="0">
              <a:latin typeface="Calibri"/>
              <a:cs typeface="Calibri"/>
            </a:endParaRPr>
          </a:p>
          <a:p>
            <a:pPr marL="473075" marR="2288540" lvl="1" indent="-228600">
              <a:lnSpc>
                <a:spcPts val="1939"/>
              </a:lnSpc>
              <a:spcBef>
                <a:spcPts val="54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Mapper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35" dirty="0">
                <a:latin typeface="Calibri"/>
                <a:cs typeface="Calibri"/>
              </a:rPr>
              <a:t> Takes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and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converts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it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into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another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set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data,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where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individual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elements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are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broken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down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into </a:t>
            </a:r>
            <a:r>
              <a:rPr lang="en-US" sz="1800" spc="-10" dirty="0">
                <a:solidFill>
                  <a:srgbClr val="FF0000"/>
                </a:solidFill>
                <a:latin typeface="Calibri"/>
                <a:cs typeface="Calibri"/>
              </a:rPr>
              <a:t>key/value</a:t>
            </a:r>
            <a:r>
              <a:rPr lang="en-US" sz="18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pairs.</a:t>
            </a:r>
            <a:endParaRPr lang="en-US" sz="1800" dirty="0">
              <a:latin typeface="Calibri"/>
              <a:cs typeface="Calibri"/>
            </a:endParaRPr>
          </a:p>
          <a:p>
            <a:pPr marL="473075" marR="2462530" lvl="1" indent="-228600">
              <a:lnSpc>
                <a:spcPts val="1939"/>
              </a:lnSpc>
              <a:spcBef>
                <a:spcPts val="52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Reducer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45" dirty="0">
                <a:latin typeface="Calibri"/>
                <a:cs typeface="Calibri"/>
              </a:rPr>
              <a:t>Takes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output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from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mapper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input</a:t>
            </a:r>
            <a:r>
              <a:rPr lang="en-US" sz="1800" spc="-25" dirty="0">
                <a:latin typeface="Calibri"/>
                <a:cs typeface="Calibri"/>
              </a:rPr>
              <a:t> and </a:t>
            </a:r>
            <a:r>
              <a:rPr lang="en-US" sz="1800" spc="-10" dirty="0">
                <a:latin typeface="Calibri"/>
                <a:cs typeface="Calibri"/>
              </a:rPr>
              <a:t>combines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those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tuples</a:t>
            </a:r>
            <a:r>
              <a:rPr lang="en-US"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into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smaller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set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tuples.</a:t>
            </a:r>
            <a:endParaRPr lang="en-US"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0" dirty="0">
                <a:latin typeface="Calibri"/>
                <a:cs typeface="Calibri"/>
              </a:rPr>
              <a:t>Workflow:</a:t>
            </a:r>
            <a:endParaRPr lang="en-US" sz="20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Input</a:t>
            </a:r>
            <a:r>
              <a:rPr lang="en-US"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Splits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input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file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is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split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into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multiple</a:t>
            </a:r>
            <a:r>
              <a:rPr lang="en-US" sz="1800" spc="-1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pieces.</a:t>
            </a:r>
            <a:endParaRPr lang="en-US" sz="18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Map</a:t>
            </a:r>
            <a:r>
              <a:rPr lang="en-US"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Processes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input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splits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and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produces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intermediate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key-</a:t>
            </a:r>
            <a:r>
              <a:rPr lang="en-US" sz="1800" dirty="0">
                <a:latin typeface="Calibri"/>
                <a:cs typeface="Calibri"/>
              </a:rPr>
              <a:t>value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pairs.</a:t>
            </a:r>
            <a:endParaRPr lang="en-US" sz="18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Shuffle</a:t>
            </a:r>
            <a:r>
              <a:rPr lang="en-US"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Sort</a:t>
            </a:r>
            <a:r>
              <a:rPr lang="en-US"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Organizes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intermediate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by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key.</a:t>
            </a:r>
            <a:endParaRPr lang="en-US" sz="18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75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Reduce</a:t>
            </a:r>
            <a:r>
              <a:rPr lang="en-US" sz="18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800" dirty="0">
                <a:solidFill>
                  <a:srgbClr val="FF0000"/>
                </a:solidFill>
                <a:latin typeface="Calibri"/>
                <a:cs typeface="Calibri"/>
              </a:rPr>
              <a:t>Phase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Aggregates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sorted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key-</a:t>
            </a:r>
            <a:r>
              <a:rPr lang="en-US" sz="1800" dirty="0">
                <a:latin typeface="Calibri"/>
                <a:cs typeface="Calibri"/>
              </a:rPr>
              <a:t>value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pairs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and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generates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final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output.</a:t>
            </a:r>
            <a:endParaRPr lang="en-US"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0" dirty="0">
                <a:latin typeface="Calibri"/>
                <a:cs typeface="Calibri"/>
              </a:rPr>
              <a:t>Examples:</a:t>
            </a:r>
            <a:endParaRPr lang="en-US" sz="20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8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spc="-10" dirty="0">
                <a:latin typeface="Calibri"/>
                <a:cs typeface="Calibri"/>
              </a:rPr>
              <a:t>Word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Count: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Count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number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occurrences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each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word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text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file.</a:t>
            </a:r>
            <a:endParaRPr lang="en-US" sz="1800" dirty="0">
              <a:latin typeface="Calibri"/>
              <a:cs typeface="Calibri"/>
            </a:endParaRPr>
          </a:p>
          <a:p>
            <a:pPr marL="473075" lvl="1" indent="-228600">
              <a:lnSpc>
                <a:spcPct val="100000"/>
              </a:lnSpc>
              <a:spcBef>
                <a:spcPts val="60"/>
              </a:spcBef>
              <a:buFont typeface="Arial MT"/>
              <a:buChar char="•"/>
              <a:tabLst>
                <a:tab pos="473075" algn="l"/>
              </a:tabLst>
            </a:pPr>
            <a:r>
              <a:rPr lang="en-US" sz="1800" dirty="0">
                <a:latin typeface="Calibri"/>
                <a:cs typeface="Calibri"/>
              </a:rPr>
              <a:t>Log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Analysis: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Process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web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server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logs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to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find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number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hits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per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20" dirty="0">
                <a:latin typeface="Calibri"/>
                <a:cs typeface="Calibri"/>
              </a:rPr>
              <a:t>URL.</a:t>
            </a:r>
            <a:endParaRPr lang="en-US" sz="18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15861" y="2101670"/>
            <a:ext cx="4757171" cy="1887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90500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1500"/>
              </a:spcBef>
            </a:pPr>
            <a:r>
              <a:rPr sz="2000" spc="-10" dirty="0">
                <a:solidFill>
                  <a:srgbClr val="FFFFFF"/>
                </a:solidFill>
              </a:rPr>
              <a:t>Workflow</a:t>
            </a:r>
            <a:r>
              <a:rPr sz="2000" spc="-6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Scenario</a:t>
            </a:r>
            <a:r>
              <a:rPr sz="2000" spc="-6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from</a:t>
            </a:r>
            <a:r>
              <a:rPr sz="2000" spc="-4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the</a:t>
            </a:r>
            <a:r>
              <a:rPr sz="2000" spc="-2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Client</a:t>
            </a:r>
            <a:r>
              <a:rPr sz="2000" spc="-35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to </a:t>
            </a:r>
            <a:r>
              <a:rPr sz="2000" spc="-10" dirty="0">
                <a:solidFill>
                  <a:srgbClr val="FFFFFF"/>
                </a:solidFill>
              </a:rPr>
              <a:t>NameNode/DataNode</a:t>
            </a:r>
            <a:r>
              <a:rPr sz="2000" spc="-55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with</a:t>
            </a:r>
            <a:r>
              <a:rPr sz="2000" spc="-3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Internals</a:t>
            </a:r>
            <a:r>
              <a:rPr sz="2000" spc="-50" dirty="0">
                <a:solidFill>
                  <a:srgbClr val="FFFFFF"/>
                </a:solidFill>
              </a:rPr>
              <a:t> </a:t>
            </a:r>
            <a:r>
              <a:rPr sz="2000" dirty="0">
                <a:solidFill>
                  <a:srgbClr val="FFFFFF"/>
                </a:solidFill>
              </a:rPr>
              <a:t>and</a:t>
            </a:r>
            <a:r>
              <a:rPr sz="2000" spc="-45" dirty="0">
                <a:solidFill>
                  <a:srgbClr val="FFFFFF"/>
                </a:solidFill>
              </a:rPr>
              <a:t> </a:t>
            </a:r>
            <a:r>
              <a:rPr sz="2000" spc="-10" dirty="0">
                <a:solidFill>
                  <a:srgbClr val="FFFFFF"/>
                </a:solidFill>
              </a:rPr>
              <a:t>Subcomponent</a:t>
            </a:r>
            <a:endParaRPr sz="2000" dirty="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4085" y="1706007"/>
            <a:ext cx="5811915" cy="5111592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74625" indent="-161925">
              <a:lnSpc>
                <a:spcPct val="100000"/>
              </a:lnSpc>
              <a:spcBef>
                <a:spcPts val="640"/>
              </a:spcBef>
              <a:buAutoNum type="arabicPeriod"/>
              <a:tabLst>
                <a:tab pos="174625" algn="l"/>
              </a:tabLst>
            </a:pPr>
            <a:r>
              <a:rPr lang="en-US" sz="1400" dirty="0">
                <a:solidFill>
                  <a:srgbClr val="0070C0"/>
                </a:solidFill>
              </a:rPr>
              <a:t>Client</a:t>
            </a:r>
            <a:r>
              <a:rPr lang="en-US" sz="1400" spc="-30" dirty="0">
                <a:solidFill>
                  <a:srgbClr val="0070C0"/>
                </a:solidFill>
              </a:rPr>
              <a:t> </a:t>
            </a:r>
            <a:r>
              <a:rPr lang="en-US" sz="1400" spc="-10" dirty="0">
                <a:solidFill>
                  <a:srgbClr val="0070C0"/>
                </a:solidFill>
              </a:rPr>
              <a:t>Submission:</a:t>
            </a:r>
          </a:p>
          <a:p>
            <a:pPr marL="12700" marR="160020">
              <a:lnSpc>
                <a:spcPct val="70000"/>
              </a:lnSpc>
              <a:spcBef>
                <a:spcPts val="1015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/>
              <a:t>client</a:t>
            </a:r>
            <a:r>
              <a:rPr lang="en-US" sz="1400" spc="-30" dirty="0"/>
              <a:t> </a:t>
            </a:r>
            <a:r>
              <a:rPr lang="en-US" sz="1400" dirty="0"/>
              <a:t>submits</a:t>
            </a:r>
            <a:r>
              <a:rPr lang="en-US" sz="1400" spc="-5" dirty="0"/>
              <a:t> </a:t>
            </a:r>
            <a:r>
              <a:rPr lang="en-US" sz="1400" dirty="0">
                <a:solidFill>
                  <a:srgbClr val="000000"/>
                </a:solidFill>
              </a:rPr>
              <a:t>a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MapReduce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job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to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5" dirty="0">
                <a:solidFill>
                  <a:srgbClr val="000000"/>
                </a:solidFill>
              </a:rPr>
              <a:t> </a:t>
            </a:r>
            <a:r>
              <a:rPr lang="en-US" sz="1400" dirty="0"/>
              <a:t>Hadoop</a:t>
            </a:r>
            <a:r>
              <a:rPr lang="en-US" sz="1400" spc="-10" dirty="0"/>
              <a:t> </a:t>
            </a:r>
            <a:r>
              <a:rPr lang="en-US" sz="1400" spc="-20" dirty="0"/>
              <a:t>cluster</a:t>
            </a:r>
            <a:r>
              <a:rPr lang="en-US" sz="1400" spc="-20" dirty="0">
                <a:solidFill>
                  <a:srgbClr val="000000"/>
                </a:solidFill>
              </a:rPr>
              <a:t>.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spc="-25" dirty="0">
                <a:solidFill>
                  <a:srgbClr val="000000"/>
                </a:solidFill>
              </a:rPr>
              <a:t>job </a:t>
            </a:r>
            <a:r>
              <a:rPr lang="en-US" sz="1400" dirty="0">
                <a:solidFill>
                  <a:srgbClr val="000000"/>
                </a:solidFill>
              </a:rPr>
              <a:t>includes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/>
              <a:t>Mapper</a:t>
            </a:r>
            <a:r>
              <a:rPr lang="en-US" sz="1400" spc="-5" dirty="0"/>
              <a:t> </a:t>
            </a:r>
            <a:r>
              <a:rPr lang="en-US" sz="1400" dirty="0"/>
              <a:t>and</a:t>
            </a:r>
            <a:r>
              <a:rPr lang="en-US" sz="1400" spc="-30" dirty="0"/>
              <a:t> </a:t>
            </a:r>
            <a:r>
              <a:rPr lang="en-US" sz="1400" dirty="0"/>
              <a:t>Reducer</a:t>
            </a:r>
            <a:r>
              <a:rPr lang="en-US" sz="1400" spc="-15" dirty="0"/>
              <a:t> </a:t>
            </a:r>
            <a:r>
              <a:rPr lang="en-US" sz="1400" dirty="0">
                <a:solidFill>
                  <a:srgbClr val="000000"/>
                </a:solidFill>
              </a:rPr>
              <a:t>code,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and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configuration</a:t>
            </a:r>
            <a:r>
              <a:rPr lang="en-US" sz="1400" spc="-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parameters.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data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is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already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stored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in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Hadoop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Distributed</a:t>
            </a:r>
            <a:r>
              <a:rPr lang="en-US" sz="1400" spc="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File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System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(HDFS)</a:t>
            </a:r>
          </a:p>
          <a:p>
            <a:pPr marL="175260" indent="-162560">
              <a:lnSpc>
                <a:spcPct val="100000"/>
              </a:lnSpc>
              <a:spcBef>
                <a:spcPts val="525"/>
              </a:spcBef>
              <a:buAutoNum type="arabicPeriod" startAt="2"/>
              <a:tabLst>
                <a:tab pos="175260" algn="l"/>
              </a:tabLst>
            </a:pPr>
            <a:r>
              <a:rPr lang="en-US" sz="1400" spc="-10" dirty="0" err="1">
                <a:solidFill>
                  <a:srgbClr val="0070C0"/>
                </a:solidFill>
              </a:rPr>
              <a:t>ResourceManager</a:t>
            </a:r>
            <a:r>
              <a:rPr lang="en-US" sz="1400" dirty="0">
                <a:solidFill>
                  <a:srgbClr val="0070C0"/>
                </a:solidFill>
              </a:rPr>
              <a:t> and</a:t>
            </a:r>
            <a:r>
              <a:rPr lang="en-US" sz="1400" spc="5" dirty="0">
                <a:solidFill>
                  <a:srgbClr val="0070C0"/>
                </a:solidFill>
              </a:rPr>
              <a:t> </a:t>
            </a:r>
            <a:r>
              <a:rPr lang="en-US" sz="1400" dirty="0">
                <a:solidFill>
                  <a:srgbClr val="0070C0"/>
                </a:solidFill>
              </a:rPr>
              <a:t>Job</a:t>
            </a:r>
            <a:r>
              <a:rPr lang="en-US" sz="1400" spc="10" dirty="0">
                <a:solidFill>
                  <a:srgbClr val="0070C0"/>
                </a:solidFill>
              </a:rPr>
              <a:t> </a:t>
            </a:r>
            <a:r>
              <a:rPr lang="en-US" sz="1400" spc="-10" dirty="0">
                <a:solidFill>
                  <a:srgbClr val="0070C0"/>
                </a:solidFill>
              </a:rPr>
              <a:t>Scheduling:</a:t>
            </a:r>
          </a:p>
          <a:p>
            <a:pPr marL="12700" marR="64135">
              <a:lnSpc>
                <a:spcPct val="70000"/>
              </a:lnSpc>
              <a:spcBef>
                <a:spcPts val="994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spc="-10" dirty="0" err="1"/>
              <a:t>ResourceManager</a:t>
            </a:r>
            <a:r>
              <a:rPr lang="en-US" sz="1400" dirty="0"/>
              <a:t> receives</a:t>
            </a:r>
            <a:r>
              <a:rPr lang="en-US" sz="1400" spc="-20" dirty="0"/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job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submission</a:t>
            </a:r>
            <a:r>
              <a:rPr lang="en-US" sz="1400" spc="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and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delegates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spc="-25" dirty="0">
                <a:solidFill>
                  <a:srgbClr val="000000"/>
                </a:solidFill>
              </a:rPr>
              <a:t>job </a:t>
            </a:r>
            <a:r>
              <a:rPr lang="en-US" sz="1400" dirty="0">
                <a:solidFill>
                  <a:srgbClr val="000000"/>
                </a:solidFill>
              </a:rPr>
              <a:t>to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 </a:t>
            </a:r>
            <a:r>
              <a:rPr lang="en-US" sz="1400" spc="-10" dirty="0" err="1"/>
              <a:t>ApplicationsManager</a:t>
            </a:r>
            <a:r>
              <a:rPr lang="en-US" sz="1400" spc="-10" dirty="0">
                <a:solidFill>
                  <a:srgbClr val="000000"/>
                </a:solidFill>
              </a:rPr>
              <a:t>.</a:t>
            </a:r>
          </a:p>
          <a:p>
            <a:pPr marL="12700">
              <a:lnSpc>
                <a:spcPts val="1325"/>
              </a:lnSpc>
              <a:spcBef>
                <a:spcPts val="540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5" dirty="0">
                <a:solidFill>
                  <a:srgbClr val="000000"/>
                </a:solidFill>
              </a:rPr>
              <a:t> </a:t>
            </a:r>
            <a:r>
              <a:rPr lang="en-US" sz="1400" spc="-10" dirty="0" err="1">
                <a:solidFill>
                  <a:srgbClr val="000000"/>
                </a:solidFill>
              </a:rPr>
              <a:t>ApplicationsManager</a:t>
            </a:r>
            <a:r>
              <a:rPr lang="en-US" sz="1400" spc="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allocates</a:t>
            </a:r>
            <a:r>
              <a:rPr lang="en-US" sz="1400" spc="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new </a:t>
            </a:r>
            <a:r>
              <a:rPr lang="en-US" sz="1400" spc="-10" dirty="0" err="1">
                <a:solidFill>
                  <a:srgbClr val="000000"/>
                </a:solidFill>
              </a:rPr>
              <a:t>ApplicationMaster</a:t>
            </a:r>
            <a:r>
              <a:rPr lang="en-US" sz="1400" spc="30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(</a:t>
            </a:r>
            <a:r>
              <a:rPr lang="en-US" sz="1400" spc="-10" dirty="0" err="1">
                <a:solidFill>
                  <a:srgbClr val="000000"/>
                </a:solidFill>
              </a:rPr>
              <a:t>AppMaster</a:t>
            </a:r>
            <a:r>
              <a:rPr lang="en-US" sz="1400" spc="-10" dirty="0">
                <a:solidFill>
                  <a:srgbClr val="000000"/>
                </a:solidFill>
              </a:rPr>
              <a:t>)</a:t>
            </a:r>
          </a:p>
          <a:p>
            <a:pPr marL="12700">
              <a:lnSpc>
                <a:spcPts val="1325"/>
              </a:lnSpc>
            </a:pPr>
            <a:r>
              <a:rPr lang="en-US" sz="1400" spc="-10" dirty="0">
                <a:solidFill>
                  <a:srgbClr val="000000"/>
                </a:solidFill>
              </a:rPr>
              <a:t>instance </a:t>
            </a:r>
            <a:r>
              <a:rPr lang="en-US" sz="1400" dirty="0">
                <a:solidFill>
                  <a:srgbClr val="000000"/>
                </a:solidFill>
              </a:rPr>
              <a:t>for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spc="-20" dirty="0">
                <a:solidFill>
                  <a:srgbClr val="000000"/>
                </a:solidFill>
              </a:rPr>
              <a:t>job.</a:t>
            </a:r>
          </a:p>
          <a:p>
            <a:pPr marL="175260" indent="-162560">
              <a:lnSpc>
                <a:spcPct val="100000"/>
              </a:lnSpc>
              <a:spcBef>
                <a:spcPts val="530"/>
              </a:spcBef>
              <a:buAutoNum type="arabicPeriod" startAt="3"/>
              <a:tabLst>
                <a:tab pos="175260" algn="l"/>
              </a:tabLst>
            </a:pPr>
            <a:r>
              <a:rPr lang="en-US" sz="1400" spc="-10" dirty="0" err="1">
                <a:solidFill>
                  <a:srgbClr val="0070C0"/>
                </a:solidFill>
              </a:rPr>
              <a:t>ApplicationMaster</a:t>
            </a:r>
            <a:r>
              <a:rPr lang="en-US" sz="1400" spc="55" dirty="0">
                <a:solidFill>
                  <a:srgbClr val="0070C0"/>
                </a:solidFill>
              </a:rPr>
              <a:t> </a:t>
            </a:r>
            <a:r>
              <a:rPr lang="en-US" sz="1400" spc="-10" dirty="0">
                <a:solidFill>
                  <a:srgbClr val="0070C0"/>
                </a:solidFill>
              </a:rPr>
              <a:t>Initialization:</a:t>
            </a:r>
          </a:p>
          <a:p>
            <a:pPr marL="12700" marR="112395">
              <a:lnSpc>
                <a:spcPct val="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spc="-10" dirty="0" err="1"/>
              <a:t>ApplicationMaster</a:t>
            </a:r>
            <a:r>
              <a:rPr lang="en-US" sz="1400" spc="20" dirty="0"/>
              <a:t> </a:t>
            </a:r>
            <a:r>
              <a:rPr lang="en-US" sz="1400" dirty="0"/>
              <a:t>negotiates</a:t>
            </a:r>
            <a:r>
              <a:rPr lang="en-US" sz="1400" spc="5" dirty="0"/>
              <a:t> </a:t>
            </a:r>
            <a:r>
              <a:rPr lang="en-US" sz="1400" spc="-10" dirty="0"/>
              <a:t>resources</a:t>
            </a:r>
            <a:r>
              <a:rPr lang="en-US" sz="1400" spc="-15" dirty="0"/>
              <a:t> </a:t>
            </a:r>
            <a:r>
              <a:rPr lang="en-US" sz="1400" dirty="0"/>
              <a:t>from</a:t>
            </a:r>
            <a:r>
              <a:rPr lang="en-US" sz="1400" spc="-20" dirty="0"/>
              <a:t> </a:t>
            </a:r>
            <a:r>
              <a:rPr lang="en-US" sz="1400" dirty="0"/>
              <a:t>the </a:t>
            </a:r>
            <a:r>
              <a:rPr lang="en-US" sz="1400" spc="-10" dirty="0" err="1"/>
              <a:t>ResourceManager</a:t>
            </a:r>
            <a:r>
              <a:rPr lang="en-US" sz="1400" spc="-10" dirty="0"/>
              <a:t> </a:t>
            </a:r>
            <a:r>
              <a:rPr lang="en-US" sz="1400" dirty="0">
                <a:solidFill>
                  <a:srgbClr val="000000"/>
                </a:solidFill>
              </a:rPr>
              <a:t>and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requests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spc="-10" dirty="0"/>
              <a:t>containers </a:t>
            </a:r>
            <a:r>
              <a:rPr lang="en-US" sz="1400" spc="-10" dirty="0">
                <a:solidFill>
                  <a:srgbClr val="000000"/>
                </a:solidFill>
              </a:rPr>
              <a:t>(execution</a:t>
            </a:r>
            <a:r>
              <a:rPr lang="en-US" sz="1400" spc="-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environments)</a:t>
            </a:r>
            <a:r>
              <a:rPr lang="en-US" sz="1400" spc="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on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various </a:t>
            </a:r>
            <a:r>
              <a:rPr lang="en-US" sz="1400" spc="-10" dirty="0" err="1"/>
              <a:t>NodeManagers</a:t>
            </a:r>
            <a:r>
              <a:rPr lang="en-US" sz="1400" spc="-5" dirty="0"/>
              <a:t> </a:t>
            </a:r>
            <a:r>
              <a:rPr lang="en-US" sz="1400" dirty="0"/>
              <a:t>(Data</a:t>
            </a:r>
            <a:r>
              <a:rPr lang="en-US" sz="1400" spc="-10" dirty="0"/>
              <a:t> Nodes)</a:t>
            </a:r>
            <a:r>
              <a:rPr lang="en-US" sz="1400" spc="-10" dirty="0">
                <a:solidFill>
                  <a:srgbClr val="000000"/>
                </a:solidFill>
              </a:rPr>
              <a:t>.</a:t>
            </a:r>
          </a:p>
          <a:p>
            <a:pPr marL="174625" indent="-161925">
              <a:lnSpc>
                <a:spcPct val="100000"/>
              </a:lnSpc>
              <a:spcBef>
                <a:spcPts val="540"/>
              </a:spcBef>
              <a:buAutoNum type="arabicPeriod" startAt="4"/>
              <a:tabLst>
                <a:tab pos="174625" algn="l"/>
              </a:tabLst>
            </a:pPr>
            <a:r>
              <a:rPr lang="en-US" sz="1400" dirty="0">
                <a:solidFill>
                  <a:srgbClr val="0070C0"/>
                </a:solidFill>
              </a:rPr>
              <a:t>Data</a:t>
            </a:r>
            <a:r>
              <a:rPr lang="en-US" sz="1400" spc="-45" dirty="0">
                <a:solidFill>
                  <a:srgbClr val="0070C0"/>
                </a:solidFill>
              </a:rPr>
              <a:t> </a:t>
            </a:r>
            <a:r>
              <a:rPr lang="en-US" sz="1400" spc="-10" dirty="0">
                <a:solidFill>
                  <a:srgbClr val="0070C0"/>
                </a:solidFill>
              </a:rPr>
              <a:t>Splitting:</a:t>
            </a:r>
          </a:p>
          <a:p>
            <a:pPr marL="12700" marR="118110">
              <a:lnSpc>
                <a:spcPct val="70000"/>
              </a:lnSpc>
              <a:spcBef>
                <a:spcPts val="994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spc="-10" dirty="0" err="1">
                <a:solidFill>
                  <a:srgbClr val="000000"/>
                </a:solidFill>
              </a:rPr>
              <a:t>ApplicationMaster</a:t>
            </a:r>
            <a:r>
              <a:rPr lang="en-US" sz="1400" spc="1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communicates</a:t>
            </a:r>
            <a:r>
              <a:rPr lang="en-US" sz="1400" spc="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with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 </a:t>
            </a:r>
            <a:r>
              <a:rPr lang="en-US" sz="1400" dirty="0" err="1">
                <a:solidFill>
                  <a:srgbClr val="000000"/>
                </a:solidFill>
              </a:rPr>
              <a:t>NameNode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to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locate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25" dirty="0">
                <a:solidFill>
                  <a:srgbClr val="000000"/>
                </a:solidFill>
              </a:rPr>
              <a:t>the </a:t>
            </a:r>
            <a:r>
              <a:rPr lang="en-US" sz="1400" dirty="0">
                <a:solidFill>
                  <a:srgbClr val="000000"/>
                </a:solidFill>
              </a:rPr>
              <a:t>input</a:t>
            </a:r>
            <a:r>
              <a:rPr lang="en-US" sz="1400" spc="-4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data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blocks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stored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across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spc="-10" dirty="0" err="1">
                <a:solidFill>
                  <a:srgbClr val="000000"/>
                </a:solidFill>
              </a:rPr>
              <a:t>DataNodes</a:t>
            </a:r>
            <a:r>
              <a:rPr lang="en-US" sz="1400" spc="-10" dirty="0">
                <a:solidFill>
                  <a:srgbClr val="000000"/>
                </a:solidFill>
              </a:rPr>
              <a:t>.</a:t>
            </a:r>
          </a:p>
          <a:p>
            <a:pPr marL="12700" marR="399415">
              <a:lnSpc>
                <a:spcPct val="70000"/>
              </a:lnSpc>
              <a:spcBef>
                <a:spcPts val="994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input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data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is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split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into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chunks,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and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splits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are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assigned</a:t>
            </a:r>
            <a:r>
              <a:rPr lang="en-US" sz="1400" spc="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to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spc="-25" dirty="0">
                <a:solidFill>
                  <a:srgbClr val="000000"/>
                </a:solidFill>
              </a:rPr>
              <a:t>the </a:t>
            </a:r>
            <a:r>
              <a:rPr lang="en-US" sz="1400" spc="-10" dirty="0">
                <a:solidFill>
                  <a:srgbClr val="000000"/>
                </a:solidFill>
              </a:rPr>
              <a:t>containers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on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 err="1">
                <a:solidFill>
                  <a:srgbClr val="000000"/>
                </a:solidFill>
              </a:rPr>
              <a:t>DataNodes</a:t>
            </a:r>
            <a:r>
              <a:rPr lang="en-US" sz="1400" spc="-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where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data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is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located.</a:t>
            </a:r>
          </a:p>
          <a:p>
            <a:pPr marL="174625" indent="-161925">
              <a:lnSpc>
                <a:spcPct val="100000"/>
              </a:lnSpc>
              <a:spcBef>
                <a:spcPts val="545"/>
              </a:spcBef>
              <a:buAutoNum type="arabicPeriod" startAt="5"/>
              <a:tabLst>
                <a:tab pos="174625" algn="l"/>
              </a:tabLst>
            </a:pPr>
            <a:r>
              <a:rPr lang="en-US" sz="1400" dirty="0">
                <a:solidFill>
                  <a:srgbClr val="0070C0"/>
                </a:solidFill>
              </a:rPr>
              <a:t>Mapper</a:t>
            </a:r>
            <a:r>
              <a:rPr lang="en-US" sz="1400" spc="-25" dirty="0">
                <a:solidFill>
                  <a:srgbClr val="0070C0"/>
                </a:solidFill>
              </a:rPr>
              <a:t> </a:t>
            </a:r>
            <a:r>
              <a:rPr lang="en-US" sz="1400" spc="-10" dirty="0">
                <a:solidFill>
                  <a:srgbClr val="0070C0"/>
                </a:solidFill>
              </a:rPr>
              <a:t>Execution:</a:t>
            </a:r>
          </a:p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10" dirty="0" err="1">
                <a:solidFill>
                  <a:srgbClr val="000000"/>
                </a:solidFill>
              </a:rPr>
              <a:t>NodeManagers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launch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Mapper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tasks</a:t>
            </a:r>
            <a:r>
              <a:rPr lang="en-US" sz="1400" spc="-2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in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the</a:t>
            </a:r>
            <a:r>
              <a:rPr lang="en-US" sz="1400" spc="-2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allocated</a:t>
            </a:r>
            <a:r>
              <a:rPr lang="en-US" sz="1400" spc="-1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containers.</a:t>
            </a:r>
          </a:p>
          <a:p>
            <a:pPr marL="12700" marR="109855">
              <a:lnSpc>
                <a:spcPct val="70000"/>
              </a:lnSpc>
              <a:spcBef>
                <a:spcPts val="994"/>
              </a:spcBef>
            </a:pPr>
            <a:r>
              <a:rPr lang="en-US" sz="1400" dirty="0">
                <a:solidFill>
                  <a:srgbClr val="000000"/>
                </a:solidFill>
              </a:rPr>
              <a:t>Each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Mapper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processes</a:t>
            </a:r>
            <a:r>
              <a:rPr lang="en-US" sz="1400" spc="-3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its</a:t>
            </a:r>
            <a:r>
              <a:rPr lang="en-US" sz="1400" spc="-4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assigned</a:t>
            </a:r>
            <a:r>
              <a:rPr lang="en-US" sz="1400" spc="-1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data</a:t>
            </a:r>
            <a:r>
              <a:rPr lang="en-US" sz="1400" spc="-50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chunk,</a:t>
            </a:r>
            <a:r>
              <a:rPr lang="en-US" sz="1400" spc="-35" dirty="0">
                <a:solidFill>
                  <a:srgbClr val="000000"/>
                </a:solidFill>
              </a:rPr>
              <a:t> </a:t>
            </a:r>
            <a:r>
              <a:rPr lang="en-US" sz="1400" dirty="0">
                <a:solidFill>
                  <a:srgbClr val="000000"/>
                </a:solidFill>
              </a:rPr>
              <a:t>producing</a:t>
            </a:r>
            <a:r>
              <a:rPr lang="en-US" sz="1400" spc="-40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intermediate </a:t>
            </a:r>
            <a:r>
              <a:rPr lang="en-US" sz="1400" spc="-25" dirty="0">
                <a:solidFill>
                  <a:srgbClr val="000000"/>
                </a:solidFill>
              </a:rPr>
              <a:t>key-</a:t>
            </a:r>
            <a:r>
              <a:rPr lang="en-US" sz="1400" dirty="0">
                <a:solidFill>
                  <a:srgbClr val="000000"/>
                </a:solidFill>
              </a:rPr>
              <a:t>value</a:t>
            </a:r>
            <a:r>
              <a:rPr lang="en-US" sz="1400" spc="-5" dirty="0">
                <a:solidFill>
                  <a:srgbClr val="000000"/>
                </a:solidFill>
              </a:rPr>
              <a:t> </a:t>
            </a:r>
            <a:r>
              <a:rPr lang="en-US" sz="1400" spc="-10" dirty="0">
                <a:solidFill>
                  <a:srgbClr val="000000"/>
                </a:solidFill>
              </a:rPr>
              <a:t>pairs.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407911" y="1760956"/>
            <a:ext cx="4634865" cy="4881880"/>
          </a:xfrm>
          <a:prstGeom prst="rect">
            <a:avLst/>
          </a:prstGeom>
        </p:spPr>
        <p:txBody>
          <a:bodyPr vert="horz" wrap="square" lIns="0" tIns="119380" rIns="0" bIns="0" rtlCol="0">
            <a:spAutoFit/>
          </a:bodyPr>
          <a:lstStyle/>
          <a:p>
            <a:pPr marL="186690" indent="-173990">
              <a:lnSpc>
                <a:spcPct val="100000"/>
              </a:lnSpc>
              <a:spcBef>
                <a:spcPts val="940"/>
              </a:spcBef>
              <a:buAutoNum type="arabicPeriod" startAt="6"/>
              <a:tabLst>
                <a:tab pos="186690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Shuffling</a:t>
            </a:r>
            <a:r>
              <a:rPr sz="1400" spc="-6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1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Sorting:</a:t>
            </a:r>
            <a:endParaRPr sz="1400" dirty="0">
              <a:latin typeface="Calibri"/>
              <a:cs typeface="Calibri"/>
            </a:endParaRPr>
          </a:p>
          <a:p>
            <a:pPr marL="12700" marR="5080">
              <a:lnSpc>
                <a:spcPts val="1510"/>
              </a:lnSpc>
              <a:spcBef>
                <a:spcPts val="103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intermediate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key-</a:t>
            </a:r>
            <a:r>
              <a:rPr sz="1400" dirty="0">
                <a:latin typeface="Calibri"/>
                <a:cs typeface="Calibri"/>
              </a:rPr>
              <a:t>value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pairs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shuffled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sorted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key. </a:t>
            </a:r>
            <a:r>
              <a:rPr sz="1400" dirty="0">
                <a:latin typeface="Calibri"/>
                <a:cs typeface="Calibri"/>
              </a:rPr>
              <a:t>This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involves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transferring</a:t>
            </a:r>
            <a:r>
              <a:rPr sz="1400" spc="-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data</a:t>
            </a:r>
            <a:r>
              <a:rPr sz="1400" spc="-3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across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network</a:t>
            </a:r>
            <a:r>
              <a:rPr sz="1400" spc="-4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all </a:t>
            </a:r>
            <a:r>
              <a:rPr sz="1400" dirty="0">
                <a:latin typeface="Calibri"/>
                <a:cs typeface="Calibri"/>
              </a:rPr>
              <a:t>values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key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together.</a:t>
            </a:r>
            <a:endParaRPr sz="1400" dirty="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810"/>
              </a:spcBef>
              <a:buClr>
                <a:srgbClr val="0070C0"/>
              </a:buClr>
              <a:buAutoNum type="arabicPeriod" startAt="7"/>
              <a:tabLst>
                <a:tab pos="186055" algn="l"/>
              </a:tabLst>
            </a:pP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Reducer</a:t>
            </a:r>
            <a:r>
              <a:rPr sz="1400" spc="-1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Executio</a:t>
            </a:r>
            <a:r>
              <a:rPr lang="en-US" sz="1400" spc="-10" dirty="0">
                <a:solidFill>
                  <a:srgbClr val="006FC0"/>
                </a:solidFill>
                <a:latin typeface="Calibri"/>
                <a:cs typeface="Calibri"/>
              </a:rPr>
              <a:t>n: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NodeManagers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launch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Reducer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tasks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containers.</a:t>
            </a:r>
            <a:endParaRPr sz="1400" dirty="0">
              <a:latin typeface="Calibri"/>
              <a:cs typeface="Calibri"/>
            </a:endParaRPr>
          </a:p>
          <a:p>
            <a:pPr marL="12700" marR="55880">
              <a:lnSpc>
                <a:spcPts val="1510"/>
              </a:lnSpc>
              <a:spcBef>
                <a:spcPts val="1030"/>
              </a:spcBef>
            </a:pPr>
            <a:r>
              <a:rPr sz="1400" dirty="0">
                <a:latin typeface="Calibri"/>
                <a:cs typeface="Calibri"/>
              </a:rPr>
              <a:t>Each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Reducer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processes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assigned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key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group,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aggregating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values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output.</a:t>
            </a:r>
            <a:endParaRPr sz="1400" dirty="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810"/>
              </a:spcBef>
              <a:buClr>
                <a:srgbClr val="0070C0"/>
              </a:buClr>
              <a:buAutoNum type="arabicPeriod" startAt="8"/>
              <a:tabLst>
                <a:tab pos="186055" algn="l"/>
              </a:tabLst>
            </a:pP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Writing</a:t>
            </a:r>
            <a:r>
              <a:rPr sz="1400" spc="-35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the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 Output:</a:t>
            </a:r>
            <a:endParaRPr sz="1400" dirty="0">
              <a:latin typeface="Calibri"/>
              <a:cs typeface="Calibri"/>
            </a:endParaRPr>
          </a:p>
          <a:p>
            <a:pPr marL="12700" marR="66675">
              <a:lnSpc>
                <a:spcPts val="1510"/>
              </a:lnSpc>
              <a:spcBef>
                <a:spcPts val="1019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Reducers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write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output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HDFS,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which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managed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NameNode.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600"/>
              </a:lnSpc>
              <a:spcBef>
                <a:spcPts val="819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ApplicationMaster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monitors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job's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progress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0" dirty="0">
                <a:latin typeface="Calibri"/>
                <a:cs typeface="Calibri"/>
              </a:rPr>
              <a:t> updates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600"/>
              </a:lnSpc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ResourceManager.</a:t>
            </a:r>
            <a:endParaRPr sz="1400" dirty="0">
              <a:latin typeface="Calibri"/>
              <a:cs typeface="Calibri"/>
            </a:endParaRPr>
          </a:p>
          <a:p>
            <a:pPr marL="186055" indent="-173355">
              <a:lnSpc>
                <a:spcPct val="100000"/>
              </a:lnSpc>
              <a:spcBef>
                <a:spcPts val="830"/>
              </a:spcBef>
              <a:buClr>
                <a:srgbClr val="0070C0"/>
              </a:buClr>
              <a:buAutoNum type="arabicPeriod" startAt="9"/>
              <a:tabLst>
                <a:tab pos="186055" algn="l"/>
              </a:tabLst>
            </a:pPr>
            <a:r>
              <a:rPr sz="1400" dirty="0">
                <a:solidFill>
                  <a:srgbClr val="006FC0"/>
                </a:solidFill>
                <a:latin typeface="Calibri"/>
                <a:cs typeface="Calibri"/>
              </a:rPr>
              <a:t>Job</a:t>
            </a:r>
            <a:r>
              <a:rPr sz="1400" spc="-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006FC0"/>
                </a:solidFill>
                <a:latin typeface="Calibri"/>
                <a:cs typeface="Calibri"/>
              </a:rPr>
              <a:t>Completion:</a:t>
            </a:r>
            <a:endParaRPr sz="1400" dirty="0">
              <a:latin typeface="Calibri"/>
              <a:cs typeface="Calibri"/>
            </a:endParaRPr>
          </a:p>
          <a:p>
            <a:pPr marL="12700" marR="748665">
              <a:lnSpc>
                <a:spcPts val="1510"/>
              </a:lnSpc>
              <a:spcBef>
                <a:spcPts val="1015"/>
              </a:spcBef>
            </a:pPr>
            <a:r>
              <a:rPr sz="1400" dirty="0">
                <a:latin typeface="Calibri"/>
                <a:cs typeface="Calibri"/>
              </a:rPr>
              <a:t>Once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Mapper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Reducer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tasks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complete,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spc="-10" dirty="0">
                <a:latin typeface="Calibri"/>
                <a:cs typeface="Calibri"/>
              </a:rPr>
              <a:t>ApplicationMaster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informs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ResourceManager.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  <a:spcBef>
                <a:spcPts val="819"/>
              </a:spcBef>
            </a:pP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client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notified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job's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completion,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0" dirty="0">
                <a:latin typeface="Calibri"/>
                <a:cs typeface="Calibri"/>
              </a:rPr>
              <a:t> final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595"/>
              </a:lnSpc>
            </a:pPr>
            <a:r>
              <a:rPr sz="1400" dirty="0">
                <a:latin typeface="Calibri"/>
                <a:cs typeface="Calibri"/>
              </a:rPr>
              <a:t>results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available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HDFS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99875" y="103822"/>
            <a:ext cx="403123" cy="52901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189" y="188463"/>
            <a:ext cx="2020001" cy="57245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358618" y="45690"/>
            <a:ext cx="1163591" cy="586036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95211" y="797509"/>
            <a:ext cx="11802110" cy="748665"/>
          </a:xfrm>
          <a:custGeom>
            <a:avLst/>
            <a:gdLst/>
            <a:ahLst/>
            <a:cxnLst/>
            <a:rect l="l" t="t" r="r" b="b"/>
            <a:pathLst>
              <a:path w="11802110" h="748665">
                <a:moveTo>
                  <a:pt x="11801602" y="0"/>
                </a:moveTo>
                <a:lnTo>
                  <a:pt x="0" y="0"/>
                </a:lnTo>
                <a:lnTo>
                  <a:pt x="0" y="748207"/>
                </a:lnTo>
                <a:lnTo>
                  <a:pt x="11801602" y="748207"/>
                </a:lnTo>
                <a:lnTo>
                  <a:pt x="11801602" y="0"/>
                </a:lnTo>
                <a:close/>
              </a:path>
            </a:pathLst>
          </a:custGeom>
          <a:solidFill>
            <a:srgbClr val="6733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solidFill>
                  <a:srgbClr val="FFFFFF"/>
                </a:solidFill>
              </a:rPr>
              <a:t>Map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Reduce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Movie</a:t>
            </a:r>
            <a:r>
              <a:rPr sz="2800" spc="-8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Count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Example</a:t>
            </a:r>
            <a:endParaRPr sz="28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A3DEB72-33D8-CFED-2BCF-6F0F2510A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187185" y="1728076"/>
            <a:ext cx="5809615" cy="4196588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95211" y="1728089"/>
            <a:ext cx="5900801" cy="238899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spc="-25" dirty="0">
                <a:solidFill>
                  <a:srgbClr val="FFFFFF"/>
                </a:solidFill>
              </a:rPr>
              <a:t>Hive-</a:t>
            </a:r>
            <a:r>
              <a:rPr sz="2800" dirty="0">
                <a:solidFill>
                  <a:srgbClr val="FFFFFF"/>
                </a:solidFill>
              </a:rPr>
              <a:t>Data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Warehouse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on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lang="en-US" sz="2800" dirty="0">
                <a:solidFill>
                  <a:srgbClr val="FFFFFF"/>
                </a:solidFill>
              </a:rPr>
              <a:t>T</a:t>
            </a:r>
            <a:r>
              <a:rPr sz="2800" dirty="0">
                <a:solidFill>
                  <a:srgbClr val="FFFFFF"/>
                </a:solidFill>
              </a:rPr>
              <a:t>op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06C1567-AF39-CAED-E122-5F02B98CB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41300" marR="5080" indent="-229235">
              <a:lnSpc>
                <a:spcPct val="90100"/>
              </a:lnSpc>
              <a:spcBef>
                <a:spcPts val="34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Hive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warehouse</a:t>
            </a:r>
            <a:r>
              <a:rPr lang="en-US"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infrastructure</a:t>
            </a:r>
            <a:r>
              <a:rPr lang="en-US" sz="20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built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top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querying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managing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datasets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using </a:t>
            </a:r>
            <a:r>
              <a:rPr lang="en-US" sz="2000" spc="-20" dirty="0">
                <a:latin typeface="Calibri"/>
                <a:cs typeface="Calibri"/>
              </a:rPr>
              <a:t>SQL-</a:t>
            </a:r>
            <a:r>
              <a:rPr lang="en-US" sz="2000" dirty="0">
                <a:latin typeface="Calibri"/>
                <a:cs typeface="Calibri"/>
              </a:rPr>
              <a:t>like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syntax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(HiveQL).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Create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Facebook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solve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MapReduce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challenges.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Components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lang="en-US"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spc="-10" dirty="0" err="1">
                <a:latin typeface="Calibri"/>
                <a:cs typeface="Calibri"/>
              </a:rPr>
              <a:t>Metastore</a:t>
            </a:r>
            <a:r>
              <a:rPr lang="en-US" sz="1800" spc="-10" dirty="0">
                <a:latin typeface="Calibri"/>
                <a:cs typeface="Calibri"/>
              </a:rPr>
              <a:t>:</a:t>
            </a:r>
            <a:r>
              <a:rPr lang="en-US" sz="1800" spc="-7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Stores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metadata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for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Hive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tables.</a:t>
            </a:r>
            <a:endParaRPr lang="en-US" sz="1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0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Driver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Manages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execution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HiveQL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statements.</a:t>
            </a:r>
            <a:endParaRPr lang="en-US" sz="1800" dirty="0">
              <a:latin typeface="Calibri"/>
              <a:cs typeface="Calibri"/>
            </a:endParaRPr>
          </a:p>
          <a:p>
            <a:pPr marL="756285" marR="407034" lvl="1" indent="-287020">
              <a:lnSpc>
                <a:spcPts val="1939"/>
              </a:lnSpc>
              <a:spcBef>
                <a:spcPts val="53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Compiler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10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Converts</a:t>
            </a:r>
            <a:r>
              <a:rPr lang="en-US" sz="1800" spc="-7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HiveQL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queries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into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MapReduce tasks.</a:t>
            </a:r>
            <a:endParaRPr lang="en-US" sz="1800" dirty="0">
              <a:latin typeface="Calibri"/>
              <a:cs typeface="Calibri"/>
            </a:endParaRPr>
          </a:p>
          <a:p>
            <a:pPr marL="241300" indent="-228600">
              <a:lnSpc>
                <a:spcPts val="2280"/>
              </a:lnSpc>
              <a:spcBef>
                <a:spcPts val="7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Use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Cases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summarization,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query,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analysis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</a:t>
            </a:r>
            <a:endParaRPr lang="en-US" sz="2000" dirty="0">
              <a:latin typeface="Calibri"/>
              <a:cs typeface="Calibri"/>
            </a:endParaRPr>
          </a:p>
          <a:p>
            <a:pPr marL="241300">
              <a:lnSpc>
                <a:spcPts val="2280"/>
              </a:lnSpc>
            </a:pP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HDFS.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16577" y="1748135"/>
            <a:ext cx="5101762" cy="497127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17363"/>
            <a:ext cx="6627703" cy="7085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5875" rIns="0" bIns="0" rtlCol="0">
            <a:spAutoFit/>
          </a:bodyPr>
          <a:lstStyle/>
          <a:p>
            <a:pPr marL="91440" marR="411480">
              <a:lnSpc>
                <a:spcPts val="2700"/>
              </a:lnSpc>
              <a:spcBef>
                <a:spcPts val="125"/>
              </a:spcBef>
            </a:pPr>
            <a:r>
              <a:rPr sz="2500" dirty="0">
                <a:solidFill>
                  <a:srgbClr val="FFFFFF"/>
                </a:solidFill>
              </a:rPr>
              <a:t>Sample</a:t>
            </a:r>
            <a:r>
              <a:rPr sz="2500" spc="-75" dirty="0">
                <a:solidFill>
                  <a:srgbClr val="FFFFFF"/>
                </a:solidFill>
              </a:rPr>
              <a:t> </a:t>
            </a:r>
            <a:r>
              <a:rPr sz="2500" dirty="0">
                <a:solidFill>
                  <a:srgbClr val="FFFFFF"/>
                </a:solidFill>
              </a:rPr>
              <a:t>Hive</a:t>
            </a:r>
            <a:r>
              <a:rPr sz="2500" spc="-75" dirty="0">
                <a:solidFill>
                  <a:srgbClr val="FFFFFF"/>
                </a:solidFill>
              </a:rPr>
              <a:t> </a:t>
            </a:r>
            <a:r>
              <a:rPr sz="2500" dirty="0">
                <a:solidFill>
                  <a:srgbClr val="FFFFFF"/>
                </a:solidFill>
              </a:rPr>
              <a:t>Commands</a:t>
            </a:r>
            <a:r>
              <a:rPr sz="2500" spc="-65" dirty="0">
                <a:solidFill>
                  <a:srgbClr val="FFFFFF"/>
                </a:solidFill>
              </a:rPr>
              <a:t> </a:t>
            </a:r>
            <a:r>
              <a:rPr sz="2500" dirty="0">
                <a:solidFill>
                  <a:srgbClr val="FFFFFF"/>
                </a:solidFill>
              </a:rPr>
              <a:t>–</a:t>
            </a:r>
            <a:r>
              <a:rPr sz="2500" spc="-70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Declarative, </a:t>
            </a:r>
            <a:r>
              <a:rPr sz="2500" dirty="0">
                <a:solidFill>
                  <a:srgbClr val="FFFFFF"/>
                </a:solidFill>
              </a:rPr>
              <a:t>SQL</a:t>
            </a:r>
            <a:r>
              <a:rPr sz="2500" spc="-80" dirty="0">
                <a:solidFill>
                  <a:srgbClr val="FFFFFF"/>
                </a:solidFill>
              </a:rPr>
              <a:t> </a:t>
            </a:r>
            <a:r>
              <a:rPr sz="2500" dirty="0">
                <a:solidFill>
                  <a:srgbClr val="FFFFFF"/>
                </a:solidFill>
              </a:rPr>
              <a:t>Like</a:t>
            </a:r>
            <a:r>
              <a:rPr sz="2500" spc="-85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Commands</a:t>
            </a:r>
            <a:endParaRPr sz="25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6B9512-6735-2168-2573-037AFE5A36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304974" cy="4991039"/>
          </a:xfrm>
        </p:spPr>
        <p:txBody>
          <a:bodyPr/>
          <a:lstStyle/>
          <a:p>
            <a:pPr marL="0" indent="0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2000" b="1" dirty="0">
                <a:latin typeface="Calibri"/>
                <a:cs typeface="Calibri"/>
              </a:rPr>
              <a:t>Benefits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2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Hive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over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MapReduce</a:t>
            </a:r>
            <a:endParaRPr lang="en-US" sz="2000" dirty="0">
              <a:latin typeface="Calibri"/>
              <a:cs typeface="Calibri"/>
            </a:endParaRPr>
          </a:p>
          <a:p>
            <a:pPr marL="12700" marR="24130" indent="-3810">
              <a:lnSpc>
                <a:spcPct val="100000"/>
              </a:lnSpc>
              <a:spcBef>
                <a:spcPts val="600"/>
              </a:spcBef>
              <a:buSzPct val="94444"/>
              <a:buAutoNum type="arabicPeriod"/>
              <a:tabLst>
                <a:tab pos="18796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	SQL-</a:t>
            </a:r>
            <a:r>
              <a:rPr lang="en-US" sz="2000" b="1" dirty="0">
                <a:latin typeface="Calibri"/>
                <a:cs typeface="Calibri"/>
              </a:rPr>
              <a:t>Like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Query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Language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HiveQL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similar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SQL,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easy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people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SQL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knowledge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work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big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data.</a:t>
            </a:r>
            <a:endParaRPr lang="en-US" sz="2000" dirty="0">
              <a:latin typeface="Calibri"/>
              <a:cs typeface="Calibri"/>
            </a:endParaRPr>
          </a:p>
          <a:p>
            <a:pPr marL="12700" marR="5080" indent="-3810">
              <a:lnSpc>
                <a:spcPct val="100000"/>
              </a:lnSpc>
              <a:spcBef>
                <a:spcPts val="600"/>
              </a:spcBef>
              <a:buSzPct val="94444"/>
              <a:buAutoNum type="arabicPeriod"/>
              <a:tabLst>
                <a:tab pos="187960" algn="l"/>
              </a:tabLst>
            </a:pPr>
            <a:r>
              <a:rPr lang="en-US" sz="2000" b="1" dirty="0">
                <a:latin typeface="Calibri"/>
                <a:cs typeface="Calibri"/>
              </a:rPr>
              <a:t>	Schema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on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Read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defines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schema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-25" dirty="0">
                <a:latin typeface="Calibri"/>
                <a:cs typeface="Calibri"/>
              </a:rPr>
              <a:t> the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when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it's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loaded,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ideal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for </a:t>
            </a:r>
            <a:r>
              <a:rPr lang="en-US" sz="2000" spc="-10" dirty="0">
                <a:latin typeface="Calibri"/>
                <a:cs typeface="Calibri"/>
              </a:rPr>
              <a:t>unstructured</a:t>
            </a:r>
            <a:r>
              <a:rPr lang="en-US" sz="2000" dirty="0">
                <a:latin typeface="Calibri"/>
                <a:cs typeface="Calibri"/>
              </a:rPr>
              <a:t> or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semi-</a:t>
            </a:r>
            <a:r>
              <a:rPr lang="en-US" sz="2000" spc="-10" dirty="0">
                <a:latin typeface="Calibri"/>
                <a:cs typeface="Calibri"/>
              </a:rPr>
              <a:t>structured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data.</a:t>
            </a:r>
            <a:endParaRPr lang="en-US" sz="2000" dirty="0">
              <a:latin typeface="Calibri"/>
              <a:cs typeface="Calibri"/>
            </a:endParaRPr>
          </a:p>
          <a:p>
            <a:pPr marL="12700" marR="33655" indent="-3810">
              <a:lnSpc>
                <a:spcPct val="100000"/>
              </a:lnSpc>
              <a:spcBef>
                <a:spcPts val="600"/>
              </a:spcBef>
              <a:buSzPct val="94444"/>
              <a:buAutoNum type="arabicPeriod"/>
              <a:tabLst>
                <a:tab pos="187960" algn="l"/>
              </a:tabLst>
            </a:pPr>
            <a:r>
              <a:rPr lang="en-US" sz="2000" b="1" dirty="0">
                <a:latin typeface="Calibri"/>
                <a:cs typeface="Calibri"/>
              </a:rPr>
              <a:t>	Data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Summarization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and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Analysis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optimized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warehousing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tasks,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such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summarization, </a:t>
            </a:r>
            <a:r>
              <a:rPr lang="en-US" sz="2000" dirty="0">
                <a:latin typeface="Calibri"/>
                <a:cs typeface="Calibri"/>
              </a:rPr>
              <a:t>analysis,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ad-</a:t>
            </a:r>
            <a:r>
              <a:rPr lang="en-US" sz="2000" dirty="0">
                <a:latin typeface="Calibri"/>
                <a:cs typeface="Calibri"/>
              </a:rPr>
              <a:t>hoc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querying.</a:t>
            </a:r>
            <a:endParaRPr lang="en-US" sz="2000" dirty="0">
              <a:latin typeface="Calibri"/>
              <a:cs typeface="Calibri"/>
            </a:endParaRPr>
          </a:p>
          <a:p>
            <a:pPr marL="12700" marR="41910" indent="-3810">
              <a:lnSpc>
                <a:spcPct val="100000"/>
              </a:lnSpc>
              <a:spcBef>
                <a:spcPts val="605"/>
              </a:spcBef>
              <a:buSzPct val="94444"/>
              <a:buAutoNum type="arabicPeriod"/>
              <a:tabLst>
                <a:tab pos="187960" algn="l"/>
              </a:tabLst>
            </a:pPr>
            <a:r>
              <a:rPr lang="en-US" sz="2000" b="1" dirty="0">
                <a:latin typeface="Calibri"/>
                <a:cs typeface="Calibri"/>
              </a:rPr>
              <a:t>	Ease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Integration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works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seamlessly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with </a:t>
            </a:r>
            <a:r>
              <a:rPr lang="en-US" sz="2000" dirty="0">
                <a:latin typeface="Calibri"/>
                <a:cs typeface="Calibri"/>
              </a:rPr>
              <a:t>Hadoop's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HDFS,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efficient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large-</a:t>
            </a:r>
            <a:r>
              <a:rPr lang="en-US" sz="2000" dirty="0">
                <a:latin typeface="Calibri"/>
                <a:cs typeface="Calibri"/>
              </a:rPr>
              <a:t>scale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 </a:t>
            </a:r>
            <a:r>
              <a:rPr lang="en-US" sz="2000" spc="-10" dirty="0">
                <a:latin typeface="Calibri"/>
                <a:cs typeface="Calibri"/>
              </a:rPr>
              <a:t>processing.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8297671" y="6621576"/>
            <a:ext cx="353504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https://youtu.be/LEzQVPvNTNo?si=JQlcwb1fimzxVs_9&amp;t=753</a:t>
            </a:r>
            <a:endParaRPr sz="11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9832" y="817363"/>
            <a:ext cx="4878082" cy="55096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PIG</a:t>
            </a:r>
            <a:r>
              <a:rPr sz="2800" spc="-2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–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High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Level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SQL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Like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Language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on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top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xfrm>
            <a:off x="284086" y="1706007"/>
            <a:ext cx="8546150" cy="423513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28600" marR="285115" indent="-228600">
              <a:lnSpc>
                <a:spcPts val="2280"/>
              </a:lnSpc>
              <a:spcBef>
                <a:spcPts val="105"/>
              </a:spcBef>
              <a:buFont typeface="Arial MT"/>
              <a:buChar char="•"/>
              <a:tabLst>
                <a:tab pos="233363" algn="l"/>
              </a:tabLst>
            </a:pPr>
            <a:r>
              <a:rPr lang="en-US" dirty="0"/>
              <a:t>Pig</a:t>
            </a:r>
            <a:r>
              <a:rPr lang="en-US" spc="-45" dirty="0"/>
              <a:t> </a:t>
            </a:r>
            <a:r>
              <a:rPr lang="en-US" dirty="0"/>
              <a:t>Latin</a:t>
            </a:r>
            <a:r>
              <a:rPr lang="en-US" spc="-40" dirty="0"/>
              <a:t> </a:t>
            </a:r>
            <a:r>
              <a:rPr lang="en-US" dirty="0"/>
              <a:t>is</a:t>
            </a:r>
            <a:r>
              <a:rPr lang="en-US" spc="-40" dirty="0"/>
              <a:t> </a:t>
            </a:r>
            <a:r>
              <a:rPr lang="en-US" dirty="0"/>
              <a:t>a</a:t>
            </a:r>
            <a:r>
              <a:rPr lang="en-US" spc="-45" dirty="0"/>
              <a:t> </a:t>
            </a:r>
            <a:r>
              <a:rPr lang="en-US" spc="-10" dirty="0"/>
              <a:t>high-</a:t>
            </a:r>
            <a:r>
              <a:rPr lang="en-US" dirty="0"/>
              <a:t>level</a:t>
            </a:r>
            <a:r>
              <a:rPr lang="en-US" spc="-35" dirty="0"/>
              <a:t>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processing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language</a:t>
            </a:r>
            <a:r>
              <a:rPr lang="en-US" spc="-70" dirty="0">
                <a:solidFill>
                  <a:srgbClr val="FF0000"/>
                </a:solidFill>
              </a:rPr>
              <a:t> </a:t>
            </a:r>
            <a:r>
              <a:rPr lang="en-US" dirty="0"/>
              <a:t>that</a:t>
            </a:r>
            <a:r>
              <a:rPr lang="en-US" spc="-40" dirty="0"/>
              <a:t> </a:t>
            </a:r>
            <a:r>
              <a:rPr lang="en-US" dirty="0"/>
              <a:t>simplifies </a:t>
            </a:r>
            <a:r>
              <a:rPr lang="en-US" spc="-10" dirty="0"/>
              <a:t>writing</a:t>
            </a:r>
          </a:p>
          <a:p>
            <a:pPr marR="320040">
              <a:lnSpc>
                <a:spcPts val="2280"/>
              </a:lnSpc>
              <a:tabLst>
                <a:tab pos="233363" algn="l"/>
              </a:tabLst>
            </a:pP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spc="-20" dirty="0">
                <a:solidFill>
                  <a:srgbClr val="FF0000"/>
                </a:solidFill>
              </a:rPr>
              <a:t>transformations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and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analysis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tasks</a:t>
            </a:r>
            <a:r>
              <a:rPr lang="en-US" spc="-3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over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large</a:t>
            </a:r>
            <a:r>
              <a:rPr lang="en-US" spc="-5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datasets</a:t>
            </a:r>
            <a:r>
              <a:rPr lang="en-US" spc="-3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in</a:t>
            </a:r>
            <a:r>
              <a:rPr lang="en-US" spc="-60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Hadoop</a:t>
            </a:r>
            <a:r>
              <a:rPr lang="en-US" spc="-10" dirty="0"/>
              <a:t>.</a:t>
            </a:r>
          </a:p>
          <a:p>
            <a:pPr marL="241300" indent="-228600">
              <a:lnSpc>
                <a:spcPts val="228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/>
              <a:t>It’s</a:t>
            </a:r>
            <a:r>
              <a:rPr lang="en-US" spc="-40" dirty="0"/>
              <a:t> </a:t>
            </a:r>
            <a:r>
              <a:rPr lang="en-US" dirty="0"/>
              <a:t>part</a:t>
            </a:r>
            <a:r>
              <a:rPr lang="en-US" spc="-25" dirty="0"/>
              <a:t> </a:t>
            </a:r>
            <a:r>
              <a:rPr lang="en-US" dirty="0"/>
              <a:t>of</a:t>
            </a:r>
            <a:r>
              <a:rPr lang="en-US" spc="-30" dirty="0"/>
              <a:t> </a:t>
            </a:r>
            <a:r>
              <a:rPr lang="en-US" dirty="0"/>
              <a:t>the</a:t>
            </a:r>
            <a:r>
              <a:rPr lang="en-US" spc="-25" dirty="0"/>
              <a:t> </a:t>
            </a:r>
            <a:r>
              <a:rPr lang="en-US" dirty="0"/>
              <a:t>Apache</a:t>
            </a:r>
            <a:r>
              <a:rPr lang="en-US" spc="-35" dirty="0"/>
              <a:t> </a:t>
            </a:r>
            <a:r>
              <a:rPr lang="en-US" dirty="0"/>
              <a:t>Pig</a:t>
            </a:r>
            <a:r>
              <a:rPr lang="en-US" spc="-25" dirty="0"/>
              <a:t> </a:t>
            </a:r>
            <a:r>
              <a:rPr lang="en-US" spc="-10" dirty="0"/>
              <a:t>platform,</a:t>
            </a:r>
            <a:r>
              <a:rPr lang="en-US" spc="-20" dirty="0"/>
              <a:t> </a:t>
            </a:r>
            <a:r>
              <a:rPr lang="en-US" dirty="0"/>
              <a:t>which</a:t>
            </a:r>
            <a:r>
              <a:rPr lang="en-US" spc="-35" dirty="0"/>
              <a:t> </a:t>
            </a:r>
            <a:r>
              <a:rPr lang="en-US" dirty="0"/>
              <a:t>runs</a:t>
            </a:r>
            <a:r>
              <a:rPr lang="en-US" spc="-35" dirty="0"/>
              <a:t> </a:t>
            </a:r>
            <a:r>
              <a:rPr lang="en-US" dirty="0"/>
              <a:t>on</a:t>
            </a:r>
            <a:r>
              <a:rPr lang="en-US" spc="-25" dirty="0"/>
              <a:t> </a:t>
            </a:r>
            <a:r>
              <a:rPr lang="en-US" dirty="0"/>
              <a:t>Hadoop</a:t>
            </a:r>
            <a:r>
              <a:rPr lang="en-US" spc="-60" dirty="0"/>
              <a:t> </a:t>
            </a:r>
            <a:r>
              <a:rPr lang="en-US" dirty="0"/>
              <a:t>and</a:t>
            </a:r>
            <a:r>
              <a:rPr lang="en-US" spc="-30" dirty="0"/>
              <a:t> </a:t>
            </a:r>
            <a:r>
              <a:rPr lang="en-US" spc="-10" dirty="0"/>
              <a:t>translates</a:t>
            </a:r>
          </a:p>
          <a:p>
            <a:pPr marL="241300">
              <a:lnSpc>
                <a:spcPts val="2280"/>
              </a:lnSpc>
            </a:pPr>
            <a:r>
              <a:rPr lang="en-US" dirty="0"/>
              <a:t>Pig</a:t>
            </a:r>
            <a:r>
              <a:rPr lang="en-US" spc="-55" dirty="0"/>
              <a:t> </a:t>
            </a:r>
            <a:r>
              <a:rPr lang="en-US" dirty="0"/>
              <a:t>Latin</a:t>
            </a:r>
            <a:r>
              <a:rPr lang="en-US" spc="-60" dirty="0"/>
              <a:t> </a:t>
            </a:r>
            <a:r>
              <a:rPr lang="en-US" dirty="0"/>
              <a:t>scripts</a:t>
            </a:r>
            <a:r>
              <a:rPr lang="en-US" spc="-45" dirty="0"/>
              <a:t> </a:t>
            </a:r>
            <a:r>
              <a:rPr lang="en-US" dirty="0"/>
              <a:t>into</a:t>
            </a:r>
            <a:r>
              <a:rPr lang="en-US" spc="-60" dirty="0"/>
              <a:t> </a:t>
            </a:r>
            <a:r>
              <a:rPr lang="en-US" dirty="0"/>
              <a:t>MapReduce</a:t>
            </a:r>
            <a:r>
              <a:rPr lang="en-US" spc="-65" dirty="0"/>
              <a:t> </a:t>
            </a:r>
            <a:r>
              <a:rPr lang="en-US" spc="-10" dirty="0"/>
              <a:t>jobs.</a:t>
            </a:r>
          </a:p>
          <a:p>
            <a:pPr marL="241300" indent="-228600">
              <a:lnSpc>
                <a:spcPts val="2280"/>
              </a:lnSpc>
              <a:spcBef>
                <a:spcPts val="77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>
                <a:solidFill>
                  <a:srgbClr val="FF0000"/>
                </a:solidFill>
              </a:rPr>
              <a:t>This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allows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users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to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work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with</a:t>
            </a:r>
            <a:r>
              <a:rPr lang="en-US" spc="-40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big</a:t>
            </a:r>
            <a:r>
              <a:rPr lang="en-US" spc="-6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spc="-3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using</a:t>
            </a:r>
            <a:r>
              <a:rPr lang="en-US" spc="-6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simpler</a:t>
            </a:r>
            <a:r>
              <a:rPr lang="en-US" spc="-2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syntax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compared</a:t>
            </a:r>
            <a:r>
              <a:rPr lang="en-US" spc="-65" dirty="0">
                <a:solidFill>
                  <a:srgbClr val="FF0000"/>
                </a:solidFill>
              </a:rPr>
              <a:t> </a:t>
            </a:r>
            <a:r>
              <a:rPr lang="en-US" spc="-25" dirty="0">
                <a:solidFill>
                  <a:srgbClr val="FF0000"/>
                </a:solidFill>
              </a:rPr>
              <a:t>to</a:t>
            </a:r>
          </a:p>
          <a:p>
            <a:pPr marL="241300">
              <a:lnSpc>
                <a:spcPts val="2280"/>
              </a:lnSpc>
            </a:pPr>
            <a:r>
              <a:rPr lang="en-US" dirty="0">
                <a:solidFill>
                  <a:srgbClr val="FF0000"/>
                </a:solidFill>
              </a:rPr>
              <a:t>writing</a:t>
            </a:r>
            <a:r>
              <a:rPr lang="en-US" spc="-4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complex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MapReduce</a:t>
            </a:r>
            <a:r>
              <a:rPr lang="en-US" spc="-55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code</a:t>
            </a:r>
            <a:r>
              <a:rPr lang="en-US" spc="-65" dirty="0">
                <a:solidFill>
                  <a:srgbClr val="FF0000"/>
                </a:solidFill>
              </a:rPr>
              <a:t> </a:t>
            </a:r>
            <a:r>
              <a:rPr lang="en-US" spc="-10" dirty="0">
                <a:solidFill>
                  <a:srgbClr val="FF0000"/>
                </a:solidFill>
              </a:rPr>
              <a:t>directly</a:t>
            </a:r>
            <a:r>
              <a:rPr lang="en-US" spc="-10" dirty="0"/>
              <a:t>.</a:t>
            </a:r>
          </a:p>
          <a:p>
            <a:pPr marL="241300" indent="-2286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dirty="0"/>
              <a:t>Created</a:t>
            </a:r>
            <a:r>
              <a:rPr lang="en-US" spc="-55" dirty="0"/>
              <a:t> </a:t>
            </a:r>
            <a:r>
              <a:rPr lang="en-US" dirty="0"/>
              <a:t>by</a:t>
            </a:r>
            <a:r>
              <a:rPr lang="en-US" spc="-55" dirty="0"/>
              <a:t> </a:t>
            </a:r>
            <a:r>
              <a:rPr lang="en-US" spc="-20" dirty="0">
                <a:solidFill>
                  <a:srgbClr val="006FC0"/>
                </a:solidFill>
              </a:rPr>
              <a:t>Yahoo</a:t>
            </a:r>
            <a:r>
              <a:rPr lang="en-US" spc="-75" dirty="0">
                <a:solidFill>
                  <a:srgbClr val="006FC0"/>
                </a:solidFill>
              </a:rPr>
              <a:t> </a:t>
            </a:r>
            <a:r>
              <a:rPr lang="en-US" dirty="0"/>
              <a:t>to</a:t>
            </a:r>
            <a:r>
              <a:rPr lang="en-US" spc="-55" dirty="0"/>
              <a:t> </a:t>
            </a:r>
            <a:r>
              <a:rPr lang="en-US" dirty="0"/>
              <a:t>solve</a:t>
            </a:r>
            <a:r>
              <a:rPr lang="en-US" spc="-45" dirty="0"/>
              <a:t> </a:t>
            </a:r>
            <a:r>
              <a:rPr lang="en-US" dirty="0"/>
              <a:t>MapReduce</a:t>
            </a:r>
            <a:r>
              <a:rPr lang="en-US" spc="-75" dirty="0"/>
              <a:t> </a:t>
            </a:r>
            <a:r>
              <a:rPr lang="en-US" spc="-10" dirty="0"/>
              <a:t>challenges.</a:t>
            </a:r>
          </a:p>
          <a:p>
            <a:pPr marL="241300" indent="-228600">
              <a:lnSpc>
                <a:spcPct val="100000"/>
              </a:lnSpc>
              <a:spcBef>
                <a:spcPts val="76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spc="-10" dirty="0">
                <a:latin typeface="Calibri"/>
                <a:cs typeface="Calibri"/>
              </a:rPr>
              <a:t>Architecture</a:t>
            </a:r>
            <a:r>
              <a:rPr lang="en-US" spc="-10" dirty="0"/>
              <a:t>:</a:t>
            </a: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Pig</a:t>
            </a:r>
            <a:r>
              <a:rPr lang="en-US" sz="1800" b="1" spc="-4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Latin</a:t>
            </a:r>
            <a:r>
              <a:rPr lang="en-US" sz="1800" b="1" spc="-45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Scripts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Define</a:t>
            </a:r>
            <a:r>
              <a:rPr lang="en-US" sz="1800" spc="-2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data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transformation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tasks.</a:t>
            </a:r>
            <a:endParaRPr lang="en-US" sz="1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>
                <a:latin typeface="Calibri"/>
                <a:cs typeface="Calibri"/>
              </a:rPr>
              <a:t>Pig</a:t>
            </a:r>
            <a:r>
              <a:rPr lang="en-US" sz="1800" b="1" spc="-40" dirty="0">
                <a:latin typeface="Calibri"/>
                <a:cs typeface="Calibri"/>
              </a:rPr>
              <a:t> </a:t>
            </a:r>
            <a:r>
              <a:rPr lang="en-US" sz="1800" b="1" dirty="0">
                <a:latin typeface="Calibri"/>
                <a:cs typeface="Calibri"/>
              </a:rPr>
              <a:t>Engine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Executes</a:t>
            </a:r>
            <a:r>
              <a:rPr lang="en-US" sz="1800" spc="-2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these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scripts</a:t>
            </a:r>
            <a:r>
              <a:rPr lang="en-US" sz="1800" spc="-3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on</a:t>
            </a:r>
            <a:r>
              <a:rPr lang="en-US" sz="1800" spc="-3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Hadoop.</a:t>
            </a:r>
            <a:endParaRPr lang="en-US" sz="18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5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b="1" dirty="0">
                <a:latin typeface="Calibri"/>
                <a:cs typeface="Calibri"/>
              </a:rPr>
              <a:t>Use</a:t>
            </a:r>
            <a:r>
              <a:rPr lang="en-US" b="1" spc="-50" dirty="0">
                <a:latin typeface="Calibri"/>
                <a:cs typeface="Calibri"/>
              </a:rPr>
              <a:t> </a:t>
            </a:r>
            <a:r>
              <a:rPr lang="en-US" b="1" dirty="0">
                <a:latin typeface="Calibri"/>
                <a:cs typeface="Calibri"/>
              </a:rPr>
              <a:t>Cases</a:t>
            </a:r>
            <a:r>
              <a:rPr lang="en-US" dirty="0"/>
              <a:t>:</a:t>
            </a:r>
            <a:r>
              <a:rPr lang="en-US" spc="-35" dirty="0"/>
              <a:t> </a:t>
            </a:r>
            <a:r>
              <a:rPr lang="en-US" dirty="0"/>
              <a:t>Data</a:t>
            </a:r>
            <a:r>
              <a:rPr lang="en-US" spc="-50" dirty="0"/>
              <a:t> </a:t>
            </a:r>
            <a:r>
              <a:rPr lang="en-US" dirty="0"/>
              <a:t>cleansing,</a:t>
            </a:r>
            <a:r>
              <a:rPr lang="en-US" spc="-40" dirty="0"/>
              <a:t> </a:t>
            </a:r>
            <a:r>
              <a:rPr lang="en-US" dirty="0"/>
              <a:t>ETL</a:t>
            </a:r>
            <a:r>
              <a:rPr lang="en-US" spc="-70" dirty="0"/>
              <a:t> </a:t>
            </a:r>
            <a:r>
              <a:rPr lang="en-US" dirty="0"/>
              <a:t>(Extract,</a:t>
            </a:r>
            <a:r>
              <a:rPr lang="en-US" spc="-35" dirty="0"/>
              <a:t> </a:t>
            </a:r>
            <a:r>
              <a:rPr lang="en-US" spc="-25" dirty="0"/>
              <a:t>Transform,</a:t>
            </a:r>
            <a:r>
              <a:rPr lang="en-US" spc="-40" dirty="0"/>
              <a:t> </a:t>
            </a:r>
            <a:r>
              <a:rPr lang="en-US" dirty="0"/>
              <a:t>Load)</a:t>
            </a:r>
            <a:r>
              <a:rPr lang="en-US" spc="-50" dirty="0"/>
              <a:t> </a:t>
            </a:r>
            <a:r>
              <a:rPr lang="en-US" spc="-10" dirty="0"/>
              <a:t>operations.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60338" y="2138235"/>
            <a:ext cx="2711329" cy="351222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635365" y="5932119"/>
            <a:ext cx="3429000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https://www.analyticsvidhya.com/blog/2022/06/getting-started-with-apache-</a:t>
            </a:r>
            <a:r>
              <a:rPr sz="800" u="sng" spc="-2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3"/>
              </a:rPr>
              <a:t>pig/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117570" y="688025"/>
            <a:ext cx="1053654" cy="99360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46893" y="6328054"/>
            <a:ext cx="100774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Hive</a:t>
            </a:r>
            <a:r>
              <a:rPr sz="1800" u="sng" spc="-1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vs</a:t>
            </a:r>
            <a:r>
              <a:rPr sz="1800" u="sng" spc="-4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 </a:t>
            </a:r>
            <a:r>
              <a:rPr sz="1800" u="sng" spc="-25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5"/>
              </a:rPr>
              <a:t>Pig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17363"/>
            <a:ext cx="5031987" cy="7085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5875" rIns="0" bIns="0" rtlCol="0">
            <a:spAutoFit/>
          </a:bodyPr>
          <a:lstStyle/>
          <a:p>
            <a:pPr marL="91440" marR="1063625">
              <a:lnSpc>
                <a:spcPts val="2700"/>
              </a:lnSpc>
              <a:spcBef>
                <a:spcPts val="125"/>
              </a:spcBef>
            </a:pPr>
            <a:r>
              <a:rPr sz="2500" dirty="0">
                <a:solidFill>
                  <a:srgbClr val="FFFFFF"/>
                </a:solidFill>
              </a:rPr>
              <a:t>Sample</a:t>
            </a:r>
            <a:r>
              <a:rPr sz="2500" spc="-70" dirty="0">
                <a:solidFill>
                  <a:srgbClr val="FFFFFF"/>
                </a:solidFill>
              </a:rPr>
              <a:t> </a:t>
            </a:r>
            <a:r>
              <a:rPr sz="2500" dirty="0">
                <a:solidFill>
                  <a:srgbClr val="FFFFFF"/>
                </a:solidFill>
              </a:rPr>
              <a:t>Pig</a:t>
            </a:r>
            <a:r>
              <a:rPr sz="2500" spc="-65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Programming </a:t>
            </a:r>
            <a:r>
              <a:rPr sz="2500" dirty="0">
                <a:solidFill>
                  <a:srgbClr val="FFFFFF"/>
                </a:solidFill>
              </a:rPr>
              <a:t>Language</a:t>
            </a:r>
            <a:r>
              <a:rPr sz="2500" spc="-110" dirty="0">
                <a:solidFill>
                  <a:srgbClr val="FFFFFF"/>
                </a:solidFill>
              </a:rPr>
              <a:t> </a:t>
            </a:r>
            <a:r>
              <a:rPr sz="2500" spc="-10" dirty="0">
                <a:solidFill>
                  <a:srgbClr val="FFFFFF"/>
                </a:solidFill>
              </a:rPr>
              <a:t>Commands</a:t>
            </a:r>
            <a:endParaRPr sz="250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92DA10B-6357-37BF-59BD-660098D0EB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5031986" cy="4991039"/>
          </a:xfrm>
        </p:spPr>
        <p:txBody>
          <a:bodyPr>
            <a:normAutofit lnSpcReduction="10000"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lang="en-US" sz="2000" b="1" dirty="0">
                <a:latin typeface="Calibri"/>
                <a:cs typeface="Calibri"/>
              </a:rPr>
              <a:t>Benefits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2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Pig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Latin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over</a:t>
            </a:r>
            <a:r>
              <a:rPr lang="en-US" sz="2000" b="1" spc="-2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MapReduce</a:t>
            </a:r>
            <a:endParaRPr lang="en-US" sz="2000" dirty="0">
              <a:latin typeface="Calibri"/>
              <a:cs typeface="Calibri"/>
            </a:endParaRPr>
          </a:p>
          <a:p>
            <a:pPr marL="241300" marR="148590" indent="-229235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Simpler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Syntax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Pig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Latin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concise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 </a:t>
            </a:r>
            <a:r>
              <a:rPr lang="en-US" sz="2000" dirty="0">
                <a:latin typeface="Calibri"/>
                <a:cs typeface="Calibri"/>
              </a:rPr>
              <a:t>easier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understand,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accessible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</a:t>
            </a:r>
            <a:r>
              <a:rPr lang="en-US" sz="2000" dirty="0">
                <a:latin typeface="Calibri"/>
                <a:cs typeface="Calibri"/>
              </a:rPr>
              <a:t>those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SQL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knowledge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without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deep </a:t>
            </a:r>
            <a:r>
              <a:rPr lang="en-US" sz="2000" spc="-10" dirty="0">
                <a:latin typeface="Calibri"/>
                <a:cs typeface="Calibri"/>
              </a:rPr>
              <a:t>understanding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Java.</a:t>
            </a:r>
            <a:endParaRPr lang="en-US" sz="2000" dirty="0">
              <a:latin typeface="Calibri"/>
              <a:cs typeface="Calibri"/>
            </a:endParaRPr>
          </a:p>
          <a:p>
            <a:pPr marL="241300" marR="5080" indent="-229235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Less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Code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Pig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Latin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script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requires </a:t>
            </a:r>
            <a:r>
              <a:rPr lang="en-US" sz="2000" dirty="0">
                <a:latin typeface="Calibri"/>
                <a:cs typeface="Calibri"/>
              </a:rPr>
              <a:t>fewer</a:t>
            </a:r>
            <a:r>
              <a:rPr lang="en-US" sz="2000" spc="-10" dirty="0">
                <a:latin typeface="Calibri"/>
                <a:cs typeface="Calibri"/>
              </a:rPr>
              <a:t> lines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code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compared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MapReduce,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reducing development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time.</a:t>
            </a:r>
            <a:endParaRPr lang="en-US" sz="2000" dirty="0">
              <a:latin typeface="Calibri"/>
              <a:cs typeface="Calibri"/>
            </a:endParaRPr>
          </a:p>
          <a:p>
            <a:pPr marL="241300" marR="177800" indent="-229235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Built-</a:t>
            </a:r>
            <a:r>
              <a:rPr lang="en-US" sz="2000" b="1" dirty="0">
                <a:latin typeface="Calibri"/>
                <a:cs typeface="Calibri"/>
              </a:rPr>
              <a:t>in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Operations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provides built-</a:t>
            </a:r>
            <a:r>
              <a:rPr lang="en-US" sz="2000" spc="-25" dirty="0">
                <a:latin typeface="Calibri"/>
                <a:cs typeface="Calibri"/>
              </a:rPr>
              <a:t>in </a:t>
            </a:r>
            <a:r>
              <a:rPr lang="en-US" sz="2000" spc="-10" dirty="0">
                <a:latin typeface="Calibri"/>
                <a:cs typeface="Calibri"/>
              </a:rPr>
              <a:t>operators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common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like </a:t>
            </a:r>
            <a:r>
              <a:rPr lang="en-US" sz="2000" dirty="0">
                <a:latin typeface="Calibri"/>
                <a:cs typeface="Calibri"/>
              </a:rPr>
              <a:t>filtering,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grouping,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joining,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would </a:t>
            </a:r>
            <a:r>
              <a:rPr lang="en-US" sz="2000" dirty="0">
                <a:latin typeface="Calibri"/>
                <a:cs typeface="Calibri"/>
              </a:rPr>
              <a:t>require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extensive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coding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MapReduce.</a:t>
            </a:r>
            <a:endParaRPr lang="en-US" sz="2000" dirty="0">
              <a:latin typeface="Calibri"/>
              <a:cs typeface="Calibri"/>
            </a:endParaRPr>
          </a:p>
          <a:p>
            <a:pPr marL="241300" marR="198755" indent="-229235">
              <a:lnSpc>
                <a:spcPct val="90000"/>
              </a:lnSpc>
              <a:spcBef>
                <a:spcPts val="96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Data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Flow</a:t>
            </a:r>
            <a:r>
              <a:rPr lang="en-US" sz="2000" b="1" spc="-2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Language</a:t>
            </a:r>
            <a:r>
              <a:rPr lang="en-US" sz="2000" spc="-10" dirty="0">
                <a:latin typeface="Calibri"/>
                <a:cs typeface="Calibri"/>
              </a:rPr>
              <a:t>: </a:t>
            </a:r>
            <a:r>
              <a:rPr lang="en-US" sz="2000" dirty="0">
                <a:latin typeface="Calibri"/>
                <a:cs typeface="Calibri"/>
              </a:rPr>
              <a:t>Pig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Latin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</a:t>
            </a:r>
            <a:r>
              <a:rPr lang="en-US" sz="2000" dirty="0">
                <a:latin typeface="Calibri"/>
                <a:cs typeface="Calibri"/>
              </a:rPr>
              <a:t>handle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transformations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flow-</a:t>
            </a:r>
            <a:r>
              <a:rPr lang="en-US" sz="2000" spc="-20" dirty="0">
                <a:latin typeface="Calibri"/>
                <a:cs typeface="Calibri"/>
              </a:rPr>
              <a:t>like </a:t>
            </a:r>
            <a:r>
              <a:rPr lang="en-US" sz="2000" spc="-25" dirty="0">
                <a:latin typeface="Calibri"/>
                <a:cs typeface="Calibri"/>
              </a:rPr>
              <a:t>manner,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simpler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breaking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down </a:t>
            </a:r>
            <a:r>
              <a:rPr lang="en-US" sz="2000" dirty="0">
                <a:latin typeface="Calibri"/>
                <a:cs typeface="Calibri"/>
              </a:rPr>
              <a:t>tasks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Map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Reduce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steps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required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MapReduce.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sp>
        <p:nvSpPr>
          <p:cNvPr id="3" name="object 3"/>
          <p:cNvSpPr txBox="1"/>
          <p:nvPr/>
        </p:nvSpPr>
        <p:spPr>
          <a:xfrm>
            <a:off x="8240394" y="6591401"/>
            <a:ext cx="358521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2"/>
              </a:rPr>
              <a:t>https://youtu.be/LEzQVPvNTNo?si=JS4-3Qxyu3o7TD9q&amp;t=873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91098" y="818515"/>
            <a:ext cx="57200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latin typeface="Calibri"/>
                <a:cs typeface="Calibri"/>
              </a:rPr>
              <a:t>Sample</a:t>
            </a:r>
            <a:r>
              <a:rPr sz="1600" b="1" spc="-4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Pig</a:t>
            </a:r>
            <a:r>
              <a:rPr sz="1600" b="1" spc="-5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Latin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Script: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10" dirty="0">
                <a:latin typeface="Calibri"/>
                <a:cs typeface="Calibri"/>
              </a:rPr>
              <a:t>Word</a:t>
            </a:r>
            <a:r>
              <a:rPr sz="1600" b="1" spc="-3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Count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script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reads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text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file,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splits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line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words,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counts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</a:t>
            </a:r>
            <a:endParaRPr sz="16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600" dirty="0">
                <a:latin typeface="Calibri"/>
                <a:cs typeface="Calibri"/>
              </a:rPr>
              <a:t>occurrences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each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30" dirty="0">
                <a:latin typeface="Calibri"/>
                <a:cs typeface="Calibri"/>
              </a:rPr>
              <a:t>word—</a:t>
            </a:r>
            <a:r>
              <a:rPr sz="1600" dirty="0">
                <a:latin typeface="Calibri"/>
                <a:cs typeface="Calibri"/>
              </a:rPr>
              <a:t>a classic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example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data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processing.</a:t>
            </a:r>
            <a:endParaRPr sz="16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82746" y="1682037"/>
            <a:ext cx="6515285" cy="478780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  <a:tabLst>
                <a:tab pos="2289175" algn="l"/>
              </a:tabLst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HBase</a:t>
            </a:r>
            <a:r>
              <a:rPr sz="2800" dirty="0">
                <a:solidFill>
                  <a:srgbClr val="FFFFFF"/>
                </a:solidFill>
              </a:rPr>
              <a:t>	-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Distributed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Database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on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top</a:t>
            </a:r>
            <a:r>
              <a:rPr sz="2800" spc="-7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D008676-47C8-D88A-CD4A-65BB83D571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7470386" cy="4991039"/>
          </a:xfrm>
        </p:spPr>
        <p:txBody>
          <a:bodyPr/>
          <a:lstStyle/>
          <a:p>
            <a:pPr marL="241300" marR="447675" indent="-229235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HBase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NoSQL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database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built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top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Hadoop, </a:t>
            </a:r>
            <a:r>
              <a:rPr lang="en-US" sz="2000" dirty="0">
                <a:latin typeface="Calibri"/>
                <a:cs typeface="Calibri"/>
              </a:rPr>
              <a:t>specifically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handle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large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amounts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sparse, </a:t>
            </a:r>
            <a:r>
              <a:rPr lang="en-US" sz="2000" spc="-20" dirty="0">
                <a:latin typeface="Calibri"/>
                <a:cs typeface="Calibri"/>
              </a:rPr>
              <a:t>semi-</a:t>
            </a:r>
            <a:r>
              <a:rPr lang="en-US" sz="2000" dirty="0">
                <a:latin typeface="Calibri"/>
                <a:cs typeface="Calibri"/>
              </a:rPr>
              <a:t>structured,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unstructured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distributed environment.</a:t>
            </a:r>
            <a:endParaRPr lang="en-US" sz="2000" dirty="0">
              <a:latin typeface="Calibri"/>
              <a:cs typeface="Calibri"/>
            </a:endParaRPr>
          </a:p>
          <a:p>
            <a:pPr marL="241300" marR="24765" indent="-229235">
              <a:lnSpc>
                <a:spcPts val="2160"/>
              </a:lnSpc>
              <a:spcBef>
                <a:spcPts val="103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provides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random,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solidFill>
                  <a:srgbClr val="FF0000"/>
                </a:solidFill>
                <a:latin typeface="Calibri"/>
                <a:cs typeface="Calibri"/>
              </a:rPr>
              <a:t>real-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lang="en-US" sz="20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read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data,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well-</a:t>
            </a:r>
            <a:r>
              <a:rPr lang="en-US" sz="2000" dirty="0">
                <a:latin typeface="Calibri"/>
                <a:cs typeface="Calibri"/>
              </a:rPr>
              <a:t>suited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big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applications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where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fast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individual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rows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essential.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73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Architecture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lang="en-US" sz="20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9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 err="1">
                <a:latin typeface="Calibri"/>
                <a:cs typeface="Calibri"/>
              </a:rPr>
              <a:t>HMaster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Manages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the</a:t>
            </a:r>
            <a:r>
              <a:rPr lang="en-US" sz="1800" spc="-45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cluster.</a:t>
            </a:r>
            <a:endParaRPr lang="en-US" sz="1800" dirty="0">
              <a:latin typeface="Calibri"/>
              <a:cs typeface="Calibri"/>
            </a:endParaRPr>
          </a:p>
          <a:p>
            <a:pPr marL="756285" lvl="1" indent="-286385">
              <a:lnSpc>
                <a:spcPts val="2050"/>
              </a:lnSpc>
              <a:spcBef>
                <a:spcPts val="280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dirty="0" err="1">
                <a:latin typeface="Calibri"/>
                <a:cs typeface="Calibri"/>
              </a:rPr>
              <a:t>RegionServer</a:t>
            </a:r>
            <a:r>
              <a:rPr lang="en-US" sz="1800" dirty="0">
                <a:latin typeface="Calibri"/>
                <a:cs typeface="Calibri"/>
              </a:rPr>
              <a:t>:</a:t>
            </a:r>
            <a:r>
              <a:rPr lang="en-US" sz="1800" spc="-8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Handles</a:t>
            </a:r>
            <a:r>
              <a:rPr lang="en-US" sz="1800" spc="-5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read/write</a:t>
            </a:r>
            <a:r>
              <a:rPr lang="en-US" sz="1800" spc="-40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requests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for</a:t>
            </a:r>
            <a:r>
              <a:rPr lang="en-US" sz="1800" spc="-6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regions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of</a:t>
            </a:r>
            <a:r>
              <a:rPr lang="en-US" sz="1800" spc="-55" dirty="0">
                <a:latin typeface="Calibri"/>
                <a:cs typeface="Calibri"/>
              </a:rPr>
              <a:t> </a:t>
            </a:r>
            <a:r>
              <a:rPr lang="en-US" sz="1800" spc="-25" dirty="0">
                <a:latin typeface="Calibri"/>
                <a:cs typeface="Calibri"/>
              </a:rPr>
              <a:t>the</a:t>
            </a:r>
            <a:endParaRPr lang="en-US" sz="1800" dirty="0">
              <a:latin typeface="Calibri"/>
              <a:cs typeface="Calibri"/>
            </a:endParaRPr>
          </a:p>
          <a:p>
            <a:pPr marL="756285">
              <a:lnSpc>
                <a:spcPts val="2050"/>
              </a:lnSpc>
            </a:pPr>
            <a:r>
              <a:rPr lang="en-US" sz="1800" spc="-10" dirty="0">
                <a:latin typeface="Calibri"/>
                <a:cs typeface="Calibri"/>
              </a:rPr>
              <a:t>database.</a:t>
            </a:r>
            <a:endParaRPr lang="en-US" sz="18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90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800" b="1" spc="-10" dirty="0" err="1">
                <a:latin typeface="Calibri"/>
                <a:cs typeface="Calibri"/>
              </a:rPr>
              <a:t>ZooKeeper</a:t>
            </a:r>
            <a:r>
              <a:rPr lang="en-US" sz="1800" spc="-10" dirty="0">
                <a:latin typeface="Calibri"/>
                <a:cs typeface="Calibri"/>
              </a:rPr>
              <a:t>:</a:t>
            </a:r>
            <a:r>
              <a:rPr lang="en-US" sz="1800" spc="-9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Manages</a:t>
            </a:r>
            <a:r>
              <a:rPr lang="en-US" sz="1800" spc="-85" dirty="0">
                <a:latin typeface="Calibri"/>
                <a:cs typeface="Calibri"/>
              </a:rPr>
              <a:t> </a:t>
            </a:r>
            <a:r>
              <a:rPr lang="en-US" sz="1800" dirty="0">
                <a:latin typeface="Calibri"/>
                <a:cs typeface="Calibri"/>
              </a:rPr>
              <a:t>distributed</a:t>
            </a:r>
            <a:r>
              <a:rPr lang="en-US" sz="1800" spc="-60" dirty="0">
                <a:latin typeface="Calibri"/>
                <a:cs typeface="Calibri"/>
              </a:rPr>
              <a:t> </a:t>
            </a:r>
            <a:r>
              <a:rPr lang="en-US" sz="1800" spc="-10" dirty="0">
                <a:latin typeface="Calibri"/>
                <a:cs typeface="Calibri"/>
              </a:rPr>
              <a:t>coordination.</a:t>
            </a:r>
            <a:endParaRPr lang="en-US" sz="1800" dirty="0">
              <a:latin typeface="Calibri"/>
              <a:cs typeface="Calibri"/>
            </a:endParaRPr>
          </a:p>
          <a:p>
            <a:pPr marL="241300" marR="40640" indent="-229235">
              <a:lnSpc>
                <a:spcPts val="2160"/>
              </a:lnSpc>
              <a:spcBef>
                <a:spcPts val="102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Use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Cases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20" dirty="0">
                <a:solidFill>
                  <a:srgbClr val="FF0000"/>
                </a:solidFill>
                <a:latin typeface="Calibri"/>
                <a:cs typeface="Calibri"/>
              </a:rPr>
              <a:t>Real-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time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read/write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big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suitable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large-</a:t>
            </a:r>
            <a:r>
              <a:rPr lang="en-US" sz="2000" dirty="0">
                <a:latin typeface="Calibri"/>
                <a:cs typeface="Calibri"/>
              </a:rPr>
              <a:t>scale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storage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396760" y="823934"/>
            <a:ext cx="1223540" cy="72052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67960" y="2172032"/>
            <a:ext cx="3930375" cy="26645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9430004" y="6669430"/>
            <a:ext cx="2536825" cy="1479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libri"/>
                <a:cs typeface="Calibri"/>
                <a:hlinkClick r:id="rId4"/>
              </a:rPr>
              <a:t>https://www.scaler.com/topics/hadoop/hbase-architecture/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1691716"/>
            <a:ext cx="6438265" cy="321242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241300" marR="447675" indent="-229235">
              <a:lnSpc>
                <a:spcPct val="90000"/>
              </a:lnSpc>
              <a:spcBef>
                <a:spcPts val="345"/>
              </a:spcBef>
              <a:buFont typeface="Arial MT"/>
              <a:buChar char="•"/>
              <a:tabLst>
                <a:tab pos="241300" algn="l"/>
              </a:tabLst>
            </a:pPr>
            <a:endParaRPr lang="en-US"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Key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Features</a:t>
            </a:r>
            <a:r>
              <a:rPr sz="2800" spc="-7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8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HBase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4582C4-228C-E54E-39F2-0BC2E25DF3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5892489" cy="4991039"/>
          </a:xfrm>
        </p:spPr>
        <p:txBody>
          <a:bodyPr/>
          <a:lstStyle/>
          <a:p>
            <a:pPr marL="241300" marR="152400" indent="-229235">
              <a:lnSpc>
                <a:spcPct val="80000"/>
              </a:lnSpc>
              <a:spcBef>
                <a:spcPts val="55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20" dirty="0">
                <a:latin typeface="Calibri"/>
                <a:cs typeface="Calibri"/>
              </a:rPr>
              <a:t>Column-</a:t>
            </a:r>
            <a:r>
              <a:rPr lang="en-US" sz="2000" b="1" dirty="0">
                <a:latin typeface="Calibri"/>
                <a:cs typeface="Calibri"/>
              </a:rPr>
              <a:t>Oriented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Storage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HBase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stores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column-</a:t>
            </a:r>
            <a:r>
              <a:rPr lang="en-US" sz="2000" dirty="0">
                <a:latin typeface="Calibri"/>
                <a:cs typeface="Calibri"/>
              </a:rPr>
              <a:t>family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format,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efficient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querying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specific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columns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massive datasets.</a:t>
            </a:r>
            <a:endParaRPr lang="en-US" sz="2000" dirty="0">
              <a:latin typeface="Calibri"/>
              <a:cs typeface="Calibri"/>
            </a:endParaRPr>
          </a:p>
          <a:p>
            <a:pPr marL="241300" marR="218440" indent="-229235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20" dirty="0">
                <a:latin typeface="Calibri"/>
                <a:cs typeface="Calibri"/>
              </a:rPr>
              <a:t>Real-</a:t>
            </a:r>
            <a:r>
              <a:rPr lang="en-US" sz="2000" b="1" dirty="0">
                <a:latin typeface="Calibri"/>
                <a:cs typeface="Calibri"/>
              </a:rPr>
              <a:t>Time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Read/Write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Unlike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is </a:t>
            </a:r>
            <a:r>
              <a:rPr lang="en-US" sz="2000" spc="-10" dirty="0">
                <a:latin typeface="Calibri"/>
                <a:cs typeface="Calibri"/>
              </a:rPr>
              <a:t>optimized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9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batch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processing,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HBase </a:t>
            </a:r>
            <a:r>
              <a:rPr lang="en-US" sz="2000" dirty="0">
                <a:latin typeface="Calibri"/>
                <a:cs typeface="Calibri"/>
              </a:rPr>
              <a:t>supports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CRUD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(Create,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Read, </a:t>
            </a:r>
            <a:r>
              <a:rPr lang="en-US" sz="2000" dirty="0">
                <a:latin typeface="Calibri"/>
                <a:cs typeface="Calibri"/>
              </a:rPr>
              <a:t>Update,</a:t>
            </a:r>
            <a:r>
              <a:rPr lang="en-US" sz="2000" spc="-8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Delete)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operations.</a:t>
            </a:r>
            <a:endParaRPr lang="en-US" sz="2000" dirty="0">
              <a:latin typeface="Calibri"/>
              <a:cs typeface="Calibri"/>
            </a:endParaRPr>
          </a:p>
          <a:p>
            <a:pPr marL="239395" marR="386715" indent="-227329" algn="just">
              <a:lnSpc>
                <a:spcPct val="80000"/>
              </a:lnSpc>
              <a:spcBef>
                <a:spcPts val="100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Scalability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HBase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scale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horizontally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by 	</a:t>
            </a:r>
            <a:r>
              <a:rPr lang="en-US" sz="2000" dirty="0">
                <a:latin typeface="Calibri"/>
                <a:cs typeface="Calibri"/>
              </a:rPr>
              <a:t>adding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nodes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30" dirty="0">
                <a:latin typeface="Calibri"/>
                <a:cs typeface="Calibri"/>
              </a:rPr>
              <a:t>cluster, </a:t>
            </a:r>
            <a:r>
              <a:rPr lang="en-US" sz="2000" spc="-10" dirty="0">
                <a:latin typeface="Calibri"/>
                <a:cs typeface="Calibri"/>
              </a:rPr>
              <a:t>handling 	petabytes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data.</a:t>
            </a:r>
            <a:endParaRPr lang="en-US" sz="2000" dirty="0">
              <a:latin typeface="Calibri"/>
              <a:cs typeface="Calibri"/>
            </a:endParaRPr>
          </a:p>
          <a:p>
            <a:pPr marL="241300" marR="34925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Strong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Consistency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Ensures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data</a:t>
            </a:r>
            <a:r>
              <a:rPr lang="en-US" sz="2000" spc="50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reflect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most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recent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writes,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is </a:t>
            </a:r>
            <a:r>
              <a:rPr lang="en-US" sz="2000" dirty="0">
                <a:latin typeface="Calibri"/>
                <a:cs typeface="Calibri"/>
              </a:rPr>
              <a:t>vital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requiring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accurate,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up-</a:t>
            </a:r>
            <a:r>
              <a:rPr lang="en-US" sz="2000" spc="-25" dirty="0">
                <a:latin typeface="Calibri"/>
                <a:cs typeface="Calibri"/>
              </a:rPr>
              <a:t>to- </a:t>
            </a:r>
            <a:r>
              <a:rPr lang="en-US" sz="2000" dirty="0">
                <a:latin typeface="Calibri"/>
                <a:cs typeface="Calibri"/>
              </a:rPr>
              <a:t>date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information.</a:t>
            </a:r>
            <a:endParaRPr lang="en-US" sz="2000" dirty="0">
              <a:latin typeface="Calibri"/>
              <a:cs typeface="Calibri"/>
            </a:endParaRPr>
          </a:p>
          <a:p>
            <a:pPr marL="241300" marR="5080" indent="-229235">
              <a:lnSpc>
                <a:spcPct val="8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Integration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with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Hadoop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HBase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stores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in </a:t>
            </a:r>
            <a:r>
              <a:rPr lang="en-US" sz="2000" dirty="0">
                <a:latin typeface="Calibri"/>
                <a:cs typeface="Calibri"/>
              </a:rPr>
              <a:t>HDFS,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meaning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leverage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fault- tolerance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scalability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features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Hadoop.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76574" y="910306"/>
            <a:ext cx="5164794" cy="588997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Spark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F4277E2-2BAC-D76F-20C6-A50B542D2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048259" cy="4991039"/>
          </a:xfrm>
        </p:spPr>
        <p:txBody>
          <a:bodyPr>
            <a:normAutofit fontScale="92500" lnSpcReduction="10000"/>
          </a:bodyPr>
          <a:lstStyle/>
          <a:p>
            <a:pPr marL="241300" marR="306070" indent="-229235">
              <a:lnSpc>
                <a:spcPct val="70000"/>
              </a:lnSpc>
              <a:spcBef>
                <a:spcPts val="7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700" dirty="0">
                <a:latin typeface="Calibri"/>
                <a:cs typeface="Calibri"/>
              </a:rPr>
              <a:t>Apache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Spark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is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an</a:t>
            </a:r>
            <a:r>
              <a:rPr lang="en-US" sz="1700" spc="-2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open-</a:t>
            </a:r>
            <a:r>
              <a:rPr lang="en-US" sz="1700" dirty="0">
                <a:latin typeface="Calibri"/>
                <a:cs typeface="Calibri"/>
              </a:rPr>
              <a:t>source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distributed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processing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engine </a:t>
            </a:r>
            <a:r>
              <a:rPr lang="en-US" sz="1700" dirty="0">
                <a:latin typeface="Calibri"/>
                <a:cs typeface="Calibri"/>
              </a:rPr>
              <a:t>optimized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for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large-</a:t>
            </a:r>
            <a:r>
              <a:rPr lang="en-US" sz="1700" dirty="0">
                <a:latin typeface="Calibri"/>
                <a:cs typeface="Calibri"/>
              </a:rPr>
              <a:t>scale</a:t>
            </a:r>
            <a:r>
              <a:rPr lang="en-US" sz="1700" spc="-7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processing.</a:t>
            </a:r>
            <a:endParaRPr lang="en-US" sz="1700" dirty="0">
              <a:latin typeface="Calibri"/>
              <a:cs typeface="Calibri"/>
            </a:endParaRPr>
          </a:p>
          <a:p>
            <a:pPr marL="241300" marR="63500" indent="-229235">
              <a:lnSpc>
                <a:spcPct val="70000"/>
              </a:lnSpc>
              <a:spcBef>
                <a:spcPts val="10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700" b="1" spc="-10" dirty="0">
                <a:latin typeface="Calibri"/>
                <a:cs typeface="Calibri"/>
              </a:rPr>
              <a:t>In-</a:t>
            </a:r>
            <a:r>
              <a:rPr lang="en-US" sz="1700" b="1" dirty="0">
                <a:latin typeface="Calibri"/>
                <a:cs typeface="Calibri"/>
              </a:rPr>
              <a:t>Memory</a:t>
            </a:r>
            <a:r>
              <a:rPr lang="en-US" sz="1700" b="1" spc="-50" dirty="0">
                <a:latin typeface="Calibri"/>
                <a:cs typeface="Calibri"/>
              </a:rPr>
              <a:t> </a:t>
            </a:r>
            <a:r>
              <a:rPr lang="en-US" sz="1700" b="1" dirty="0">
                <a:latin typeface="Calibri"/>
                <a:cs typeface="Calibri"/>
              </a:rPr>
              <a:t>Processing</a:t>
            </a:r>
            <a:r>
              <a:rPr lang="en-US" sz="1700" dirty="0">
                <a:latin typeface="Calibri"/>
                <a:cs typeface="Calibri"/>
              </a:rPr>
              <a:t>:</a:t>
            </a:r>
            <a:r>
              <a:rPr lang="en-US" sz="1700" spc="-7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Spark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keeps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in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memory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between transformations,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speeding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up</a:t>
            </a:r>
            <a:r>
              <a:rPr lang="en-US" sz="1700" spc="-2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processing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times</a:t>
            </a:r>
            <a:r>
              <a:rPr lang="en-US" sz="1700" spc="-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significantly</a:t>
            </a:r>
            <a:r>
              <a:rPr lang="en-US" sz="1700" spc="-2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compared </a:t>
            </a:r>
            <a:r>
              <a:rPr lang="en-US" sz="1700" dirty="0">
                <a:latin typeface="Calibri"/>
                <a:cs typeface="Calibri"/>
              </a:rPr>
              <a:t>to</a:t>
            </a:r>
            <a:r>
              <a:rPr lang="en-US" sz="1700" spc="-1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disk-</a:t>
            </a:r>
            <a:r>
              <a:rPr lang="en-US" sz="1700" dirty="0">
                <a:latin typeface="Calibri"/>
                <a:cs typeface="Calibri"/>
              </a:rPr>
              <a:t>based</a:t>
            </a:r>
            <a:r>
              <a:rPr lang="en-US" sz="1700" spc="-10" dirty="0">
                <a:latin typeface="Calibri"/>
                <a:cs typeface="Calibri"/>
              </a:rPr>
              <a:t> MapReduce.</a:t>
            </a:r>
            <a:endParaRPr lang="en-US" sz="1700" dirty="0">
              <a:latin typeface="Calibri"/>
              <a:cs typeface="Calibri"/>
            </a:endParaRPr>
          </a:p>
          <a:p>
            <a:pPr marL="241300" marR="104139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700" dirty="0">
                <a:latin typeface="Calibri"/>
                <a:cs typeface="Calibri"/>
              </a:rPr>
              <a:t>Unlike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Hadoop's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MapReduce,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Spark</a:t>
            </a:r>
            <a:r>
              <a:rPr lang="en-US" sz="1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lang="en-US" sz="1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17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for</a:t>
            </a:r>
            <a:r>
              <a:rPr lang="en-US" sz="17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speed</a:t>
            </a:r>
            <a:r>
              <a:rPr lang="en-US" sz="1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7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ease</a:t>
            </a:r>
            <a:r>
              <a:rPr lang="en-US" sz="1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spc="-25" dirty="0">
                <a:solidFill>
                  <a:srgbClr val="FF0000"/>
                </a:solidFill>
                <a:latin typeface="Calibri"/>
                <a:cs typeface="Calibri"/>
              </a:rPr>
              <a:t>of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use,</a:t>
            </a:r>
            <a:r>
              <a:rPr lang="en-US" sz="17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handling</a:t>
            </a:r>
            <a:r>
              <a:rPr lang="en-US" sz="17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both</a:t>
            </a:r>
            <a:r>
              <a:rPr lang="en-US" sz="17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batch</a:t>
            </a:r>
            <a:r>
              <a:rPr lang="en-US" sz="1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7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alibri"/>
                <a:cs typeface="Calibri"/>
              </a:rPr>
              <a:t>real-time</a:t>
            </a:r>
            <a:r>
              <a:rPr lang="en-US" sz="17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700" spc="-10" dirty="0">
                <a:solidFill>
                  <a:srgbClr val="FF0000"/>
                </a:solidFill>
                <a:latin typeface="Calibri"/>
                <a:cs typeface="Calibri"/>
              </a:rPr>
              <a:t>processing</a:t>
            </a:r>
            <a:r>
              <a:rPr lang="en-US" sz="1700" spc="-10" dirty="0">
                <a:latin typeface="Calibri"/>
                <a:cs typeface="Calibri"/>
              </a:rPr>
              <a:t>.</a:t>
            </a:r>
            <a:endParaRPr lang="en-US" sz="1700" dirty="0">
              <a:latin typeface="Calibri"/>
              <a:cs typeface="Calibri"/>
            </a:endParaRPr>
          </a:p>
          <a:p>
            <a:pPr marL="241300" marR="508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700" dirty="0">
                <a:latin typeface="Calibri"/>
                <a:cs typeface="Calibri"/>
              </a:rPr>
              <a:t>Spark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offers</a:t>
            </a:r>
            <a:r>
              <a:rPr lang="en-US" sz="1700" spc="-2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APIs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for</a:t>
            </a:r>
            <a:r>
              <a:rPr lang="en-US" sz="1700" spc="-2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various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languages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(Java,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Scala,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Python,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R)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spc="-25" dirty="0">
                <a:latin typeface="Calibri"/>
                <a:cs typeface="Calibri"/>
              </a:rPr>
              <a:t>and </a:t>
            </a:r>
            <a:r>
              <a:rPr lang="en-US" sz="1700" dirty="0">
                <a:latin typeface="Calibri"/>
                <a:cs typeface="Calibri"/>
              </a:rPr>
              <a:t>includes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libraries</a:t>
            </a:r>
            <a:r>
              <a:rPr lang="en-US" sz="1700" spc="-6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for</a:t>
            </a:r>
            <a:r>
              <a:rPr lang="en-US" sz="1700" spc="-2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SQL,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machine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learning,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streaming,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and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graph processing,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making</a:t>
            </a:r>
            <a:r>
              <a:rPr lang="en-US" sz="1700" spc="-2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it</a:t>
            </a:r>
            <a:r>
              <a:rPr lang="en-US" sz="1700" spc="-1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versatile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for</a:t>
            </a:r>
            <a:r>
              <a:rPr lang="en-US" sz="1700" spc="-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big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2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and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machine</a:t>
            </a:r>
            <a:r>
              <a:rPr lang="en-US" sz="1700" spc="-3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learning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tasks.</a:t>
            </a:r>
            <a:endParaRPr lang="en-US" sz="1700" dirty="0">
              <a:latin typeface="Calibri"/>
              <a:cs typeface="Calibri"/>
            </a:endParaRPr>
          </a:p>
          <a:p>
            <a:pPr marL="241300" indent="-228600">
              <a:lnSpc>
                <a:spcPts val="2020"/>
              </a:lnSpc>
              <a:spcBef>
                <a:spcPts val="3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700" dirty="0">
                <a:latin typeface="Calibri"/>
                <a:cs typeface="Calibri"/>
              </a:rPr>
              <a:t>Core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Components:</a:t>
            </a:r>
            <a:endParaRPr lang="en-US" sz="1700" dirty="0">
              <a:latin typeface="Calibri"/>
              <a:cs typeface="Calibri"/>
            </a:endParaRPr>
          </a:p>
          <a:p>
            <a:pPr marL="812800" lvl="1" indent="-342900">
              <a:lnSpc>
                <a:spcPts val="1510"/>
              </a:lnSpc>
              <a:buAutoNum type="arabicPeriod"/>
              <a:tabLst>
                <a:tab pos="812800" algn="l"/>
              </a:tabLst>
            </a:pP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Spark</a:t>
            </a:r>
            <a:r>
              <a:rPr lang="en-US" sz="15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Core:</a:t>
            </a:r>
            <a:r>
              <a:rPr lang="en-US" sz="1500" b="1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The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foundation</a:t>
            </a:r>
            <a:r>
              <a:rPr lang="en-US" sz="1500" spc="-5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for</a:t>
            </a:r>
            <a:r>
              <a:rPr lang="en-US" sz="1500" spc="-1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Spark’s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API,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handling</a:t>
            </a:r>
            <a:r>
              <a:rPr lang="en-US" sz="1500" spc="-6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basic</a:t>
            </a:r>
            <a:r>
              <a:rPr lang="en-US" sz="1500" spc="-25" dirty="0">
                <a:latin typeface="Calibri"/>
                <a:cs typeface="Calibri"/>
              </a:rPr>
              <a:t> </a:t>
            </a:r>
            <a:r>
              <a:rPr lang="en-US" sz="1500" spc="-20" dirty="0">
                <a:latin typeface="Calibri"/>
                <a:cs typeface="Calibri"/>
              </a:rPr>
              <a:t>data</a:t>
            </a:r>
            <a:endParaRPr lang="en-US" sz="1500" dirty="0">
              <a:latin typeface="Calibri"/>
              <a:cs typeface="Calibri"/>
            </a:endParaRPr>
          </a:p>
          <a:p>
            <a:pPr marL="812800">
              <a:lnSpc>
                <a:spcPts val="1505"/>
              </a:lnSpc>
            </a:pPr>
            <a:r>
              <a:rPr lang="en-US" sz="1500" dirty="0">
                <a:latin typeface="Calibri"/>
                <a:cs typeface="Calibri"/>
              </a:rPr>
              <a:t>processing</a:t>
            </a:r>
            <a:r>
              <a:rPr lang="en-US" sz="1500" spc="-5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and</a:t>
            </a:r>
            <a:r>
              <a:rPr lang="en-US" sz="1500" spc="-5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distributing</a:t>
            </a:r>
            <a:r>
              <a:rPr lang="en-US" sz="1500" spc="-7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tasks</a:t>
            </a:r>
            <a:r>
              <a:rPr lang="en-US" sz="1500" spc="-5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across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the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cluster.</a:t>
            </a:r>
            <a:endParaRPr lang="en-US" sz="1500" dirty="0">
              <a:latin typeface="Calibri"/>
              <a:cs typeface="Calibri"/>
            </a:endParaRPr>
          </a:p>
          <a:p>
            <a:pPr marL="812800" marR="585470" lvl="1" indent="-342900">
              <a:lnSpc>
                <a:spcPct val="70000"/>
              </a:lnSpc>
              <a:spcBef>
                <a:spcPts val="515"/>
              </a:spcBef>
              <a:buAutoNum type="arabicPeriod" startAt="2"/>
              <a:tabLst>
                <a:tab pos="812800" algn="l"/>
              </a:tabLst>
            </a:pP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Spark</a:t>
            </a:r>
            <a:r>
              <a:rPr lang="en-US" sz="1500" b="1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SQL:</a:t>
            </a:r>
            <a:r>
              <a:rPr lang="en-US" sz="15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Enables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SQL-</a:t>
            </a:r>
            <a:r>
              <a:rPr lang="en-US" sz="1500" dirty="0">
                <a:latin typeface="Calibri"/>
                <a:cs typeface="Calibri"/>
              </a:rPr>
              <a:t>like</a:t>
            </a:r>
            <a:r>
              <a:rPr lang="en-US" sz="1500" spc="-2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queries</a:t>
            </a:r>
            <a:r>
              <a:rPr lang="en-US" sz="1500" spc="-3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on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data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stored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in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distributed </a:t>
            </a:r>
            <a:r>
              <a:rPr lang="en-US" sz="1500" dirty="0">
                <a:latin typeface="Calibri"/>
                <a:cs typeface="Calibri"/>
              </a:rPr>
              <a:t>datasets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(</a:t>
            </a:r>
            <a:r>
              <a:rPr lang="en-US" sz="1500" spc="-10" dirty="0" err="1">
                <a:latin typeface="Calibri"/>
                <a:cs typeface="Calibri"/>
              </a:rPr>
              <a:t>DataFrames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and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Datasets).</a:t>
            </a:r>
            <a:endParaRPr lang="en-US" sz="1500" dirty="0">
              <a:latin typeface="Calibri"/>
              <a:cs typeface="Calibri"/>
            </a:endParaRPr>
          </a:p>
          <a:p>
            <a:pPr marL="812800" marR="83820" lvl="1" indent="-342900">
              <a:lnSpc>
                <a:spcPct val="70000"/>
              </a:lnSpc>
              <a:spcBef>
                <a:spcPts val="509"/>
              </a:spcBef>
              <a:buAutoNum type="arabicPeriod" startAt="2"/>
              <a:tabLst>
                <a:tab pos="812800" algn="l"/>
              </a:tabLst>
            </a:pP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Spark</a:t>
            </a:r>
            <a:r>
              <a:rPr lang="en-US" sz="1500" b="1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Streaming:</a:t>
            </a:r>
            <a:r>
              <a:rPr lang="en-US" sz="15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Allows</a:t>
            </a:r>
            <a:r>
              <a:rPr lang="en-US" sz="1500" spc="-3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processing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of</a:t>
            </a:r>
            <a:r>
              <a:rPr lang="en-US" sz="1500" spc="-35" dirty="0">
                <a:latin typeface="Calibri"/>
                <a:cs typeface="Calibri"/>
              </a:rPr>
              <a:t> </a:t>
            </a:r>
            <a:r>
              <a:rPr lang="en-US" sz="1500" spc="-20" dirty="0">
                <a:latin typeface="Calibri"/>
                <a:cs typeface="Calibri"/>
              </a:rPr>
              <a:t>real-</a:t>
            </a:r>
            <a:r>
              <a:rPr lang="en-US" sz="1500" dirty="0">
                <a:latin typeface="Calibri"/>
                <a:cs typeface="Calibri"/>
              </a:rPr>
              <a:t>time</a:t>
            </a:r>
            <a:r>
              <a:rPr lang="en-US" sz="1500" spc="-2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data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streams,</a:t>
            </a:r>
            <a:r>
              <a:rPr lang="en-US" sz="1500" spc="-5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enabling </a:t>
            </a:r>
            <a:r>
              <a:rPr lang="en-US" sz="1500" dirty="0">
                <a:latin typeface="Calibri"/>
                <a:cs typeface="Calibri"/>
              </a:rPr>
              <a:t>near</a:t>
            </a:r>
            <a:r>
              <a:rPr lang="en-US" sz="1500" spc="-10" dirty="0">
                <a:latin typeface="Calibri"/>
                <a:cs typeface="Calibri"/>
              </a:rPr>
              <a:t> </a:t>
            </a:r>
            <a:r>
              <a:rPr lang="en-US" sz="1500" spc="-20" dirty="0">
                <a:latin typeface="Calibri"/>
                <a:cs typeface="Calibri"/>
              </a:rPr>
              <a:t>real-</a:t>
            </a:r>
            <a:r>
              <a:rPr lang="en-US" sz="1500" dirty="0">
                <a:latin typeface="Calibri"/>
                <a:cs typeface="Calibri"/>
              </a:rPr>
              <a:t>time</a:t>
            </a:r>
            <a:r>
              <a:rPr lang="en-US" sz="1500" spc="1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analytics.</a:t>
            </a:r>
            <a:endParaRPr lang="en-US" sz="1500" dirty="0">
              <a:latin typeface="Calibri"/>
              <a:cs typeface="Calibri"/>
            </a:endParaRPr>
          </a:p>
          <a:p>
            <a:pPr marL="812800" lvl="1" indent="-342900">
              <a:lnSpc>
                <a:spcPts val="1495"/>
              </a:lnSpc>
              <a:buAutoNum type="arabicPeriod" startAt="2"/>
              <a:tabLst>
                <a:tab pos="812800" algn="l"/>
              </a:tabLst>
            </a:pPr>
            <a:r>
              <a:rPr lang="en-US" sz="1500" b="1" dirty="0" err="1">
                <a:solidFill>
                  <a:srgbClr val="FF0000"/>
                </a:solidFill>
                <a:latin typeface="Calibri"/>
                <a:cs typeface="Calibri"/>
              </a:rPr>
              <a:t>MLlib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lang="en-US" sz="15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Spark’s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machine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learning</a:t>
            </a:r>
            <a:r>
              <a:rPr lang="en-US" sz="1500" spc="-55" dirty="0">
                <a:latin typeface="Calibri"/>
                <a:cs typeface="Calibri"/>
              </a:rPr>
              <a:t> </a:t>
            </a:r>
            <a:r>
              <a:rPr lang="en-US" sz="1500" spc="-20" dirty="0">
                <a:latin typeface="Calibri"/>
                <a:cs typeface="Calibri"/>
              </a:rPr>
              <a:t>library,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offering</a:t>
            </a:r>
            <a:r>
              <a:rPr lang="en-US" sz="1500" spc="-2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tools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for</a:t>
            </a:r>
            <a:r>
              <a:rPr lang="en-US" sz="1500" spc="-2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scalable</a:t>
            </a:r>
            <a:endParaRPr lang="en-US" sz="1500" dirty="0">
              <a:latin typeface="Calibri"/>
              <a:cs typeface="Calibri"/>
            </a:endParaRPr>
          </a:p>
          <a:p>
            <a:pPr marL="812800">
              <a:lnSpc>
                <a:spcPts val="1505"/>
              </a:lnSpc>
            </a:pPr>
            <a:r>
              <a:rPr lang="en-US" sz="1500" dirty="0">
                <a:latin typeface="Calibri"/>
                <a:cs typeface="Calibri"/>
              </a:rPr>
              <a:t>machine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learning.</a:t>
            </a:r>
            <a:endParaRPr lang="en-US" sz="1500" dirty="0">
              <a:latin typeface="Calibri"/>
              <a:cs typeface="Calibri"/>
            </a:endParaRPr>
          </a:p>
          <a:p>
            <a:pPr marL="812800" lvl="1" indent="-342900">
              <a:lnSpc>
                <a:spcPts val="1775"/>
              </a:lnSpc>
              <a:buAutoNum type="arabicPeriod" startAt="5"/>
              <a:tabLst>
                <a:tab pos="812800" algn="l"/>
              </a:tabLst>
            </a:pPr>
            <a:r>
              <a:rPr lang="en-US" sz="1500" b="1" dirty="0" err="1">
                <a:solidFill>
                  <a:srgbClr val="FF0000"/>
                </a:solidFill>
                <a:latin typeface="Calibri"/>
                <a:cs typeface="Calibri"/>
              </a:rPr>
              <a:t>GraphX</a:t>
            </a:r>
            <a:r>
              <a:rPr lang="en-US" sz="1500" b="1" dirty="0">
                <a:solidFill>
                  <a:srgbClr val="FF0000"/>
                </a:solidFill>
                <a:latin typeface="Calibri"/>
                <a:cs typeface="Calibri"/>
              </a:rPr>
              <a:t>:</a:t>
            </a:r>
            <a:r>
              <a:rPr lang="en-US" sz="1500" b="1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A</a:t>
            </a:r>
            <a:r>
              <a:rPr lang="en-US" sz="1500" spc="-3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graph</a:t>
            </a:r>
            <a:r>
              <a:rPr lang="en-US" sz="1500" spc="-5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processing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library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for</a:t>
            </a:r>
            <a:r>
              <a:rPr lang="en-US" sz="1500" spc="-30" dirty="0">
                <a:latin typeface="Calibri"/>
                <a:cs typeface="Calibri"/>
              </a:rPr>
              <a:t> </a:t>
            </a:r>
            <a:r>
              <a:rPr lang="en-US" sz="1500" spc="-20" dirty="0">
                <a:latin typeface="Calibri"/>
                <a:cs typeface="Calibri"/>
              </a:rPr>
              <a:t>large-</a:t>
            </a:r>
            <a:r>
              <a:rPr lang="en-US" sz="1500" dirty="0">
                <a:latin typeface="Calibri"/>
                <a:cs typeface="Calibri"/>
              </a:rPr>
              <a:t>scale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graph</a:t>
            </a:r>
            <a:r>
              <a:rPr lang="en-US" sz="1500" spc="-5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computations.</a:t>
            </a:r>
            <a:endParaRPr lang="en-US" sz="1500" dirty="0">
              <a:latin typeface="Calibri"/>
              <a:cs typeface="Calibri"/>
            </a:endParaRPr>
          </a:p>
          <a:p>
            <a:pPr marL="469900">
              <a:lnSpc>
                <a:spcPts val="1530"/>
              </a:lnSpc>
              <a:spcBef>
                <a:spcPts val="1725"/>
              </a:spcBef>
            </a:pPr>
            <a:r>
              <a:rPr lang="en-US" sz="1500" b="1" dirty="0">
                <a:latin typeface="Calibri"/>
                <a:cs typeface="Calibri"/>
              </a:rPr>
              <a:t>Use</a:t>
            </a:r>
            <a:r>
              <a:rPr lang="en-US" sz="1500" b="1" spc="-45" dirty="0">
                <a:latin typeface="Calibri"/>
                <a:cs typeface="Calibri"/>
              </a:rPr>
              <a:t> </a:t>
            </a:r>
            <a:r>
              <a:rPr lang="en-US" sz="1500" b="1" dirty="0">
                <a:latin typeface="Calibri"/>
                <a:cs typeface="Calibri"/>
              </a:rPr>
              <a:t>Cases</a:t>
            </a:r>
            <a:r>
              <a:rPr lang="en-US" sz="1500" dirty="0">
                <a:latin typeface="Calibri"/>
                <a:cs typeface="Calibri"/>
              </a:rPr>
              <a:t>:</a:t>
            </a:r>
            <a:r>
              <a:rPr lang="en-US" sz="1500" spc="-3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Batch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processing,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real-</a:t>
            </a:r>
            <a:r>
              <a:rPr lang="en-US" sz="1500" dirty="0">
                <a:latin typeface="Calibri"/>
                <a:cs typeface="Calibri"/>
              </a:rPr>
              <a:t>time</a:t>
            </a:r>
            <a:r>
              <a:rPr lang="en-US" sz="1500" spc="-2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data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streams,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machine</a:t>
            </a:r>
            <a:r>
              <a:rPr lang="en-US" sz="1500" spc="-40" dirty="0">
                <a:latin typeface="Calibri"/>
                <a:cs typeface="Calibri"/>
              </a:rPr>
              <a:t> </a:t>
            </a:r>
            <a:r>
              <a:rPr lang="en-US" sz="1500" dirty="0">
                <a:latin typeface="Calibri"/>
                <a:cs typeface="Calibri"/>
              </a:rPr>
              <a:t>learning,</a:t>
            </a:r>
            <a:r>
              <a:rPr lang="en-US" sz="1500" spc="-45" dirty="0">
                <a:latin typeface="Calibri"/>
                <a:cs typeface="Calibri"/>
              </a:rPr>
              <a:t> </a:t>
            </a:r>
            <a:r>
              <a:rPr lang="en-US" sz="1500" spc="-25" dirty="0">
                <a:latin typeface="Calibri"/>
                <a:cs typeface="Calibri"/>
              </a:rPr>
              <a:t>and</a:t>
            </a:r>
            <a:endParaRPr lang="en-US" sz="1500" dirty="0">
              <a:latin typeface="Calibri"/>
              <a:cs typeface="Calibri"/>
            </a:endParaRPr>
          </a:p>
          <a:p>
            <a:pPr marL="469900">
              <a:lnSpc>
                <a:spcPts val="1530"/>
              </a:lnSpc>
            </a:pPr>
            <a:r>
              <a:rPr lang="en-US" sz="1500" dirty="0">
                <a:latin typeface="Calibri"/>
                <a:cs typeface="Calibri"/>
              </a:rPr>
              <a:t>graph</a:t>
            </a:r>
            <a:r>
              <a:rPr lang="en-US" sz="1500" spc="-70" dirty="0">
                <a:latin typeface="Calibri"/>
                <a:cs typeface="Calibri"/>
              </a:rPr>
              <a:t> </a:t>
            </a:r>
            <a:r>
              <a:rPr lang="en-US" sz="1500" spc="-10" dirty="0">
                <a:latin typeface="Calibri"/>
                <a:cs typeface="Calibri"/>
              </a:rPr>
              <a:t>processing.</a:t>
            </a:r>
            <a:endParaRPr lang="en-US" sz="15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018967" y="754815"/>
            <a:ext cx="1106272" cy="5838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2752" y="4202722"/>
            <a:ext cx="4446428" cy="164662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772042" y="2197287"/>
            <a:ext cx="3957657" cy="146853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Basic</a:t>
            </a:r>
            <a:r>
              <a:rPr sz="2800" spc="-114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Spark</a:t>
            </a:r>
            <a:r>
              <a:rPr sz="2800" spc="-114" dirty="0">
                <a:solidFill>
                  <a:srgbClr val="FFFFFF"/>
                </a:solidFill>
              </a:rPr>
              <a:t> </a:t>
            </a:r>
            <a:r>
              <a:rPr sz="2800" spc="-25" dirty="0">
                <a:solidFill>
                  <a:srgbClr val="FFFFFF"/>
                </a:solidFill>
              </a:rPr>
              <a:t>Example: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-50" dirty="0">
                <a:solidFill>
                  <a:srgbClr val="FFFFFF"/>
                </a:solidFill>
              </a:rPr>
              <a:t>Word</a:t>
            </a:r>
            <a:r>
              <a:rPr sz="2800" spc="-105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Count</a:t>
            </a:r>
            <a:r>
              <a:rPr sz="2800" spc="-11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in</a:t>
            </a:r>
            <a:r>
              <a:rPr sz="2800" spc="-9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PySpark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57452C-73BF-8326-CB44-7681D730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5701224" cy="49910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Calibri"/>
                <a:cs typeface="Calibri"/>
              </a:rPr>
              <a:t>This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example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demonstrates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the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classic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word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count </a:t>
            </a:r>
            <a:r>
              <a:rPr lang="en-US" sz="1600" dirty="0">
                <a:latin typeface="Calibri"/>
                <a:cs typeface="Calibri"/>
              </a:rPr>
              <a:t>problem,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showing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how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easy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it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to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implement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Spark.</a:t>
            </a:r>
            <a:endParaRPr lang="en-US" sz="1600" dirty="0">
              <a:latin typeface="Calibri"/>
              <a:cs typeface="Calibri"/>
            </a:endParaRPr>
          </a:p>
          <a:p>
            <a:endParaRPr lang="en-US" sz="1600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1173" y="2303427"/>
            <a:ext cx="5524136" cy="4446902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090665" y="1840230"/>
            <a:ext cx="5655945" cy="47212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Explanation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/>
              <a:tabLst>
                <a:tab pos="150495" algn="l"/>
              </a:tabLst>
            </a:pPr>
            <a:r>
              <a:rPr sz="1400" b="1" dirty="0">
                <a:latin typeface="Calibri"/>
                <a:cs typeface="Calibri"/>
              </a:rPr>
              <a:t>SparkSession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entry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point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Spark,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initialize </a:t>
            </a:r>
            <a:r>
              <a:rPr sz="1400" spc="-25" dirty="0">
                <a:latin typeface="Calibri"/>
                <a:cs typeface="Calibri"/>
              </a:rPr>
              <a:t>the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Spark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context.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2"/>
              <a:tabLst>
                <a:tab pos="150495" algn="l"/>
              </a:tabLst>
            </a:pPr>
            <a:r>
              <a:rPr sz="1400" b="1" spc="-10" dirty="0">
                <a:latin typeface="Calibri"/>
                <a:cs typeface="Calibri"/>
              </a:rPr>
              <a:t>textFile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Loads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text file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RDD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(Resilient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Distributed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Dataset), Spark’s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distributed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collection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data.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3"/>
              <a:tabLst>
                <a:tab pos="150495" algn="l"/>
              </a:tabLst>
            </a:pPr>
            <a:r>
              <a:rPr sz="1400" b="1" dirty="0">
                <a:latin typeface="Calibri"/>
                <a:cs typeface="Calibri"/>
              </a:rPr>
              <a:t>flatMap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Splits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line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into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words.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3"/>
              <a:tabLst>
                <a:tab pos="150495" algn="l"/>
              </a:tabLst>
            </a:pPr>
            <a:r>
              <a:rPr sz="1400" b="1" dirty="0">
                <a:latin typeface="Calibri"/>
                <a:cs typeface="Calibri"/>
              </a:rPr>
              <a:t>filter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Removes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empty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strings.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3"/>
              <a:tabLst>
                <a:tab pos="150495" algn="l"/>
              </a:tabLst>
            </a:pPr>
            <a:r>
              <a:rPr sz="1400" b="1" dirty="0">
                <a:latin typeface="Calibri"/>
                <a:cs typeface="Calibri"/>
              </a:rPr>
              <a:t>map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Maps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count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3"/>
              <a:tabLst>
                <a:tab pos="150495" algn="l"/>
              </a:tabLst>
            </a:pPr>
            <a:r>
              <a:rPr sz="1400" b="1" spc="-10" dirty="0">
                <a:latin typeface="Calibri"/>
                <a:cs typeface="Calibri"/>
              </a:rPr>
              <a:t>reduceByKey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Aggregates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counts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word,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summing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up.</a:t>
            </a:r>
            <a:endParaRPr sz="1400" dirty="0">
              <a:latin typeface="Calibri"/>
              <a:cs typeface="Calibri"/>
            </a:endParaRPr>
          </a:p>
          <a:p>
            <a:pPr marL="150495" indent="-141605">
              <a:lnSpc>
                <a:spcPct val="100000"/>
              </a:lnSpc>
              <a:buSzPct val="92857"/>
              <a:buAutoNum type="arabicPeriod" startAt="3"/>
              <a:tabLst>
                <a:tab pos="150495" algn="l"/>
              </a:tabLst>
            </a:pPr>
            <a:r>
              <a:rPr sz="1400" b="1" dirty="0">
                <a:latin typeface="Calibri"/>
                <a:cs typeface="Calibri"/>
              </a:rPr>
              <a:t>collect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Gathers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final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output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prints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count.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1400" b="1" dirty="0">
                <a:latin typeface="Calibri"/>
                <a:cs typeface="Calibri"/>
              </a:rPr>
              <a:t>Why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Spark?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Spark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suitable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range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data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applications</a:t>
            </a:r>
            <a:r>
              <a:rPr sz="1400" dirty="0">
                <a:latin typeface="Calibri"/>
                <a:cs typeface="Calibri"/>
              </a:rPr>
              <a:t> due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versatility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speed.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It’s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widely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for:</a:t>
            </a:r>
            <a:endParaRPr sz="1400" dirty="0">
              <a:latin typeface="Calibri"/>
              <a:cs typeface="Calibri"/>
            </a:endParaRPr>
          </a:p>
          <a:p>
            <a:pPr marL="12700" marR="300355" lvl="1" indent="-7620">
              <a:lnSpc>
                <a:spcPct val="100000"/>
              </a:lnSpc>
              <a:buSzPct val="92857"/>
              <a:buFont typeface="Arial MT"/>
              <a:buChar char="•"/>
              <a:tabLst>
                <a:tab pos="74930" algn="l"/>
              </a:tabLst>
            </a:pPr>
            <a:r>
              <a:rPr sz="1400" b="1" dirty="0">
                <a:latin typeface="Calibri"/>
                <a:cs typeface="Calibri"/>
              </a:rPr>
              <a:t>	ETL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(Extract,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Transform,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Load)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Ideal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preprocessing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cleaning</a:t>
            </a:r>
            <a:r>
              <a:rPr sz="1400" spc="-10" dirty="0">
                <a:latin typeface="Calibri"/>
                <a:cs typeface="Calibri"/>
              </a:rPr>
              <a:t> large datasets.</a:t>
            </a:r>
            <a:endParaRPr sz="1400" dirty="0">
              <a:latin typeface="Calibri"/>
              <a:cs typeface="Calibri"/>
            </a:endParaRPr>
          </a:p>
          <a:p>
            <a:pPr marL="74930" lvl="1" indent="-69850">
              <a:lnSpc>
                <a:spcPct val="100000"/>
              </a:lnSpc>
              <a:buSzPct val="92857"/>
              <a:buFont typeface="Arial MT"/>
              <a:buChar char="•"/>
              <a:tabLst>
                <a:tab pos="74930" algn="l"/>
              </a:tabLst>
            </a:pPr>
            <a:r>
              <a:rPr sz="1400" b="1" dirty="0">
                <a:latin typeface="Calibri"/>
                <a:cs typeface="Calibri"/>
              </a:rPr>
              <a:t>Data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Warehousing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Analytics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Spark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SQL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allows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SQL-</a:t>
            </a:r>
            <a:r>
              <a:rPr sz="1400" spc="-10" dirty="0">
                <a:latin typeface="Calibri"/>
                <a:cs typeface="Calibri"/>
              </a:rPr>
              <a:t>like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querying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large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Calibri"/>
                <a:cs typeface="Calibri"/>
              </a:rPr>
              <a:t>datasets.</a:t>
            </a:r>
            <a:endParaRPr sz="1400" dirty="0">
              <a:latin typeface="Calibri"/>
              <a:cs typeface="Calibri"/>
            </a:endParaRPr>
          </a:p>
          <a:p>
            <a:pPr marL="12700" marR="458470" lvl="1" indent="-7620">
              <a:lnSpc>
                <a:spcPct val="100000"/>
              </a:lnSpc>
              <a:spcBef>
                <a:spcPts val="5"/>
              </a:spcBef>
              <a:buSzPct val="92857"/>
              <a:buFont typeface="Arial MT"/>
              <a:buChar char="•"/>
              <a:tabLst>
                <a:tab pos="74930" algn="l"/>
              </a:tabLst>
            </a:pPr>
            <a:r>
              <a:rPr sz="1400" b="1" spc="-10" dirty="0">
                <a:latin typeface="Calibri"/>
                <a:cs typeface="Calibri"/>
              </a:rPr>
              <a:t>	Real-</a:t>
            </a:r>
            <a:r>
              <a:rPr sz="1400" b="1" dirty="0">
                <a:latin typeface="Calibri"/>
                <a:cs typeface="Calibri"/>
              </a:rPr>
              <a:t>Time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Processing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Spark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Streaming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enables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real-</a:t>
            </a:r>
            <a:r>
              <a:rPr sz="1400" dirty="0">
                <a:latin typeface="Calibri"/>
                <a:cs typeface="Calibri"/>
              </a:rPr>
              <a:t>time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analytics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and </a:t>
            </a:r>
            <a:r>
              <a:rPr sz="1400" spc="-10" dirty="0">
                <a:latin typeface="Calibri"/>
                <a:cs typeface="Calibri"/>
              </a:rPr>
              <a:t>decision-making.</a:t>
            </a:r>
            <a:endParaRPr sz="1400" dirty="0">
              <a:latin typeface="Calibri"/>
              <a:cs typeface="Calibri"/>
            </a:endParaRPr>
          </a:p>
          <a:p>
            <a:pPr marL="12700" marR="381000" lvl="1" indent="-7620">
              <a:lnSpc>
                <a:spcPct val="100000"/>
              </a:lnSpc>
              <a:buSzPct val="92857"/>
              <a:buFont typeface="Arial MT"/>
              <a:buChar char="•"/>
              <a:tabLst>
                <a:tab pos="74930" algn="l"/>
              </a:tabLst>
            </a:pPr>
            <a:r>
              <a:rPr sz="1400" b="1" dirty="0">
                <a:latin typeface="Calibri"/>
                <a:cs typeface="Calibri"/>
              </a:rPr>
              <a:t>	Machine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Learning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AI</a:t>
            </a:r>
            <a:r>
              <a:rPr sz="1400" dirty="0">
                <a:latin typeface="Calibri"/>
                <a:cs typeface="Calibri"/>
              </a:rPr>
              <a:t>: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MLlib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makes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easy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build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scalable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machine </a:t>
            </a:r>
            <a:r>
              <a:rPr sz="1400" dirty="0">
                <a:latin typeface="Calibri"/>
                <a:cs typeface="Calibri"/>
              </a:rPr>
              <a:t>learning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pipelines.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200" y="2030506"/>
            <a:ext cx="4038600" cy="1885950"/>
          </a:xfrm>
          <a:prstGeom prst="rect">
            <a:avLst/>
          </a:prstGeom>
        </p:spPr>
      </p:pic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Storm</a:t>
            </a:r>
            <a:r>
              <a:rPr sz="2800" spc="-4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–</a:t>
            </a:r>
            <a:r>
              <a:rPr sz="2800" spc="-6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Stream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Processing</a:t>
            </a:r>
            <a:r>
              <a:rPr sz="2800" spc="-3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on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top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67216F-21D0-D7A3-5E89-A2CFA02B5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609774" cy="4991039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sz="1600" b="1" dirty="0"/>
              <a:t>What is Apache Storm?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dirty="0"/>
              <a:t>Open-source, distributed </a:t>
            </a:r>
            <a:r>
              <a:rPr lang="en-US" sz="1600" b="1" dirty="0"/>
              <a:t>real-time</a:t>
            </a:r>
            <a:r>
              <a:rPr lang="en-US" sz="1600" dirty="0"/>
              <a:t> stream processing system.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dirty="0"/>
              <a:t>Developed by </a:t>
            </a:r>
            <a:r>
              <a:rPr lang="en-US" sz="1600" b="1" dirty="0"/>
              <a:t>Twitter</a:t>
            </a:r>
            <a:r>
              <a:rPr lang="en-US" sz="1600" dirty="0"/>
              <a:t>, now under </a:t>
            </a:r>
            <a:r>
              <a:rPr lang="en-US" sz="1600" b="1" dirty="0"/>
              <a:t>Apache Software Foundation</a:t>
            </a:r>
            <a:r>
              <a:rPr lang="en-US" sz="1600" dirty="0"/>
              <a:t>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dirty="0"/>
              <a:t>Processes high-velocity data with </a:t>
            </a:r>
            <a:r>
              <a:rPr lang="en-US" sz="1600" b="1" dirty="0"/>
              <a:t>low latency</a:t>
            </a:r>
            <a:r>
              <a:rPr lang="en-US" sz="1600" dirty="0"/>
              <a:t> and </a:t>
            </a:r>
            <a:r>
              <a:rPr lang="en-US" sz="1600" b="1" dirty="0"/>
              <a:t>high fault tolerance</a:t>
            </a:r>
            <a:r>
              <a:rPr lang="en-US" sz="1600" dirty="0"/>
              <a:t>.</a:t>
            </a:r>
          </a:p>
          <a:p>
            <a:pPr>
              <a:buNone/>
            </a:pPr>
            <a:r>
              <a:rPr lang="en-US" sz="1600" b="1" dirty="0"/>
              <a:t>Key Features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Scalable</a:t>
            </a:r>
            <a:r>
              <a:rPr lang="en-US" sz="1600" dirty="0"/>
              <a:t> – Supports distributed processing across multiple nodes.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Fault-tolerant</a:t>
            </a:r>
            <a:r>
              <a:rPr lang="en-US" sz="1600" dirty="0"/>
              <a:t> – Automatically reassigns failed tasks.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Guaranteed Processing</a:t>
            </a:r>
            <a:r>
              <a:rPr lang="en-US" sz="1600" dirty="0"/>
              <a:t> – Ensures each message is processed at least once.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Multi-language Support</a:t>
            </a:r>
            <a:r>
              <a:rPr lang="en-US" sz="1600" dirty="0"/>
              <a:t> – Compatible with Java, Python, and more.</a:t>
            </a:r>
          </a:p>
          <a:p>
            <a:pPr>
              <a:buNone/>
            </a:pPr>
            <a:r>
              <a:rPr lang="en-US" sz="1600" b="1" dirty="0"/>
              <a:t>Architecture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Spouts</a:t>
            </a:r>
            <a:r>
              <a:rPr lang="en-US" sz="1600" dirty="0"/>
              <a:t> – Data sources (Kafka, databases, APIs).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Bolts</a:t>
            </a:r>
            <a:r>
              <a:rPr lang="en-US" sz="1600" dirty="0"/>
              <a:t> – Processing components that filter, aggregate, or store data.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Topology</a:t>
            </a:r>
            <a:r>
              <a:rPr lang="en-US" sz="1600" dirty="0"/>
              <a:t> – A directed graph connecting spouts and bolts.</a:t>
            </a:r>
          </a:p>
          <a:p>
            <a:pPr>
              <a:buNone/>
            </a:pPr>
            <a:r>
              <a:rPr lang="en-US" sz="1600" b="1" dirty="0"/>
              <a:t>Use Cases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Real-time Analytics</a:t>
            </a:r>
            <a:r>
              <a:rPr lang="en-US" sz="1600" dirty="0"/>
              <a:t> – Social media monitoring, fraud detection.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Log Processing</a:t>
            </a:r>
            <a:r>
              <a:rPr lang="en-US" sz="1600" dirty="0"/>
              <a:t> – Server logs, IoT data streams.</a:t>
            </a:r>
          </a:p>
          <a:p>
            <a:pPr marL="171450">
              <a:buFont typeface="Arial" panose="020B0604020202020204" pitchFamily="34" charset="0"/>
              <a:buChar char="•"/>
            </a:pPr>
            <a:r>
              <a:rPr lang="en-US" sz="1600" b="1" dirty="0"/>
              <a:t>ETL Pipelines</a:t>
            </a:r>
            <a:r>
              <a:rPr lang="en-US" sz="1600" dirty="0"/>
              <a:t> – Continuous data transformation.</a:t>
            </a:r>
          </a:p>
          <a:p>
            <a:endParaRPr lang="en-US" sz="1600" dirty="0"/>
          </a:p>
          <a:p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4085" y="897513"/>
            <a:ext cx="7252475" cy="548227"/>
          </a:xfrm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Flume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3AD5F5-11EB-F4CF-7A5C-D06FD5A5A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2000" b="1" dirty="0"/>
              <a:t>What is Apache Flume?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dirty="0"/>
              <a:t>Open-source tool for collecting, aggregating, and transporting </a:t>
            </a:r>
            <a:r>
              <a:rPr lang="en-US" sz="2000" b="1" dirty="0"/>
              <a:t>large volumes of streaming data</a:t>
            </a:r>
            <a:r>
              <a:rPr lang="en-US" sz="2000" dirty="0"/>
              <a:t> into storage systems like </a:t>
            </a:r>
            <a:r>
              <a:rPr lang="en-US" sz="2000" b="1" dirty="0"/>
              <a:t>HDFS</a:t>
            </a:r>
            <a:r>
              <a:rPr lang="en-US" sz="2000" dirty="0"/>
              <a:t>.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dirty="0"/>
              <a:t>Designed for handling </a:t>
            </a:r>
            <a:r>
              <a:rPr lang="en-US" sz="2000" b="1" dirty="0"/>
              <a:t>log data, event streams, and real-time analytics</a:t>
            </a:r>
            <a:r>
              <a:rPr lang="en-US" sz="2000" dirty="0"/>
              <a:t>.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dirty="0"/>
              <a:t>Developed under the </a:t>
            </a:r>
            <a:r>
              <a:rPr lang="en-US" sz="2000" b="1" dirty="0"/>
              <a:t>Apache Software Foundation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b="1" dirty="0"/>
              <a:t>Key Features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Scalable &amp; Reliable</a:t>
            </a:r>
            <a:r>
              <a:rPr lang="en-US" sz="2000" dirty="0"/>
              <a:t> – Handles high-throughput data ingestion.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Fault-tolerant</a:t>
            </a:r>
            <a:r>
              <a:rPr lang="en-US" sz="2000" dirty="0"/>
              <a:t> – Ensures no data loss with reliable mechanisms.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Flexible &amp; Extensible</a:t>
            </a:r>
            <a:r>
              <a:rPr lang="en-US" sz="2000" dirty="0"/>
              <a:t> – Supports custom data sources and sinks.</a:t>
            </a:r>
          </a:p>
          <a:p>
            <a:pPr marL="285750" indent="-171450">
              <a:buFont typeface="Arial" panose="020B0604020202020204" pitchFamily="34" charset="0"/>
              <a:buChar char="•"/>
            </a:pPr>
            <a:r>
              <a:rPr lang="en-US" sz="2000" b="1" dirty="0"/>
              <a:t>Streaming Data Support</a:t>
            </a:r>
            <a:r>
              <a:rPr lang="en-US" sz="2000" dirty="0"/>
              <a:t> – Works with logs, events, and real-time sources.</a:t>
            </a:r>
          </a:p>
          <a:p>
            <a:pPr>
              <a:buNone/>
            </a:pPr>
            <a:r>
              <a:rPr lang="en-US" sz="2000" b="1" dirty="0"/>
              <a:t>Architecture</a:t>
            </a:r>
          </a:p>
          <a:p>
            <a:pPr marL="22860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Source</a:t>
            </a:r>
            <a:r>
              <a:rPr lang="en-US" sz="2000" dirty="0"/>
              <a:t> – Captures data from logs, message queues, or APIs.</a:t>
            </a:r>
          </a:p>
          <a:p>
            <a:pPr marL="22860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Channel</a:t>
            </a:r>
            <a:r>
              <a:rPr lang="en-US" sz="2000" dirty="0"/>
              <a:t> – Temporary buffer that holds data (Memory/File-based).</a:t>
            </a:r>
          </a:p>
          <a:p>
            <a:pPr marL="22860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Sink</a:t>
            </a:r>
            <a:r>
              <a:rPr lang="en-US" sz="2000" dirty="0"/>
              <a:t> – Sends data to storage (HDFS, HBase, Kafka).</a:t>
            </a:r>
          </a:p>
          <a:p>
            <a:pPr>
              <a:buNone/>
            </a:pPr>
            <a:r>
              <a:rPr lang="en-US" sz="2000" b="1" dirty="0"/>
              <a:t>Use Cases</a:t>
            </a:r>
          </a:p>
          <a:p>
            <a:pPr marL="17145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Log Collection</a:t>
            </a:r>
            <a:r>
              <a:rPr lang="en-US" sz="2000" dirty="0"/>
              <a:t> – Aggregating server logs for monitoring.</a:t>
            </a:r>
          </a:p>
          <a:p>
            <a:pPr marL="17145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Event Streaming</a:t>
            </a:r>
            <a:r>
              <a:rPr lang="en-US" sz="2000" dirty="0"/>
              <a:t> – Collecting user activity data for analytics.</a:t>
            </a:r>
          </a:p>
          <a:p>
            <a:pPr marL="171450" indent="-114300">
              <a:buFont typeface="Arial" panose="020B0604020202020204" pitchFamily="34" charset="0"/>
              <a:buChar char="•"/>
            </a:pPr>
            <a:r>
              <a:rPr lang="en-US" sz="2000" b="1" dirty="0"/>
              <a:t>ETL Pipelines</a:t>
            </a:r>
            <a:r>
              <a:rPr lang="en-US" sz="2000" dirty="0"/>
              <a:t> – Preprocessing and transporting data to Hadoop ecosystems.</a:t>
            </a: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42528" y="758037"/>
            <a:ext cx="1103868" cy="91053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04788" y="3037464"/>
            <a:ext cx="4549012" cy="232812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Kafka</a:t>
            </a:r>
            <a:r>
              <a:rPr sz="2800" spc="-6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-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Stream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Processing</a:t>
            </a:r>
            <a:r>
              <a:rPr sz="2800" spc="-4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on</a:t>
            </a:r>
            <a:r>
              <a:rPr sz="2800" spc="-50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top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dirty="0">
                <a:solidFill>
                  <a:srgbClr val="FFFFFF"/>
                </a:solidFill>
              </a:rPr>
              <a:t>of</a:t>
            </a:r>
            <a:r>
              <a:rPr sz="2800" spc="-55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Hadoop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843AE0-4921-7733-0D3B-33D489EDB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475869" cy="4991039"/>
          </a:xfrm>
        </p:spPr>
        <p:txBody>
          <a:bodyPr>
            <a:normAutofit lnSpcReduction="10000"/>
          </a:bodyPr>
          <a:lstStyle/>
          <a:p>
            <a:pPr marL="241300" indent="-228600">
              <a:lnSpc>
                <a:spcPts val="1939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distributed</a:t>
            </a:r>
            <a:r>
              <a:rPr lang="en-US" sz="20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event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streaming</a:t>
            </a:r>
            <a:r>
              <a:rPr lang="en-US" sz="20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platform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35" dirty="0">
                <a:latin typeface="Calibri"/>
                <a:cs typeface="Calibri"/>
              </a:rPr>
              <a:t>to</a:t>
            </a:r>
            <a:endParaRPr lang="en-US" sz="2000" dirty="0">
              <a:latin typeface="Calibri"/>
              <a:cs typeface="Calibri"/>
            </a:endParaRPr>
          </a:p>
          <a:p>
            <a:pPr marL="241300">
              <a:lnSpc>
                <a:spcPts val="1939"/>
              </a:lnSpc>
            </a:pPr>
            <a:r>
              <a:rPr lang="en-US" sz="2000" dirty="0">
                <a:latin typeface="Calibri"/>
                <a:cs typeface="Calibri"/>
              </a:rPr>
              <a:t>handle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high-</a:t>
            </a:r>
            <a:r>
              <a:rPr lang="en-US" sz="2000" dirty="0">
                <a:latin typeface="Calibri"/>
                <a:cs typeface="Calibri"/>
              </a:rPr>
              <a:t>throughput,</a:t>
            </a:r>
            <a:r>
              <a:rPr lang="en-US" sz="2000" spc="-20" dirty="0">
                <a:latin typeface="Calibri"/>
                <a:cs typeface="Calibri"/>
              </a:rPr>
              <a:t> 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feeds.</a:t>
            </a:r>
            <a:endParaRPr lang="en-US" sz="2000" dirty="0">
              <a:latin typeface="Calibri"/>
              <a:cs typeface="Calibri"/>
            </a:endParaRPr>
          </a:p>
          <a:p>
            <a:pPr marL="241300" marR="113030" indent="-229235">
              <a:lnSpc>
                <a:spcPct val="7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Originally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developed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LinkedIn,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become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backbone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pipelines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analytics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many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large-</a:t>
            </a:r>
            <a:r>
              <a:rPr lang="en-US" sz="2000" spc="-10" dirty="0">
                <a:latin typeface="Calibri"/>
                <a:cs typeface="Calibri"/>
              </a:rPr>
              <a:t>scale systems.</a:t>
            </a:r>
            <a:endParaRPr lang="en-US" sz="2000" dirty="0">
              <a:latin typeface="Calibri"/>
              <a:cs typeface="Calibri"/>
            </a:endParaRPr>
          </a:p>
          <a:p>
            <a:pPr marL="239395" marR="260350" indent="-227329" algn="just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message</a:t>
            </a:r>
            <a:r>
              <a:rPr lang="en-US" sz="20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broker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various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to 	</a:t>
            </a:r>
            <a:r>
              <a:rPr lang="en-US" sz="2000" dirty="0">
                <a:latin typeface="Calibri"/>
                <a:cs typeface="Calibri"/>
              </a:rPr>
              <a:t>produce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consume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streams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reliably,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efficiently,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at 	</a:t>
            </a:r>
            <a:r>
              <a:rPr lang="en-US" sz="2000" spc="-10" dirty="0">
                <a:latin typeface="Calibri"/>
                <a:cs typeface="Calibri"/>
              </a:rPr>
              <a:t>scale.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lang="en-US" sz="2000" b="1" spc="-10" dirty="0">
                <a:latin typeface="Calibri"/>
                <a:cs typeface="Calibri"/>
              </a:rPr>
              <a:t>Architecture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Producer: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sends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topics.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Consumer: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application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reads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from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topics.</a:t>
            </a:r>
            <a:endParaRPr lang="en-US" sz="2000" dirty="0">
              <a:latin typeface="Calibri"/>
              <a:cs typeface="Calibri"/>
            </a:endParaRPr>
          </a:p>
          <a:p>
            <a:pPr marL="241300" indent="-228600">
              <a:lnSpc>
                <a:spcPts val="1939"/>
              </a:lnSpc>
              <a:spcBef>
                <a:spcPts val="32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Broker: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stores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consumers.</a:t>
            </a:r>
            <a:endParaRPr lang="en-US" sz="2000" dirty="0">
              <a:latin typeface="Calibri"/>
              <a:cs typeface="Calibri"/>
            </a:endParaRPr>
          </a:p>
          <a:p>
            <a:pPr marL="241300">
              <a:lnSpc>
                <a:spcPts val="1939"/>
              </a:lnSpc>
            </a:pP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consist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multiple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brokers.</a:t>
            </a:r>
            <a:endParaRPr lang="en-US" sz="2000" dirty="0">
              <a:latin typeface="Calibri"/>
              <a:cs typeface="Calibri"/>
            </a:endParaRPr>
          </a:p>
          <a:p>
            <a:pPr marL="241300" marR="4889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spc="-20" dirty="0">
                <a:latin typeface="Calibri"/>
                <a:cs typeface="Calibri"/>
              </a:rPr>
              <a:t>Topic: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category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feed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name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which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records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are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published.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topic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multiple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partitions,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helping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Kafka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parallelize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across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cluster.</a:t>
            </a:r>
            <a:endParaRPr lang="en-US" sz="2000" dirty="0">
              <a:latin typeface="Calibri"/>
              <a:cs typeface="Calibri"/>
            </a:endParaRPr>
          </a:p>
          <a:p>
            <a:pPr marL="241300" marR="89852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b="1" dirty="0">
                <a:latin typeface="Calibri"/>
                <a:cs typeface="Calibri"/>
              </a:rPr>
              <a:t>Use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Cases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Log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aggregation,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streams,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event </a:t>
            </a:r>
            <a:r>
              <a:rPr lang="en-US" sz="2000" dirty="0">
                <a:latin typeface="Calibri"/>
                <a:cs typeface="Calibri"/>
              </a:rPr>
              <a:t>sourcing,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integration.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59954" y="1858264"/>
            <a:ext cx="4287520" cy="301853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64946" y="847323"/>
            <a:ext cx="1349876" cy="61406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20" dirty="0">
                <a:solidFill>
                  <a:srgbClr val="FFFFFF"/>
                </a:solidFill>
              </a:rPr>
              <a:t>Sqoop</a:t>
            </a:r>
            <a:endParaRPr sz="280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B820DD-4C9B-BF86-308A-C98745C156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7004221" cy="4991039"/>
          </a:xfrm>
        </p:spPr>
        <p:txBody>
          <a:bodyPr/>
          <a:lstStyle/>
          <a:p>
            <a:pPr marL="239395" marR="5080" indent="-227329" algn="just">
              <a:lnSpc>
                <a:spcPct val="70000"/>
              </a:lnSpc>
              <a:spcBef>
                <a:spcPts val="78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900" dirty="0">
                <a:latin typeface="Calibri"/>
                <a:cs typeface="Calibri"/>
              </a:rPr>
              <a:t>Apache</a:t>
            </a:r>
            <a:r>
              <a:rPr lang="en-US" sz="1900" spc="-2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Sqoop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(SQL-</a:t>
            </a:r>
            <a:r>
              <a:rPr lang="en-US" sz="1900" spc="-30" dirty="0">
                <a:latin typeface="Calibri"/>
                <a:cs typeface="Calibri"/>
              </a:rPr>
              <a:t>to-</a:t>
            </a:r>
            <a:r>
              <a:rPr lang="en-US" sz="1900" dirty="0">
                <a:latin typeface="Calibri"/>
                <a:cs typeface="Calibri"/>
              </a:rPr>
              <a:t>Hadoop)</a:t>
            </a:r>
            <a:r>
              <a:rPr lang="en-US" sz="1900" spc="1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is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tool</a:t>
            </a:r>
            <a:r>
              <a:rPr lang="en-US" sz="19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19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FF0000"/>
                </a:solidFill>
                <a:latin typeface="Calibri"/>
                <a:cs typeface="Calibri"/>
              </a:rPr>
              <a:t>efficiently 	</a:t>
            </a:r>
            <a:r>
              <a:rPr lang="en-US" sz="1900" spc="-20" dirty="0">
                <a:solidFill>
                  <a:srgbClr val="FF0000"/>
                </a:solidFill>
                <a:latin typeface="Calibri"/>
                <a:cs typeface="Calibri"/>
              </a:rPr>
              <a:t>transfer</a:t>
            </a:r>
            <a:r>
              <a:rPr lang="en-US"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bulk</a:t>
            </a:r>
            <a:r>
              <a:rPr lang="en-US"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between</a:t>
            </a:r>
            <a:r>
              <a:rPr lang="en-US"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lang="en-US" sz="19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FF0000"/>
                </a:solidFill>
                <a:latin typeface="Calibri"/>
                <a:cs typeface="Calibri"/>
              </a:rPr>
              <a:t>structured</a:t>
            </a:r>
            <a:r>
              <a:rPr lang="en-US" sz="19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19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FF0000"/>
                </a:solidFill>
                <a:latin typeface="Calibri"/>
                <a:cs typeface="Calibri"/>
              </a:rPr>
              <a:t>stores 	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like</a:t>
            </a:r>
            <a:r>
              <a:rPr lang="en-US"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spc="-10" dirty="0">
                <a:solidFill>
                  <a:srgbClr val="FF0000"/>
                </a:solidFill>
                <a:latin typeface="Calibri"/>
                <a:cs typeface="Calibri"/>
              </a:rPr>
              <a:t>relational</a:t>
            </a:r>
            <a:r>
              <a:rPr lang="en-US" sz="19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solidFill>
                  <a:srgbClr val="FF0000"/>
                </a:solidFill>
                <a:latin typeface="Calibri"/>
                <a:cs typeface="Calibri"/>
              </a:rPr>
              <a:t>databases</a:t>
            </a:r>
            <a:r>
              <a:rPr lang="en-US" sz="19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(e.g.,</a:t>
            </a:r>
            <a:r>
              <a:rPr lang="en-US" sz="1900" spc="-7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MySQL,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PostgreSQL,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Oracle)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and 	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warehouses.</a:t>
            </a:r>
            <a:endParaRPr lang="en-US" sz="1900" dirty="0">
              <a:latin typeface="Calibri"/>
              <a:cs typeface="Calibri"/>
            </a:endParaRPr>
          </a:p>
          <a:p>
            <a:pPr marL="241300" marR="21018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900" dirty="0">
                <a:latin typeface="Calibri"/>
                <a:cs typeface="Calibri"/>
              </a:rPr>
              <a:t>Sqoop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simplifies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the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process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of</a:t>
            </a:r>
            <a:r>
              <a:rPr lang="en-US" sz="1900" spc="-6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importing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from</a:t>
            </a:r>
            <a:r>
              <a:rPr lang="en-US" sz="1900" spc="-6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RDBMSs </a:t>
            </a:r>
            <a:r>
              <a:rPr lang="en-US" sz="1900" dirty="0">
                <a:latin typeface="Calibri"/>
                <a:cs typeface="Calibri"/>
              </a:rPr>
              <a:t>into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Hadoop's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ecosystem,</a:t>
            </a:r>
            <a:r>
              <a:rPr lang="en-US" sz="1900" spc="-7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such</a:t>
            </a:r>
            <a:r>
              <a:rPr lang="en-US" sz="1900" spc="-6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as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HDFS,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Hive,</a:t>
            </a:r>
            <a:r>
              <a:rPr lang="en-US" sz="1900" spc="-3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or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HBase,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and </a:t>
            </a:r>
            <a:r>
              <a:rPr lang="en-US" sz="1900" dirty="0">
                <a:latin typeface="Calibri"/>
                <a:cs typeface="Calibri"/>
              </a:rPr>
              <a:t>exporting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processed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back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these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relational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databases.</a:t>
            </a:r>
            <a:endParaRPr lang="en-US" sz="1900" dirty="0">
              <a:latin typeface="Calibri"/>
              <a:cs typeface="Calibri"/>
            </a:endParaRPr>
          </a:p>
          <a:p>
            <a:pPr marL="12700">
              <a:lnSpc>
                <a:spcPts val="2230"/>
              </a:lnSpc>
              <a:spcBef>
                <a:spcPts val="315"/>
              </a:spcBef>
            </a:pPr>
            <a:r>
              <a:rPr lang="en-US" sz="1900" b="1" dirty="0">
                <a:latin typeface="Calibri"/>
                <a:cs typeface="Calibri"/>
              </a:rPr>
              <a:t>Main</a:t>
            </a:r>
            <a:r>
              <a:rPr lang="en-US" sz="1900" b="1" spc="-45" dirty="0">
                <a:latin typeface="Calibri"/>
                <a:cs typeface="Calibri"/>
              </a:rPr>
              <a:t> </a:t>
            </a:r>
            <a:r>
              <a:rPr lang="en-US" sz="1900" b="1" spc="-10" dirty="0">
                <a:latin typeface="Calibri"/>
                <a:cs typeface="Calibri"/>
              </a:rPr>
              <a:t>Functions</a:t>
            </a:r>
            <a:r>
              <a:rPr lang="en-US" sz="1900" spc="-10" dirty="0">
                <a:latin typeface="Calibri"/>
                <a:cs typeface="Calibri"/>
              </a:rPr>
              <a:t>:</a:t>
            </a:r>
            <a:endParaRPr lang="en-US" sz="1900" dirty="0">
              <a:latin typeface="Calibri"/>
              <a:cs typeface="Calibri"/>
            </a:endParaRPr>
          </a:p>
          <a:p>
            <a:pPr marL="756285" lvl="1" indent="-286385">
              <a:lnSpc>
                <a:spcPts val="193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US" sz="1700" b="1" dirty="0">
                <a:latin typeface="Calibri"/>
                <a:cs typeface="Calibri"/>
              </a:rPr>
              <a:t>Import</a:t>
            </a:r>
            <a:r>
              <a:rPr lang="en-US" sz="1700" dirty="0">
                <a:latin typeface="Calibri"/>
                <a:cs typeface="Calibri"/>
              </a:rPr>
              <a:t>: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Pulls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from</a:t>
            </a:r>
            <a:r>
              <a:rPr lang="en-US" sz="1700" spc="-1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relational</a:t>
            </a:r>
            <a:r>
              <a:rPr lang="en-US" sz="1700" spc="-4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databases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into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HDFS.</a:t>
            </a:r>
            <a:endParaRPr lang="en-US" sz="1700" dirty="0">
              <a:latin typeface="Calibri"/>
              <a:cs typeface="Calibri"/>
            </a:endParaRPr>
          </a:p>
          <a:p>
            <a:pPr marL="756285" lvl="1" indent="-286385">
              <a:lnSpc>
                <a:spcPts val="1980"/>
              </a:lnSpc>
              <a:buFont typeface="Arial MT"/>
              <a:buChar char="•"/>
              <a:tabLst>
                <a:tab pos="756285" algn="l"/>
              </a:tabLst>
            </a:pPr>
            <a:r>
              <a:rPr lang="en-US" sz="1700" b="1" dirty="0">
                <a:latin typeface="Calibri"/>
                <a:cs typeface="Calibri"/>
              </a:rPr>
              <a:t>Export</a:t>
            </a:r>
            <a:r>
              <a:rPr lang="en-US" sz="1700" dirty="0">
                <a:latin typeface="Calibri"/>
                <a:cs typeface="Calibri"/>
              </a:rPr>
              <a:t>:</a:t>
            </a:r>
            <a:r>
              <a:rPr lang="en-US" sz="1700" spc="-5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Pushes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data</a:t>
            </a:r>
            <a:r>
              <a:rPr lang="en-US" sz="1700" spc="-7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from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HDFS</a:t>
            </a:r>
            <a:r>
              <a:rPr lang="en-US" sz="1700" spc="-3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back</a:t>
            </a:r>
            <a:r>
              <a:rPr lang="en-US" sz="1700" spc="-45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into</a:t>
            </a:r>
            <a:r>
              <a:rPr lang="en-US" sz="1700" spc="-60" dirty="0">
                <a:latin typeface="Calibri"/>
                <a:cs typeface="Calibri"/>
              </a:rPr>
              <a:t> </a:t>
            </a:r>
            <a:r>
              <a:rPr lang="en-US" sz="1700" dirty="0">
                <a:latin typeface="Calibri"/>
                <a:cs typeface="Calibri"/>
              </a:rPr>
              <a:t>relational</a:t>
            </a:r>
            <a:r>
              <a:rPr lang="en-US" sz="1700" spc="-50" dirty="0">
                <a:latin typeface="Calibri"/>
                <a:cs typeface="Calibri"/>
              </a:rPr>
              <a:t> </a:t>
            </a:r>
            <a:r>
              <a:rPr lang="en-US" sz="1700" spc="-10" dirty="0">
                <a:latin typeface="Calibri"/>
                <a:cs typeface="Calibri"/>
              </a:rPr>
              <a:t>databases.</a:t>
            </a:r>
            <a:endParaRPr lang="en-US" sz="17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lang="en-US" sz="1900" b="1" spc="-10" dirty="0">
                <a:latin typeface="Calibri"/>
                <a:cs typeface="Calibri"/>
              </a:rPr>
              <a:t>Typical</a:t>
            </a:r>
            <a:r>
              <a:rPr lang="en-US" sz="1900" b="1" spc="-50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Use</a:t>
            </a:r>
            <a:r>
              <a:rPr lang="en-US" sz="1900" b="1" spc="-45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Cases</a:t>
            </a:r>
            <a:r>
              <a:rPr lang="en-US" sz="1900" b="1" spc="-45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for</a:t>
            </a:r>
            <a:r>
              <a:rPr lang="en-US" sz="1900" b="1" spc="-45" dirty="0">
                <a:latin typeface="Calibri"/>
                <a:cs typeface="Calibri"/>
              </a:rPr>
              <a:t> </a:t>
            </a:r>
            <a:r>
              <a:rPr lang="en-US" sz="1900" b="1" spc="-10" dirty="0">
                <a:latin typeface="Calibri"/>
                <a:cs typeface="Calibri"/>
              </a:rPr>
              <a:t>Sqoop</a:t>
            </a:r>
            <a:endParaRPr lang="en-US" sz="1900" dirty="0">
              <a:latin typeface="Calibri"/>
              <a:cs typeface="Calibri"/>
            </a:endParaRPr>
          </a:p>
          <a:p>
            <a:pPr marL="241300" marR="504190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900" b="1" dirty="0">
                <a:latin typeface="Calibri"/>
                <a:cs typeface="Calibri"/>
              </a:rPr>
              <a:t>Data</a:t>
            </a:r>
            <a:r>
              <a:rPr lang="en-US" sz="1900" b="1" spc="-75" dirty="0">
                <a:latin typeface="Calibri"/>
                <a:cs typeface="Calibri"/>
              </a:rPr>
              <a:t> </a:t>
            </a:r>
            <a:r>
              <a:rPr lang="en-US" sz="1900" b="1" spc="-10" dirty="0">
                <a:latin typeface="Calibri"/>
                <a:cs typeface="Calibri"/>
              </a:rPr>
              <a:t>Migration</a:t>
            </a:r>
            <a:r>
              <a:rPr lang="en-US" sz="1900" spc="-10" dirty="0">
                <a:latin typeface="Calibri"/>
                <a:cs typeface="Calibri"/>
              </a:rPr>
              <a:t>: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Moving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historical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from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RDBMSs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into </a:t>
            </a:r>
            <a:r>
              <a:rPr lang="en-US" sz="1900" dirty="0">
                <a:latin typeface="Calibri"/>
                <a:cs typeface="Calibri"/>
              </a:rPr>
              <a:t>Hadoop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for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long-</a:t>
            </a:r>
            <a:r>
              <a:rPr lang="en-US" sz="1900" dirty="0">
                <a:latin typeface="Calibri"/>
                <a:cs typeface="Calibri"/>
              </a:rPr>
              <a:t>term</a:t>
            </a:r>
            <a:r>
              <a:rPr lang="en-US" sz="1900" spc="-2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storage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or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analysis.</a:t>
            </a:r>
            <a:endParaRPr lang="en-US" sz="1900" dirty="0">
              <a:latin typeface="Calibri"/>
              <a:cs typeface="Calibri"/>
            </a:endParaRPr>
          </a:p>
          <a:p>
            <a:pPr marL="239395" marR="264160" indent="-227329" algn="just">
              <a:lnSpc>
                <a:spcPct val="70000"/>
              </a:lnSpc>
              <a:spcBef>
                <a:spcPts val="101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900" b="1" dirty="0">
                <a:latin typeface="Calibri"/>
                <a:cs typeface="Calibri"/>
              </a:rPr>
              <a:t>ETL</a:t>
            </a:r>
            <a:r>
              <a:rPr lang="en-US" sz="1900" b="1" spc="-55" dirty="0">
                <a:latin typeface="Calibri"/>
                <a:cs typeface="Calibri"/>
              </a:rPr>
              <a:t> </a:t>
            </a:r>
            <a:r>
              <a:rPr lang="en-US" sz="1900" b="1" dirty="0">
                <a:latin typeface="Calibri"/>
                <a:cs typeface="Calibri"/>
              </a:rPr>
              <a:t>Pipelines</a:t>
            </a:r>
            <a:r>
              <a:rPr lang="en-US" sz="1900" dirty="0">
                <a:latin typeface="Calibri"/>
                <a:cs typeface="Calibri"/>
              </a:rPr>
              <a:t>: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Using</a:t>
            </a:r>
            <a:r>
              <a:rPr lang="en-US" sz="1900" spc="-2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Sqoop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as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part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of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an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ETL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pipeline</a:t>
            </a:r>
            <a:r>
              <a:rPr lang="en-US" sz="1900" spc="-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load 	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7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from</a:t>
            </a:r>
            <a:r>
              <a:rPr lang="en-US" sz="1900" spc="-7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relational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sources</a:t>
            </a:r>
            <a:r>
              <a:rPr lang="en-US" sz="1900" spc="-7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into</a:t>
            </a:r>
            <a:r>
              <a:rPr lang="en-US" sz="1900" spc="-6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Hadoop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for</a:t>
            </a:r>
            <a:r>
              <a:rPr lang="en-US" sz="1900" spc="-8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processing</a:t>
            </a:r>
            <a:r>
              <a:rPr lang="en-US" sz="1900" spc="-65" dirty="0">
                <a:latin typeface="Calibri"/>
                <a:cs typeface="Calibri"/>
              </a:rPr>
              <a:t> </a:t>
            </a:r>
            <a:r>
              <a:rPr lang="en-US" sz="1900" spc="-25" dirty="0">
                <a:latin typeface="Calibri"/>
                <a:cs typeface="Calibri"/>
              </a:rPr>
              <a:t>and 	</a:t>
            </a:r>
            <a:r>
              <a:rPr lang="en-US" sz="1900" dirty="0">
                <a:latin typeface="Calibri"/>
                <a:cs typeface="Calibri"/>
              </a:rPr>
              <a:t>analysis,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then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exporting</a:t>
            </a:r>
            <a:r>
              <a:rPr lang="en-US" sz="1900" spc="-3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results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back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to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the</a:t>
            </a:r>
            <a:r>
              <a:rPr lang="en-US" sz="1900" spc="-4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database.</a:t>
            </a:r>
            <a:endParaRPr lang="en-US" sz="1900" dirty="0">
              <a:latin typeface="Calibri"/>
              <a:cs typeface="Calibri"/>
            </a:endParaRPr>
          </a:p>
          <a:p>
            <a:pPr marL="241300" marR="15875" indent="-229235">
              <a:lnSpc>
                <a:spcPct val="70000"/>
              </a:lnSpc>
              <a:spcBef>
                <a:spcPts val="994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900" b="1" dirty="0">
                <a:latin typeface="Calibri"/>
                <a:cs typeface="Calibri"/>
              </a:rPr>
              <a:t>Data</a:t>
            </a:r>
            <a:r>
              <a:rPr lang="en-US" sz="1900" b="1" spc="-85" dirty="0">
                <a:latin typeface="Calibri"/>
                <a:cs typeface="Calibri"/>
              </a:rPr>
              <a:t> </a:t>
            </a:r>
            <a:r>
              <a:rPr lang="en-US" sz="1900" b="1" spc="-10" dirty="0">
                <a:latin typeface="Calibri"/>
                <a:cs typeface="Calibri"/>
              </a:rPr>
              <a:t>Synchronization</a:t>
            </a:r>
            <a:r>
              <a:rPr lang="en-US" sz="1900" spc="-10" dirty="0">
                <a:latin typeface="Calibri"/>
                <a:cs typeface="Calibri"/>
              </a:rPr>
              <a:t>:</a:t>
            </a:r>
            <a:r>
              <a:rPr lang="en-US" sz="1900" spc="-6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Regularly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syncing</a:t>
            </a:r>
            <a:r>
              <a:rPr lang="en-US" sz="1900" spc="-75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operational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data</a:t>
            </a:r>
            <a:r>
              <a:rPr lang="en-US" sz="1900" spc="-85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from </a:t>
            </a:r>
            <a:r>
              <a:rPr lang="en-US" sz="1900" spc="-10" dirty="0">
                <a:latin typeface="Calibri"/>
                <a:cs typeface="Calibri"/>
              </a:rPr>
              <a:t>databases</a:t>
            </a:r>
            <a:r>
              <a:rPr lang="en-US" sz="1900" spc="-5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into</a:t>
            </a:r>
            <a:r>
              <a:rPr lang="en-US" sz="1900" spc="-4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Hadoop</a:t>
            </a:r>
            <a:r>
              <a:rPr lang="en-US" sz="1900" spc="-35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for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dirty="0">
                <a:latin typeface="Calibri"/>
                <a:cs typeface="Calibri"/>
              </a:rPr>
              <a:t>near</a:t>
            </a:r>
            <a:r>
              <a:rPr lang="en-US" sz="1900" spc="-50" dirty="0">
                <a:latin typeface="Calibri"/>
                <a:cs typeface="Calibri"/>
              </a:rPr>
              <a:t> </a:t>
            </a:r>
            <a:r>
              <a:rPr lang="en-US" sz="1900" spc="-20" dirty="0">
                <a:latin typeface="Calibri"/>
                <a:cs typeface="Calibri"/>
              </a:rPr>
              <a:t>real-</a:t>
            </a:r>
            <a:r>
              <a:rPr lang="en-US" sz="1900" dirty="0">
                <a:latin typeface="Calibri"/>
                <a:cs typeface="Calibri"/>
              </a:rPr>
              <a:t>time</a:t>
            </a:r>
            <a:r>
              <a:rPr lang="en-US" sz="1900" spc="-20" dirty="0">
                <a:latin typeface="Calibri"/>
                <a:cs typeface="Calibri"/>
              </a:rPr>
              <a:t> </a:t>
            </a:r>
            <a:r>
              <a:rPr lang="en-US" sz="1900" spc="-10" dirty="0">
                <a:latin typeface="Calibri"/>
                <a:cs typeface="Calibri"/>
              </a:rPr>
              <a:t>analysis.</a:t>
            </a:r>
            <a:endParaRPr lang="en-US" sz="19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54443" y="1759585"/>
            <a:ext cx="4483100" cy="3466973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Oozie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4C1BC0-7E6B-75C8-0965-79DE721E7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5" y="1706007"/>
            <a:ext cx="6923799" cy="4991039"/>
          </a:xfrm>
        </p:spPr>
        <p:txBody>
          <a:bodyPr/>
          <a:lstStyle/>
          <a:p>
            <a:pPr marL="241300" marR="5080" indent="-228600">
              <a:lnSpc>
                <a:spcPct val="90100"/>
              </a:lnSpc>
              <a:spcBef>
                <a:spcPts val="28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1600" dirty="0">
                <a:latin typeface="Calibri"/>
                <a:cs typeface="Calibri"/>
              </a:rPr>
              <a:t>Apache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Oozie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lang="en-US"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workflow</a:t>
            </a:r>
            <a:r>
              <a:rPr lang="en-US"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scheduler</a:t>
            </a:r>
            <a:r>
              <a:rPr lang="en-US"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system</a:t>
            </a:r>
            <a:r>
              <a:rPr lang="en-US" sz="16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designed</a:t>
            </a:r>
            <a:r>
              <a:rPr lang="en-US"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to</a:t>
            </a:r>
            <a:r>
              <a:rPr lang="en-US" sz="1600" spc="-3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manage</a:t>
            </a:r>
            <a:r>
              <a:rPr lang="en-US" sz="1600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25" dirty="0">
                <a:solidFill>
                  <a:srgbClr val="FF0000"/>
                </a:solidFill>
                <a:latin typeface="Calibri"/>
                <a:cs typeface="Calibri"/>
              </a:rPr>
              <a:t>and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coordinate</a:t>
            </a:r>
            <a:r>
              <a:rPr lang="en-US" sz="16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Hadoop</a:t>
            </a:r>
            <a:r>
              <a:rPr lang="en-US" sz="16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z="1600" spc="-2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in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sequence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or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directed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acyclic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graph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(DAG)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end-to-</a:t>
            </a:r>
            <a:r>
              <a:rPr lang="en-US" sz="1600" dirty="0">
                <a:latin typeface="Calibri"/>
                <a:cs typeface="Calibri"/>
              </a:rPr>
              <a:t>end</a:t>
            </a:r>
            <a:r>
              <a:rPr lang="en-US" sz="1600" spc="-7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workflow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management.</a:t>
            </a:r>
            <a:endParaRPr lang="en-US" sz="1600" dirty="0">
              <a:latin typeface="Calibri"/>
              <a:cs typeface="Calibri"/>
            </a:endParaRPr>
          </a:p>
          <a:p>
            <a:pPr marL="241300" marR="227329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 sz="1600" dirty="0">
                <a:latin typeface="Calibri"/>
                <a:cs typeface="Calibri"/>
              </a:rPr>
              <a:t>	Oozie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is</a:t>
            </a:r>
            <a:r>
              <a:rPr lang="en-US" sz="1600" spc="-6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particularly</a:t>
            </a:r>
            <a:r>
              <a:rPr lang="en-US" sz="1600" spc="-7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useful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automating</a:t>
            </a:r>
            <a:r>
              <a:rPr lang="en-US" sz="16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complex</a:t>
            </a:r>
            <a:r>
              <a:rPr lang="en-US" sz="1600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data</a:t>
            </a:r>
            <a:r>
              <a:rPr lang="en-US"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workflows</a:t>
            </a:r>
            <a:r>
              <a:rPr lang="en-US" sz="1600" spc="-10" dirty="0">
                <a:latin typeface="Calibri"/>
                <a:cs typeface="Calibri"/>
              </a:rPr>
              <a:t>,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managing</a:t>
            </a:r>
            <a:r>
              <a:rPr lang="en-US" sz="1600" spc="-6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dependencies</a:t>
            </a:r>
            <a:r>
              <a:rPr lang="en-US" sz="1600" spc="-10" dirty="0">
                <a:latin typeface="Calibri"/>
                <a:cs typeface="Calibri"/>
              </a:rPr>
              <a:t>,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orchestrating</a:t>
            </a:r>
            <a:r>
              <a:rPr lang="en-US" sz="1600" spc="-2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multiple</a:t>
            </a:r>
            <a:r>
              <a:rPr lang="en-US" sz="16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jobs</a:t>
            </a:r>
            <a:r>
              <a:rPr lang="en-US" sz="16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dirty="0">
                <a:solidFill>
                  <a:srgbClr val="FF0000"/>
                </a:solidFill>
                <a:latin typeface="Calibri"/>
                <a:cs typeface="Calibri"/>
              </a:rPr>
              <a:t>across</a:t>
            </a:r>
            <a:r>
              <a:rPr lang="en-US" sz="1600" spc="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1600" spc="-25" dirty="0">
                <a:latin typeface="Calibri"/>
                <a:cs typeface="Calibri"/>
              </a:rPr>
              <a:t>the </a:t>
            </a:r>
            <a:r>
              <a:rPr lang="en-US" sz="1600" dirty="0">
                <a:latin typeface="Calibri"/>
                <a:cs typeface="Calibri"/>
              </a:rPr>
              <a:t>Hadoop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ecosystem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(such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as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MapReduce,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Hive,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Pig,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Sqoop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jobs).</a:t>
            </a:r>
            <a:endParaRPr lang="en-US" sz="1600" dirty="0">
              <a:latin typeface="Calibri"/>
              <a:cs typeface="Calibri"/>
            </a:endParaRPr>
          </a:p>
          <a:p>
            <a:pPr marL="242570" indent="-229870" algn="just">
              <a:lnSpc>
                <a:spcPts val="1825"/>
              </a:lnSpc>
              <a:spcBef>
                <a:spcPts val="79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sz="1600" dirty="0">
                <a:latin typeface="Calibri"/>
                <a:cs typeface="Calibri"/>
              </a:rPr>
              <a:t>It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supports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both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time-</a:t>
            </a:r>
            <a:r>
              <a:rPr lang="en-US" sz="1600" dirty="0">
                <a:latin typeface="Calibri"/>
                <a:cs typeface="Calibri"/>
              </a:rPr>
              <a:t>based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(frequency)</a:t>
            </a:r>
            <a:r>
              <a:rPr lang="en-US" sz="1600" spc="-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data-</a:t>
            </a:r>
            <a:r>
              <a:rPr lang="en-US" sz="1600" dirty="0">
                <a:latin typeface="Calibri"/>
                <a:cs typeface="Calibri"/>
              </a:rPr>
              <a:t>based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triggers,</a:t>
            </a:r>
            <a:endParaRPr lang="en-US" sz="1600" dirty="0">
              <a:latin typeface="Calibri"/>
              <a:cs typeface="Calibri"/>
            </a:endParaRPr>
          </a:p>
          <a:p>
            <a:pPr marL="241300" algn="just">
              <a:lnSpc>
                <a:spcPts val="1825"/>
              </a:lnSpc>
            </a:pPr>
            <a:r>
              <a:rPr lang="en-US" sz="1600" dirty="0">
                <a:latin typeface="Calibri"/>
                <a:cs typeface="Calibri"/>
              </a:rPr>
              <a:t>making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it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versatile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for</a:t>
            </a:r>
            <a:r>
              <a:rPr lang="en-US" sz="1600" spc="-10" dirty="0">
                <a:latin typeface="Calibri"/>
                <a:cs typeface="Calibri"/>
              </a:rPr>
              <a:t> different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types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of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big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applications.</a:t>
            </a:r>
            <a:endParaRPr lang="en-US" sz="1600" dirty="0">
              <a:latin typeface="Calibri"/>
              <a:cs typeface="Calibri"/>
            </a:endParaRPr>
          </a:p>
          <a:p>
            <a:pPr marL="242570" indent="-229870" algn="just">
              <a:lnSpc>
                <a:spcPct val="100000"/>
              </a:lnSpc>
              <a:spcBef>
                <a:spcPts val="800"/>
              </a:spcBef>
              <a:buFont typeface="Arial MT"/>
              <a:buChar char="•"/>
              <a:tabLst>
                <a:tab pos="242570" algn="l"/>
              </a:tabLst>
            </a:pPr>
            <a:r>
              <a:rPr lang="en-US" sz="1600" b="1" dirty="0">
                <a:latin typeface="Calibri"/>
                <a:cs typeface="Calibri"/>
              </a:rPr>
              <a:t>Main</a:t>
            </a:r>
            <a:r>
              <a:rPr lang="en-US" sz="1600" b="1" spc="-30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Functions:</a:t>
            </a:r>
            <a:endParaRPr lang="en-US" sz="1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600" b="1" spc="-10" dirty="0">
                <a:latin typeface="Calibri"/>
                <a:cs typeface="Calibri"/>
              </a:rPr>
              <a:t>Workflow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b="1" spc="-10" dirty="0">
                <a:latin typeface="Calibri"/>
                <a:cs typeface="Calibri"/>
              </a:rPr>
              <a:t>Management</a:t>
            </a:r>
            <a:r>
              <a:rPr lang="en-US" sz="1600" spc="-10" dirty="0">
                <a:latin typeface="Calibri"/>
                <a:cs typeface="Calibri"/>
              </a:rPr>
              <a:t>: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Defines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manages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job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sequences.</a:t>
            </a:r>
            <a:endParaRPr lang="en-US" sz="1600" dirty="0">
              <a:latin typeface="Calibri"/>
              <a:cs typeface="Calibri"/>
            </a:endParaRPr>
          </a:p>
          <a:p>
            <a:pPr marL="756285" marR="88900" lvl="1" indent="-287020">
              <a:lnSpc>
                <a:spcPts val="1730"/>
              </a:lnSpc>
              <a:spcBef>
                <a:spcPts val="51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600" b="1" dirty="0">
                <a:latin typeface="Calibri"/>
                <a:cs typeface="Calibri"/>
              </a:rPr>
              <a:t>Coordination</a:t>
            </a:r>
            <a:r>
              <a:rPr lang="en-US" sz="1600" dirty="0">
                <a:latin typeface="Calibri"/>
                <a:cs typeface="Calibri"/>
              </a:rPr>
              <a:t>: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Manages</a:t>
            </a:r>
            <a:r>
              <a:rPr lang="en-US" sz="1600" spc="-5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job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dependencies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5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schedules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based </a:t>
            </a:r>
            <a:r>
              <a:rPr lang="en-US" sz="1600" dirty="0">
                <a:latin typeface="Calibri"/>
                <a:cs typeface="Calibri"/>
              </a:rPr>
              <a:t>on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time</a:t>
            </a:r>
            <a:r>
              <a:rPr lang="en-US" sz="1600" spc="-3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data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availability.</a:t>
            </a:r>
            <a:endParaRPr lang="en-US" sz="1600" dirty="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85"/>
              </a:spcBef>
              <a:buFont typeface="Arial MT"/>
              <a:buChar char="•"/>
              <a:tabLst>
                <a:tab pos="756285" algn="l"/>
              </a:tabLst>
            </a:pPr>
            <a:r>
              <a:rPr lang="en-US" sz="1600" b="1" dirty="0">
                <a:latin typeface="Calibri"/>
                <a:cs typeface="Calibri"/>
              </a:rPr>
              <a:t>Retry</a:t>
            </a:r>
            <a:r>
              <a:rPr lang="en-US" sz="1600" b="1" spc="-4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Mechanism</a:t>
            </a:r>
            <a:r>
              <a:rPr lang="en-US" sz="1600" dirty="0">
                <a:latin typeface="Calibri"/>
                <a:cs typeface="Calibri"/>
              </a:rPr>
              <a:t>:</a:t>
            </a:r>
            <a:r>
              <a:rPr lang="en-US" sz="1600" spc="-4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Automatically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retries</a:t>
            </a:r>
            <a:r>
              <a:rPr lang="en-US" sz="1600" spc="-20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failed</a:t>
            </a:r>
            <a:r>
              <a:rPr lang="en-US" sz="1600" spc="-7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jobs.</a:t>
            </a:r>
            <a:endParaRPr lang="en-US" sz="1600" dirty="0">
              <a:latin typeface="Calibri"/>
              <a:cs typeface="Calibri"/>
            </a:endParaRPr>
          </a:p>
          <a:p>
            <a:pPr marL="241300" marR="215900" indent="-228600" algn="just">
              <a:lnSpc>
                <a:spcPts val="1730"/>
              </a:lnSpc>
              <a:spcBef>
                <a:spcPts val="1019"/>
              </a:spcBef>
              <a:buFont typeface="Arial MT"/>
              <a:buChar char="•"/>
              <a:tabLst>
                <a:tab pos="241300" algn="l"/>
                <a:tab pos="242570" algn="l"/>
              </a:tabLst>
            </a:pPr>
            <a:r>
              <a:rPr lang="en-US" sz="1600" dirty="0">
                <a:latin typeface="Calibri"/>
                <a:cs typeface="Calibri"/>
              </a:rPr>
              <a:t>	</a:t>
            </a:r>
            <a:r>
              <a:rPr lang="en-US" sz="1600" b="1" dirty="0">
                <a:latin typeface="Calibri"/>
                <a:cs typeface="Calibri"/>
              </a:rPr>
              <a:t>Use</a:t>
            </a:r>
            <a:r>
              <a:rPr lang="en-US" sz="1600" b="1" spc="-35" dirty="0">
                <a:latin typeface="Calibri"/>
                <a:cs typeface="Calibri"/>
              </a:rPr>
              <a:t> </a:t>
            </a:r>
            <a:r>
              <a:rPr lang="en-US" sz="1600" b="1" dirty="0">
                <a:latin typeface="Calibri"/>
                <a:cs typeface="Calibri"/>
              </a:rPr>
              <a:t>Cases</a:t>
            </a:r>
            <a:r>
              <a:rPr lang="en-US" sz="1600" dirty="0">
                <a:latin typeface="Calibri"/>
                <a:cs typeface="Calibri"/>
              </a:rPr>
              <a:t>: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ETL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workflows,</a:t>
            </a:r>
            <a:r>
              <a:rPr lang="en-US" sz="1600" spc="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batch</a:t>
            </a:r>
            <a:r>
              <a:rPr lang="en-US" sz="1600" spc="-3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processing,</a:t>
            </a:r>
            <a:r>
              <a:rPr lang="en-US" sz="1600" spc="-1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and</a:t>
            </a:r>
            <a:r>
              <a:rPr lang="en-US" sz="1600" spc="-45" dirty="0">
                <a:latin typeface="Calibri"/>
                <a:cs typeface="Calibri"/>
              </a:rPr>
              <a:t> </a:t>
            </a:r>
            <a:r>
              <a:rPr lang="en-US" sz="1600" dirty="0">
                <a:latin typeface="Calibri"/>
                <a:cs typeface="Calibri"/>
              </a:rPr>
              <a:t>managing</a:t>
            </a:r>
            <a:r>
              <a:rPr lang="en-US" sz="1600" spc="-60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complex </a:t>
            </a:r>
            <a:r>
              <a:rPr lang="en-US" sz="1600" dirty="0">
                <a:latin typeface="Calibri"/>
                <a:cs typeface="Calibri"/>
              </a:rPr>
              <a:t>job</a:t>
            </a:r>
            <a:r>
              <a:rPr lang="en-US" sz="1600" spc="-25" dirty="0">
                <a:latin typeface="Calibri"/>
                <a:cs typeface="Calibri"/>
              </a:rPr>
              <a:t> </a:t>
            </a:r>
            <a:r>
              <a:rPr lang="en-US" sz="1600" spc="-10" dirty="0">
                <a:latin typeface="Calibri"/>
                <a:cs typeface="Calibri"/>
              </a:rPr>
              <a:t>dependencies.</a:t>
            </a:r>
            <a:endParaRPr lang="en-US" sz="16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207884" y="1877441"/>
            <a:ext cx="4553331" cy="153782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286242" y="905542"/>
            <a:ext cx="2233702" cy="57058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Zookeeper</a:t>
            </a:r>
            <a:endParaRPr sz="280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485EF-5B2E-B9FA-D743-D618D652D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7963444" cy="4991039"/>
          </a:xfrm>
        </p:spPr>
        <p:txBody>
          <a:bodyPr>
            <a:normAutofit fontScale="92500" lnSpcReduction="10000"/>
          </a:bodyPr>
          <a:lstStyle/>
          <a:p>
            <a:pPr marL="241300" indent="-228600">
              <a:lnSpc>
                <a:spcPts val="2055"/>
              </a:lnSpc>
              <a:spcBef>
                <a:spcPts val="95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 err="1">
                <a:latin typeface="Calibri"/>
                <a:cs typeface="Calibri"/>
              </a:rPr>
              <a:t>ZooKeeper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solidFill>
                  <a:srgbClr val="FF0000"/>
                </a:solidFill>
                <a:latin typeface="Calibri"/>
                <a:cs typeface="Calibri"/>
              </a:rPr>
              <a:t>centralized</a:t>
            </a:r>
            <a:r>
              <a:rPr lang="en-US" sz="20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Calibri"/>
                <a:cs typeface="Calibri"/>
              </a:rPr>
              <a:t>service</a:t>
            </a:r>
            <a:r>
              <a:rPr lang="en-US" sz="2000" spc="-5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coordinating</a:t>
            </a:r>
            <a:endParaRPr lang="en-US" sz="2000" dirty="0">
              <a:latin typeface="Calibri"/>
              <a:cs typeface="Calibri"/>
            </a:endParaRPr>
          </a:p>
          <a:p>
            <a:pPr marL="241300">
              <a:lnSpc>
                <a:spcPts val="2055"/>
              </a:lnSpc>
            </a:pPr>
            <a:r>
              <a:rPr lang="en-US" sz="2000" spc="-10" dirty="0">
                <a:latin typeface="Calibri"/>
                <a:cs typeface="Calibri"/>
              </a:rPr>
              <a:t>distributed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applications.</a:t>
            </a:r>
            <a:endParaRPr lang="en-US" sz="2000" dirty="0">
              <a:latin typeface="Calibri"/>
              <a:cs typeface="Calibri"/>
            </a:endParaRPr>
          </a:p>
          <a:p>
            <a:pPr marL="241300" marR="288290" indent="-229235">
              <a:lnSpc>
                <a:spcPct val="80000"/>
              </a:lnSpc>
              <a:spcBef>
                <a:spcPts val="1000"/>
              </a:spcBef>
              <a:buFont typeface="Arial MT"/>
              <a:buChar char="•"/>
              <a:tabLst>
                <a:tab pos="241300" algn="l"/>
              </a:tabLst>
            </a:pPr>
            <a:r>
              <a:rPr lang="en-US" sz="2000" spc="-10" dirty="0" err="1">
                <a:latin typeface="Calibri"/>
                <a:cs typeface="Calibri"/>
              </a:rPr>
              <a:t>ZooKeeper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plays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critical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role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ecosystem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other distributed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systems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by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helping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maintain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distributed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state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 </a:t>
            </a:r>
            <a:r>
              <a:rPr lang="en-US" sz="2000" dirty="0">
                <a:latin typeface="Calibri"/>
                <a:cs typeface="Calibri"/>
              </a:rPr>
              <a:t>providing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reliable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way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work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together.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lang="en-US" sz="2000" b="1" dirty="0">
                <a:latin typeface="Calibri"/>
                <a:cs typeface="Calibri"/>
              </a:rPr>
              <a:t>Key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Features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6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Apache</a:t>
            </a:r>
            <a:r>
              <a:rPr lang="en-US" sz="2000" b="1" spc="-25" dirty="0">
                <a:latin typeface="Calibri"/>
                <a:cs typeface="Calibri"/>
              </a:rPr>
              <a:t> </a:t>
            </a:r>
            <a:r>
              <a:rPr lang="en-US" sz="2000" b="1" spc="-10" dirty="0" err="1">
                <a:latin typeface="Calibri"/>
                <a:cs typeface="Calibri"/>
              </a:rPr>
              <a:t>ZooKeeper</a:t>
            </a:r>
            <a:endParaRPr lang="en-US" sz="2000" dirty="0">
              <a:latin typeface="Calibri"/>
              <a:cs typeface="Calibri"/>
            </a:endParaRPr>
          </a:p>
          <a:p>
            <a:pPr marL="469900" marR="490855" indent="-457834">
              <a:lnSpc>
                <a:spcPts val="1820"/>
              </a:lnSpc>
              <a:spcBef>
                <a:spcPts val="985"/>
              </a:spcBef>
              <a:buAutoNum type="arabicPeriod"/>
              <a:tabLst>
                <a:tab pos="4699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Centralized</a:t>
            </a:r>
            <a:r>
              <a:rPr lang="en-US" sz="2000" b="1" spc="-7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Configuration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 err="1">
                <a:latin typeface="Calibri"/>
                <a:cs typeface="Calibri"/>
              </a:rPr>
              <a:t>ZooKeeper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stores configuration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data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centralized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manner,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allowing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distributed applications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modify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configuration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settings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easily.</a:t>
            </a:r>
            <a:endParaRPr lang="en-US" sz="2000" dirty="0">
              <a:latin typeface="Calibri"/>
              <a:cs typeface="Calibri"/>
            </a:endParaRPr>
          </a:p>
          <a:p>
            <a:pPr marL="469900" marR="314960" indent="-457834">
              <a:lnSpc>
                <a:spcPct val="80000"/>
              </a:lnSpc>
              <a:spcBef>
                <a:spcPts val="1019"/>
              </a:spcBef>
              <a:buAutoNum type="arabicPeriod"/>
              <a:tabLst>
                <a:tab pos="469900" algn="l"/>
              </a:tabLst>
            </a:pPr>
            <a:r>
              <a:rPr lang="en-US" sz="2000" b="1" dirty="0">
                <a:latin typeface="Calibri"/>
                <a:cs typeface="Calibri"/>
              </a:rPr>
              <a:t>Naming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Service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provides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naming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registry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distributed </a:t>
            </a:r>
            <a:r>
              <a:rPr lang="en-US" sz="2000" dirty="0">
                <a:latin typeface="Calibri"/>
                <a:cs typeface="Calibri"/>
              </a:rPr>
              <a:t>services,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allowing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them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find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each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other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resources dynamically.</a:t>
            </a:r>
            <a:endParaRPr lang="en-US" sz="2000" dirty="0">
              <a:latin typeface="Calibri"/>
              <a:cs typeface="Calibri"/>
            </a:endParaRPr>
          </a:p>
          <a:p>
            <a:pPr marL="469900" marR="5080" indent="-457834">
              <a:lnSpc>
                <a:spcPct val="80000"/>
              </a:lnSpc>
              <a:spcBef>
                <a:spcPts val="1010"/>
              </a:spcBef>
              <a:buAutoNum type="arabicPeriod"/>
              <a:tabLst>
                <a:tab pos="469900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Synchronization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 err="1">
                <a:latin typeface="Calibri"/>
                <a:cs typeface="Calibri"/>
              </a:rPr>
              <a:t>ZooKeeper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helps</a:t>
            </a:r>
            <a:r>
              <a:rPr lang="en-US" sz="2000" spc="-8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synchronize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distributed processes,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ensuring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they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work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coordination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without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conflicts.</a:t>
            </a:r>
            <a:endParaRPr lang="en-US" sz="2000" dirty="0">
              <a:latin typeface="Calibri"/>
              <a:cs typeface="Calibri"/>
            </a:endParaRPr>
          </a:p>
          <a:p>
            <a:pPr marL="469900" marR="370205" indent="-457834">
              <a:lnSpc>
                <a:spcPct val="80000"/>
              </a:lnSpc>
              <a:spcBef>
                <a:spcPts val="994"/>
              </a:spcBef>
              <a:buAutoNum type="arabicPeriod"/>
              <a:tabLst>
                <a:tab pos="469900" algn="l"/>
              </a:tabLst>
            </a:pPr>
            <a:r>
              <a:rPr lang="en-US" sz="2000" b="1" dirty="0">
                <a:latin typeface="Calibri"/>
                <a:cs typeface="Calibri"/>
              </a:rPr>
              <a:t>Group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Supports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creation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management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groups,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enabling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services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7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join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7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leave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groups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dynamically.</a:t>
            </a:r>
            <a:endParaRPr lang="en-US" sz="2000" dirty="0">
              <a:latin typeface="Calibri"/>
              <a:cs typeface="Calibri"/>
            </a:endParaRPr>
          </a:p>
          <a:p>
            <a:pPr marL="469900" marR="216535" indent="-457834">
              <a:lnSpc>
                <a:spcPts val="1830"/>
              </a:lnSpc>
              <a:spcBef>
                <a:spcPts val="980"/>
              </a:spcBef>
              <a:buAutoNum type="arabicPeriod"/>
              <a:tabLst>
                <a:tab pos="469900" algn="l"/>
              </a:tabLst>
            </a:pPr>
            <a:r>
              <a:rPr lang="en-US" sz="2000" b="1" spc="-20" dirty="0">
                <a:latin typeface="Calibri"/>
                <a:cs typeface="Calibri"/>
              </a:rPr>
              <a:t>Watchers</a:t>
            </a:r>
            <a:r>
              <a:rPr lang="en-US" sz="2000" spc="-20" dirty="0">
                <a:latin typeface="Calibri"/>
                <a:cs typeface="Calibri"/>
              </a:rPr>
              <a:t>: </a:t>
            </a:r>
            <a:r>
              <a:rPr lang="en-US" sz="2000" spc="-10" dirty="0" err="1">
                <a:latin typeface="Calibri"/>
                <a:cs typeface="Calibri"/>
              </a:rPr>
              <a:t>ZooKeeper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set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watchers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on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nodes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get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notified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of </a:t>
            </a:r>
            <a:r>
              <a:rPr lang="en-US" sz="2000" dirty="0">
                <a:latin typeface="Calibri"/>
                <a:cs typeface="Calibri"/>
              </a:rPr>
              <a:t>changes,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applications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react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changes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state.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88373" y="704913"/>
            <a:ext cx="1923585" cy="111671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4113" y="2269363"/>
            <a:ext cx="3454772" cy="231927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solidFill>
            <a:srgbClr val="673379"/>
          </a:solidFill>
        </p:spPr>
        <p:txBody>
          <a:bodyPr vert="horz" wrap="square" lIns="0" tIns="116205" rIns="0" bIns="0" rtlCol="0">
            <a:spAutoFit/>
          </a:bodyPr>
          <a:lstStyle/>
          <a:p>
            <a:pPr marL="91440">
              <a:lnSpc>
                <a:spcPct val="100000"/>
              </a:lnSpc>
              <a:spcBef>
                <a:spcPts val="915"/>
              </a:spcBef>
            </a:pPr>
            <a:r>
              <a:rPr sz="2800" dirty="0">
                <a:solidFill>
                  <a:srgbClr val="FFFFFF"/>
                </a:solidFill>
              </a:rPr>
              <a:t>Apache</a:t>
            </a:r>
            <a:r>
              <a:rPr sz="2800" spc="-30" dirty="0">
                <a:solidFill>
                  <a:srgbClr val="FFFFFF"/>
                </a:solidFill>
              </a:rPr>
              <a:t> </a:t>
            </a:r>
            <a:r>
              <a:rPr sz="2800" spc="-10" dirty="0">
                <a:solidFill>
                  <a:srgbClr val="FFFFFF"/>
                </a:solidFill>
              </a:rPr>
              <a:t>Ambari</a:t>
            </a:r>
            <a:endParaRPr sz="280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951CDAE-FE5A-5CF3-E54D-996CD266DF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086" y="1706007"/>
            <a:ext cx="6906248" cy="4991039"/>
          </a:xfrm>
        </p:spPr>
        <p:txBody>
          <a:bodyPr>
            <a:normAutofit fontScale="62500" lnSpcReduction="20000"/>
          </a:bodyPr>
          <a:lstStyle/>
          <a:p>
            <a:pPr marL="240665" indent="-227965">
              <a:lnSpc>
                <a:spcPts val="1595"/>
              </a:lnSpc>
              <a:spcBef>
                <a:spcPts val="10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Ambari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web-</a:t>
            </a:r>
            <a:r>
              <a:rPr lang="en-US" sz="2000" dirty="0">
                <a:latin typeface="Calibri"/>
                <a:cs typeface="Calibri"/>
              </a:rPr>
              <a:t>based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tool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designed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provisioning,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managing,</a:t>
            </a:r>
            <a:r>
              <a:rPr lang="en-US" sz="2000" spc="-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monitoring</a:t>
            </a:r>
            <a:endParaRPr lang="en-US" sz="2000" dirty="0">
              <a:latin typeface="Calibri"/>
              <a:cs typeface="Calibri"/>
            </a:endParaRPr>
          </a:p>
          <a:p>
            <a:pPr marL="240665">
              <a:lnSpc>
                <a:spcPts val="1595"/>
              </a:lnSpc>
            </a:pPr>
            <a:r>
              <a:rPr lang="en-US" sz="2000" dirty="0">
                <a:latin typeface="Calibri"/>
                <a:cs typeface="Calibri"/>
              </a:rPr>
              <a:t>Apache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clusters.</a:t>
            </a:r>
            <a:endParaRPr lang="en-US" sz="2000" dirty="0">
              <a:latin typeface="Calibri"/>
              <a:cs typeface="Calibri"/>
            </a:endParaRPr>
          </a:p>
          <a:p>
            <a:pPr marL="240665" marR="369570" indent="-228600">
              <a:lnSpc>
                <a:spcPts val="1510"/>
              </a:lnSpc>
              <a:spcBef>
                <a:spcPts val="103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provides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user-</a:t>
            </a:r>
            <a:r>
              <a:rPr lang="en-US" sz="2000" dirty="0">
                <a:latin typeface="Calibri"/>
                <a:cs typeface="Calibri"/>
              </a:rPr>
              <a:t>friendly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interface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that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simplifies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management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complex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Hadoop environments,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making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easier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administrators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operators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deploy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 various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components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ecosystem.</a:t>
            </a:r>
            <a:endParaRPr lang="en-US"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lang="en-US" sz="2000" b="1" dirty="0">
                <a:latin typeface="Calibri"/>
                <a:cs typeface="Calibri"/>
              </a:rPr>
              <a:t>Key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Features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of</a:t>
            </a:r>
            <a:r>
              <a:rPr lang="en-US" sz="2000" b="1" spc="-3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Apache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Ambari</a:t>
            </a:r>
            <a:endParaRPr lang="en-US" sz="2000" dirty="0">
              <a:latin typeface="Calibri"/>
              <a:cs typeface="Calibri"/>
            </a:endParaRPr>
          </a:p>
          <a:p>
            <a:pPr marL="240665" marR="16510" indent="-228600">
              <a:lnSpc>
                <a:spcPct val="90100"/>
              </a:lnSpc>
              <a:spcBef>
                <a:spcPts val="994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dirty="0">
                <a:latin typeface="Calibri"/>
                <a:cs typeface="Calibri"/>
              </a:rPr>
              <a:t>Cluster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Provisioning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Ambari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simplifies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10" dirty="0">
                <a:latin typeface="Calibri"/>
                <a:cs typeface="Calibri"/>
              </a:rPr>
              <a:t> installation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configuration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clusters, </a:t>
            </a:r>
            <a:r>
              <a:rPr lang="en-US" sz="2000" dirty="0">
                <a:latin typeface="Calibri"/>
                <a:cs typeface="Calibri"/>
              </a:rPr>
              <a:t>allowing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easily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add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remove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nodes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guided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installation wizard.</a:t>
            </a:r>
            <a:endParaRPr lang="en-US" sz="2000" dirty="0">
              <a:latin typeface="Calibri"/>
              <a:cs typeface="Calibri"/>
            </a:endParaRPr>
          </a:p>
          <a:p>
            <a:pPr marL="240665" marR="292100" indent="-228600">
              <a:lnSpc>
                <a:spcPts val="1510"/>
              </a:lnSpc>
              <a:spcBef>
                <a:spcPts val="103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dirty="0">
                <a:latin typeface="Calibri"/>
                <a:cs typeface="Calibri"/>
              </a:rPr>
              <a:t>Service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6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Users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start,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stop,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restart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various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(such</a:t>
            </a:r>
            <a:r>
              <a:rPr lang="en-US" sz="2000" spc="-25" dirty="0">
                <a:latin typeface="Calibri"/>
                <a:cs typeface="Calibri"/>
              </a:rPr>
              <a:t> as </a:t>
            </a:r>
            <a:r>
              <a:rPr lang="en-US" sz="2000" dirty="0">
                <a:latin typeface="Calibri"/>
                <a:cs typeface="Calibri"/>
              </a:rPr>
              <a:t>HDFS,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20" dirty="0">
                <a:latin typeface="Calibri"/>
                <a:cs typeface="Calibri"/>
              </a:rPr>
              <a:t>YARN,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Hive,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HBase,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etc.)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through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Ambari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interface.</a:t>
            </a:r>
            <a:endParaRPr lang="en-US" sz="2000" dirty="0">
              <a:latin typeface="Calibri"/>
              <a:cs typeface="Calibri"/>
            </a:endParaRPr>
          </a:p>
          <a:p>
            <a:pPr marL="239395" marR="363855" indent="-227329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dirty="0">
                <a:latin typeface="Calibri"/>
                <a:cs typeface="Calibri"/>
              </a:rPr>
              <a:t>Monitoring</a:t>
            </a:r>
            <a:r>
              <a:rPr lang="en-US" sz="2000" b="1" spc="-5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and</a:t>
            </a:r>
            <a:r>
              <a:rPr lang="en-US" sz="2000" b="1" spc="-4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Alerts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Ambari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provides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dashboards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real-</a:t>
            </a:r>
            <a:r>
              <a:rPr lang="en-US" sz="2000" dirty="0">
                <a:latin typeface="Calibri"/>
                <a:cs typeface="Calibri"/>
              </a:rPr>
              <a:t>time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monitoring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cluster 	</a:t>
            </a:r>
            <a:r>
              <a:rPr lang="en-US" sz="2000" dirty="0">
                <a:latin typeface="Calibri"/>
                <a:cs typeface="Calibri"/>
              </a:rPr>
              <a:t>health,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metrics,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resource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usage.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also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supports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setting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up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alerts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various 	cluster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events</a:t>
            </a:r>
            <a:r>
              <a:rPr lang="en-US" sz="2000" dirty="0">
                <a:latin typeface="Calibri"/>
                <a:cs typeface="Calibri"/>
              </a:rPr>
              <a:t> or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metrics.</a:t>
            </a:r>
            <a:endParaRPr lang="en-US" sz="2000" dirty="0">
              <a:latin typeface="Calibri"/>
              <a:cs typeface="Calibri"/>
            </a:endParaRPr>
          </a:p>
          <a:p>
            <a:pPr marL="239395" marR="325755" indent="-227329" algn="just">
              <a:lnSpc>
                <a:spcPts val="1510"/>
              </a:lnSpc>
              <a:spcBef>
                <a:spcPts val="1000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Configuration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5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It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easy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management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of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configuration settings</a:t>
            </a:r>
            <a:r>
              <a:rPr lang="en-US" sz="2000" spc="5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for 	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services,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including</a:t>
            </a:r>
            <a:r>
              <a:rPr lang="en-US" sz="2000" spc="-1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ability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3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apply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configurations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in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centralized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manner.</a:t>
            </a:r>
            <a:endParaRPr lang="en-US" sz="2000" dirty="0">
              <a:latin typeface="Calibri"/>
              <a:cs typeface="Calibri"/>
            </a:endParaRPr>
          </a:p>
          <a:p>
            <a:pPr marL="240665" marR="5080" indent="-228600">
              <a:lnSpc>
                <a:spcPts val="1510"/>
              </a:lnSpc>
              <a:spcBef>
                <a:spcPts val="101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dirty="0">
                <a:latin typeface="Calibri"/>
                <a:cs typeface="Calibri"/>
              </a:rPr>
              <a:t>User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spc="-10" dirty="0">
                <a:latin typeface="Calibri"/>
                <a:cs typeface="Calibri"/>
              </a:rPr>
              <a:t>Management</a:t>
            </a:r>
            <a:r>
              <a:rPr lang="en-US" sz="2000" spc="-10" dirty="0">
                <a:latin typeface="Calibri"/>
                <a:cs typeface="Calibri"/>
              </a:rPr>
              <a:t>: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Administrators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can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manage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users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their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permissions,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ensuring</a:t>
            </a:r>
            <a:r>
              <a:rPr lang="en-US" sz="2000" spc="-1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secure </a:t>
            </a:r>
            <a:r>
              <a:rPr lang="en-US" sz="2000" dirty="0">
                <a:latin typeface="Calibri"/>
                <a:cs typeface="Calibri"/>
              </a:rPr>
              <a:t>access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to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cluster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resources</a:t>
            </a:r>
            <a:r>
              <a:rPr lang="en-US" sz="2000" spc="-5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configurations.</a:t>
            </a:r>
            <a:endParaRPr lang="en-US" sz="2000" dirty="0">
              <a:latin typeface="Calibri"/>
              <a:cs typeface="Calibri"/>
            </a:endParaRPr>
          </a:p>
          <a:p>
            <a:pPr marL="239395" marR="313690" indent="-227329" algn="just">
              <a:lnSpc>
                <a:spcPct val="90100"/>
              </a:lnSpc>
              <a:spcBef>
                <a:spcPts val="975"/>
              </a:spcBef>
              <a:buFont typeface="Arial MT"/>
              <a:buChar char="•"/>
              <a:tabLst>
                <a:tab pos="240665" algn="l"/>
              </a:tabLst>
            </a:pPr>
            <a:r>
              <a:rPr lang="en-US" sz="2000" b="1" spc="-10" dirty="0">
                <a:latin typeface="Calibri"/>
                <a:cs typeface="Calibri"/>
              </a:rPr>
              <a:t>Integration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with</a:t>
            </a:r>
            <a:r>
              <a:rPr lang="en-US" sz="2000" b="1" spc="-6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Ambari</a:t>
            </a:r>
            <a:r>
              <a:rPr lang="en-US" sz="2000" b="1" spc="-35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Metrics</a:t>
            </a:r>
            <a:r>
              <a:rPr lang="en-US" sz="2000" b="1" spc="-4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and</a:t>
            </a:r>
            <a:r>
              <a:rPr lang="en-US" sz="2000" b="1" spc="-50" dirty="0">
                <a:latin typeface="Calibri"/>
                <a:cs typeface="Calibri"/>
              </a:rPr>
              <a:t> </a:t>
            </a:r>
            <a:r>
              <a:rPr lang="en-US" sz="2000" b="1" dirty="0">
                <a:latin typeface="Calibri"/>
                <a:cs typeface="Calibri"/>
              </a:rPr>
              <a:t>Alerts</a:t>
            </a:r>
            <a:r>
              <a:rPr lang="en-US" sz="2000" dirty="0">
                <a:latin typeface="Calibri"/>
                <a:cs typeface="Calibri"/>
              </a:rPr>
              <a:t>: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Supports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the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collection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and</a:t>
            </a:r>
            <a:r>
              <a:rPr lang="en-US" sz="2000" spc="-2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visualization </a:t>
            </a:r>
            <a:r>
              <a:rPr lang="en-US" sz="2000" spc="-25" dirty="0">
                <a:latin typeface="Calibri"/>
                <a:cs typeface="Calibri"/>
              </a:rPr>
              <a:t>of 	</a:t>
            </a:r>
            <a:r>
              <a:rPr lang="en-US" sz="2000" dirty="0">
                <a:latin typeface="Calibri"/>
                <a:cs typeface="Calibri"/>
              </a:rPr>
              <a:t>metrics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from</a:t>
            </a:r>
            <a:r>
              <a:rPr lang="en-US" sz="2000" spc="-6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different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Hadoop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components,</a:t>
            </a:r>
            <a:r>
              <a:rPr lang="en-US" sz="2000" spc="-30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allowing</a:t>
            </a:r>
            <a:r>
              <a:rPr lang="en-US" sz="2000" spc="-45" dirty="0">
                <a:latin typeface="Calibri"/>
                <a:cs typeface="Calibri"/>
              </a:rPr>
              <a:t> </a:t>
            </a:r>
            <a:r>
              <a:rPr lang="en-US" sz="2000" dirty="0">
                <a:latin typeface="Calibri"/>
                <a:cs typeface="Calibri"/>
              </a:rPr>
              <a:t>for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comprehensive</a:t>
            </a:r>
            <a:r>
              <a:rPr lang="en-US" sz="2000" spc="-25" dirty="0">
                <a:latin typeface="Calibri"/>
                <a:cs typeface="Calibri"/>
              </a:rPr>
              <a:t> </a:t>
            </a:r>
            <a:r>
              <a:rPr lang="en-US" sz="2000" spc="-10" dirty="0">
                <a:latin typeface="Calibri"/>
                <a:cs typeface="Calibri"/>
              </a:rPr>
              <a:t>monitoring</a:t>
            </a:r>
            <a:r>
              <a:rPr lang="en-US" sz="2000" spc="-40" dirty="0">
                <a:latin typeface="Calibri"/>
                <a:cs typeface="Calibri"/>
              </a:rPr>
              <a:t> </a:t>
            </a:r>
            <a:r>
              <a:rPr lang="en-US" sz="2000" spc="-25" dirty="0">
                <a:latin typeface="Calibri"/>
                <a:cs typeface="Calibri"/>
              </a:rPr>
              <a:t>and 	</a:t>
            </a:r>
            <a:r>
              <a:rPr lang="en-US" sz="2000" spc="-10" dirty="0">
                <a:latin typeface="Calibri"/>
                <a:cs typeface="Calibri"/>
              </a:rPr>
              <a:t>alerting.</a:t>
            </a:r>
            <a:endParaRPr lang="en-US" sz="20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30268" y="962385"/>
            <a:ext cx="1234318" cy="5072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95943" y="5071481"/>
            <a:ext cx="2127124" cy="150486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9131" y="1705991"/>
            <a:ext cx="4743196" cy="298653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6839</TotalTime>
  <Words>3622</Words>
  <Application>Microsoft Office PowerPoint</Application>
  <PresentationFormat>Widescreen</PresentationFormat>
  <Paragraphs>314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Arial MT</vt:lpstr>
      <vt:lpstr>Calibri</vt:lpstr>
      <vt:lpstr>Calibri Light</vt:lpstr>
      <vt:lpstr>Office Theme</vt:lpstr>
      <vt:lpstr>307401 Big Data and Data Warehouses</vt:lpstr>
      <vt:lpstr>Types of Processing in Computing</vt:lpstr>
      <vt:lpstr>Speedup Concept</vt:lpstr>
      <vt:lpstr>Introduction to Hadoop</vt:lpstr>
      <vt:lpstr>History of Hadoop</vt:lpstr>
      <vt:lpstr>Hadoop Echo System</vt:lpstr>
      <vt:lpstr>HDFS – Hadoop Distributed File System</vt:lpstr>
      <vt:lpstr>YARN, Yet Another Resource Negotiator</vt:lpstr>
      <vt:lpstr>MapReduce</vt:lpstr>
      <vt:lpstr>Workflow Scenario from the Client to NameNode/DataNode with Internals and Subcomponent</vt:lpstr>
      <vt:lpstr>Map Reduce Movie Count Example</vt:lpstr>
      <vt:lpstr>Hive-Data Warehouse on Top of Hadoop</vt:lpstr>
      <vt:lpstr>Sample Hive Commands – Declarative, SQL Like Commands</vt:lpstr>
      <vt:lpstr>Apache PIG – High Level SQL Like Language on top of Hadoop</vt:lpstr>
      <vt:lpstr>Sample Pig Programming Language Commands</vt:lpstr>
      <vt:lpstr>Apache HBase - Distributed Database on top of Hadoop</vt:lpstr>
      <vt:lpstr>Key Features of HBase</vt:lpstr>
      <vt:lpstr>Apache Spark</vt:lpstr>
      <vt:lpstr>Basic Spark Example: Word Count in PySpark</vt:lpstr>
      <vt:lpstr>Apache Storm – Stream Processing on top of Hadoop</vt:lpstr>
      <vt:lpstr>Apache Flume</vt:lpstr>
      <vt:lpstr>Apache Kafka - Stream Processing on top of Hadoop</vt:lpstr>
      <vt:lpstr>Apache Sqoop</vt:lpstr>
      <vt:lpstr>Apache Oozie</vt:lpstr>
      <vt:lpstr>Apache Zookeeper</vt:lpstr>
      <vt:lpstr>Apache Ambari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Distribution Functions</dc:title>
  <dc:creator>Mohammed Fasha</dc:creator>
  <cp:lastModifiedBy>Mohammed Fasha</cp:lastModifiedBy>
  <cp:revision>827</cp:revision>
  <dcterms:created xsi:type="dcterms:W3CDTF">2023-03-26T11:17:23Z</dcterms:created>
  <dcterms:modified xsi:type="dcterms:W3CDTF">2025-03-12T05:27:58Z</dcterms:modified>
</cp:coreProperties>
</file>