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747" y="103631"/>
            <a:ext cx="403859" cy="52860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628" y="189174"/>
            <a:ext cx="2020606" cy="5710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8618" y="45690"/>
            <a:ext cx="1163591" cy="58603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38800" y="278891"/>
            <a:ext cx="914400" cy="12054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645" y="2380310"/>
            <a:ext cx="5664708" cy="1068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747" y="103631"/>
            <a:ext cx="403859" cy="56997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92" y="161544"/>
            <a:ext cx="2121408" cy="635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4056" y="41148"/>
            <a:ext cx="1172718" cy="5951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99747" y="103631"/>
            <a:ext cx="403859" cy="52860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9628" y="189174"/>
            <a:ext cx="2020606" cy="5710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58618" y="45690"/>
            <a:ext cx="1163591" cy="5860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0844" y="3441903"/>
            <a:ext cx="10370311" cy="1329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08115"/>
            <a:ext cx="10092055" cy="4636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2540">
              <a:lnSpc>
                <a:spcPts val="4105"/>
              </a:lnSpc>
              <a:spcBef>
                <a:spcPts val="100"/>
              </a:spcBef>
            </a:pPr>
            <a:r>
              <a:rPr dirty="0" sz="3600" spc="-10"/>
              <a:t>307401</a:t>
            </a:r>
            <a:endParaRPr sz="3600"/>
          </a:p>
          <a:p>
            <a:pPr algn="ctr" marL="2540">
              <a:lnSpc>
                <a:spcPts val="4105"/>
              </a:lnSpc>
            </a:pPr>
            <a:r>
              <a:rPr dirty="0" sz="3600"/>
              <a:t>Big</a:t>
            </a:r>
            <a:r>
              <a:rPr dirty="0" sz="3600" spc="-105"/>
              <a:t> </a:t>
            </a:r>
            <a:r>
              <a:rPr dirty="0" sz="3600"/>
              <a:t>Data</a:t>
            </a:r>
            <a:r>
              <a:rPr dirty="0" sz="3600" spc="-95"/>
              <a:t> </a:t>
            </a:r>
            <a:r>
              <a:rPr dirty="0" sz="3600"/>
              <a:t>and</a:t>
            </a:r>
            <a:r>
              <a:rPr dirty="0" sz="3600" spc="-100"/>
              <a:t> </a:t>
            </a:r>
            <a:r>
              <a:rPr dirty="0" sz="3600"/>
              <a:t>Data</a:t>
            </a:r>
            <a:r>
              <a:rPr dirty="0" sz="3600" spc="-95"/>
              <a:t> </a:t>
            </a:r>
            <a:r>
              <a:rPr dirty="0" sz="3600" spc="-10"/>
              <a:t>Warehouses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4604765" y="3579367"/>
            <a:ext cx="2981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Introduction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70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/>
              <a:t>Introduction</a:t>
            </a:r>
            <a:r>
              <a:rPr dirty="0" sz="5000" spc="-120"/>
              <a:t> </a:t>
            </a:r>
            <a:r>
              <a:rPr dirty="0" sz="5000"/>
              <a:t>to</a:t>
            </a:r>
            <a:r>
              <a:rPr dirty="0" sz="5000" spc="-90"/>
              <a:t> </a:t>
            </a:r>
            <a:r>
              <a:rPr dirty="0" sz="5000"/>
              <a:t>Big</a:t>
            </a:r>
            <a:r>
              <a:rPr dirty="0" sz="5000" spc="-100"/>
              <a:t> </a:t>
            </a:r>
            <a:r>
              <a:rPr dirty="0" sz="5000" spc="-20"/>
              <a:t>Data</a:t>
            </a:r>
            <a:endParaRPr sz="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Content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8137525" cy="123063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Welcome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world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Data!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Understanding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Data: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Definition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significance.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Exploring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5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V’s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Data: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Volume,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Velocity, </a:t>
            </a:r>
            <a:r>
              <a:rPr dirty="0" sz="2000" spc="-35">
                <a:latin typeface="Calibri"/>
                <a:cs typeface="Calibri"/>
              </a:rPr>
              <a:t>Variety,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Veracity,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Value.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4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2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a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Nutshell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78000"/>
            <a:ext cx="10203180" cy="49060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1839"/>
              </a:lnSpc>
              <a:spcBef>
                <a:spcPts val="1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evolution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technology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over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past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few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decades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dramatically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transformed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way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generate,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store,</a:t>
            </a:r>
            <a:endParaRPr sz="1700">
              <a:latin typeface="Calibri"/>
              <a:cs typeface="Calibri"/>
            </a:endParaRPr>
          </a:p>
          <a:p>
            <a:pPr marL="241300">
              <a:lnSpc>
                <a:spcPts val="1839"/>
              </a:lnSpc>
            </a:pP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process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data.</a:t>
            </a:r>
            <a:endParaRPr sz="1700">
              <a:latin typeface="Calibri"/>
              <a:cs typeface="Calibri"/>
            </a:endParaRPr>
          </a:p>
          <a:p>
            <a:pPr marL="241300" marR="85090" indent="-229235">
              <a:lnSpc>
                <a:spcPct val="8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early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days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computing,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limited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what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could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managed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traditional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relational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databases. </a:t>
            </a:r>
            <a:r>
              <a:rPr dirty="0" sz="1700" spc="-30">
                <a:latin typeface="Calibri"/>
                <a:cs typeface="Calibri"/>
              </a:rPr>
              <a:t>However,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7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advent</a:t>
            </a:r>
            <a:r>
              <a:rPr dirty="0" sz="17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17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7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internet</a:t>
            </a:r>
            <a:r>
              <a:rPr dirty="0" sz="17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17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the 1990s</a:t>
            </a:r>
            <a:r>
              <a:rPr dirty="0" sz="17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exponential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increase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production,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fueled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the </a:t>
            </a:r>
            <a:r>
              <a:rPr dirty="0" sz="1700">
                <a:latin typeface="Calibri"/>
                <a:cs typeface="Calibri"/>
              </a:rPr>
              <a:t>rise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e-commerce, </a:t>
            </a:r>
            <a:r>
              <a:rPr dirty="0" sz="1700">
                <a:latin typeface="Calibri"/>
                <a:cs typeface="Calibri"/>
              </a:rPr>
              <a:t>social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media,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digitization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countless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industries.</a:t>
            </a:r>
            <a:endParaRPr sz="1700">
              <a:latin typeface="Calibri"/>
              <a:cs typeface="Calibri"/>
            </a:endParaRPr>
          </a:p>
          <a:p>
            <a:pPr marL="241300" marR="151765" indent="-229235">
              <a:lnSpc>
                <a:spcPts val="163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dirty="0" sz="17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devices</a:t>
            </a:r>
            <a:r>
              <a:rPr dirty="0" sz="17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connected</a:t>
            </a:r>
            <a:r>
              <a:rPr dirty="0" sz="17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17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7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internet</a:t>
            </a:r>
            <a:r>
              <a:rPr dirty="0" sz="1700">
                <a:latin typeface="Calibri"/>
                <a:cs typeface="Calibri"/>
              </a:rPr>
              <a:t>,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including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smartphones,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sensors,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IoT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devices,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volume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data </a:t>
            </a:r>
            <a:r>
              <a:rPr dirty="0" sz="1700">
                <a:latin typeface="Calibri"/>
                <a:cs typeface="Calibri"/>
              </a:rPr>
              <a:t>surged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unprecedented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levels.</a:t>
            </a:r>
            <a:endParaRPr sz="1700">
              <a:latin typeface="Calibri"/>
              <a:cs typeface="Calibri"/>
            </a:endParaRPr>
          </a:p>
          <a:p>
            <a:pPr marL="241300" marR="11430" indent="-229235">
              <a:lnSpc>
                <a:spcPts val="163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dirty="0" sz="17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explosion</a:t>
            </a:r>
            <a:r>
              <a:rPr dirty="0" sz="17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highlighted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limitations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traditional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management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processing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tools,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necessitating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development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new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technologies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capable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handling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scale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complexity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modern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data.</a:t>
            </a:r>
            <a:endParaRPr sz="1700">
              <a:latin typeface="Calibri"/>
              <a:cs typeface="Calibri"/>
            </a:endParaRPr>
          </a:p>
          <a:p>
            <a:pPr marL="241300" marR="5080" indent="-229235">
              <a:lnSpc>
                <a:spcPct val="8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 spc="-80">
                <a:latin typeface="Calibri"/>
                <a:cs typeface="Calibri"/>
              </a:rPr>
              <a:t>To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address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challenges,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early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2000s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saw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introduction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groundbreaking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technologies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like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Google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File </a:t>
            </a:r>
            <a:r>
              <a:rPr dirty="0" sz="1700" spc="-10">
                <a:latin typeface="Calibri"/>
                <a:cs typeface="Calibri"/>
              </a:rPr>
              <a:t>System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(GFS)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MapReduce,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which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laid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foundation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scalable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storage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parallel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processing.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ts val="1835"/>
              </a:lnSpc>
              <a:spcBef>
                <a:spcPts val="6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innovations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led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creation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Apache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Hadoop,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open-source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framework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brought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power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of</a:t>
            </a:r>
            <a:endParaRPr sz="170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dirty="0" sz="1700">
                <a:latin typeface="Calibri"/>
                <a:cs typeface="Calibri"/>
              </a:rPr>
              <a:t>GFS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MapReduce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wider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community.</a:t>
            </a:r>
            <a:endParaRPr sz="1700">
              <a:latin typeface="Calibri"/>
              <a:cs typeface="Calibri"/>
            </a:endParaRPr>
          </a:p>
          <a:p>
            <a:pPr marL="241300" marR="342900" indent="-229235">
              <a:lnSpc>
                <a:spcPts val="1630"/>
              </a:lnSpc>
              <a:spcBef>
                <a:spcPts val="9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Alongside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Hadoop,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variety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new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tools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frameworks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emerged,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such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Apache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Spark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in-</a:t>
            </a:r>
            <a:r>
              <a:rPr dirty="0" sz="1700" spc="-10">
                <a:latin typeface="Calibri"/>
                <a:cs typeface="Calibri"/>
              </a:rPr>
              <a:t>memory processing,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Apache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Kafka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0">
                <a:latin typeface="Calibri"/>
                <a:cs typeface="Calibri"/>
              </a:rPr>
              <a:t> real-</a:t>
            </a:r>
            <a:r>
              <a:rPr dirty="0" sz="1700">
                <a:latin typeface="Calibri"/>
                <a:cs typeface="Calibri"/>
              </a:rPr>
              <a:t>time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streaming,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NoSQL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databases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like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MongoDB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Cassandra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for </a:t>
            </a:r>
            <a:r>
              <a:rPr dirty="0" sz="1700">
                <a:latin typeface="Calibri"/>
                <a:cs typeface="Calibri"/>
              </a:rPr>
              <a:t>flexible,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schema-</a:t>
            </a:r>
            <a:r>
              <a:rPr dirty="0" sz="1700">
                <a:latin typeface="Calibri"/>
                <a:cs typeface="Calibri"/>
              </a:rPr>
              <a:t>less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storage.</a:t>
            </a:r>
            <a:endParaRPr sz="1700">
              <a:latin typeface="Calibri"/>
              <a:cs typeface="Calibri"/>
            </a:endParaRPr>
          </a:p>
          <a:p>
            <a:pPr marL="241300" marR="26670" indent="-229235">
              <a:lnSpc>
                <a:spcPct val="80000"/>
              </a:lnSpc>
              <a:spcBef>
                <a:spcPts val="101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technologies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have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collectively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formed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backbone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Big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ecosystem,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enabling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organizations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to </a:t>
            </a:r>
            <a:r>
              <a:rPr dirty="0" sz="1700" spc="-10">
                <a:latin typeface="Calibri"/>
                <a:cs typeface="Calibri"/>
              </a:rPr>
              <a:t>efficiently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analyze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vast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datasets,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uncover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insights,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drive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data-driven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decision-</a:t>
            </a:r>
            <a:r>
              <a:rPr dirty="0" sz="1700">
                <a:latin typeface="Calibri"/>
                <a:cs typeface="Calibri"/>
              </a:rPr>
              <a:t>making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ways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that </a:t>
            </a:r>
            <a:r>
              <a:rPr dirty="0" sz="1700">
                <a:latin typeface="Calibri"/>
                <a:cs typeface="Calibri"/>
              </a:rPr>
              <a:t>were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previously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unimaginable.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20015" rIns="0" bIns="0" rtlCol="0" vert="horz">
            <a:spAutoFit/>
          </a:bodyPr>
          <a:lstStyle/>
          <a:p>
            <a:pPr algn="r" marR="81915">
              <a:lnSpc>
                <a:spcPct val="100000"/>
              </a:lnSpc>
              <a:spcBef>
                <a:spcPts val="945"/>
              </a:spcBef>
            </a:pPr>
            <a:r>
              <a:rPr dirty="0" sz="2800" spc="-480">
                <a:solidFill>
                  <a:srgbClr val="FFFFFF"/>
                </a:solidFill>
                <a:latin typeface="Times New Roman"/>
                <a:cs typeface="Times New Roman"/>
              </a:rPr>
              <a:t>راصتخاب</a:t>
            </a:r>
            <a:r>
              <a:rPr dirty="0" sz="28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90">
                <a:solidFill>
                  <a:srgbClr val="FFFFFF"/>
                </a:solidFill>
                <a:latin typeface="Times New Roman"/>
                <a:cs typeface="Times New Roman"/>
              </a:rPr>
              <a:t>،ةمخضلا</a:t>
            </a:r>
            <a:r>
              <a:rPr dirty="0" sz="28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09">
                <a:solidFill>
                  <a:srgbClr val="FFFFFF"/>
                </a:solidFill>
                <a:latin typeface="Times New Roman"/>
                <a:cs typeface="Times New Roman"/>
              </a:rPr>
              <a:t>تانايبلا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43900" y="1609963"/>
            <a:ext cx="10133330" cy="481711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415"/>
              </a:spcBef>
            </a:pPr>
            <a:r>
              <a:rPr dirty="0" sz="1900" spc="-160">
                <a:latin typeface="Microsoft Sans Serif"/>
                <a:cs typeface="Microsoft Sans Serif"/>
              </a:rPr>
              <a:t>.اهجلاعنو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130">
                <a:latin typeface="Microsoft Sans Serif"/>
                <a:cs typeface="Microsoft Sans Serif"/>
              </a:rPr>
              <a:t>،اهنزخنو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 spc="-325">
                <a:latin typeface="Microsoft Sans Serif"/>
                <a:cs typeface="Microsoft Sans Serif"/>
              </a:rPr>
              <a:t>،تانايبلا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260">
                <a:latin typeface="Microsoft Sans Serif"/>
                <a:cs typeface="Microsoft Sans Serif"/>
              </a:rPr>
              <a:t>اهب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520">
                <a:latin typeface="Microsoft Sans Serif"/>
                <a:cs typeface="Microsoft Sans Serif"/>
              </a:rPr>
              <a:t>جتنن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415">
                <a:latin typeface="Microsoft Sans Serif"/>
                <a:cs typeface="Microsoft Sans Serif"/>
              </a:rPr>
              <a:t>يتلا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280">
                <a:latin typeface="Microsoft Sans Serif"/>
                <a:cs typeface="Microsoft Sans Serif"/>
              </a:rPr>
              <a:t>ةقيرطلا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يرذج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545">
                <a:latin typeface="Microsoft Sans Serif"/>
                <a:cs typeface="Microsoft Sans Serif"/>
              </a:rPr>
              <a:t>رييغت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ىلإ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250">
                <a:latin typeface="Microsoft Sans Serif"/>
                <a:cs typeface="Microsoft Sans Serif"/>
              </a:rPr>
              <a:t>ةيضاملا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 spc="-434">
                <a:latin typeface="Microsoft Sans Serif"/>
                <a:cs typeface="Microsoft Sans Serif"/>
              </a:rPr>
              <a:t>ةليلقلا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60">
                <a:latin typeface="Microsoft Sans Serif"/>
                <a:cs typeface="Microsoft Sans Serif"/>
              </a:rPr>
              <a:t>دوقعلا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ىدم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245">
                <a:latin typeface="Microsoft Sans Serif"/>
                <a:cs typeface="Microsoft Sans Serif"/>
              </a:rPr>
              <a:t>ىلع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355">
                <a:latin typeface="Microsoft Sans Serif"/>
                <a:cs typeface="Microsoft Sans Serif"/>
              </a:rPr>
              <a:t>ايجولونكتلا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235">
                <a:latin typeface="Microsoft Sans Serif"/>
                <a:cs typeface="Microsoft Sans Serif"/>
              </a:rPr>
              <a:t>روطت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ىدأ</a:t>
            </a:r>
            <a:r>
              <a:rPr dirty="0" sz="1900" spc="100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algn="r" marR="5080">
              <a:lnSpc>
                <a:spcPct val="100000"/>
              </a:lnSpc>
              <a:spcBef>
                <a:spcPts val="315"/>
              </a:spcBef>
            </a:pPr>
            <a:r>
              <a:rPr dirty="0" sz="1900" spc="-415">
                <a:latin typeface="Microsoft Sans Serif"/>
                <a:cs typeface="Microsoft Sans Serif"/>
              </a:rPr>
              <a:t>.ةيديلقتلا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360">
                <a:solidFill>
                  <a:srgbClr val="FF0000"/>
                </a:solidFill>
                <a:latin typeface="Microsoft Sans Serif"/>
                <a:cs typeface="Microsoft Sans Serif"/>
              </a:rPr>
              <a:t>ةيقئلاعلا</a:t>
            </a:r>
            <a:r>
              <a:rPr dirty="0" sz="1900" spc="2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70">
                <a:solidFill>
                  <a:srgbClr val="FF0000"/>
                </a:solidFill>
                <a:latin typeface="Microsoft Sans Serif"/>
                <a:cs typeface="Microsoft Sans Serif"/>
              </a:rPr>
              <a:t>تانايبلا</a:t>
            </a:r>
            <a:r>
              <a:rPr dirty="0" sz="1900" spc="6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40">
                <a:solidFill>
                  <a:srgbClr val="FF0000"/>
                </a:solidFill>
                <a:latin typeface="Microsoft Sans Serif"/>
                <a:cs typeface="Microsoft Sans Serif"/>
              </a:rPr>
              <a:t>دعاوق</a:t>
            </a:r>
            <a:r>
              <a:rPr dirty="0" sz="1900" spc="3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45">
                <a:latin typeface="Microsoft Sans Serif"/>
                <a:cs typeface="Microsoft Sans Serif"/>
              </a:rPr>
              <a:t>ةطساوب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160">
                <a:latin typeface="Microsoft Sans Serif"/>
                <a:cs typeface="Microsoft Sans Serif"/>
              </a:rPr>
              <a:t>هترادإ</a:t>
            </a:r>
            <a:r>
              <a:rPr dirty="0" sz="1900" spc="65">
                <a:latin typeface="Microsoft Sans Serif"/>
                <a:cs typeface="Microsoft Sans Serif"/>
              </a:rPr>
              <a:t> </a:t>
            </a:r>
            <a:r>
              <a:rPr dirty="0" sz="1900" spc="-280">
                <a:latin typeface="Microsoft Sans Serif"/>
                <a:cs typeface="Microsoft Sans Serif"/>
              </a:rPr>
              <a:t>نكمي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ام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ىلع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330">
                <a:latin typeface="Microsoft Sans Serif"/>
                <a:cs typeface="Microsoft Sans Serif"/>
              </a:rPr>
              <a:t>ةرصتقم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370">
                <a:latin typeface="Microsoft Sans Serif"/>
                <a:cs typeface="Microsoft Sans Serif"/>
              </a:rPr>
              <a:t>تانايبلا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تناك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320">
                <a:latin typeface="Microsoft Sans Serif"/>
                <a:cs typeface="Microsoft Sans Serif"/>
              </a:rPr>
              <a:t>،ةبسوحلل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195">
                <a:latin typeface="Microsoft Sans Serif"/>
                <a:cs typeface="Microsoft Sans Serif"/>
              </a:rPr>
              <a:t>ىلولأا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220">
                <a:latin typeface="Microsoft Sans Serif"/>
                <a:cs typeface="Microsoft Sans Serif"/>
              </a:rPr>
              <a:t>مايلأا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 spc="110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algn="r" marR="5080">
              <a:lnSpc>
                <a:spcPts val="1939"/>
              </a:lnSpc>
              <a:spcBef>
                <a:spcPts val="315"/>
              </a:spcBef>
            </a:pPr>
            <a:r>
              <a:rPr dirty="0" sz="1900" spc="-229">
                <a:latin typeface="Microsoft Sans Serif"/>
                <a:cs typeface="Microsoft Sans Serif"/>
              </a:rPr>
              <a:t>لئاسوو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295">
                <a:latin typeface="Microsoft Sans Serif"/>
                <a:cs typeface="Microsoft Sans Serif"/>
              </a:rPr>
              <a:t>،ةينورتكللإا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245">
                <a:latin typeface="Microsoft Sans Serif"/>
                <a:cs typeface="Microsoft Sans Serif"/>
              </a:rPr>
              <a:t>ةراجتلا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240">
                <a:latin typeface="Microsoft Sans Serif"/>
                <a:cs typeface="Microsoft Sans Serif"/>
              </a:rPr>
              <a:t>مادختسا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155">
                <a:latin typeface="Microsoft Sans Serif"/>
                <a:cs typeface="Microsoft Sans Serif"/>
              </a:rPr>
              <a:t>دايدزا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204">
                <a:latin typeface="Microsoft Sans Serif"/>
                <a:cs typeface="Microsoft Sans Serif"/>
              </a:rPr>
              <a:t>كلذ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اذغو</a:t>
            </a:r>
            <a:r>
              <a:rPr dirty="0" sz="1900" spc="-45">
                <a:latin typeface="Microsoft Sans Serif"/>
                <a:cs typeface="Microsoft Sans Serif"/>
              </a:rPr>
              <a:t> </a:t>
            </a:r>
            <a:r>
              <a:rPr dirty="0" sz="1900" spc="-325">
                <a:latin typeface="Microsoft Sans Serif"/>
                <a:cs typeface="Microsoft Sans Serif"/>
              </a:rPr>
              <a:t>،تانايبلا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310">
                <a:latin typeface="Microsoft Sans Serif"/>
                <a:cs typeface="Microsoft Sans Serif"/>
              </a:rPr>
              <a:t>جاتنإ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204">
                <a:latin typeface="Microsoft Sans Serif"/>
                <a:cs typeface="Microsoft Sans Serif"/>
              </a:rPr>
              <a:t>ةلئاه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175">
                <a:latin typeface="Microsoft Sans Serif"/>
                <a:cs typeface="Microsoft Sans Serif"/>
              </a:rPr>
              <a:t>ةدايز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ىلإ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ىدأ</a:t>
            </a:r>
            <a:r>
              <a:rPr dirty="0" sz="1900" spc="-15">
                <a:latin typeface="Microsoft Sans Serif"/>
                <a:cs typeface="Microsoft Sans Serif"/>
              </a:rPr>
              <a:t> </a:t>
            </a:r>
            <a:r>
              <a:rPr dirty="0" sz="1900" spc="-455">
                <a:solidFill>
                  <a:srgbClr val="FF0000"/>
                </a:solidFill>
                <a:latin typeface="Microsoft Sans Serif"/>
                <a:cs typeface="Microsoft Sans Serif"/>
              </a:rPr>
              <a:t>تاينيعستلا</a:t>
            </a:r>
            <a:r>
              <a:rPr dirty="0" sz="1900" spc="3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60">
                <a:solidFill>
                  <a:srgbClr val="FF0000"/>
                </a:solidFill>
                <a:latin typeface="Microsoft Sans Serif"/>
                <a:cs typeface="Microsoft Sans Serif"/>
              </a:rPr>
              <a:t>يف</a:t>
            </a:r>
            <a:r>
              <a:rPr dirty="0" sz="1900" spc="-1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15">
                <a:solidFill>
                  <a:srgbClr val="FF0000"/>
                </a:solidFill>
                <a:latin typeface="Microsoft Sans Serif"/>
                <a:cs typeface="Microsoft Sans Serif"/>
              </a:rPr>
              <a:t>تنرتنلإا</a:t>
            </a:r>
            <a:r>
              <a:rPr dirty="0" sz="1900" spc="3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FF0000"/>
                </a:solidFill>
                <a:latin typeface="Microsoft Sans Serif"/>
                <a:cs typeface="Microsoft Sans Serif"/>
              </a:rPr>
              <a:t>روهظ</a:t>
            </a:r>
            <a:r>
              <a:rPr dirty="0" sz="1900" spc="2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نا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لاا</a:t>
            </a:r>
            <a:r>
              <a:rPr dirty="0" sz="1900" spc="65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marL="4571365">
              <a:lnSpc>
                <a:spcPts val="1939"/>
              </a:lnSpc>
            </a:pPr>
            <a:r>
              <a:rPr dirty="0" sz="1900" spc="-185">
                <a:latin typeface="Microsoft Sans Serif"/>
                <a:cs typeface="Microsoft Sans Serif"/>
              </a:rPr>
              <a:t>.تاعانصلاو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تامدخلا</a:t>
            </a:r>
            <a:r>
              <a:rPr dirty="0" sz="1900" spc="5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نم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350">
                <a:latin typeface="Microsoft Sans Serif"/>
                <a:cs typeface="Microsoft Sans Serif"/>
              </a:rPr>
              <a:t>ىصحي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200">
                <a:latin typeface="Microsoft Sans Serif"/>
                <a:cs typeface="Microsoft Sans Serif"/>
              </a:rPr>
              <a:t>لا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ددع</a:t>
            </a:r>
            <a:r>
              <a:rPr dirty="0" sz="1900" spc="65">
                <a:latin typeface="Microsoft Sans Serif"/>
                <a:cs typeface="Microsoft Sans Serif"/>
              </a:rPr>
              <a:t> </a:t>
            </a:r>
            <a:r>
              <a:rPr dirty="0" sz="1900" spc="-160">
                <a:latin typeface="Microsoft Sans Serif"/>
                <a:cs typeface="Microsoft Sans Serif"/>
              </a:rPr>
              <a:t>ةنمقرو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155">
                <a:latin typeface="Microsoft Sans Serif"/>
                <a:cs typeface="Microsoft Sans Serif"/>
              </a:rPr>
              <a:t>،يعامتجلاا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310">
                <a:latin typeface="Microsoft Sans Serif"/>
                <a:cs typeface="Microsoft Sans Serif"/>
              </a:rPr>
              <a:t>لصاوتلا</a:t>
            </a:r>
            <a:endParaRPr sz="1900">
              <a:latin typeface="Microsoft Sans Serif"/>
              <a:cs typeface="Microsoft Sans Serif"/>
            </a:endParaRPr>
          </a:p>
          <a:p>
            <a:pPr marL="366395">
              <a:lnSpc>
                <a:spcPts val="1939"/>
              </a:lnSpc>
              <a:spcBef>
                <a:spcPts val="325"/>
              </a:spcBef>
            </a:pPr>
            <a:r>
              <a:rPr dirty="0" sz="1900">
                <a:latin typeface="Microsoft Sans Serif"/>
                <a:cs typeface="Microsoft Sans Serif"/>
              </a:rPr>
              <a:t>مجح</a:t>
            </a:r>
            <a:r>
              <a:rPr dirty="0" sz="1900" spc="-20">
                <a:latin typeface="Microsoft Sans Serif"/>
                <a:cs typeface="Microsoft Sans Serif"/>
              </a:rPr>
              <a:t> </a:t>
            </a:r>
            <a:r>
              <a:rPr dirty="0" sz="1900" spc="-440">
                <a:latin typeface="Microsoft Sans Serif"/>
                <a:cs typeface="Microsoft Sans Serif"/>
              </a:rPr>
              <a:t>عفترا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235">
                <a:latin typeface="Microsoft Sans Serif"/>
                <a:cs typeface="Microsoft Sans Serif"/>
              </a:rPr>
              <a:t>،ءايشلأا</a:t>
            </a:r>
            <a:r>
              <a:rPr dirty="0" sz="1900" spc="-10">
                <a:latin typeface="Microsoft Sans Serif"/>
                <a:cs typeface="Microsoft Sans Serif"/>
              </a:rPr>
              <a:t> </a:t>
            </a:r>
            <a:r>
              <a:rPr dirty="0" sz="1900" spc="-350">
                <a:latin typeface="Microsoft Sans Serif"/>
                <a:cs typeface="Microsoft Sans Serif"/>
              </a:rPr>
              <a:t>تنرتنإ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ةزهجأو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20">
                <a:latin typeface="Microsoft Sans Serif"/>
                <a:cs typeface="Microsoft Sans Serif"/>
              </a:rPr>
              <a:t>راعشتسلاا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ةزهجأو </a:t>
            </a:r>
            <a:r>
              <a:rPr dirty="0" sz="1900" spc="-290">
                <a:latin typeface="Microsoft Sans Serif"/>
                <a:cs typeface="Microsoft Sans Serif"/>
              </a:rPr>
              <a:t>ةيكذلا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215">
                <a:latin typeface="Microsoft Sans Serif"/>
                <a:cs typeface="Microsoft Sans Serif"/>
              </a:rPr>
              <a:t>فتاوهلا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204">
                <a:latin typeface="Microsoft Sans Serif"/>
                <a:cs typeface="Microsoft Sans Serif"/>
              </a:rPr>
              <a:t>كلذ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285">
                <a:latin typeface="Microsoft Sans Serif"/>
                <a:cs typeface="Microsoft Sans Serif"/>
              </a:rPr>
              <a:t>امب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340">
                <a:latin typeface="Microsoft Sans Serif"/>
                <a:cs typeface="Microsoft Sans Serif"/>
              </a:rPr>
              <a:t>،تنرتنلإاب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345">
                <a:latin typeface="Microsoft Sans Serif"/>
                <a:cs typeface="Microsoft Sans Serif"/>
              </a:rPr>
              <a:t>ةلصتملا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50">
                <a:latin typeface="Microsoft Sans Serif"/>
                <a:cs typeface="Microsoft Sans Serif"/>
              </a:rPr>
              <a:t>ةزهجلأا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ددع</a:t>
            </a:r>
            <a:r>
              <a:rPr dirty="0" sz="1900" spc="-10">
                <a:latin typeface="Microsoft Sans Serif"/>
                <a:cs typeface="Microsoft Sans Serif"/>
              </a:rPr>
              <a:t> </a:t>
            </a:r>
            <a:r>
              <a:rPr dirty="0" sz="1900" spc="-355">
                <a:latin typeface="Microsoft Sans Serif"/>
                <a:cs typeface="Microsoft Sans Serif"/>
              </a:rPr>
              <a:t>ديازت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عمو</a:t>
            </a:r>
            <a:r>
              <a:rPr dirty="0" sz="1900" spc="85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marL="7242175">
              <a:lnSpc>
                <a:spcPts val="1939"/>
              </a:lnSpc>
            </a:pPr>
            <a:r>
              <a:rPr dirty="0" sz="1900" spc="-265">
                <a:latin typeface="Microsoft Sans Serif"/>
                <a:cs typeface="Microsoft Sans Serif"/>
              </a:rPr>
              <a:t>.ةقوبسم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65">
                <a:latin typeface="Microsoft Sans Serif"/>
                <a:cs typeface="Microsoft Sans Serif"/>
              </a:rPr>
              <a:t>ريغ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310">
                <a:latin typeface="Microsoft Sans Serif"/>
                <a:cs typeface="Microsoft Sans Serif"/>
              </a:rPr>
              <a:t>تايوتسم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ىلإ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 spc="-380">
                <a:latin typeface="Microsoft Sans Serif"/>
                <a:cs typeface="Microsoft Sans Serif"/>
              </a:rPr>
              <a:t>تانايبلا</a:t>
            </a:r>
            <a:endParaRPr sz="1900">
              <a:latin typeface="Microsoft Sans Serif"/>
              <a:cs typeface="Microsoft Sans Serif"/>
            </a:endParaRPr>
          </a:p>
          <a:p>
            <a:pPr marL="125730">
              <a:lnSpc>
                <a:spcPts val="1939"/>
              </a:lnSpc>
              <a:spcBef>
                <a:spcPts val="310"/>
              </a:spcBef>
            </a:pPr>
            <a:r>
              <a:rPr dirty="0" sz="1900" spc="-340">
                <a:latin typeface="Microsoft Sans Serif"/>
                <a:cs typeface="Microsoft Sans Serif"/>
              </a:rPr>
              <a:t>ريوطت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360">
                <a:latin typeface="Microsoft Sans Serif"/>
                <a:cs typeface="Microsoft Sans Serif"/>
              </a:rPr>
              <a:t>مزلتسا</a:t>
            </a:r>
            <a:r>
              <a:rPr dirty="0" sz="1900" spc="50">
                <a:latin typeface="Microsoft Sans Serif"/>
                <a:cs typeface="Microsoft Sans Serif"/>
              </a:rPr>
              <a:t> امم </a:t>
            </a:r>
            <a:r>
              <a:rPr dirty="0" sz="1900" spc="-165">
                <a:latin typeface="Microsoft Sans Serif"/>
                <a:cs typeface="Microsoft Sans Serif"/>
              </a:rPr>
              <a:t>،اهتجلاعمو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365">
                <a:latin typeface="Microsoft Sans Serif"/>
                <a:cs typeface="Microsoft Sans Serif"/>
              </a:rPr>
              <a:t>تانايبلا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ةرادإ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215">
                <a:latin typeface="Microsoft Sans Serif"/>
                <a:cs typeface="Microsoft Sans Serif"/>
              </a:rPr>
              <a:t>ةمدختسملا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 spc="-459">
                <a:latin typeface="Microsoft Sans Serif"/>
                <a:cs typeface="Microsoft Sans Serif"/>
              </a:rPr>
              <a:t>ةيديلقتلا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75">
                <a:latin typeface="Microsoft Sans Serif"/>
                <a:cs typeface="Microsoft Sans Serif"/>
              </a:rPr>
              <a:t>تاودلأا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245">
                <a:latin typeface="Microsoft Sans Serif"/>
                <a:cs typeface="Microsoft Sans Serif"/>
              </a:rPr>
              <a:t>ىلع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235">
                <a:latin typeface="Microsoft Sans Serif"/>
                <a:cs typeface="Microsoft Sans Serif"/>
              </a:rPr>
              <a:t>ءوضلا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365">
                <a:latin typeface="Microsoft Sans Serif"/>
                <a:cs typeface="Microsoft Sans Serif"/>
              </a:rPr>
              <a:t>تانايبلا</a:t>
            </a:r>
            <a:r>
              <a:rPr dirty="0" sz="1900" spc="5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مجح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450">
                <a:latin typeface="Microsoft Sans Serif"/>
                <a:cs typeface="Microsoft Sans Serif"/>
              </a:rPr>
              <a:t>ريبكلا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170">
                <a:latin typeface="Microsoft Sans Serif"/>
                <a:cs typeface="Microsoft Sans Serif"/>
              </a:rPr>
              <a:t>دايدزلاا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55">
                <a:latin typeface="Microsoft Sans Serif"/>
                <a:cs typeface="Microsoft Sans Serif"/>
              </a:rPr>
              <a:t>اذه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375">
                <a:latin typeface="Microsoft Sans Serif"/>
                <a:cs typeface="Microsoft Sans Serif"/>
              </a:rPr>
              <a:t>طلس</a:t>
            </a:r>
            <a:r>
              <a:rPr dirty="0" sz="1900" spc="85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marL="4867275">
              <a:lnSpc>
                <a:spcPts val="1939"/>
              </a:lnSpc>
            </a:pPr>
            <a:r>
              <a:rPr dirty="0" sz="1900" spc="-260">
                <a:latin typeface="Microsoft Sans Serif"/>
                <a:cs typeface="Microsoft Sans Serif"/>
              </a:rPr>
              <a:t>.اهديقعتو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325">
                <a:latin typeface="Microsoft Sans Serif"/>
                <a:cs typeface="Microsoft Sans Serif"/>
              </a:rPr>
              <a:t>ةثيدحلا</a:t>
            </a:r>
            <a:r>
              <a:rPr dirty="0" sz="1900" spc="-10">
                <a:latin typeface="Microsoft Sans Serif"/>
                <a:cs typeface="Microsoft Sans Serif"/>
              </a:rPr>
              <a:t> </a:t>
            </a:r>
            <a:r>
              <a:rPr dirty="0" sz="1900" spc="-370">
                <a:latin typeface="Microsoft Sans Serif"/>
                <a:cs typeface="Microsoft Sans Serif"/>
              </a:rPr>
              <a:t>تانايبلا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مجح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عم </a:t>
            </a:r>
            <a:r>
              <a:rPr dirty="0" sz="1900" spc="-260">
                <a:latin typeface="Microsoft Sans Serif"/>
                <a:cs typeface="Microsoft Sans Serif"/>
              </a:rPr>
              <a:t>لماعتلا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ىلع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145">
                <a:latin typeface="Microsoft Sans Serif"/>
                <a:cs typeface="Microsoft Sans Serif"/>
              </a:rPr>
              <a:t>ةرداق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180">
                <a:latin typeface="Microsoft Sans Serif"/>
                <a:cs typeface="Microsoft Sans Serif"/>
              </a:rPr>
              <a:t>ةديدج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500">
                <a:latin typeface="Microsoft Sans Serif"/>
                <a:cs typeface="Microsoft Sans Serif"/>
              </a:rPr>
              <a:t>تاينقت</a:t>
            </a:r>
            <a:endParaRPr sz="1900">
              <a:latin typeface="Microsoft Sans Serif"/>
              <a:cs typeface="Microsoft Sans Serif"/>
            </a:endParaRPr>
          </a:p>
          <a:p>
            <a:pPr marL="148590">
              <a:lnSpc>
                <a:spcPts val="1939"/>
              </a:lnSpc>
              <a:spcBef>
                <a:spcPts val="310"/>
              </a:spcBef>
            </a:pPr>
            <a:r>
              <a:rPr dirty="0" sz="1900">
                <a:solidFill>
                  <a:srgbClr val="FF0000"/>
                </a:solidFill>
                <a:latin typeface="Calibri"/>
                <a:cs typeface="Calibri"/>
              </a:rPr>
              <a:t>Google</a:t>
            </a:r>
            <a:r>
              <a:rPr dirty="0" sz="1900" spc="-1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FF0000"/>
                </a:solidFill>
                <a:latin typeface="Calibri"/>
                <a:cs typeface="Calibri"/>
              </a:rPr>
              <a:t>(GFS)</a:t>
            </a:r>
            <a:r>
              <a:rPr dirty="0" sz="1900" spc="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900" spc="-305">
                <a:latin typeface="Microsoft Sans Serif"/>
                <a:cs typeface="Microsoft Sans Serif"/>
              </a:rPr>
              <a:t>تافلم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160">
                <a:latin typeface="Microsoft Sans Serif"/>
                <a:cs typeface="Microsoft Sans Serif"/>
              </a:rPr>
              <a:t>ماظن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75">
                <a:latin typeface="Microsoft Sans Serif"/>
                <a:cs typeface="Microsoft Sans Serif"/>
              </a:rPr>
              <a:t>لثم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190">
                <a:latin typeface="Microsoft Sans Serif"/>
                <a:cs typeface="Microsoft Sans Serif"/>
              </a:rPr>
              <a:t>ةدئار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490">
                <a:latin typeface="Microsoft Sans Serif"/>
                <a:cs typeface="Microsoft Sans Serif"/>
              </a:rPr>
              <a:t>تاينقت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لاخدإ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290">
                <a:latin typeface="Microsoft Sans Serif"/>
                <a:cs typeface="Microsoft Sans Serif"/>
              </a:rPr>
              <a:t>نيرشعلاو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125">
                <a:latin typeface="Microsoft Sans Serif"/>
                <a:cs typeface="Microsoft Sans Serif"/>
              </a:rPr>
              <a:t>يداحلا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نرقلا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نم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لولأا</a:t>
            </a:r>
            <a:r>
              <a:rPr dirty="0" sz="1900" spc="-15">
                <a:latin typeface="Microsoft Sans Serif"/>
                <a:cs typeface="Microsoft Sans Serif"/>
              </a:rPr>
              <a:t> </a:t>
            </a:r>
            <a:r>
              <a:rPr dirty="0" sz="1900" spc="-315">
                <a:latin typeface="Microsoft Sans Serif"/>
                <a:cs typeface="Microsoft Sans Serif"/>
              </a:rPr>
              <a:t>دقعلا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180">
                <a:latin typeface="Microsoft Sans Serif"/>
                <a:cs typeface="Microsoft Sans Serif"/>
              </a:rPr>
              <a:t>لئاوأ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150">
                <a:latin typeface="Microsoft Sans Serif"/>
                <a:cs typeface="Microsoft Sans Serif"/>
              </a:rPr>
              <a:t>دهش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270">
                <a:latin typeface="Microsoft Sans Serif"/>
                <a:cs typeface="Microsoft Sans Serif"/>
              </a:rPr>
              <a:t>،تايدحتلا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60">
                <a:latin typeface="Microsoft Sans Serif"/>
                <a:cs typeface="Microsoft Sans Serif"/>
              </a:rPr>
              <a:t>هذه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ةهجاوملو</a:t>
            </a:r>
            <a:r>
              <a:rPr dirty="0" sz="1900" spc="75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marL="3041015">
              <a:lnSpc>
                <a:spcPts val="1939"/>
              </a:lnSpc>
            </a:pPr>
            <a:r>
              <a:rPr dirty="0" sz="1900" spc="-225">
                <a:latin typeface="Microsoft Sans Serif"/>
                <a:cs typeface="Microsoft Sans Serif"/>
              </a:rPr>
              <a:t>.ةيزاوتملا</a:t>
            </a:r>
            <a:r>
              <a:rPr dirty="0" sz="1900" spc="70">
                <a:latin typeface="Microsoft Sans Serif"/>
                <a:cs typeface="Microsoft Sans Serif"/>
              </a:rPr>
              <a:t> </a:t>
            </a:r>
            <a:r>
              <a:rPr dirty="0" sz="1900" spc="-215">
                <a:latin typeface="Microsoft Sans Serif"/>
                <a:cs typeface="Microsoft Sans Serif"/>
              </a:rPr>
              <a:t>ةجلاعمللو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475">
                <a:latin typeface="Microsoft Sans Serif"/>
                <a:cs typeface="Microsoft Sans Serif"/>
              </a:rPr>
              <a:t>عسوتلل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380">
                <a:latin typeface="Microsoft Sans Serif"/>
                <a:cs typeface="Microsoft Sans Serif"/>
              </a:rPr>
              <a:t>ةلباقلا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370">
                <a:latin typeface="Microsoft Sans Serif"/>
                <a:cs typeface="Microsoft Sans Serif"/>
              </a:rPr>
              <a:t>تانايبلا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390">
                <a:latin typeface="Microsoft Sans Serif"/>
                <a:cs typeface="Microsoft Sans Serif"/>
              </a:rPr>
              <a:t>نيزختل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185">
                <a:latin typeface="Microsoft Sans Serif"/>
                <a:cs typeface="Microsoft Sans Serif"/>
              </a:rPr>
              <a:t>ساسلأا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170">
                <a:latin typeface="Microsoft Sans Serif"/>
                <a:cs typeface="Microsoft Sans Serif"/>
              </a:rPr>
              <a:t>تسرأ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330">
                <a:latin typeface="Microsoft Sans Serif"/>
                <a:cs typeface="Microsoft Sans Serif"/>
              </a:rPr>
              <a:t>يتلاو</a:t>
            </a:r>
            <a:r>
              <a:rPr dirty="0" sz="1900" spc="-10">
                <a:latin typeface="Microsoft Sans Serif"/>
                <a:cs typeface="Microsoft Sans Serif"/>
              </a:rPr>
              <a:t> ،</a:t>
            </a:r>
            <a:r>
              <a:rPr dirty="0" sz="1900" spc="-10">
                <a:solidFill>
                  <a:srgbClr val="FF0000"/>
                </a:solidFill>
                <a:latin typeface="Calibri"/>
                <a:cs typeface="Calibri"/>
              </a:rPr>
              <a:t>MapReduce</a:t>
            </a:r>
            <a:r>
              <a:rPr dirty="0" sz="1900" spc="-10">
                <a:latin typeface="Microsoft Sans Serif"/>
                <a:cs typeface="Microsoft Sans Serif"/>
              </a:rPr>
              <a:t>و</a:t>
            </a:r>
            <a:endParaRPr sz="1900">
              <a:latin typeface="Microsoft Sans Serif"/>
              <a:cs typeface="Microsoft Sans Serif"/>
            </a:endParaRPr>
          </a:p>
          <a:p>
            <a:pPr marL="613410">
              <a:lnSpc>
                <a:spcPts val="1939"/>
              </a:lnSpc>
              <a:spcBef>
                <a:spcPts val="325"/>
              </a:spcBef>
            </a:pPr>
            <a:r>
              <a:rPr dirty="0" sz="1900">
                <a:latin typeface="Calibri"/>
                <a:cs typeface="Calibri"/>
              </a:rPr>
              <a:t>GFS</a:t>
            </a:r>
            <a:r>
              <a:rPr dirty="0" sz="1900" spc="370">
                <a:latin typeface="Calibri"/>
                <a:cs typeface="Calibri"/>
              </a:rPr>
              <a:t> </a:t>
            </a:r>
            <a:r>
              <a:rPr dirty="0" sz="1900" spc="-225">
                <a:latin typeface="Microsoft Sans Serif"/>
                <a:cs typeface="Microsoft Sans Serif"/>
              </a:rPr>
              <a:t>ـلا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225">
                <a:latin typeface="Microsoft Sans Serif"/>
                <a:cs typeface="Microsoft Sans Serif"/>
              </a:rPr>
              <a:t>ةوق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215">
                <a:latin typeface="Microsoft Sans Serif"/>
                <a:cs typeface="Microsoft Sans Serif"/>
              </a:rPr>
              <a:t>بلج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185">
                <a:latin typeface="Microsoft Sans Serif"/>
                <a:cs typeface="Microsoft Sans Serif"/>
              </a:rPr>
              <a:t>ردصملا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60">
                <a:latin typeface="Microsoft Sans Serif"/>
                <a:cs typeface="Microsoft Sans Serif"/>
              </a:rPr>
              <a:t>حوتفم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لمع راطإ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نع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215">
                <a:latin typeface="Microsoft Sans Serif"/>
                <a:cs typeface="Microsoft Sans Serif"/>
              </a:rPr>
              <a:t>ةرابع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55">
                <a:latin typeface="Microsoft Sans Serif"/>
                <a:cs typeface="Microsoft Sans Serif"/>
              </a:rPr>
              <a:t>يهو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،</a:t>
            </a:r>
            <a:r>
              <a:rPr dirty="0" sz="1900">
                <a:solidFill>
                  <a:srgbClr val="FF0000"/>
                </a:solidFill>
                <a:latin typeface="Calibri"/>
                <a:cs typeface="Calibri"/>
              </a:rPr>
              <a:t>Apache Hadoop</a:t>
            </a:r>
            <a:r>
              <a:rPr dirty="0" sz="1900" spc="9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900" spc="-30">
                <a:latin typeface="Microsoft Sans Serif"/>
                <a:cs typeface="Microsoft Sans Serif"/>
              </a:rPr>
              <a:t>ةموظنم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250">
                <a:latin typeface="Microsoft Sans Serif"/>
                <a:cs typeface="Microsoft Sans Serif"/>
              </a:rPr>
              <a:t>ءاشنإ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ىلإ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285">
                <a:latin typeface="Microsoft Sans Serif"/>
                <a:cs typeface="Microsoft Sans Serif"/>
              </a:rPr>
              <a:t>تاراكتبلاا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60">
                <a:latin typeface="Microsoft Sans Serif"/>
                <a:cs typeface="Microsoft Sans Serif"/>
              </a:rPr>
              <a:t>هذه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تدأ</a:t>
            </a:r>
            <a:r>
              <a:rPr dirty="0" sz="1900" spc="65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marL="6944359">
              <a:lnSpc>
                <a:spcPts val="1939"/>
              </a:lnSpc>
            </a:pPr>
            <a:r>
              <a:rPr dirty="0" sz="1900" spc="-175">
                <a:latin typeface="Microsoft Sans Serif"/>
                <a:cs typeface="Microsoft Sans Serif"/>
              </a:rPr>
              <a:t>.عسولأا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229">
                <a:latin typeface="Microsoft Sans Serif"/>
                <a:cs typeface="Microsoft Sans Serif"/>
              </a:rPr>
              <a:t>عمتجملا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250">
                <a:latin typeface="Microsoft Sans Serif"/>
                <a:cs typeface="Microsoft Sans Serif"/>
              </a:rPr>
              <a:t>ىلإ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Calibri"/>
                <a:cs typeface="Calibri"/>
              </a:rPr>
              <a:t>MapReduce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spc="-50">
                <a:latin typeface="Microsoft Sans Serif"/>
                <a:cs typeface="Microsoft Sans Serif"/>
              </a:rPr>
              <a:t>و</a:t>
            </a:r>
            <a:endParaRPr sz="1900">
              <a:latin typeface="Microsoft Sans Serif"/>
              <a:cs typeface="Microsoft Sans Serif"/>
            </a:endParaRPr>
          </a:p>
          <a:p>
            <a:pPr marL="148590">
              <a:lnSpc>
                <a:spcPts val="1939"/>
              </a:lnSpc>
              <a:spcBef>
                <a:spcPts val="315"/>
              </a:spcBef>
            </a:pPr>
            <a:r>
              <a:rPr dirty="0" sz="1900" spc="-380">
                <a:latin typeface="Microsoft Sans Serif"/>
                <a:cs typeface="Microsoft Sans Serif"/>
              </a:rPr>
              <a:t>عيرس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470">
                <a:latin typeface="Microsoft Sans Serif"/>
                <a:cs typeface="Microsoft Sans Serif"/>
              </a:rPr>
              <a:t>لكشب</a:t>
            </a:r>
            <a:r>
              <a:rPr dirty="0" sz="1900" spc="-10">
                <a:latin typeface="Microsoft Sans Serif"/>
                <a:cs typeface="Microsoft Sans Serif"/>
              </a:rPr>
              <a:t> </a:t>
            </a:r>
            <a:r>
              <a:rPr dirty="0" sz="1900" spc="-370">
                <a:latin typeface="Microsoft Sans Serif"/>
                <a:cs typeface="Microsoft Sans Serif"/>
              </a:rPr>
              <a:t>تانايبلا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00">
                <a:latin typeface="Microsoft Sans Serif"/>
                <a:cs typeface="Microsoft Sans Serif"/>
              </a:rPr>
              <a:t>ةجلاعمل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Spark</a:t>
            </a:r>
            <a:r>
              <a:rPr dirty="0" sz="1900" spc="45">
                <a:latin typeface="Calibri"/>
                <a:cs typeface="Calibri"/>
              </a:rPr>
              <a:t>  </a:t>
            </a:r>
            <a:r>
              <a:rPr dirty="0" sz="1900" spc="-275">
                <a:latin typeface="Microsoft Sans Serif"/>
                <a:cs typeface="Microsoft Sans Serif"/>
              </a:rPr>
              <a:t>لثم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 spc="-195">
                <a:latin typeface="Microsoft Sans Serif"/>
                <a:cs typeface="Microsoft Sans Serif"/>
              </a:rPr>
              <a:t>،ةديدجلا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75">
                <a:latin typeface="Microsoft Sans Serif"/>
                <a:cs typeface="Microsoft Sans Serif"/>
              </a:rPr>
              <a:t>رطلأاو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تاودلأا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نم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220">
                <a:latin typeface="Microsoft Sans Serif"/>
                <a:cs typeface="Microsoft Sans Serif"/>
              </a:rPr>
              <a:t>ةعونتم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ةعومجم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ترهظ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،</a:t>
            </a:r>
            <a:r>
              <a:rPr dirty="0" sz="1900">
                <a:latin typeface="Calibri"/>
                <a:cs typeface="Calibri"/>
              </a:rPr>
              <a:t>Hadoop</a:t>
            </a:r>
            <a:r>
              <a:rPr dirty="0" sz="1900" spc="85">
                <a:latin typeface="Calibri"/>
                <a:cs typeface="Calibri"/>
              </a:rPr>
              <a:t> </a:t>
            </a:r>
            <a:r>
              <a:rPr dirty="0" sz="1900" spc="-165">
                <a:latin typeface="Microsoft Sans Serif"/>
                <a:cs typeface="Microsoft Sans Serif"/>
              </a:rPr>
              <a:t>بناج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120">
                <a:latin typeface="Microsoft Sans Serif"/>
                <a:cs typeface="Microsoft Sans Serif"/>
              </a:rPr>
              <a:t>ىلإ</a:t>
            </a:r>
            <a:r>
              <a:rPr dirty="0" sz="1900" spc="75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algn="r" marR="236854">
              <a:lnSpc>
                <a:spcPts val="1595"/>
              </a:lnSpc>
            </a:pPr>
            <a:r>
              <a:rPr dirty="0" sz="1900" spc="-275">
                <a:latin typeface="Microsoft Sans Serif"/>
                <a:cs typeface="Microsoft Sans Serif"/>
              </a:rPr>
              <a:t>لثم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Calibri"/>
                <a:cs typeface="Calibri"/>
              </a:rPr>
              <a:t>NoSQL</a:t>
            </a:r>
            <a:r>
              <a:rPr dirty="0" sz="1900" spc="475">
                <a:latin typeface="Calibri"/>
                <a:cs typeface="Calibri"/>
              </a:rPr>
              <a:t> </a:t>
            </a:r>
            <a:r>
              <a:rPr dirty="0" sz="1900" spc="-385">
                <a:latin typeface="Microsoft Sans Serif"/>
                <a:cs typeface="Microsoft Sans Serif"/>
              </a:rPr>
              <a:t>تانايب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120">
                <a:latin typeface="Microsoft Sans Serif"/>
                <a:cs typeface="Microsoft Sans Serif"/>
              </a:rPr>
              <a:t>دعاوقو</a:t>
            </a:r>
            <a:r>
              <a:rPr dirty="0" sz="1900" spc="-20">
                <a:latin typeface="Microsoft Sans Serif"/>
                <a:cs typeface="Microsoft Sans Serif"/>
              </a:rPr>
              <a:t> </a:t>
            </a:r>
            <a:r>
              <a:rPr dirty="0" sz="1900" spc="-370">
                <a:latin typeface="Microsoft Sans Serif"/>
                <a:cs typeface="Microsoft Sans Serif"/>
              </a:rPr>
              <a:t>،يلعفلا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تقولا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 spc="-15">
                <a:latin typeface="Microsoft Sans Serif"/>
                <a:cs typeface="Microsoft Sans Serif"/>
              </a:rPr>
              <a:t> </a:t>
            </a:r>
            <a:r>
              <a:rPr dirty="0" sz="1900" spc="-370">
                <a:latin typeface="Microsoft Sans Serif"/>
                <a:cs typeface="Microsoft Sans Serif"/>
              </a:rPr>
              <a:t>تانايبلا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490">
                <a:latin typeface="Microsoft Sans Serif"/>
                <a:cs typeface="Microsoft Sans Serif"/>
              </a:rPr>
              <a:t>قفدت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75">
                <a:latin typeface="Microsoft Sans Serif"/>
                <a:cs typeface="Microsoft Sans Serif"/>
              </a:rPr>
              <a:t>ةرادلإ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Kafka </a:t>
            </a:r>
            <a:r>
              <a:rPr dirty="0" sz="1900">
                <a:latin typeface="Microsoft Sans Serif"/>
                <a:cs typeface="Microsoft Sans Serif"/>
              </a:rPr>
              <a:t>و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100">
                <a:latin typeface="Microsoft Sans Serif"/>
                <a:cs typeface="Microsoft Sans Serif"/>
              </a:rPr>
              <a:t>،ةزهجلأل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425">
                <a:latin typeface="Microsoft Sans Serif"/>
                <a:cs typeface="Microsoft Sans Serif"/>
              </a:rPr>
              <a:t>ةيسيئرلا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180">
                <a:latin typeface="Microsoft Sans Serif"/>
                <a:cs typeface="Microsoft Sans Serif"/>
              </a:rPr>
              <a:t>ةركاذلا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لخاد</a:t>
            </a:r>
            <a:endParaRPr sz="1900">
              <a:latin typeface="Microsoft Sans Serif"/>
              <a:cs typeface="Microsoft Sans Serif"/>
            </a:endParaRPr>
          </a:p>
          <a:p>
            <a:pPr algn="r" marR="292735">
              <a:lnSpc>
                <a:spcPts val="1939"/>
              </a:lnSpc>
            </a:pPr>
            <a:r>
              <a:rPr dirty="0" sz="1900" spc="-85">
                <a:latin typeface="Microsoft Sans Serif"/>
                <a:cs typeface="Microsoft Sans Serif"/>
              </a:rPr>
              <a:t>.ةددحملا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250">
                <a:latin typeface="Microsoft Sans Serif"/>
                <a:cs typeface="Microsoft Sans Serif"/>
              </a:rPr>
              <a:t>لكايهلا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245">
                <a:latin typeface="Microsoft Sans Serif"/>
                <a:cs typeface="Microsoft Sans Serif"/>
              </a:rPr>
              <a:t>نودب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170">
                <a:latin typeface="Microsoft Sans Serif"/>
                <a:cs typeface="Microsoft Sans Serif"/>
              </a:rPr>
              <a:t>ةنرملا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370">
                <a:latin typeface="Microsoft Sans Serif"/>
                <a:cs typeface="Microsoft Sans Serif"/>
              </a:rPr>
              <a:t>تانايبلا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409">
                <a:latin typeface="Microsoft Sans Serif"/>
                <a:cs typeface="Microsoft Sans Serif"/>
              </a:rPr>
              <a:t>مدختست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330">
                <a:latin typeface="Microsoft Sans Serif"/>
                <a:cs typeface="Microsoft Sans Serif"/>
              </a:rPr>
              <a:t>يتلاو</a:t>
            </a:r>
            <a:r>
              <a:rPr dirty="0" sz="1900" spc="5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Calibri"/>
                <a:cs typeface="Calibri"/>
              </a:rPr>
              <a:t>Cassandra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و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Calibri"/>
                <a:cs typeface="Calibri"/>
              </a:rPr>
              <a:t>MongoDB</a:t>
            </a:r>
            <a:endParaRPr sz="1900">
              <a:latin typeface="Calibri"/>
              <a:cs typeface="Calibri"/>
            </a:endParaRPr>
          </a:p>
          <a:p>
            <a:pPr marL="171450">
              <a:lnSpc>
                <a:spcPts val="1939"/>
              </a:lnSpc>
              <a:spcBef>
                <a:spcPts val="310"/>
              </a:spcBef>
            </a:pPr>
            <a:r>
              <a:rPr dirty="0" sz="1900" spc="-370">
                <a:latin typeface="Microsoft Sans Serif"/>
                <a:cs typeface="Microsoft Sans Serif"/>
              </a:rPr>
              <a:t>تانايبلا</a:t>
            </a:r>
            <a:r>
              <a:rPr dirty="0" sz="1900" spc="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تاعومجم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120">
                <a:latin typeface="Microsoft Sans Serif"/>
                <a:cs typeface="Microsoft Sans Serif"/>
              </a:rPr>
              <a:t>ةجلاعم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نم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225">
                <a:latin typeface="Microsoft Sans Serif"/>
                <a:cs typeface="Microsoft Sans Serif"/>
              </a:rPr>
              <a:t>تاسسؤملا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105">
                <a:latin typeface="Microsoft Sans Serif"/>
                <a:cs typeface="Microsoft Sans Serif"/>
              </a:rPr>
              <a:t>نكم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55">
                <a:latin typeface="Microsoft Sans Serif"/>
                <a:cs typeface="Microsoft Sans Serif"/>
              </a:rPr>
              <a:t>امم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135">
                <a:latin typeface="Microsoft Sans Serif"/>
                <a:cs typeface="Microsoft Sans Serif"/>
              </a:rPr>
              <a:t>،ةمخضلا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434">
                <a:latin typeface="Microsoft Sans Serif"/>
                <a:cs typeface="Microsoft Sans Serif"/>
              </a:rPr>
              <a:t>تانايبلل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 spc="-550">
                <a:latin typeface="Microsoft Sans Serif"/>
                <a:cs typeface="Microsoft Sans Serif"/>
              </a:rPr>
              <a:t>يئيبلا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295">
                <a:latin typeface="Microsoft Sans Serif"/>
                <a:cs typeface="Microsoft Sans Serif"/>
              </a:rPr>
              <a:t>ماظنلل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75">
                <a:latin typeface="Microsoft Sans Serif"/>
                <a:cs typeface="Microsoft Sans Serif"/>
              </a:rPr>
              <a:t>يرقفلا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140">
                <a:latin typeface="Microsoft Sans Serif"/>
                <a:cs typeface="Microsoft Sans Serif"/>
              </a:rPr>
              <a:t>دومعلا</a:t>
            </a:r>
            <a:r>
              <a:rPr dirty="0" sz="1900" spc="60">
                <a:latin typeface="Microsoft Sans Serif"/>
                <a:cs typeface="Microsoft Sans Serif"/>
              </a:rPr>
              <a:t> </a:t>
            </a:r>
            <a:r>
              <a:rPr dirty="0" sz="1900" spc="-165">
                <a:latin typeface="Microsoft Sans Serif"/>
                <a:cs typeface="Microsoft Sans Serif"/>
              </a:rPr>
              <a:t>ةعمتجم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440">
                <a:latin typeface="Microsoft Sans Serif"/>
                <a:cs typeface="Microsoft Sans Serif"/>
              </a:rPr>
              <a:t>تاينقتلا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60">
                <a:latin typeface="Microsoft Sans Serif"/>
                <a:cs typeface="Microsoft Sans Serif"/>
              </a:rPr>
              <a:t>هذه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90">
                <a:latin typeface="Microsoft Sans Serif"/>
                <a:cs typeface="Microsoft Sans Serif"/>
              </a:rPr>
              <a:t>تلكش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405">
                <a:latin typeface="Microsoft Sans Serif"/>
                <a:cs typeface="Microsoft Sans Serif"/>
              </a:rPr>
              <a:t>دقل</a:t>
            </a:r>
            <a:r>
              <a:rPr dirty="0" sz="1900" spc="375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algn="r" marR="234315">
              <a:lnSpc>
                <a:spcPts val="1595"/>
              </a:lnSpc>
            </a:pPr>
            <a:r>
              <a:rPr dirty="0" sz="1900" spc="-400">
                <a:latin typeface="Microsoft Sans Serif"/>
                <a:cs typeface="Microsoft Sans Serif"/>
              </a:rPr>
              <a:t>نكي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95">
                <a:latin typeface="Microsoft Sans Serif"/>
                <a:cs typeface="Microsoft Sans Serif"/>
              </a:rPr>
              <a:t>مل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235">
                <a:latin typeface="Microsoft Sans Serif"/>
                <a:cs typeface="Microsoft Sans Serif"/>
              </a:rPr>
              <a:t>قرطب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370">
                <a:latin typeface="Microsoft Sans Serif"/>
                <a:cs typeface="Microsoft Sans Serif"/>
              </a:rPr>
              <a:t>تانايبلا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ىلإ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35">
                <a:latin typeface="Microsoft Sans Serif"/>
                <a:cs typeface="Microsoft Sans Serif"/>
              </a:rPr>
              <a:t>ةدنتسملا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229">
                <a:latin typeface="Microsoft Sans Serif"/>
                <a:cs typeface="Microsoft Sans Serif"/>
              </a:rPr>
              <a:t>رارقلا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409">
                <a:latin typeface="Microsoft Sans Serif"/>
                <a:cs typeface="Microsoft Sans Serif"/>
              </a:rPr>
              <a:t>عنص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235">
                <a:latin typeface="Microsoft Sans Serif"/>
                <a:cs typeface="Microsoft Sans Serif"/>
              </a:rPr>
              <a:t>ةيلمع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305">
                <a:latin typeface="Microsoft Sans Serif"/>
                <a:cs typeface="Microsoft Sans Serif"/>
              </a:rPr>
              <a:t>عفدو</a:t>
            </a:r>
            <a:r>
              <a:rPr dirty="0" sz="1900" spc="-10">
                <a:latin typeface="Microsoft Sans Serif"/>
                <a:cs typeface="Microsoft Sans Serif"/>
              </a:rPr>
              <a:t> </a:t>
            </a:r>
            <a:r>
              <a:rPr dirty="0" sz="1900" spc="-320">
                <a:latin typeface="Microsoft Sans Serif"/>
                <a:cs typeface="Microsoft Sans Serif"/>
              </a:rPr>
              <a:t>،تانايبلا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لخاد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390">
                <a:latin typeface="Microsoft Sans Serif"/>
                <a:cs typeface="Microsoft Sans Serif"/>
              </a:rPr>
              <a:t>ةيفخلا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160">
                <a:latin typeface="Microsoft Sans Serif"/>
                <a:cs typeface="Microsoft Sans Serif"/>
              </a:rPr>
              <a:t>تامولعملا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نع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270">
                <a:latin typeface="Microsoft Sans Serif"/>
                <a:cs typeface="Microsoft Sans Serif"/>
              </a:rPr>
              <a:t>فشكلاو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345">
                <a:latin typeface="Microsoft Sans Serif"/>
                <a:cs typeface="Microsoft Sans Serif"/>
              </a:rPr>
              <a:t>،ةءافكب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40">
                <a:latin typeface="Microsoft Sans Serif"/>
                <a:cs typeface="Microsoft Sans Serif"/>
              </a:rPr>
              <a:t>اهليلحتو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ةمخضلا</a:t>
            </a:r>
            <a:endParaRPr sz="1900">
              <a:latin typeface="Microsoft Sans Serif"/>
              <a:cs typeface="Microsoft Sans Serif"/>
            </a:endParaRPr>
          </a:p>
          <a:p>
            <a:pPr algn="r" marR="236220">
              <a:lnSpc>
                <a:spcPts val="1939"/>
              </a:lnSpc>
            </a:pPr>
            <a:r>
              <a:rPr dirty="0" sz="1900" spc="-305">
                <a:latin typeface="Microsoft Sans Serif"/>
                <a:cs typeface="Microsoft Sans Serif"/>
              </a:rPr>
              <a:t>.قباسلا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200">
                <a:latin typeface="Microsoft Sans Serif"/>
                <a:cs typeface="Microsoft Sans Serif"/>
              </a:rPr>
              <a:t>اهروصت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150">
                <a:latin typeface="Microsoft Sans Serif"/>
                <a:cs typeface="Microsoft Sans Serif"/>
              </a:rPr>
              <a:t>نكمملا</a:t>
            </a:r>
            <a:r>
              <a:rPr dirty="0" sz="1900" spc="55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نم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3103245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Apache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Foundation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866139" y="1650568"/>
            <a:ext cx="10487660" cy="501904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292100" marR="469265" indent="-229235">
              <a:lnSpc>
                <a:spcPct val="70000"/>
              </a:lnSpc>
              <a:spcBef>
                <a:spcPts val="780"/>
              </a:spcBef>
              <a:buFont typeface="Microsoft Sans Serif"/>
              <a:buChar char="•"/>
              <a:tabLst>
                <a:tab pos="292100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Software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Foundation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(ASF)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non-</a:t>
            </a:r>
            <a:r>
              <a:rPr dirty="0" sz="1900">
                <a:latin typeface="Calibri"/>
                <a:cs typeface="Calibri"/>
              </a:rPr>
              <a:t>profit</a:t>
            </a:r>
            <a:r>
              <a:rPr dirty="0" sz="1900" spc="-10">
                <a:latin typeface="Calibri"/>
                <a:cs typeface="Calibri"/>
              </a:rPr>
              <a:t> organization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established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1999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support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50">
                <a:latin typeface="Calibri"/>
                <a:cs typeface="Calibri"/>
              </a:rPr>
              <a:t>a </a:t>
            </a:r>
            <a:r>
              <a:rPr dirty="0" sz="1900">
                <a:latin typeface="Calibri"/>
                <a:cs typeface="Calibri"/>
              </a:rPr>
              <a:t>variety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open-</a:t>
            </a:r>
            <a:r>
              <a:rPr dirty="0" sz="1900">
                <a:latin typeface="Calibri"/>
                <a:cs typeface="Calibri"/>
              </a:rPr>
              <a:t>source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software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projects.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Known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overseeing</a:t>
            </a:r>
            <a:r>
              <a:rPr dirty="0" sz="1900" spc="-20">
                <a:latin typeface="Calibri"/>
                <a:cs typeface="Calibri"/>
              </a:rPr>
              <a:t> well-</a:t>
            </a:r>
            <a:r>
              <a:rPr dirty="0" sz="1900">
                <a:latin typeface="Calibri"/>
                <a:cs typeface="Calibri"/>
              </a:rPr>
              <a:t>known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projects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such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the 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HTTP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Server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Hadoop,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ASF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provides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resources,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infrastructure,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0">
                <a:latin typeface="Calibri"/>
                <a:cs typeface="Calibri"/>
              </a:rPr>
              <a:t> a </a:t>
            </a:r>
            <a:r>
              <a:rPr dirty="0" sz="1900" spc="-10">
                <a:latin typeface="Calibri"/>
                <a:cs typeface="Calibri"/>
              </a:rPr>
              <a:t>collaborative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framework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open-</a:t>
            </a:r>
            <a:r>
              <a:rPr dirty="0" sz="1900">
                <a:latin typeface="Calibri"/>
                <a:cs typeface="Calibri"/>
              </a:rPr>
              <a:t>source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development,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fostering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innovation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community-driven progress.</a:t>
            </a:r>
            <a:endParaRPr sz="1900">
              <a:latin typeface="Calibri"/>
              <a:cs typeface="Calibri"/>
            </a:endParaRPr>
          </a:p>
          <a:p>
            <a:pPr marL="292100" marR="104775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92100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License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2.0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permissive</a:t>
            </a:r>
            <a:r>
              <a:rPr dirty="0" sz="1900" spc="-20">
                <a:latin typeface="Calibri"/>
                <a:cs typeface="Calibri"/>
              </a:rPr>
              <a:t> open-</a:t>
            </a:r>
            <a:r>
              <a:rPr dirty="0" sz="1900">
                <a:latin typeface="Calibri"/>
                <a:cs typeface="Calibri"/>
              </a:rPr>
              <a:t>source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license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that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allows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free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redistribution, modification,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software,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both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commercially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privately.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includes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provisions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patent grant,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ensuring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contributors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cannot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sue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users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patent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infringement,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requires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that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modifications </a:t>
            </a:r>
            <a:r>
              <a:rPr dirty="0" sz="1900">
                <a:latin typeface="Calibri"/>
                <a:cs typeface="Calibri"/>
              </a:rPr>
              <a:t>be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documented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original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license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included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distributions.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This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license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favored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flexibility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minimal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restrictions,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making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popular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choice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many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open-</a:t>
            </a:r>
            <a:r>
              <a:rPr dirty="0" sz="1900">
                <a:latin typeface="Calibri"/>
                <a:cs typeface="Calibri"/>
              </a:rPr>
              <a:t>source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projects.</a:t>
            </a:r>
            <a:endParaRPr sz="1900">
              <a:latin typeface="Calibri"/>
              <a:cs typeface="Calibri"/>
            </a:endParaRPr>
          </a:p>
          <a:p>
            <a:pPr marL="518795">
              <a:lnSpc>
                <a:spcPts val="1939"/>
              </a:lnSpc>
              <a:spcBef>
                <a:spcPts val="2030"/>
              </a:spcBef>
            </a:pPr>
            <a:r>
              <a:rPr dirty="0" sz="1900" spc="-254">
                <a:latin typeface="Microsoft Sans Serif"/>
                <a:cs typeface="Microsoft Sans Serif"/>
              </a:rPr>
              <a:t>عيراشم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نم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225">
                <a:latin typeface="Microsoft Sans Serif"/>
                <a:cs typeface="Microsoft Sans Serif"/>
              </a:rPr>
              <a:t>ةعونتم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ةعومجم </a:t>
            </a:r>
            <a:r>
              <a:rPr dirty="0" sz="1900" spc="-160">
                <a:latin typeface="Microsoft Sans Serif"/>
                <a:cs typeface="Microsoft Sans Serif"/>
              </a:rPr>
              <a:t>معدل</a:t>
            </a:r>
            <a:r>
              <a:rPr dirty="0" sz="1900" spc="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1999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ماع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420">
                <a:latin typeface="Microsoft Sans Serif"/>
                <a:cs typeface="Microsoft Sans Serif"/>
              </a:rPr>
              <a:t>تسسأت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20">
                <a:latin typeface="Microsoft Sans Serif"/>
                <a:cs typeface="Microsoft Sans Serif"/>
              </a:rPr>
              <a:t>ةيحبر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265">
                <a:latin typeface="Microsoft Sans Serif"/>
                <a:cs typeface="Microsoft Sans Serif"/>
              </a:rPr>
              <a:t>ريغ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35">
                <a:latin typeface="Microsoft Sans Serif"/>
                <a:cs typeface="Microsoft Sans Serif"/>
              </a:rPr>
              <a:t>ةمظنم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75">
                <a:latin typeface="Microsoft Sans Serif"/>
                <a:cs typeface="Microsoft Sans Serif"/>
              </a:rPr>
              <a:t>يه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1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Software</a:t>
            </a:r>
            <a:r>
              <a:rPr dirty="0" sz="1900" spc="1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Foundation</a:t>
            </a:r>
            <a:r>
              <a:rPr dirty="0" sz="1900" spc="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(ASF)</a:t>
            </a:r>
            <a:r>
              <a:rPr dirty="0" sz="1900" spc="345">
                <a:latin typeface="Calibri"/>
                <a:cs typeface="Calibri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marL="473709">
              <a:lnSpc>
                <a:spcPts val="1595"/>
              </a:lnSpc>
            </a:pPr>
            <a:r>
              <a:rPr dirty="0" sz="1900">
                <a:latin typeface="Microsoft Sans Serif"/>
                <a:cs typeface="Microsoft Sans Serif"/>
              </a:rPr>
              <a:t>،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Hadoop</a:t>
            </a:r>
            <a:r>
              <a:rPr dirty="0" sz="1900" spc="100">
                <a:latin typeface="Calibri"/>
                <a:cs typeface="Calibri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و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HTTP</a:t>
            </a:r>
            <a:r>
              <a:rPr dirty="0" sz="1900" spc="55">
                <a:latin typeface="Calibri"/>
                <a:cs typeface="Calibri"/>
              </a:rPr>
              <a:t>  </a:t>
            </a:r>
            <a:r>
              <a:rPr dirty="0" sz="1900">
                <a:latin typeface="Microsoft Sans Serif"/>
                <a:cs typeface="Microsoft Sans Serif"/>
              </a:rPr>
              <a:t>مداخ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75">
                <a:latin typeface="Microsoft Sans Serif"/>
                <a:cs typeface="Microsoft Sans Serif"/>
              </a:rPr>
              <a:t>لثم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204">
                <a:latin typeface="Microsoft Sans Serif"/>
                <a:cs typeface="Microsoft Sans Serif"/>
              </a:rPr>
              <a:t>ةزراب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عيراشم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ىلع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250">
                <a:latin typeface="Microsoft Sans Serif"/>
                <a:cs typeface="Microsoft Sans Serif"/>
              </a:rPr>
              <a:t>فارشلإاب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229">
                <a:latin typeface="Microsoft Sans Serif"/>
                <a:cs typeface="Microsoft Sans Serif"/>
              </a:rPr>
              <a:t>ةسسؤملا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445">
                <a:latin typeface="Microsoft Sans Serif"/>
                <a:cs typeface="Microsoft Sans Serif"/>
              </a:rPr>
              <a:t>رهتشت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160">
                <a:latin typeface="Microsoft Sans Serif"/>
                <a:cs typeface="Microsoft Sans Serif"/>
              </a:rPr>
              <a:t>.ردصملا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285">
                <a:latin typeface="Microsoft Sans Serif"/>
                <a:cs typeface="Microsoft Sans Serif"/>
              </a:rPr>
              <a:t>ةحوتفم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 spc="-270">
                <a:latin typeface="Microsoft Sans Serif"/>
                <a:cs typeface="Microsoft Sans Serif"/>
              </a:rPr>
              <a:t>تايجمربلا</a:t>
            </a:r>
            <a:endParaRPr sz="1900">
              <a:latin typeface="Microsoft Sans Serif"/>
              <a:cs typeface="Microsoft Sans Serif"/>
            </a:endParaRPr>
          </a:p>
          <a:p>
            <a:pPr algn="r" marR="314960">
              <a:lnSpc>
                <a:spcPts val="1595"/>
              </a:lnSpc>
            </a:pPr>
            <a:r>
              <a:rPr dirty="0" sz="1900" spc="-245">
                <a:latin typeface="Microsoft Sans Serif"/>
                <a:cs typeface="Microsoft Sans Serif"/>
              </a:rPr>
              <a:t>ىلع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345">
                <a:latin typeface="Microsoft Sans Serif"/>
                <a:cs typeface="Microsoft Sans Serif"/>
              </a:rPr>
              <a:t>مئاقلا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315">
                <a:latin typeface="Microsoft Sans Serif"/>
                <a:cs typeface="Microsoft Sans Serif"/>
              </a:rPr>
              <a:t>مدقتلاو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340">
                <a:latin typeface="Microsoft Sans Serif"/>
                <a:cs typeface="Microsoft Sans Serif"/>
              </a:rPr>
              <a:t>راكتبلاا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70">
                <a:latin typeface="Microsoft Sans Serif"/>
                <a:cs typeface="Microsoft Sans Serif"/>
              </a:rPr>
              <a:t>ززعي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50">
                <a:latin typeface="Microsoft Sans Serif"/>
                <a:cs typeface="Microsoft Sans Serif"/>
              </a:rPr>
              <a:t>امم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150">
                <a:latin typeface="Microsoft Sans Serif"/>
                <a:cs typeface="Microsoft Sans Serif"/>
              </a:rPr>
              <a:t>،ردصملا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290">
                <a:latin typeface="Microsoft Sans Serif"/>
                <a:cs typeface="Microsoft Sans Serif"/>
              </a:rPr>
              <a:t>ةحوتفم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تايجمربلا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380">
                <a:latin typeface="Microsoft Sans Serif"/>
                <a:cs typeface="Microsoft Sans Serif"/>
              </a:rPr>
              <a:t>ريوطتل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320">
                <a:latin typeface="Microsoft Sans Serif"/>
                <a:cs typeface="Microsoft Sans Serif"/>
              </a:rPr>
              <a:t>ينواعتلا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180">
                <a:latin typeface="Microsoft Sans Serif"/>
                <a:cs typeface="Microsoft Sans Serif"/>
              </a:rPr>
              <a:t>لمعلا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راطإو</a:t>
            </a:r>
            <a:r>
              <a:rPr dirty="0" sz="1900" spc="-10">
                <a:latin typeface="Microsoft Sans Serif"/>
                <a:cs typeface="Microsoft Sans Serif"/>
              </a:rPr>
              <a:t> </a:t>
            </a:r>
            <a:r>
              <a:rPr dirty="0" sz="1900" spc="-450">
                <a:latin typeface="Microsoft Sans Serif"/>
                <a:cs typeface="Microsoft Sans Serif"/>
              </a:rPr>
              <a:t>ةيتحتلا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390">
                <a:latin typeface="Microsoft Sans Serif"/>
                <a:cs typeface="Microsoft Sans Serif"/>
              </a:rPr>
              <a:t>ةينبلاو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دراوملا</a:t>
            </a:r>
            <a:r>
              <a:rPr dirty="0" sz="1900" spc="55">
                <a:latin typeface="Microsoft Sans Serif"/>
                <a:cs typeface="Microsoft Sans Serif"/>
              </a:rPr>
              <a:t> </a:t>
            </a:r>
            <a:r>
              <a:rPr dirty="0" sz="1900" spc="-390">
                <a:latin typeface="Microsoft Sans Serif"/>
                <a:cs typeface="Microsoft Sans Serif"/>
              </a:rPr>
              <a:t>رفوتو</a:t>
            </a:r>
            <a:endParaRPr sz="1900">
              <a:latin typeface="Microsoft Sans Serif"/>
              <a:cs typeface="Microsoft Sans Serif"/>
            </a:endParaRPr>
          </a:p>
          <a:p>
            <a:pPr algn="r" marR="311785">
              <a:lnSpc>
                <a:spcPts val="1939"/>
              </a:lnSpc>
            </a:pPr>
            <a:r>
              <a:rPr dirty="0" sz="1900" spc="-85">
                <a:latin typeface="Microsoft Sans Serif"/>
                <a:cs typeface="Microsoft Sans Serif"/>
              </a:rPr>
              <a:t>.عمتجملا</a:t>
            </a:r>
            <a:endParaRPr sz="1900">
              <a:latin typeface="Microsoft Sans Serif"/>
              <a:cs typeface="Microsoft Sans Serif"/>
            </a:endParaRPr>
          </a:p>
          <a:p>
            <a:pPr marL="443230">
              <a:lnSpc>
                <a:spcPts val="1939"/>
              </a:lnSpc>
              <a:spcBef>
                <a:spcPts val="310"/>
              </a:spcBef>
            </a:pPr>
            <a:r>
              <a:rPr dirty="0" sz="1900" spc="-280">
                <a:latin typeface="Microsoft Sans Serif"/>
                <a:cs typeface="Microsoft Sans Serif"/>
              </a:rPr>
              <a:t>،تايجمربلل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175">
                <a:latin typeface="Microsoft Sans Serif"/>
                <a:cs typeface="Microsoft Sans Serif"/>
              </a:rPr>
              <a:t>رحلا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10">
                <a:latin typeface="Microsoft Sans Serif"/>
                <a:cs typeface="Microsoft Sans Serif"/>
              </a:rPr>
              <a:t>مادختسلااو</a:t>
            </a:r>
            <a:r>
              <a:rPr dirty="0" sz="1900" spc="15">
                <a:latin typeface="Microsoft Sans Serif"/>
                <a:cs typeface="Microsoft Sans Serif"/>
              </a:rPr>
              <a:t> </a:t>
            </a:r>
            <a:r>
              <a:rPr dirty="0" sz="1900" spc="-330">
                <a:latin typeface="Microsoft Sans Serif"/>
                <a:cs typeface="Microsoft Sans Serif"/>
              </a:rPr>
              <a:t>ليدعتلاو</a:t>
            </a:r>
            <a:r>
              <a:rPr dirty="0" sz="1900" spc="-5">
                <a:latin typeface="Microsoft Sans Serif"/>
                <a:cs typeface="Microsoft Sans Serif"/>
              </a:rPr>
              <a:t> </a:t>
            </a:r>
            <a:r>
              <a:rPr dirty="0" sz="1900" spc="-355">
                <a:latin typeface="Microsoft Sans Serif"/>
                <a:cs typeface="Microsoft Sans Serif"/>
              </a:rPr>
              <a:t>عيزوتلا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185">
                <a:latin typeface="Microsoft Sans Serif"/>
                <a:cs typeface="Microsoft Sans Serif"/>
              </a:rPr>
              <a:t>ةداعإب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65">
                <a:latin typeface="Microsoft Sans Serif"/>
                <a:cs typeface="Microsoft Sans Serif"/>
              </a:rPr>
              <a:t>حمست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ةنرم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185">
                <a:latin typeface="Microsoft Sans Serif"/>
                <a:cs typeface="Microsoft Sans Serif"/>
              </a:rPr>
              <a:t>ردصملا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285">
                <a:latin typeface="Microsoft Sans Serif"/>
                <a:cs typeface="Microsoft Sans Serif"/>
              </a:rPr>
              <a:t>ةحوتفم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ةصخر</a:t>
            </a:r>
            <a:r>
              <a:rPr dirty="0" sz="1900" spc="5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Calibri"/>
                <a:cs typeface="Calibri"/>
              </a:rPr>
              <a:t>Apache</a:t>
            </a:r>
            <a:r>
              <a:rPr dirty="0" sz="1900" spc="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2.0</a:t>
            </a:r>
            <a:r>
              <a:rPr dirty="0" sz="1900" spc="495">
                <a:latin typeface="Calibri"/>
                <a:cs typeface="Calibri"/>
              </a:rPr>
              <a:t> </a:t>
            </a:r>
            <a:r>
              <a:rPr dirty="0" sz="1900" spc="-240">
                <a:latin typeface="Microsoft Sans Serif"/>
                <a:cs typeface="Microsoft Sans Serif"/>
              </a:rPr>
              <a:t>تايجمرب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95">
                <a:latin typeface="Microsoft Sans Serif"/>
                <a:cs typeface="Microsoft Sans Serif"/>
              </a:rPr>
              <a:t>ةصخر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440">
                <a:latin typeface="Microsoft Sans Serif"/>
                <a:cs typeface="Microsoft Sans Serif"/>
              </a:rPr>
              <a:t>لثمت</a:t>
            </a:r>
            <a:r>
              <a:rPr dirty="0" sz="1900" spc="75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marL="6699884">
              <a:lnSpc>
                <a:spcPts val="1939"/>
              </a:lnSpc>
            </a:pPr>
            <a:r>
              <a:rPr dirty="0" sz="1900" spc="-160">
                <a:latin typeface="Microsoft Sans Serif"/>
                <a:cs typeface="Microsoft Sans Serif"/>
              </a:rPr>
              <a:t>.ةصاخلا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140">
                <a:latin typeface="Microsoft Sans Serif"/>
                <a:cs typeface="Microsoft Sans Serif"/>
              </a:rPr>
              <a:t>ضارغلأل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وأ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275">
                <a:latin typeface="Microsoft Sans Serif"/>
                <a:cs typeface="Microsoft Sans Serif"/>
              </a:rPr>
              <a:t>ةيراجت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75">
                <a:latin typeface="Microsoft Sans Serif"/>
                <a:cs typeface="Microsoft Sans Serif"/>
              </a:rPr>
              <a:t>ضارغلأ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ءاوس</a:t>
            </a:r>
            <a:endParaRPr sz="1900">
              <a:latin typeface="Microsoft Sans Serif"/>
              <a:cs typeface="Microsoft Sans Serif"/>
            </a:endParaRPr>
          </a:p>
          <a:p>
            <a:pPr marL="464184">
              <a:lnSpc>
                <a:spcPts val="1939"/>
              </a:lnSpc>
              <a:spcBef>
                <a:spcPts val="310"/>
              </a:spcBef>
            </a:pPr>
            <a:r>
              <a:rPr dirty="0" sz="1900" spc="-170">
                <a:latin typeface="Microsoft Sans Serif"/>
                <a:cs typeface="Microsoft Sans Serif"/>
              </a:rPr>
              <a:t>،عارتخلاا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185">
                <a:latin typeface="Microsoft Sans Serif"/>
                <a:cs typeface="Microsoft Sans Serif"/>
              </a:rPr>
              <a:t>تاءارب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240">
                <a:latin typeface="Microsoft Sans Serif"/>
                <a:cs typeface="Microsoft Sans Serif"/>
              </a:rPr>
              <a:t>كاهتنا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295">
                <a:latin typeface="Microsoft Sans Serif"/>
                <a:cs typeface="Microsoft Sans Serif"/>
              </a:rPr>
              <a:t>ةمهتب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-330">
                <a:latin typeface="Microsoft Sans Serif"/>
                <a:cs typeface="Microsoft Sans Serif"/>
              </a:rPr>
              <a:t>نيمدختسملل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180">
                <a:latin typeface="Microsoft Sans Serif"/>
                <a:cs typeface="Microsoft Sans Serif"/>
              </a:rPr>
              <a:t>نيمهاسملا</a:t>
            </a:r>
            <a:r>
              <a:rPr dirty="0" sz="1900" spc="60">
                <a:latin typeface="Microsoft Sans Serif"/>
                <a:cs typeface="Microsoft Sans Serif"/>
              </a:rPr>
              <a:t> </a:t>
            </a:r>
            <a:r>
              <a:rPr dirty="0" sz="1900" spc="-190">
                <a:latin typeface="Microsoft Sans Serif"/>
                <a:cs typeface="Microsoft Sans Serif"/>
              </a:rPr>
              <a:t>ةاضاقم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مدع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295">
                <a:latin typeface="Microsoft Sans Serif"/>
                <a:cs typeface="Microsoft Sans Serif"/>
              </a:rPr>
              <a:t>نمضي</a:t>
            </a:r>
            <a:r>
              <a:rPr dirty="0" sz="1900" spc="75">
                <a:latin typeface="Microsoft Sans Serif"/>
                <a:cs typeface="Microsoft Sans Serif"/>
              </a:rPr>
              <a:t> </a:t>
            </a:r>
            <a:r>
              <a:rPr dirty="0" sz="1900" spc="50">
                <a:latin typeface="Microsoft Sans Serif"/>
                <a:cs typeface="Microsoft Sans Serif"/>
              </a:rPr>
              <a:t>امم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165">
                <a:latin typeface="Microsoft Sans Serif"/>
                <a:cs typeface="Microsoft Sans Serif"/>
              </a:rPr>
              <a:t>،عارتخلاا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185">
                <a:latin typeface="Microsoft Sans Serif"/>
                <a:cs typeface="Microsoft Sans Serif"/>
              </a:rPr>
              <a:t>تاءارب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275">
                <a:latin typeface="Microsoft Sans Serif"/>
                <a:cs typeface="Microsoft Sans Serif"/>
              </a:rPr>
              <a:t>حنمل</a:t>
            </a:r>
            <a:r>
              <a:rPr dirty="0" sz="1900" spc="75">
                <a:latin typeface="Microsoft Sans Serif"/>
                <a:cs typeface="Microsoft Sans Serif"/>
              </a:rPr>
              <a:t> </a:t>
            </a:r>
            <a:r>
              <a:rPr dirty="0" sz="1900" spc="-270">
                <a:latin typeface="Microsoft Sans Serif"/>
                <a:cs typeface="Microsoft Sans Serif"/>
              </a:rPr>
              <a:t>ام</a:t>
            </a:r>
            <a:r>
              <a:rPr dirty="0" baseline="-5847" sz="2850" spc="-405">
                <a:latin typeface="Microsoft Sans Serif"/>
                <a:cs typeface="Microsoft Sans Serif"/>
              </a:rPr>
              <a:t>ً</a:t>
            </a:r>
            <a:r>
              <a:rPr dirty="0" baseline="-5847" sz="2850" spc="179">
                <a:latin typeface="Microsoft Sans Serif"/>
                <a:cs typeface="Microsoft Sans Serif"/>
              </a:rPr>
              <a:t> </a:t>
            </a:r>
            <a:r>
              <a:rPr dirty="0" sz="1900" spc="-140">
                <a:latin typeface="Microsoft Sans Serif"/>
                <a:cs typeface="Microsoft Sans Serif"/>
              </a:rPr>
              <a:t>اكحأ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180">
                <a:latin typeface="Microsoft Sans Serif"/>
                <a:cs typeface="Microsoft Sans Serif"/>
              </a:rPr>
              <a:t>ةصخرلا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450">
                <a:latin typeface="Microsoft Sans Serif"/>
                <a:cs typeface="Microsoft Sans Serif"/>
              </a:rPr>
              <a:t>نمضتت</a:t>
            </a:r>
            <a:r>
              <a:rPr dirty="0" sz="1900" spc="375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marL="5190490">
              <a:lnSpc>
                <a:spcPts val="1939"/>
              </a:lnSpc>
            </a:pPr>
            <a:r>
              <a:rPr dirty="0" sz="1900" spc="-265">
                <a:latin typeface="Microsoft Sans Serif"/>
                <a:cs typeface="Microsoft Sans Serif"/>
              </a:rPr>
              <a:t>.تاعيزوتلا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560">
                <a:latin typeface="Microsoft Sans Serif"/>
                <a:cs typeface="Microsoft Sans Serif"/>
              </a:rPr>
              <a:t>يف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15">
                <a:latin typeface="Microsoft Sans Serif"/>
                <a:cs typeface="Microsoft Sans Serif"/>
              </a:rPr>
              <a:t>ةيلصلأا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185">
                <a:latin typeface="Microsoft Sans Serif"/>
                <a:cs typeface="Microsoft Sans Serif"/>
              </a:rPr>
              <a:t>ةصخرلا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جاردإو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325">
                <a:latin typeface="Microsoft Sans Serif"/>
                <a:cs typeface="Microsoft Sans Serif"/>
              </a:rPr>
              <a:t>تلايدعتلا</a:t>
            </a:r>
            <a:r>
              <a:rPr dirty="0" sz="1900" spc="30">
                <a:latin typeface="Microsoft Sans Serif"/>
                <a:cs typeface="Microsoft Sans Serif"/>
              </a:rPr>
              <a:t> </a:t>
            </a:r>
            <a:r>
              <a:rPr dirty="0" sz="1900" spc="-520">
                <a:latin typeface="Microsoft Sans Serif"/>
                <a:cs typeface="Microsoft Sans Serif"/>
              </a:rPr>
              <a:t>قيثوت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sz="1900" spc="-409">
                <a:latin typeface="Microsoft Sans Serif"/>
                <a:cs typeface="Microsoft Sans Serif"/>
              </a:rPr>
              <a:t>بلطتتو</a:t>
            </a:r>
            <a:endParaRPr sz="1900">
              <a:latin typeface="Microsoft Sans Serif"/>
              <a:cs typeface="Microsoft Sans Serif"/>
            </a:endParaRPr>
          </a:p>
          <a:p>
            <a:pPr marL="509905">
              <a:lnSpc>
                <a:spcPts val="1939"/>
              </a:lnSpc>
              <a:spcBef>
                <a:spcPts val="330"/>
              </a:spcBef>
            </a:pPr>
            <a:r>
              <a:rPr dirty="0" sz="1900" spc="-285">
                <a:latin typeface="Microsoft Sans Serif"/>
                <a:cs typeface="Microsoft Sans Serif"/>
              </a:rPr>
              <a:t>ةحوتفم</a:t>
            </a:r>
            <a:r>
              <a:rPr dirty="0" sz="1900" spc="10">
                <a:latin typeface="Microsoft Sans Serif"/>
                <a:cs typeface="Microsoft Sans Serif"/>
              </a:rPr>
              <a:t> </a:t>
            </a:r>
            <a:r>
              <a:rPr dirty="0" sz="1900" spc="-254">
                <a:latin typeface="Microsoft Sans Serif"/>
                <a:cs typeface="Microsoft Sans Serif"/>
              </a:rPr>
              <a:t>تايجمربلا</a:t>
            </a:r>
            <a:r>
              <a:rPr dirty="0" sz="1900" spc="60">
                <a:latin typeface="Microsoft Sans Serif"/>
                <a:cs typeface="Microsoft Sans Serif"/>
              </a:rPr>
              <a:t> </a:t>
            </a:r>
            <a:r>
              <a:rPr dirty="0" sz="1900" spc="-245">
                <a:latin typeface="Microsoft Sans Serif"/>
                <a:cs typeface="Microsoft Sans Serif"/>
              </a:rPr>
              <a:t>عيراشم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نم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75">
                <a:latin typeface="Microsoft Sans Serif"/>
                <a:cs typeface="Microsoft Sans Serif"/>
              </a:rPr>
              <a:t>ديدعلل</a:t>
            </a:r>
            <a:r>
              <a:rPr dirty="0" sz="1900" spc="20">
                <a:latin typeface="Microsoft Sans Serif"/>
                <a:cs typeface="Microsoft Sans Serif"/>
              </a:rPr>
              <a:t> </a:t>
            </a:r>
            <a:r>
              <a:rPr dirty="0" baseline="7309" sz="2850" spc="-502">
                <a:latin typeface="Microsoft Sans Serif"/>
                <a:cs typeface="Microsoft Sans Serif"/>
              </a:rPr>
              <a:t>ً</a:t>
            </a:r>
            <a:r>
              <a:rPr dirty="0" sz="1900" spc="-335">
                <a:latin typeface="Microsoft Sans Serif"/>
                <a:cs typeface="Microsoft Sans Serif"/>
              </a:rPr>
              <a:t>لاضفم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360">
                <a:latin typeface="Microsoft Sans Serif"/>
                <a:cs typeface="Microsoft Sans Serif"/>
              </a:rPr>
              <a:t>ار</a:t>
            </a:r>
            <a:r>
              <a:rPr dirty="0" baseline="-4385" sz="2850" spc="-540">
                <a:latin typeface="Microsoft Sans Serif"/>
                <a:cs typeface="Microsoft Sans Serif"/>
              </a:rPr>
              <a:t>ً</a:t>
            </a:r>
            <a:r>
              <a:rPr dirty="0" baseline="-4385" sz="2850" spc="247">
                <a:latin typeface="Microsoft Sans Serif"/>
                <a:cs typeface="Microsoft Sans Serif"/>
              </a:rPr>
              <a:t> </a:t>
            </a:r>
            <a:r>
              <a:rPr dirty="0" sz="1900" spc="-275">
                <a:latin typeface="Microsoft Sans Serif"/>
                <a:cs typeface="Microsoft Sans Serif"/>
              </a:rPr>
              <a:t>ايخ</a:t>
            </a:r>
            <a:r>
              <a:rPr dirty="0" sz="1900" spc="55">
                <a:latin typeface="Microsoft Sans Serif"/>
                <a:cs typeface="Microsoft Sans Serif"/>
              </a:rPr>
              <a:t> </a:t>
            </a:r>
            <a:r>
              <a:rPr dirty="0" sz="1900" spc="-260">
                <a:latin typeface="Microsoft Sans Serif"/>
                <a:cs typeface="Microsoft Sans Serif"/>
              </a:rPr>
              <a:t>اهلعجي</a:t>
            </a:r>
            <a:r>
              <a:rPr dirty="0" sz="1900" spc="60">
                <a:latin typeface="Microsoft Sans Serif"/>
                <a:cs typeface="Microsoft Sans Serif"/>
              </a:rPr>
              <a:t> </a:t>
            </a:r>
            <a:r>
              <a:rPr dirty="0" sz="1900" spc="50">
                <a:latin typeface="Microsoft Sans Serif"/>
                <a:cs typeface="Microsoft Sans Serif"/>
              </a:rPr>
              <a:t>امم</a:t>
            </a:r>
            <a:r>
              <a:rPr dirty="0" sz="1900">
                <a:latin typeface="Microsoft Sans Serif"/>
                <a:cs typeface="Microsoft Sans Serif"/>
              </a:rPr>
              <a:t> </a:t>
            </a:r>
            <a:r>
              <a:rPr dirty="0" sz="1900" spc="-380">
                <a:latin typeface="Microsoft Sans Serif"/>
                <a:cs typeface="Microsoft Sans Serif"/>
              </a:rPr>
              <a:t>،ةليلقلا</a:t>
            </a:r>
            <a:r>
              <a:rPr dirty="0" sz="1900" spc="70">
                <a:latin typeface="Microsoft Sans Serif"/>
                <a:cs typeface="Microsoft Sans Serif"/>
              </a:rPr>
              <a:t> </a:t>
            </a:r>
            <a:r>
              <a:rPr dirty="0" sz="1900" spc="-160">
                <a:latin typeface="Microsoft Sans Serif"/>
                <a:cs typeface="Microsoft Sans Serif"/>
              </a:rPr>
              <a:t>اهدويقو</a:t>
            </a:r>
            <a:r>
              <a:rPr dirty="0" sz="1900" spc="60">
                <a:latin typeface="Microsoft Sans Serif"/>
                <a:cs typeface="Microsoft Sans Serif"/>
              </a:rPr>
              <a:t> </a:t>
            </a:r>
            <a:r>
              <a:rPr dirty="0" sz="1900" spc="-185">
                <a:latin typeface="Microsoft Sans Serif"/>
                <a:cs typeface="Microsoft Sans Serif"/>
              </a:rPr>
              <a:t>اهتنورم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600">
                <a:latin typeface="Microsoft Sans Serif"/>
                <a:cs typeface="Microsoft Sans Serif"/>
              </a:rPr>
              <a:t>لضفب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425">
                <a:latin typeface="Microsoft Sans Serif"/>
                <a:cs typeface="Microsoft Sans Serif"/>
              </a:rPr>
              <a:t>ةريبك</a:t>
            </a:r>
            <a:r>
              <a:rPr dirty="0" sz="1900" spc="40">
                <a:latin typeface="Microsoft Sans Serif"/>
                <a:cs typeface="Microsoft Sans Serif"/>
              </a:rPr>
              <a:t> </a:t>
            </a:r>
            <a:r>
              <a:rPr dirty="0" sz="1900" spc="-555">
                <a:latin typeface="Microsoft Sans Serif"/>
                <a:cs typeface="Microsoft Sans Serif"/>
              </a:rPr>
              <a:t>ةيبعشب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180">
                <a:latin typeface="Microsoft Sans Serif"/>
                <a:cs typeface="Microsoft Sans Serif"/>
              </a:rPr>
              <a:t>ةصخرلا</a:t>
            </a:r>
            <a:r>
              <a:rPr dirty="0" sz="1900" spc="50">
                <a:latin typeface="Microsoft Sans Serif"/>
                <a:cs typeface="Microsoft Sans Serif"/>
              </a:rPr>
              <a:t> </a:t>
            </a:r>
            <a:r>
              <a:rPr dirty="0" sz="1900" spc="60">
                <a:latin typeface="Microsoft Sans Serif"/>
                <a:cs typeface="Microsoft Sans Serif"/>
              </a:rPr>
              <a:t>هذه</a:t>
            </a:r>
            <a:r>
              <a:rPr dirty="0" sz="1900" spc="25">
                <a:latin typeface="Microsoft Sans Serif"/>
                <a:cs typeface="Microsoft Sans Serif"/>
              </a:rPr>
              <a:t> </a:t>
            </a:r>
            <a:r>
              <a:rPr dirty="0" sz="1900" spc="-265">
                <a:latin typeface="Microsoft Sans Serif"/>
                <a:cs typeface="Microsoft Sans Serif"/>
              </a:rPr>
              <a:t>ىظحت</a:t>
            </a:r>
            <a:r>
              <a:rPr dirty="0" sz="1900" spc="100">
                <a:latin typeface="Microsoft Sans Serif"/>
                <a:cs typeface="Microsoft Sans Serif"/>
              </a:rPr>
              <a:t>  </a:t>
            </a:r>
            <a:r>
              <a:rPr dirty="0" sz="1900" spc="-50"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 marL="9502775">
              <a:lnSpc>
                <a:spcPts val="1939"/>
              </a:lnSpc>
            </a:pPr>
            <a:r>
              <a:rPr dirty="0" sz="1900" spc="-20">
                <a:latin typeface="Microsoft Sans Serif"/>
                <a:cs typeface="Microsoft Sans Serif"/>
              </a:rPr>
              <a:t>.ردصملا</a:t>
            </a:r>
            <a:endParaRPr sz="19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767" y="670085"/>
            <a:ext cx="1606295" cy="935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109472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What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is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25">
                <a:solidFill>
                  <a:srgbClr val="FFFFFF"/>
                </a:solidFill>
              </a:rPr>
              <a:t> </a:t>
            </a:r>
            <a:r>
              <a:rPr dirty="0" sz="2800" spc="-20">
                <a:solidFill>
                  <a:srgbClr val="FFFFFF"/>
                </a:solidFill>
              </a:rPr>
              <a:t>Data?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91716"/>
            <a:ext cx="6724015" cy="2907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refers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datasets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large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complex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traditional</a:t>
            </a:r>
            <a:r>
              <a:rPr dirty="0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applications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inadequate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ts val="2160"/>
              </a:lnSpc>
              <a:spcBef>
                <a:spcPts val="103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tool,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rather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become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subject,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involves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various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tools,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techniques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frameworks.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ts val="2280"/>
              </a:lnSpc>
              <a:spcBef>
                <a:spcPts val="73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requires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advanced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technologies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efficiently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analyze.</a:t>
            </a:r>
            <a:endParaRPr sz="2000">
              <a:latin typeface="Calibri"/>
              <a:cs typeface="Calibri"/>
            </a:endParaRPr>
          </a:p>
          <a:p>
            <a:pPr marL="241300" marR="71120" indent="-229235">
              <a:lnSpc>
                <a:spcPts val="2160"/>
              </a:lnSpc>
              <a:spcBef>
                <a:spcPts val="10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organizations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gain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insights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data- </a:t>
            </a:r>
            <a:r>
              <a:rPr dirty="0" sz="2000">
                <a:latin typeface="Calibri"/>
                <a:cs typeface="Calibri"/>
              </a:rPr>
              <a:t>driven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decisions.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3319" y="1705355"/>
            <a:ext cx="4419600" cy="2950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Evolution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of</a:t>
            </a:r>
            <a:r>
              <a:rPr dirty="0" sz="2800" spc="-4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50">
                <a:solidFill>
                  <a:srgbClr val="FFFFFF"/>
                </a:solidFill>
              </a:rPr>
              <a:t> </a:t>
            </a:r>
            <a:r>
              <a:rPr dirty="0" sz="2800" spc="-20">
                <a:solidFill>
                  <a:srgbClr val="FFFFFF"/>
                </a:solidFill>
              </a:rPr>
              <a:t>Data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91716"/>
            <a:ext cx="8465820" cy="9753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b="1">
                <a:solidFill>
                  <a:srgbClr val="800000"/>
                </a:solidFill>
                <a:latin typeface="Calibri"/>
                <a:cs typeface="Calibri"/>
              </a:rPr>
              <a:t>The Model</a:t>
            </a:r>
            <a:r>
              <a:rPr dirty="0" sz="2000" spc="-20" b="1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800000"/>
                </a:solidFill>
                <a:latin typeface="Calibri"/>
                <a:cs typeface="Calibri"/>
              </a:rPr>
              <a:t>of</a:t>
            </a:r>
            <a:r>
              <a:rPr dirty="0" sz="2000" spc="-10" b="1">
                <a:solidFill>
                  <a:srgbClr val="800000"/>
                </a:solidFill>
                <a:latin typeface="Calibri"/>
                <a:cs typeface="Calibri"/>
              </a:rPr>
              <a:t> Generating/Consuming</a:t>
            </a:r>
            <a:r>
              <a:rPr dirty="0" sz="2000" spc="-25" b="1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800000"/>
                </a:solidFill>
                <a:latin typeface="Calibri"/>
                <a:cs typeface="Calibri"/>
              </a:rPr>
              <a:t>Data</a:t>
            </a:r>
            <a:r>
              <a:rPr dirty="0" sz="2000" spc="5" b="1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800000"/>
                </a:solidFill>
                <a:latin typeface="Calibri"/>
                <a:cs typeface="Calibri"/>
              </a:rPr>
              <a:t>has</a:t>
            </a:r>
            <a:r>
              <a:rPr dirty="0" sz="2000" spc="-10" b="1">
                <a:solidFill>
                  <a:srgbClr val="800000"/>
                </a:solidFill>
                <a:latin typeface="Calibri"/>
                <a:cs typeface="Calibri"/>
              </a:rPr>
              <a:t> Changed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000">
              <a:latin typeface="Calibri"/>
              <a:cs typeface="Calibri"/>
            </a:endParaRPr>
          </a:p>
          <a:p>
            <a:pPr marL="1190625">
              <a:lnSpc>
                <a:spcPct val="100000"/>
              </a:lnSpc>
            </a:pPr>
            <a:r>
              <a:rPr dirty="0" sz="1800" b="1">
                <a:solidFill>
                  <a:srgbClr val="0000FF"/>
                </a:solidFill>
                <a:latin typeface="Calibri"/>
                <a:cs typeface="Calibri"/>
              </a:rPr>
              <a:t>Old</a:t>
            </a:r>
            <a:r>
              <a:rPr dirty="0" sz="1800" spc="-5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FF"/>
                </a:solidFill>
                <a:latin typeface="Calibri"/>
                <a:cs typeface="Calibri"/>
              </a:rPr>
              <a:t>Model:</a:t>
            </a:r>
            <a:r>
              <a:rPr dirty="0" sz="1800" spc="-6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Few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companies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generating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consuming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180844" y="2857500"/>
            <a:ext cx="2104390" cy="1115695"/>
            <a:chOff x="2180844" y="2857500"/>
            <a:chExt cx="2104390" cy="11156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0844" y="2857500"/>
              <a:ext cx="1197863" cy="111556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3091" y="3081590"/>
              <a:ext cx="881631" cy="851853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2968" y="2827020"/>
            <a:ext cx="1679448" cy="124815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4454525" y="3233801"/>
            <a:ext cx="2124710" cy="494030"/>
            <a:chOff x="4454525" y="3233801"/>
            <a:chExt cx="2124710" cy="49403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7700" y="3236976"/>
              <a:ext cx="2118359" cy="48768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457700" y="3236976"/>
              <a:ext cx="2118360" cy="487680"/>
            </a:xfrm>
            <a:custGeom>
              <a:avLst/>
              <a:gdLst/>
              <a:ahLst/>
              <a:cxnLst/>
              <a:rect l="l" t="t" r="r" b="b"/>
              <a:pathLst>
                <a:path w="2118359" h="487679">
                  <a:moveTo>
                    <a:pt x="0" y="121920"/>
                  </a:moveTo>
                  <a:lnTo>
                    <a:pt x="1874520" y="121920"/>
                  </a:lnTo>
                  <a:lnTo>
                    <a:pt x="1874520" y="0"/>
                  </a:lnTo>
                  <a:lnTo>
                    <a:pt x="2118359" y="243839"/>
                  </a:lnTo>
                  <a:lnTo>
                    <a:pt x="1874520" y="487680"/>
                  </a:lnTo>
                  <a:lnTo>
                    <a:pt x="1874520" y="365760"/>
                  </a:lnTo>
                  <a:lnTo>
                    <a:pt x="0" y="365760"/>
                  </a:lnTo>
                  <a:lnTo>
                    <a:pt x="0" y="121920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08860" y="4658867"/>
            <a:ext cx="1667256" cy="1046988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967610" y="4151757"/>
            <a:ext cx="6932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00FF"/>
                </a:solidFill>
                <a:latin typeface="Calibri"/>
                <a:cs typeface="Calibri"/>
              </a:rPr>
              <a:t>New</a:t>
            </a:r>
            <a:r>
              <a:rPr dirty="0" sz="1800" spc="-4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FF"/>
                </a:solidFill>
                <a:latin typeface="Calibri"/>
                <a:cs typeface="Calibri"/>
              </a:rPr>
              <a:t>Model:</a:t>
            </a:r>
            <a:r>
              <a:rPr dirty="0" sz="1800" spc="-4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10">
                <a:latin typeface="Calibri"/>
                <a:cs typeface="Calibri"/>
              </a:rPr>
              <a:t> generating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10">
                <a:latin typeface="Calibri"/>
                <a:cs typeface="Calibri"/>
              </a:rPr>
              <a:t> consuming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193921" y="4940680"/>
            <a:ext cx="2385695" cy="492759"/>
            <a:chOff x="4193921" y="4940680"/>
            <a:chExt cx="2385695" cy="492759"/>
          </a:xfrm>
        </p:grpSpPr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7096" y="4943855"/>
              <a:ext cx="2378963" cy="48615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197096" y="4943855"/>
              <a:ext cx="2379345" cy="486409"/>
            </a:xfrm>
            <a:custGeom>
              <a:avLst/>
              <a:gdLst/>
              <a:ahLst/>
              <a:cxnLst/>
              <a:rect l="l" t="t" r="r" b="b"/>
              <a:pathLst>
                <a:path w="2379345" h="486410">
                  <a:moveTo>
                    <a:pt x="0" y="121539"/>
                  </a:moveTo>
                  <a:lnTo>
                    <a:pt x="2135886" y="121539"/>
                  </a:lnTo>
                  <a:lnTo>
                    <a:pt x="2135886" y="0"/>
                  </a:lnTo>
                  <a:lnTo>
                    <a:pt x="2378963" y="243078"/>
                  </a:lnTo>
                  <a:lnTo>
                    <a:pt x="2135886" y="486156"/>
                  </a:lnTo>
                  <a:lnTo>
                    <a:pt x="2135886" y="364617"/>
                  </a:lnTo>
                  <a:lnTo>
                    <a:pt x="0" y="364617"/>
                  </a:lnTo>
                  <a:lnTo>
                    <a:pt x="0" y="121539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4868" y="4501896"/>
            <a:ext cx="1709927" cy="11506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747" y="103631"/>
            <a:ext cx="403859" cy="52860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628" y="189174"/>
            <a:ext cx="2020606" cy="57103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8618" y="45690"/>
            <a:ext cx="1163591" cy="586036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838200" y="797051"/>
            <a:ext cx="10515600" cy="748665"/>
          </a:xfrm>
          <a:custGeom>
            <a:avLst/>
            <a:gdLst/>
            <a:ahLst/>
            <a:cxnLst/>
            <a:rect l="l" t="t" r="r" b="b"/>
            <a:pathLst>
              <a:path w="10515600" h="748665">
                <a:moveTo>
                  <a:pt x="10515600" y="0"/>
                </a:moveTo>
                <a:lnTo>
                  <a:pt x="0" y="0"/>
                </a:lnTo>
                <a:lnTo>
                  <a:pt x="0" y="748284"/>
                </a:lnTo>
                <a:lnTo>
                  <a:pt x="10515600" y="748284"/>
                </a:lnTo>
                <a:lnTo>
                  <a:pt x="10515600" y="0"/>
                </a:lnTo>
                <a:close/>
              </a:path>
            </a:pathLst>
          </a:custGeom>
          <a:solidFill>
            <a:srgbClr val="673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901699"/>
            <a:ext cx="362775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7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Sizes</a:t>
            </a:r>
            <a:r>
              <a:rPr dirty="0" sz="2800" spc="-5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and</a:t>
            </a:r>
            <a:r>
              <a:rPr dirty="0" sz="2800" spc="-6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65">
                <a:solidFill>
                  <a:srgbClr val="FFFFFF"/>
                </a:solidFill>
              </a:rPr>
              <a:t> </a:t>
            </a:r>
            <a:r>
              <a:rPr dirty="0" sz="2800" spc="-20">
                <a:solidFill>
                  <a:srgbClr val="FFFFFF"/>
                </a:solidFill>
              </a:rPr>
              <a:t>Units</a:t>
            </a:r>
            <a:endParaRPr sz="2800"/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184" y="1650953"/>
            <a:ext cx="6714207" cy="504702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24665" y="1733175"/>
            <a:ext cx="3533908" cy="24382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70876" y="4317491"/>
            <a:ext cx="4050791" cy="21302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Characteristics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of</a:t>
            </a:r>
            <a:r>
              <a:rPr dirty="0" sz="2800" spc="-3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25">
                <a:solidFill>
                  <a:srgbClr val="FFFFFF"/>
                </a:solidFill>
              </a:rPr>
              <a:t> </a:t>
            </a:r>
            <a:r>
              <a:rPr dirty="0" sz="2800" spc="-20">
                <a:solidFill>
                  <a:srgbClr val="FFFFFF"/>
                </a:solidFill>
              </a:rPr>
              <a:t>Data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6795134" cy="258127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60"/>
              </a:spcBef>
              <a:buAutoNum type="arabicPeriod"/>
              <a:tabLst>
                <a:tab pos="469900" algn="l"/>
              </a:tabLst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Volume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sheer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size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generated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second.</a:t>
            </a:r>
            <a:endParaRPr sz="2000">
              <a:latin typeface="Calibri"/>
              <a:cs typeface="Calibri"/>
            </a:endParaRPr>
          </a:p>
          <a:p>
            <a:pPr marL="469900" marR="594360" indent="-457834">
              <a:lnSpc>
                <a:spcPts val="2160"/>
              </a:lnSpc>
              <a:spcBef>
                <a:spcPts val="1030"/>
              </a:spcBef>
              <a:buAutoNum type="arabicPeriod"/>
              <a:tabLst>
                <a:tab pos="469900" algn="l"/>
              </a:tabLst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Velocity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generated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processed.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469900" algn="l"/>
              </a:tabLst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Variety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different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60"/>
              </a:spcBef>
              <a:buAutoNum type="arabicPeriod"/>
              <a:tabLst>
                <a:tab pos="469900" algn="l"/>
              </a:tabLst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Veracity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accuracy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trustworthiness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469900" marR="5080" indent="-457834">
              <a:lnSpc>
                <a:spcPts val="2160"/>
              </a:lnSpc>
              <a:spcBef>
                <a:spcPts val="1030"/>
              </a:spcBef>
              <a:buAutoNum type="arabicPeriod"/>
              <a:tabLst>
                <a:tab pos="469900" algn="l"/>
              </a:tabLst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potential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insights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benefits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derived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0571" y="1738883"/>
            <a:ext cx="3556427" cy="3359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Volume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8593455" cy="278320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Definition: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Refers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massive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amount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generated.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Examples: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Social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media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posts,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records,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sensor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Facebook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generates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approximately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4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petabytes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day.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8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Walmart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handles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over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million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customer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every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hour.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Implications: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Requires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scalable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solutions.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8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Necessitates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advanced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processing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techniques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analyze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efficiently.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Velocity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0720"/>
            <a:ext cx="8151495" cy="289814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Definition: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generated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processed.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Examples:</a:t>
            </a:r>
            <a:endParaRPr sz="24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31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20">
                <a:latin typeface="Calibri"/>
                <a:cs typeface="Calibri"/>
              </a:rPr>
              <a:t>Real-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streams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Social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Media,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IoT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devices,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financial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market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8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20">
                <a:latin typeface="Calibri"/>
                <a:cs typeface="Calibri"/>
              </a:rPr>
              <a:t>Twitter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processes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around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500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million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tweets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day.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High-</a:t>
            </a:r>
            <a:r>
              <a:rPr dirty="0" sz="1800">
                <a:latin typeface="Calibri"/>
                <a:cs typeface="Calibri"/>
              </a:rPr>
              <a:t>frequency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trading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algorithms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stock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markets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milliseconds.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Implications: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20">
                <a:latin typeface="Calibri"/>
                <a:cs typeface="Calibri"/>
              </a:rPr>
              <a:t>Real-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processing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capabilities.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7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technologies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like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Apache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Kafka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Spark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Streaming.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Variety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6997700" cy="278320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Definition: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different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Examples: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Structured: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Relational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databases,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spreadsheets.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Semi-structured: </a:t>
            </a:r>
            <a:r>
              <a:rPr dirty="0" sz="1800">
                <a:latin typeface="Calibri"/>
                <a:cs typeface="Calibri"/>
              </a:rPr>
              <a:t>XML,</a:t>
            </a:r>
            <a:r>
              <a:rPr dirty="0" sz="1800" spc="-10">
                <a:latin typeface="Calibri"/>
                <a:cs typeface="Calibri"/>
              </a:rPr>
              <a:t> JSON.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8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Unstructured: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40">
                <a:latin typeface="Calibri"/>
                <a:cs typeface="Calibri"/>
              </a:rPr>
              <a:t>Text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documents,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social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media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posts,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multimedia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files.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Implications: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Diverse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integration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methods.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8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20">
                <a:latin typeface="Calibri"/>
                <a:cs typeface="Calibri"/>
              </a:rPr>
              <a:t>Techniques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processing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analyzing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different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formats.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2001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45"/>
              </a:spcBef>
            </a:pPr>
            <a:r>
              <a:rPr dirty="0" sz="2800" spc="-20">
                <a:solidFill>
                  <a:srgbClr val="FFFFFF"/>
                </a:solidFill>
              </a:rPr>
              <a:t>Veracity</a:t>
            </a:r>
            <a:r>
              <a:rPr dirty="0" sz="2800" spc="-6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–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 spc="-500">
                <a:solidFill>
                  <a:srgbClr val="FFFFFF"/>
                </a:solidFill>
                <a:latin typeface="Times New Roman"/>
                <a:cs typeface="Times New Roman"/>
              </a:rPr>
              <a:t>تانايبلا</a:t>
            </a:r>
            <a:r>
              <a:rPr dirty="0" sz="28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30">
                <a:solidFill>
                  <a:srgbClr val="FFFFFF"/>
                </a:solidFill>
                <a:latin typeface="Times New Roman"/>
                <a:cs typeface="Times New Roman"/>
              </a:rPr>
              <a:t>ةيقوثوم</a:t>
            </a:r>
            <a:r>
              <a:rPr dirty="0" sz="28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FFFF"/>
                </a:solidFill>
              </a:rPr>
              <a:t>–</a:t>
            </a:r>
            <a:r>
              <a:rPr dirty="0" sz="2800" spc="60">
                <a:solidFill>
                  <a:srgbClr val="FFFFFF"/>
                </a:solidFill>
              </a:rPr>
              <a:t> </a:t>
            </a:r>
            <a:r>
              <a:rPr dirty="0" sz="2800" spc="-500">
                <a:solidFill>
                  <a:srgbClr val="FFFFFF"/>
                </a:solidFill>
                <a:latin typeface="Times New Roman"/>
                <a:cs typeface="Times New Roman"/>
              </a:rPr>
              <a:t>تانايبلا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Times New Roman"/>
                <a:cs typeface="Times New Roman"/>
              </a:rPr>
              <a:t>ةقد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6062345" cy="247396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Definition: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accuracy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reliability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Examples: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Incomplete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entries.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biased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sources.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Implications: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30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cleaning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validation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processes.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8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Importance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governance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quality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management.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Value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91716"/>
            <a:ext cx="9738995" cy="27076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2245"/>
              </a:lnSpc>
              <a:spcBef>
                <a:spcPts val="1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Definition: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potential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benefits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derived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analyzing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725"/>
              </a:lnSpc>
            </a:pPr>
            <a:r>
              <a:rPr dirty="0" sz="2400">
                <a:latin typeface="Calibri"/>
                <a:cs typeface="Calibri"/>
              </a:rPr>
              <a:t>Importance: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Turning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actionable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insights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drive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business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decisions.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Examples: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Improved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decision-</a:t>
            </a:r>
            <a:r>
              <a:rPr dirty="0" sz="1800">
                <a:latin typeface="Calibri"/>
                <a:cs typeface="Calibri"/>
              </a:rPr>
              <a:t>making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through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insights.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7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Enhanced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customer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experiences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personalization.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Implications: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Focus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extracting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meaningful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insights.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7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Leveraging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drive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business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strategy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innovation.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5169" y="1587842"/>
            <a:ext cx="966216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800" spc="-10">
                <a:latin typeface="Calibri"/>
                <a:cs typeface="Calibri"/>
              </a:rPr>
              <a:t>Questions?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think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examples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encounter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daily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life?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130"/>
              </a:lnSpc>
              <a:spcBef>
                <a:spcPts val="100"/>
              </a:spcBef>
            </a:pPr>
            <a:r>
              <a:rPr dirty="0" sz="4500"/>
              <a:t>Historical</a:t>
            </a:r>
            <a:r>
              <a:rPr dirty="0" sz="4500" spc="-220"/>
              <a:t> </a:t>
            </a:r>
            <a:r>
              <a:rPr dirty="0" sz="4500" spc="-10"/>
              <a:t>Context</a:t>
            </a:r>
            <a:endParaRPr sz="4500"/>
          </a:p>
          <a:p>
            <a:pPr marL="12700">
              <a:lnSpc>
                <a:spcPts val="5130"/>
              </a:lnSpc>
            </a:pPr>
            <a:r>
              <a:rPr dirty="0" sz="4500"/>
              <a:t>Evolution</a:t>
            </a:r>
            <a:r>
              <a:rPr dirty="0" sz="4500" spc="-120"/>
              <a:t> </a:t>
            </a:r>
            <a:r>
              <a:rPr dirty="0" sz="4500"/>
              <a:t>of</a:t>
            </a:r>
            <a:r>
              <a:rPr dirty="0" sz="4500" spc="-95"/>
              <a:t> </a:t>
            </a:r>
            <a:r>
              <a:rPr dirty="0" sz="4500"/>
              <a:t>Data</a:t>
            </a:r>
            <a:r>
              <a:rPr dirty="0" sz="4500" spc="-135"/>
              <a:t> </a:t>
            </a:r>
            <a:r>
              <a:rPr dirty="0" sz="4500"/>
              <a:t>Processing</a:t>
            </a:r>
            <a:r>
              <a:rPr dirty="0" sz="4500" spc="-100"/>
              <a:t> </a:t>
            </a:r>
            <a:r>
              <a:rPr dirty="0" sz="4500"/>
              <a:t>and</a:t>
            </a:r>
            <a:r>
              <a:rPr dirty="0" sz="4500" spc="-110"/>
              <a:t> </a:t>
            </a:r>
            <a:r>
              <a:rPr dirty="0" sz="4500" spc="-10"/>
              <a:t>Storage</a:t>
            </a:r>
            <a:endParaRPr sz="4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Content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7348220" cy="123063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Introduction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evolution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Overview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milestones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technological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advancements.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Understanding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impact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practices.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Early</a:t>
            </a:r>
            <a:r>
              <a:rPr dirty="0" sz="2800" spc="-7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7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Processing</a:t>
            </a:r>
            <a:r>
              <a:rPr dirty="0" sz="2800" spc="-4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(1950s</a:t>
            </a:r>
            <a:r>
              <a:rPr dirty="0" sz="2800" spc="-2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-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1960s)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91716"/>
            <a:ext cx="6590665" cy="30530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Mainframe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Computers: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advent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mainframe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computers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batch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processing.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Examples: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IBM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701,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UNIVAC.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Punch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Cards: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input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Limitations: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Limited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storage</a:t>
            </a:r>
            <a:r>
              <a:rPr dirty="0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0000"/>
                </a:solidFill>
                <a:latin typeface="Calibri"/>
                <a:cs typeface="Calibri"/>
              </a:rPr>
              <a:t>capacity,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slow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speeds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Technologies: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Magnetic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tapes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Assembly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language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programming.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0643" y="4264152"/>
            <a:ext cx="3153155" cy="21015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0643" y="1684020"/>
            <a:ext cx="3153155" cy="24414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The</a:t>
            </a:r>
            <a:r>
              <a:rPr dirty="0" sz="2800" spc="-6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Rise</a:t>
            </a:r>
            <a:r>
              <a:rPr dirty="0" sz="2800" spc="-6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of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Databases</a:t>
            </a:r>
            <a:r>
              <a:rPr dirty="0" sz="2800" spc="-6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(1970s</a:t>
            </a:r>
            <a:r>
              <a:rPr dirty="0" sz="2800" spc="-1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-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1980s)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91716"/>
            <a:ext cx="5928995" cy="27076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Relational</a:t>
            </a:r>
            <a:r>
              <a:rPr dirty="0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Databases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Introduction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relational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(RDBMS).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Innovators: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Edgar</a:t>
            </a:r>
            <a:r>
              <a:rPr dirty="0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0">
                <a:solidFill>
                  <a:srgbClr val="FF0000"/>
                </a:solidFill>
                <a:latin typeface="Calibri"/>
                <a:cs typeface="Calibri"/>
              </a:rPr>
              <a:t>F.</a:t>
            </a:r>
            <a:r>
              <a:rPr dirty="0" sz="20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Codd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IBM</a:t>
            </a:r>
            <a:r>
              <a:rPr dirty="0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R.</a:t>
            </a: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ts val="2160"/>
              </a:lnSpc>
              <a:spcBef>
                <a:spcPts val="104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SQL: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Development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Structured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Query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Language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(SQL)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manipulation.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Advancements: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30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Hard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disk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drives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(HDD)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replacing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magnetic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tapes.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8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Increased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capacity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faster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retrieval.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6704" y="1854707"/>
            <a:ext cx="4197096" cy="31485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11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Warehousing</a:t>
            </a:r>
            <a:r>
              <a:rPr dirty="0" sz="2800" spc="-10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(1990s)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10059670" cy="256413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Warehousing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Concept: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Centralized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repositories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integrating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sources.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Purpose: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Analytical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reporting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analysis.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Innovations: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30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ETL</a:t>
            </a:r>
            <a:r>
              <a:rPr dirty="0" sz="18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(Extract,</a:t>
            </a:r>
            <a:r>
              <a:rPr dirty="0" sz="1800" spc="-25">
                <a:latin typeface="Calibri"/>
                <a:cs typeface="Calibri"/>
              </a:rPr>
              <a:t> Transform,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Load)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processes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integration.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7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OLAP</a:t>
            </a:r>
            <a:r>
              <a:rPr dirty="0" sz="18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(Online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Analytical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Processing)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complex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queries.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Notable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Technologies: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30">
                <a:latin typeface="Calibri"/>
                <a:cs typeface="Calibri"/>
              </a:rPr>
              <a:t>Teradata,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Oracle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Warehouse.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Emergence</a:t>
            </a:r>
            <a:r>
              <a:rPr dirty="0" sz="2800" spc="-5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of</a:t>
            </a:r>
            <a:r>
              <a:rPr dirty="0" sz="2800" spc="-6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5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8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(2000s)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9201150" cy="194373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Internet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Explosion: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Rapid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growth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internet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leading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massive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generation.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Examples: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Social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media,</a:t>
            </a:r>
            <a:r>
              <a:rPr dirty="0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e-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commerce,</a:t>
            </a:r>
            <a:r>
              <a:rPr dirty="0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IoT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devices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Challenges: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0000"/>
                </a:solidFill>
                <a:latin typeface="Calibri"/>
                <a:cs typeface="Calibri"/>
              </a:rPr>
              <a:t>Traditional</a:t>
            </a:r>
            <a:r>
              <a:rPr dirty="0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RDBMS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struggled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volume,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velocity,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variety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NoSQL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Databases: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Development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NoSQL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unstructured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Examples: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MongoDB,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Cassandra,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HBase.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Hadoop</a:t>
            </a:r>
            <a:r>
              <a:rPr dirty="0" sz="2800" spc="-5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and</a:t>
            </a:r>
            <a:r>
              <a:rPr dirty="0" sz="2800" spc="-4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the</a:t>
            </a:r>
            <a:r>
              <a:rPr dirty="0" sz="2800" spc="-4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Era</a:t>
            </a:r>
            <a:r>
              <a:rPr dirty="0" sz="2800" spc="-5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(2006</a:t>
            </a:r>
            <a:r>
              <a:rPr dirty="0" sz="2800" spc="-1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-</a:t>
            </a:r>
            <a:r>
              <a:rPr dirty="0" sz="2800" spc="-35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Present)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8985885" cy="234378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Apache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Open-</a:t>
            </a:r>
            <a:r>
              <a:rPr dirty="0" sz="2000">
                <a:latin typeface="Calibri"/>
                <a:cs typeface="Calibri"/>
              </a:rPr>
              <a:t>source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framework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distributed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processing.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Components: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HDFS</a:t>
            </a:r>
            <a:r>
              <a:rPr dirty="0" sz="20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(Hadoop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Distributed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System),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MapReduce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Ecosystem: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Growth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complementary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technologies.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30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Examples: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Apache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Spark,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Kafka,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Flink...etc.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Cloud</a:t>
            </a:r>
            <a:r>
              <a:rPr dirty="0" sz="20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Computing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Emergence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platforms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scalable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processing.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Providers: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Amazon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(AWS),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Google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Microsoft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Azure.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Modern</a:t>
            </a:r>
            <a:r>
              <a:rPr dirty="0" sz="2800" spc="-6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Processing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and</a:t>
            </a:r>
            <a:r>
              <a:rPr dirty="0" sz="2800" spc="-6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Storage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49569"/>
            <a:ext cx="9060815" cy="21094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20">
                <a:solidFill>
                  <a:srgbClr val="FF0000"/>
                </a:solidFill>
                <a:latin typeface="Calibri"/>
                <a:cs typeface="Calibri"/>
              </a:rPr>
              <a:t>Real-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dirty="0" sz="20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20">
                <a:latin typeface="Calibri"/>
                <a:cs typeface="Calibri"/>
              </a:rPr>
              <a:t> Technologies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real-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ingestion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analysis.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30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Examples: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Apache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Storm,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Spark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Streaming.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Lakes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Centralized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repositories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native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format.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Benefits: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Scalability,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flexibility,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cost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effectiveness.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Machine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r>
              <a:rPr dirty="0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Integration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training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learning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models.</a:t>
            </a:r>
            <a:endParaRPr sz="20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800" spc="-10">
                <a:latin typeface="Calibri"/>
                <a:cs typeface="Calibri"/>
              </a:rPr>
              <a:t>Frameworks:</a:t>
            </a:r>
            <a:r>
              <a:rPr dirty="0" sz="1800" spc="-35">
                <a:latin typeface="Calibri"/>
                <a:cs typeface="Calibri"/>
              </a:rPr>
              <a:t> TensorFlow,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PyTorch.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171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Importance</a:t>
            </a:r>
            <a:r>
              <a:rPr dirty="0" spc="-125"/>
              <a:t> </a:t>
            </a:r>
            <a:r>
              <a:rPr dirty="0"/>
              <a:t>and</a:t>
            </a:r>
            <a:r>
              <a:rPr dirty="0" spc="-105"/>
              <a:t> </a:t>
            </a:r>
            <a:r>
              <a:rPr dirty="0" spc="-10"/>
              <a:t>Applications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120"/>
              <a:t> </a:t>
            </a:r>
            <a:r>
              <a:rPr dirty="0"/>
              <a:t>Big</a:t>
            </a:r>
            <a:r>
              <a:rPr dirty="0" spc="-120"/>
              <a:t> </a:t>
            </a:r>
            <a:r>
              <a:rPr dirty="0" spc="-20"/>
              <a:t>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 spc="-10">
                <a:solidFill>
                  <a:srgbClr val="FFFFFF"/>
                </a:solidFill>
              </a:rPr>
              <a:t>Content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595879"/>
            <a:ext cx="8032115" cy="123063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Introduction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significance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modern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industries.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Overview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benefits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applications.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Exploring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cases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various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sectors: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finance,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healthcare,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retail,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more.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Importance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of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45">
                <a:solidFill>
                  <a:srgbClr val="FFFFFF"/>
                </a:solidFill>
              </a:rPr>
              <a:t> </a:t>
            </a:r>
            <a:r>
              <a:rPr dirty="0" sz="2800" spc="-20">
                <a:solidFill>
                  <a:srgbClr val="FFFFFF"/>
                </a:solidFill>
              </a:rPr>
              <a:t>Data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91716"/>
            <a:ext cx="10332085" cy="3034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25">
                <a:solidFill>
                  <a:srgbClr val="FF0000"/>
                </a:solidFill>
                <a:latin typeface="Calibri"/>
                <a:cs typeface="Calibri"/>
              </a:rPr>
              <a:t>Data-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Driven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Decision</a:t>
            </a:r>
            <a:r>
              <a:rPr dirty="0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Making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organizations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decisions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dirty="0" sz="2000" spc="-10">
                <a:latin typeface="Calibri"/>
                <a:cs typeface="Calibri"/>
              </a:rPr>
              <a:t>insights.</a:t>
            </a:r>
            <a:endParaRPr sz="2000">
              <a:latin typeface="Calibri"/>
              <a:cs typeface="Calibri"/>
            </a:endParaRPr>
          </a:p>
          <a:p>
            <a:pPr marL="241300" marR="641985" indent="-229235">
              <a:lnSpc>
                <a:spcPts val="2160"/>
              </a:lnSpc>
              <a:spcBef>
                <a:spcPts val="103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Competitive</a:t>
            </a:r>
            <a:r>
              <a:rPr dirty="0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Advantage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companies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gain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competitive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edge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understanding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market </a:t>
            </a:r>
            <a:r>
              <a:rPr dirty="0" sz="2000">
                <a:latin typeface="Calibri"/>
                <a:cs typeface="Calibri"/>
              </a:rPr>
              <a:t>trends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behavior.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Innovation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Drives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innovation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discovery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patterns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opportunities.</a:t>
            </a:r>
            <a:endParaRPr sz="2000">
              <a:latin typeface="Calibri"/>
              <a:cs typeface="Calibri"/>
            </a:endParaRPr>
          </a:p>
          <a:p>
            <a:pPr marL="241300" marR="1078865" indent="-229235">
              <a:lnSpc>
                <a:spcPts val="2160"/>
              </a:lnSpc>
              <a:spcBef>
                <a:spcPts val="103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Operational</a:t>
            </a:r>
            <a:r>
              <a:rPr dirty="0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Efficiency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Enhances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operational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identifying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inefficiencies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optimizing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ts val="216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Personalization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personalized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experiences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analyzing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individual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preferences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behaviors.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Finance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9540" y="1839467"/>
            <a:ext cx="3604259" cy="241249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6939" y="1611477"/>
            <a:ext cx="10195560" cy="468947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Fraud</a:t>
            </a:r>
            <a:r>
              <a:rPr dirty="0" sz="14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Detection:</a:t>
            </a:r>
            <a:endParaRPr sz="1400">
              <a:latin typeface="Calibri"/>
              <a:cs typeface="Calibri"/>
            </a:endParaRPr>
          </a:p>
          <a:p>
            <a:pPr marL="241300" marR="3647440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Example: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JPMorgan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detect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fraud,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saving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millions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of </a:t>
            </a:r>
            <a:r>
              <a:rPr dirty="0" sz="1400">
                <a:latin typeface="Calibri"/>
                <a:cs typeface="Calibri"/>
              </a:rPr>
              <a:t>dollars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annually.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Volume: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JPMorgan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Chase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20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billion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transactions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annually.</a:t>
            </a:r>
            <a:endParaRPr sz="1400">
              <a:latin typeface="Calibri"/>
              <a:cs typeface="Calibri"/>
            </a:endParaRPr>
          </a:p>
          <a:p>
            <a:pPr marL="241300" marR="3747770" indent="-229235">
              <a:lnSpc>
                <a:spcPct val="7000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Velocity: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These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transactions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generate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time,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requiring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instant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analysis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detect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potential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fraud.</a:t>
            </a:r>
            <a:endParaRPr sz="1400">
              <a:latin typeface="Calibri"/>
              <a:cs typeface="Calibri"/>
            </a:endParaRPr>
          </a:p>
          <a:p>
            <a:pPr marL="241300" marR="3771265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latin typeface="Calibri"/>
                <a:cs typeface="Calibri"/>
              </a:rPr>
              <a:t>Conventional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Limitation: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Traditional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rule-</a:t>
            </a:r>
            <a:r>
              <a:rPr dirty="0" sz="1400">
                <a:latin typeface="Calibri"/>
                <a:cs typeface="Calibri"/>
              </a:rPr>
              <a:t>based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keep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up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 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adaptive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learning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detect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sophisticated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fraud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patterns.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20">
                <a:latin typeface="Calibri"/>
                <a:cs typeface="Calibri"/>
              </a:rPr>
              <a:t>Transactions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second: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635</a:t>
            </a:r>
            <a:r>
              <a:rPr dirty="0" sz="1400" spc="-10">
                <a:latin typeface="Calibri"/>
                <a:cs typeface="Calibri"/>
              </a:rPr>
              <a:t> transactions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second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average.</a:t>
            </a:r>
            <a:endParaRPr sz="1400">
              <a:latin typeface="Calibri"/>
              <a:cs typeface="Calibri"/>
            </a:endParaRPr>
          </a:p>
          <a:p>
            <a:pPr marL="241300" marR="3693160" indent="-229235">
              <a:lnSpc>
                <a:spcPct val="7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Processing: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Requires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machine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learning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models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capable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detection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10">
                <a:latin typeface="Calibri"/>
                <a:cs typeface="Calibri"/>
              </a:rPr>
              <a:t>adaptation.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Risk</a:t>
            </a:r>
            <a:r>
              <a:rPr dirty="0" sz="14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Management: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latin typeface="Calibri"/>
                <a:cs typeface="Calibri"/>
              </a:rPr>
              <a:t>Example: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Morgan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Stanley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manage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time,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reducing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potential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losses.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Volume: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Morgan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Stanley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handles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millions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trades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daily,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market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feeds,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external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economic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indicators.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Velocity: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Market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conditions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change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milliseconds,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necessitating immediate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analysis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response.</a:t>
            </a:r>
            <a:endParaRPr sz="140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latin typeface="Calibri"/>
                <a:cs typeface="Calibri"/>
              </a:rPr>
              <a:t>Conventional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Limitation: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Traditional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analyze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volume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velocity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fast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enough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 spc="-10">
                <a:latin typeface="Calibri"/>
                <a:cs typeface="Calibri"/>
              </a:rPr>
              <a:t>provide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timely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insights</a:t>
            </a:r>
            <a:r>
              <a:rPr dirty="0" sz="1400">
                <a:latin typeface="Calibri"/>
                <a:cs typeface="Calibri"/>
              </a:rPr>
              <a:t> and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mitigation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strategies.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25">
                <a:latin typeface="Calibri"/>
                <a:cs typeface="Calibri"/>
              </a:rPr>
              <a:t>Trades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second: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Thousands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trades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second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during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peak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times.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Streams: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Continuous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streams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market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feeds,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requiring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decision-making.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Finance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11477"/>
            <a:ext cx="10237470" cy="449262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Customer</a:t>
            </a:r>
            <a:r>
              <a:rPr dirty="0" sz="14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Analytics: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Example: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Bank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America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offer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personalized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financial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advice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through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virtual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assistant,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Erica.</a:t>
            </a:r>
            <a:endParaRPr sz="1400">
              <a:latin typeface="Calibri"/>
              <a:cs typeface="Calibri"/>
            </a:endParaRPr>
          </a:p>
          <a:p>
            <a:pPr marL="241300" marR="151765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Volume: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Bank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America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66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million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customers,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generating terabytes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transactions,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online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interactions,</a:t>
            </a:r>
            <a:r>
              <a:rPr dirty="0" sz="1400" spc="-25">
                <a:latin typeface="Calibri"/>
                <a:cs typeface="Calibri"/>
              </a:rPr>
              <a:t> and </a:t>
            </a:r>
            <a:r>
              <a:rPr dirty="0" sz="1400">
                <a:latin typeface="Calibri"/>
                <a:cs typeface="Calibri"/>
              </a:rPr>
              <a:t>service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requests.</a:t>
            </a:r>
            <a:endParaRPr sz="1400">
              <a:latin typeface="Calibri"/>
              <a:cs typeface="Calibri"/>
            </a:endParaRPr>
          </a:p>
          <a:p>
            <a:pPr marL="241300" marR="234950" indent="-229235">
              <a:lnSpc>
                <a:spcPct val="7000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Variety: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comes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various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forms,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structured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transaction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unstructured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customer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service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interactions,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semi- structured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online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behavior.</a:t>
            </a:r>
            <a:endParaRPr sz="1400">
              <a:latin typeface="Calibri"/>
              <a:cs typeface="Calibri"/>
            </a:endParaRPr>
          </a:p>
          <a:p>
            <a:pPr marL="241300" marR="161925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latin typeface="Calibri"/>
                <a:cs typeface="Calibri"/>
              </a:rPr>
              <a:t>Conventional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Limitation: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Traditional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tools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struggle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integrating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analyzing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such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diverse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types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0">
                <a:latin typeface="Calibri"/>
                <a:cs typeface="Calibri"/>
              </a:rPr>
              <a:t> generate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 </a:t>
            </a:r>
            <a:r>
              <a:rPr dirty="0" sz="1400">
                <a:latin typeface="Calibri"/>
                <a:cs typeface="Calibri"/>
              </a:rPr>
              <a:t>time,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personalized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insights.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Sources: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Integrates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mobile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ATMs,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branch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interactions,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online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services.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latin typeface="Calibri"/>
                <a:cs typeface="Calibri"/>
              </a:rPr>
              <a:t>Personalization: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advanced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tailor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services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individual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customer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real-time.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Algorithmic</a:t>
            </a:r>
            <a:r>
              <a:rPr dirty="0" sz="1400" spc="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Trading: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Example: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Goldman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Sachs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make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split-second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decisions,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handling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billions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trades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daily.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Volume: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Goldman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Sachs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petabytes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market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0">
                <a:latin typeface="Calibri"/>
                <a:cs typeface="Calibri"/>
              </a:rPr>
              <a:t> daily,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including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stock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prices,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volumes,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economic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indicators.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Velocity: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High-</a:t>
            </a:r>
            <a:r>
              <a:rPr dirty="0" sz="1400">
                <a:latin typeface="Calibri"/>
                <a:cs typeface="Calibri"/>
              </a:rPr>
              <a:t>frequency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algorithms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operate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microseconds,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executing </a:t>
            </a:r>
            <a:r>
              <a:rPr dirty="0" sz="1400">
                <a:latin typeface="Calibri"/>
                <a:cs typeface="Calibri"/>
              </a:rPr>
              <a:t>thousands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trades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second.</a:t>
            </a:r>
            <a:endParaRPr sz="140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latin typeface="Calibri"/>
                <a:cs typeface="Calibri"/>
              </a:rPr>
              <a:t>Conventional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Limitation: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Traditional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trading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handle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required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speed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complexity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needed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high- frequency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trading.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25">
                <a:latin typeface="Calibri"/>
                <a:cs typeface="Calibri"/>
              </a:rPr>
              <a:t>Trades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second:</a:t>
            </a:r>
            <a:r>
              <a:rPr dirty="0" sz="1400" spc="-35">
                <a:latin typeface="Calibri"/>
                <a:cs typeface="Calibri"/>
              </a:rPr>
              <a:t> Tens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thousands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trades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second.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Market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Data: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Analyzes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market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microseconds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make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split-</a:t>
            </a:r>
            <a:r>
              <a:rPr dirty="0" sz="1400">
                <a:latin typeface="Calibri"/>
                <a:cs typeface="Calibri"/>
              </a:rPr>
              <a:t>second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trading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decisions.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Healthcare</a:t>
            </a:r>
            <a:endParaRPr sz="28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9100" y="1705355"/>
            <a:ext cx="3314700" cy="218389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6939" y="1606295"/>
            <a:ext cx="10062845" cy="456819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Predictive</a:t>
            </a:r>
            <a:r>
              <a:rPr dirty="0" sz="12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Analytics:</a:t>
            </a:r>
            <a:endParaRPr sz="1200">
              <a:latin typeface="Calibri"/>
              <a:cs typeface="Calibri"/>
            </a:endParaRPr>
          </a:p>
          <a:p>
            <a:pPr marL="241300" marR="3549015" indent="-229235">
              <a:lnSpc>
                <a:spcPct val="8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Example: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Kaiser</a:t>
            </a:r>
            <a:r>
              <a:rPr dirty="0" sz="1200" spc="-10">
                <a:latin typeface="Calibri"/>
                <a:cs typeface="Calibri"/>
              </a:rPr>
              <a:t> Permanente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predictive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analytics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hospital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readmissions,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$1 </a:t>
            </a:r>
            <a:r>
              <a:rPr dirty="0" sz="1200">
                <a:latin typeface="Calibri"/>
                <a:cs typeface="Calibri"/>
              </a:rPr>
              <a:t>billion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annually.</a:t>
            </a:r>
            <a:endParaRPr sz="1200">
              <a:latin typeface="Calibri"/>
              <a:cs typeface="Calibri"/>
            </a:endParaRPr>
          </a:p>
          <a:p>
            <a:pPr marL="241300" marR="3457575" indent="-229235">
              <a:lnSpc>
                <a:spcPct val="8000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Volume: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Kaiser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Permanente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collects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millions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patient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interactions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year, </a:t>
            </a:r>
            <a:r>
              <a:rPr dirty="0" sz="1200" spc="-10">
                <a:latin typeface="Calibri"/>
                <a:cs typeface="Calibri"/>
              </a:rPr>
              <a:t>including </a:t>
            </a:r>
            <a:r>
              <a:rPr dirty="0" sz="1200">
                <a:latin typeface="Calibri"/>
                <a:cs typeface="Calibri"/>
              </a:rPr>
              <a:t>electronic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health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(EHRs),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lab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imaging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 marL="241300" marR="3627120" indent="-229235">
              <a:lnSpc>
                <a:spcPct val="8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Velocity: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Real-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analysis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monitor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patient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conditions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predict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potential readmissions.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ts val="1295"/>
              </a:lnSpc>
              <a:spcBef>
                <a:spcPts val="7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Conventional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Limitation: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Traditional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cannot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sheer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volume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diverse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health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ts val="1295"/>
              </a:lnSpc>
            </a:pPr>
            <a:r>
              <a:rPr dirty="0" sz="1200" spc="-10">
                <a:latin typeface="Calibri"/>
                <a:cs typeface="Calibri"/>
              </a:rPr>
              <a:t>real-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predict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outcomes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effectively.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Patient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Analyzed: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Millions</a:t>
            </a:r>
            <a:r>
              <a:rPr dirty="0" sz="1200" spc="-10">
                <a:latin typeface="Calibri"/>
                <a:cs typeface="Calibri"/>
              </a:rPr>
              <a:t> annually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Outcome:</a:t>
            </a:r>
            <a:r>
              <a:rPr dirty="0" sz="1200" spc="-10">
                <a:latin typeface="Calibri"/>
                <a:cs typeface="Calibri"/>
              </a:rPr>
              <a:t> Significant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reduction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readmissions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billion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annually.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69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Personalized</a:t>
            </a:r>
            <a:r>
              <a:rPr dirty="0" sz="12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Medicine: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Example: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Cleveland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Clinic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personalized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treatment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cancer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patients,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improving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survival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rates.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Volume: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Cleveland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Clinic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analyzes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genomic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medical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histories,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treatment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outcomes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thousands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cancer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patients.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Variety: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structured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medical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unstructured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clinical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genetic</a:t>
            </a:r>
            <a:r>
              <a:rPr dirty="0" sz="1200" spc="-10">
                <a:latin typeface="Calibri"/>
                <a:cs typeface="Calibri"/>
              </a:rPr>
              <a:t> sequences.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Conventional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Limitation: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Conventional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approaches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struggle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 </a:t>
            </a:r>
            <a:r>
              <a:rPr dirty="0" sz="1200" spc="-10">
                <a:latin typeface="Calibri"/>
                <a:cs typeface="Calibri"/>
              </a:rPr>
              <a:t>integrate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analyze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diverse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complex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datasets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tailor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individualized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treatment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plans.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Genomic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thousands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genetic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sequences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analyzed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Outcome: </a:t>
            </a:r>
            <a:r>
              <a:rPr dirty="0" sz="1200" spc="-10">
                <a:latin typeface="Calibri"/>
                <a:cs typeface="Calibri"/>
              </a:rPr>
              <a:t>Improved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survival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cancer </a:t>
            </a:r>
            <a:r>
              <a:rPr dirty="0" sz="1200" spc="-10">
                <a:latin typeface="Calibri"/>
                <a:cs typeface="Calibri"/>
              </a:rPr>
              <a:t>patients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through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tailored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treatments.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Healthcare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09933"/>
            <a:ext cx="10327005" cy="487680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Operational</a:t>
            </a:r>
            <a:r>
              <a:rPr dirty="0" sz="1600" spc="-9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Efficiency:</a:t>
            </a:r>
            <a:endParaRPr sz="1600">
              <a:latin typeface="Calibri"/>
              <a:cs typeface="Calibri"/>
            </a:endParaRPr>
          </a:p>
          <a:p>
            <a:pPr marL="241300" marR="170815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Example: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Mount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Sinai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Medical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Center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predict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patient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admissions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optimize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staff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scheduling,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reducing </a:t>
            </a:r>
            <a:r>
              <a:rPr dirty="0" sz="1600">
                <a:latin typeface="Calibri"/>
                <a:cs typeface="Calibri"/>
              </a:rPr>
              <a:t>wait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times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20">
                <a:latin typeface="Calibri"/>
                <a:cs typeface="Calibri"/>
              </a:rPr>
              <a:t> 10%.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Volume: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Mount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Sinai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processes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thousands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patient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admissions,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discharges,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transfers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daily.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Velocity: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Predictive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models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updated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adjust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staffing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resource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allocation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dynamically.</a:t>
            </a:r>
            <a:endParaRPr sz="1600">
              <a:latin typeface="Calibri"/>
              <a:cs typeface="Calibri"/>
            </a:endParaRPr>
          </a:p>
          <a:p>
            <a:pPr marL="241300" marR="746760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Conventional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Limitation: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Traditional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scheduling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cannot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adapt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quickly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enough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leading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to </a:t>
            </a:r>
            <a:r>
              <a:rPr dirty="0" sz="1600" spc="-10">
                <a:latin typeface="Calibri"/>
                <a:cs typeface="Calibri"/>
              </a:rPr>
              <a:t>inefficiencies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longer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wait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times.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Admissions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Daily: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Thousands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Outcome: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10%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patient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wait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times.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Medical</a:t>
            </a:r>
            <a:r>
              <a:rPr dirty="0" sz="1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Research: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Example: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Pfizer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big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streamline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clinical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trials,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reducing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development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new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drugs.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ts val="163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Volume: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Pfizer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handles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millions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patients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across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multiple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clinical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trials,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including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genetic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information,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trial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ts val="1630"/>
              </a:lnSpc>
            </a:pPr>
            <a:r>
              <a:rPr dirty="0" sz="1600">
                <a:latin typeface="Calibri"/>
                <a:cs typeface="Calibri"/>
              </a:rPr>
              <a:t>results,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patient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feedback.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Variety: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includes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structured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trial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data,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unstructured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patient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reports,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semi-</a:t>
            </a:r>
            <a:r>
              <a:rPr dirty="0" sz="1600" spc="-10">
                <a:latin typeface="Calibri"/>
                <a:cs typeface="Calibri"/>
              </a:rPr>
              <a:t>structured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genetic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  <a:p>
            <a:pPr marL="241300" marR="619760" indent="-229235">
              <a:lnSpc>
                <a:spcPct val="7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Conventional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Limitation: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Traditional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research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methods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cannot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manage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analyze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vast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amount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diverse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data efficiently,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slowing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down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drug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discovery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process.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Clinical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Trial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Data: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Millions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patient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points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analyzed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Outcome:</a:t>
            </a:r>
            <a:r>
              <a:rPr dirty="0" sz="1600" spc="-10">
                <a:latin typeface="Calibri"/>
                <a:cs typeface="Calibri"/>
              </a:rPr>
              <a:t> Faster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drug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development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streamlined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clinical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trials.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Retail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5907" y="2025395"/>
            <a:ext cx="3707892" cy="208483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6939" y="1604995"/>
            <a:ext cx="10131425" cy="476440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Customer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Insights:</a:t>
            </a:r>
            <a:endParaRPr sz="1400">
              <a:latin typeface="Calibri"/>
              <a:cs typeface="Calibri"/>
            </a:endParaRPr>
          </a:p>
          <a:p>
            <a:pPr marL="241300" marR="3921125" indent="-229235">
              <a:lnSpc>
                <a:spcPts val="1340"/>
              </a:lnSpc>
              <a:spcBef>
                <a:spcPts val="9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Example: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Amazon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recommend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products,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contributing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35%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its </a:t>
            </a:r>
            <a:r>
              <a:rPr dirty="0" sz="1400">
                <a:latin typeface="Calibri"/>
                <a:cs typeface="Calibri"/>
              </a:rPr>
              <a:t>annual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sales.</a:t>
            </a:r>
            <a:endParaRPr sz="1400">
              <a:latin typeface="Calibri"/>
              <a:cs typeface="Calibri"/>
            </a:endParaRPr>
          </a:p>
          <a:p>
            <a:pPr marL="241300" marR="3948429" indent="-229235">
              <a:lnSpc>
                <a:spcPct val="80000"/>
              </a:lnSpc>
              <a:spcBef>
                <a:spcPts val="10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Volume: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Amazon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petabytes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daily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millions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customer interactions,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including </a:t>
            </a:r>
            <a:r>
              <a:rPr dirty="0" sz="1400" spc="-10">
                <a:latin typeface="Calibri"/>
                <a:cs typeface="Calibri"/>
              </a:rPr>
              <a:t>browsing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history,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purchase</a:t>
            </a:r>
            <a:r>
              <a:rPr dirty="0" sz="1400" spc="-10">
                <a:latin typeface="Calibri"/>
                <a:cs typeface="Calibri"/>
              </a:rPr>
              <a:t> records,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product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reviews.</a:t>
            </a:r>
            <a:endParaRPr sz="1400">
              <a:latin typeface="Calibri"/>
              <a:cs typeface="Calibri"/>
            </a:endParaRPr>
          </a:p>
          <a:p>
            <a:pPr marL="241300" marR="3540760" indent="-229235">
              <a:lnSpc>
                <a:spcPts val="1340"/>
              </a:lnSpc>
              <a:spcBef>
                <a:spcPts val="9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Variety: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structured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transaction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unstructured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customer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reviews,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semi-structured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browsing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behavior.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ts val="1515"/>
              </a:lnSpc>
              <a:spcBef>
                <a:spcPts val="68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latin typeface="Calibri"/>
                <a:cs typeface="Calibri"/>
              </a:rPr>
              <a:t>Conventional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Limitation: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Traditional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methods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integrate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analyze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such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diverse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15"/>
              </a:lnSpc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provide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personalized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recommendations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effectively.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Customer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Interactions: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Millions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daily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Outcome: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Personalized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recommendations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contribute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35%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annual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sales.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0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Inventory</a:t>
            </a:r>
            <a:r>
              <a:rPr dirty="0" sz="14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Management: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dirty="0" sz="1400">
                <a:latin typeface="Calibri"/>
                <a:cs typeface="Calibri"/>
              </a:rPr>
              <a:t>Example: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Walmart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big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manage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supply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chain,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reducing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stockouts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20">
                <a:latin typeface="Calibri"/>
                <a:cs typeface="Calibri"/>
              </a:rPr>
              <a:t> 16%.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Volume: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Walmart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11,500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stores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27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countries,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sales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inventory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levels,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supplier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400" spc="-10">
                <a:latin typeface="Calibri"/>
                <a:cs typeface="Calibri"/>
              </a:rPr>
              <a:t>information.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Velocity: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analysis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required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monitor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inventory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levels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manage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supply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chain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logistics.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dirty="0" sz="1400" spc="-10">
                <a:latin typeface="Calibri"/>
                <a:cs typeface="Calibri"/>
              </a:rPr>
              <a:t>Conventional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Limitation: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Traditional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inventory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volume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velocity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optimize </a:t>
            </a:r>
            <a:r>
              <a:rPr dirty="0" sz="1400">
                <a:latin typeface="Calibri"/>
                <a:cs typeface="Calibri"/>
              </a:rPr>
              <a:t>supply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chain</a:t>
            </a:r>
            <a:r>
              <a:rPr dirty="0" sz="1400" spc="-10">
                <a:latin typeface="Calibri"/>
                <a:cs typeface="Calibri"/>
              </a:rPr>
              <a:t> processes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 spc="-20">
                <a:latin typeface="Calibri"/>
                <a:cs typeface="Calibri"/>
              </a:rPr>
              <a:t>time.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dirty="0" sz="1400">
                <a:latin typeface="Calibri"/>
                <a:cs typeface="Calibri"/>
              </a:rPr>
              <a:t>Stores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Processed: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11,500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stores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globally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dirty="0" sz="1400">
                <a:latin typeface="Calibri"/>
                <a:cs typeface="Calibri"/>
              </a:rPr>
              <a:t>Outcome: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16%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reduction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stockouts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through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optimized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supply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Retail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5907" y="1874520"/>
            <a:ext cx="3707892" cy="206806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44727" y="1599144"/>
            <a:ext cx="10308590" cy="521335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245110" indent="-228600">
              <a:lnSpc>
                <a:spcPct val="100000"/>
              </a:lnSpc>
              <a:spcBef>
                <a:spcPts val="960"/>
              </a:spcBef>
              <a:buFont typeface="Microsoft Sans Serif"/>
              <a:buChar char="•"/>
              <a:tabLst>
                <a:tab pos="245110" algn="l"/>
              </a:tabLst>
            </a:pPr>
            <a:r>
              <a:rPr dirty="0" sz="1300">
                <a:solidFill>
                  <a:srgbClr val="FF0000"/>
                </a:solidFill>
                <a:latin typeface="Calibri"/>
                <a:cs typeface="Calibri"/>
              </a:rPr>
              <a:t>Pricing</a:t>
            </a:r>
            <a:r>
              <a:rPr dirty="0" sz="13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0000"/>
                </a:solidFill>
                <a:latin typeface="Calibri"/>
                <a:cs typeface="Calibri"/>
              </a:rPr>
              <a:t>Strategies:</a:t>
            </a:r>
            <a:endParaRPr sz="1300">
              <a:latin typeface="Calibri"/>
              <a:cs typeface="Calibri"/>
            </a:endParaRPr>
          </a:p>
          <a:p>
            <a:pPr marL="245110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•"/>
              <a:tabLst>
                <a:tab pos="245110" algn="l"/>
              </a:tabLst>
            </a:pPr>
            <a:r>
              <a:rPr dirty="0" sz="1300">
                <a:latin typeface="Calibri"/>
                <a:cs typeface="Calibri"/>
              </a:rPr>
              <a:t>Example: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Macy’s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uses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big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to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implement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dynamic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pricing,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increasing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revenue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by </a:t>
            </a:r>
            <a:r>
              <a:rPr dirty="0" sz="1300" spc="-20">
                <a:latin typeface="Calibri"/>
                <a:cs typeface="Calibri"/>
              </a:rPr>
              <a:t>10%.</a:t>
            </a:r>
            <a:endParaRPr sz="1300">
              <a:latin typeface="Calibri"/>
              <a:cs typeface="Calibri"/>
            </a:endParaRPr>
          </a:p>
          <a:p>
            <a:pPr marL="245110" marR="4085590" indent="-228600">
              <a:lnSpc>
                <a:spcPts val="1400"/>
              </a:lnSpc>
              <a:spcBef>
                <a:spcPts val="1020"/>
              </a:spcBef>
              <a:buFont typeface="Microsoft Sans Serif"/>
              <a:buChar char="•"/>
              <a:tabLst>
                <a:tab pos="245110" algn="l"/>
              </a:tabLst>
            </a:pP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Volume: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Macy’s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analyzes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from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millions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of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transactions,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competitor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pricing,</a:t>
            </a:r>
            <a:r>
              <a:rPr dirty="0" sz="1300" spc="-5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and </a:t>
            </a:r>
            <a:r>
              <a:rPr dirty="0" sz="1300">
                <a:latin typeface="Calibri"/>
                <a:cs typeface="Calibri"/>
              </a:rPr>
              <a:t>market</a:t>
            </a:r>
            <a:r>
              <a:rPr dirty="0" sz="1300" spc="-6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demand</a:t>
            </a:r>
            <a:r>
              <a:rPr dirty="0" sz="1300" spc="-5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trends.</a:t>
            </a:r>
            <a:endParaRPr sz="1300">
              <a:latin typeface="Calibri"/>
              <a:cs typeface="Calibri"/>
            </a:endParaRPr>
          </a:p>
          <a:p>
            <a:pPr marL="245110" marR="3700145" indent="-228600">
              <a:lnSpc>
                <a:spcPts val="1400"/>
              </a:lnSpc>
              <a:spcBef>
                <a:spcPts val="1000"/>
              </a:spcBef>
              <a:buFont typeface="Microsoft Sans Serif"/>
              <a:buChar char="•"/>
              <a:tabLst>
                <a:tab pos="245110" algn="l"/>
              </a:tabLst>
            </a:pP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Variety: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includes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structured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sales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data,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unstructured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competitor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pricing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information, </a:t>
            </a:r>
            <a:r>
              <a:rPr dirty="0" sz="1300">
                <a:latin typeface="Calibri"/>
                <a:cs typeface="Calibri"/>
              </a:rPr>
              <a:t>and</a:t>
            </a:r>
            <a:r>
              <a:rPr dirty="0" sz="1300" spc="-4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semi-</a:t>
            </a:r>
            <a:r>
              <a:rPr dirty="0" sz="1300">
                <a:latin typeface="Calibri"/>
                <a:cs typeface="Calibri"/>
              </a:rPr>
              <a:t>structured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market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trends.</a:t>
            </a:r>
            <a:endParaRPr sz="1300">
              <a:latin typeface="Calibri"/>
              <a:cs typeface="Calibri"/>
            </a:endParaRPr>
          </a:p>
          <a:p>
            <a:pPr marL="245110" indent="-228600">
              <a:lnSpc>
                <a:spcPts val="1485"/>
              </a:lnSpc>
              <a:spcBef>
                <a:spcPts val="840"/>
              </a:spcBef>
              <a:buFont typeface="Microsoft Sans Serif"/>
              <a:buChar char="•"/>
              <a:tabLst>
                <a:tab pos="245110" algn="l"/>
              </a:tabLst>
            </a:pPr>
            <a:r>
              <a:rPr dirty="0" sz="1300" spc="-10">
                <a:latin typeface="Calibri"/>
                <a:cs typeface="Calibri"/>
              </a:rPr>
              <a:t>Conventional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Limitation: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Traditional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pricing</a:t>
            </a:r>
            <a:r>
              <a:rPr dirty="0" sz="1300" spc="-4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strategies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cannot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adapt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quickly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enough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to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market</a:t>
            </a:r>
            <a:endParaRPr sz="1300">
              <a:latin typeface="Calibri"/>
              <a:cs typeface="Calibri"/>
            </a:endParaRPr>
          </a:p>
          <a:p>
            <a:pPr marL="245110">
              <a:lnSpc>
                <a:spcPts val="1485"/>
              </a:lnSpc>
            </a:pPr>
            <a:r>
              <a:rPr dirty="0" sz="1300">
                <a:latin typeface="Calibri"/>
                <a:cs typeface="Calibri"/>
              </a:rPr>
              <a:t>changes</a:t>
            </a:r>
            <a:r>
              <a:rPr dirty="0" sz="1300" spc="-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and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competitor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pricing,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leading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to</a:t>
            </a:r>
            <a:r>
              <a:rPr dirty="0" sz="1300" spc="-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missed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revenue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opportunities.</a:t>
            </a:r>
            <a:endParaRPr sz="1300">
              <a:latin typeface="Calibri"/>
              <a:cs typeface="Calibri"/>
            </a:endParaRPr>
          </a:p>
          <a:p>
            <a:pPr marL="245110" indent="-228600">
              <a:lnSpc>
                <a:spcPct val="100000"/>
              </a:lnSpc>
              <a:spcBef>
                <a:spcPts val="840"/>
              </a:spcBef>
              <a:buFont typeface="Microsoft Sans Serif"/>
              <a:buChar char="•"/>
              <a:tabLst>
                <a:tab pos="245110" algn="l"/>
              </a:tabLst>
            </a:pPr>
            <a:r>
              <a:rPr dirty="0" sz="1300" spc="-10">
                <a:latin typeface="Calibri"/>
                <a:cs typeface="Calibri"/>
              </a:rPr>
              <a:t>Transactions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Analyzed: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Millions</a:t>
            </a:r>
            <a:endParaRPr sz="1300">
              <a:latin typeface="Calibri"/>
              <a:cs typeface="Calibri"/>
            </a:endParaRPr>
          </a:p>
          <a:p>
            <a:pPr marL="245110" indent="-228600">
              <a:lnSpc>
                <a:spcPct val="100000"/>
              </a:lnSpc>
              <a:spcBef>
                <a:spcPts val="840"/>
              </a:spcBef>
              <a:buFont typeface="Microsoft Sans Serif"/>
              <a:buChar char="•"/>
              <a:tabLst>
                <a:tab pos="245110" algn="l"/>
              </a:tabLst>
            </a:pPr>
            <a:r>
              <a:rPr dirty="0" sz="1300">
                <a:latin typeface="Calibri"/>
                <a:cs typeface="Calibri"/>
              </a:rPr>
              <a:t>Outcome: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10%</a:t>
            </a:r>
            <a:r>
              <a:rPr dirty="0" sz="1300" spc="-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increase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</a:t>
            </a:r>
            <a:r>
              <a:rPr dirty="0" sz="1300" spc="-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revenue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through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dynamic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pricing</a:t>
            </a:r>
            <a:r>
              <a:rPr dirty="0" sz="1300" spc="-4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models.</a:t>
            </a:r>
            <a:endParaRPr sz="13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2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Sentiment</a:t>
            </a:r>
            <a:r>
              <a:rPr dirty="0" sz="14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Analysis:</a:t>
            </a:r>
            <a:endParaRPr sz="1400">
              <a:latin typeface="Calibri"/>
              <a:cs typeface="Calibri"/>
            </a:endParaRPr>
          </a:p>
          <a:p>
            <a:pPr marL="241300" marR="249554" indent="-228600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Example: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Nike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sentiment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analysis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track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brand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perception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inform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marketing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strategies,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leading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15%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increase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customer satisfaction.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Volume: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Nike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analyzes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millions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social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media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posts,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customer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reviews,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feedback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forms.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Velocity: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monitoring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social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media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customer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feedback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required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gauge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brand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sentiment.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Variety: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includes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unstructured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social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media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posts,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structured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customer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reviews,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semi-</a:t>
            </a:r>
            <a:r>
              <a:rPr dirty="0" sz="1400" spc="-10">
                <a:latin typeface="Calibri"/>
                <a:cs typeface="Calibri"/>
              </a:rPr>
              <a:t>structured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feedback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forms.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ts val="1430"/>
              </a:lnSpc>
              <a:spcBef>
                <a:spcPts val="49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400" spc="-10">
                <a:latin typeface="Calibri"/>
                <a:cs typeface="Calibri"/>
              </a:rPr>
              <a:t>Conventional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Limitation: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Traditional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methods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analyze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large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volumes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unstructured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provide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timely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insights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into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430"/>
              </a:lnSpc>
            </a:pPr>
            <a:r>
              <a:rPr dirty="0" sz="1400">
                <a:latin typeface="Calibri"/>
                <a:cs typeface="Calibri"/>
              </a:rPr>
              <a:t>brand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perception.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400">
                <a:latin typeface="Calibri"/>
                <a:cs typeface="Calibri"/>
              </a:rPr>
              <a:t>Social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Media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Posts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Monitored: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Millions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400">
                <a:latin typeface="Calibri"/>
                <a:cs typeface="Calibri"/>
              </a:rPr>
              <a:t>Outcome: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15%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increase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customer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satisfaction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tracking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responding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brand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sentiment.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Manufacturing</a:t>
            </a:r>
            <a:endParaRPr sz="28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5052" y="1920239"/>
            <a:ext cx="3698748" cy="210007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89000" y="1608611"/>
            <a:ext cx="10709910" cy="486029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1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Quality</a:t>
            </a:r>
            <a:r>
              <a:rPr dirty="0" sz="16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Control:</a:t>
            </a:r>
            <a:endParaRPr sz="1600">
              <a:latin typeface="Calibri"/>
              <a:cs typeface="Calibri"/>
            </a:endParaRPr>
          </a:p>
          <a:p>
            <a:pPr marL="241300" marR="4111625" indent="-228600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Example: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30">
                <a:latin typeface="Calibri"/>
                <a:cs typeface="Calibri"/>
              </a:rPr>
              <a:t>Toyota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improve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quality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control,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defects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by </a:t>
            </a:r>
            <a:r>
              <a:rPr dirty="0" sz="1600" spc="-20">
                <a:latin typeface="Calibri"/>
                <a:cs typeface="Calibri"/>
              </a:rPr>
              <a:t>30%.</a:t>
            </a:r>
            <a:endParaRPr sz="1600">
              <a:latin typeface="Calibri"/>
              <a:cs typeface="Calibri"/>
            </a:endParaRPr>
          </a:p>
          <a:p>
            <a:pPr marL="241300" marR="4027170" indent="-228600">
              <a:lnSpc>
                <a:spcPct val="7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Volume: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Toyota</a:t>
            </a:r>
            <a:r>
              <a:rPr dirty="0" sz="1600" spc="-10">
                <a:latin typeface="Calibri"/>
                <a:cs typeface="Calibri"/>
              </a:rPr>
              <a:t> analyzes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millions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points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production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lines, </a:t>
            </a:r>
            <a:r>
              <a:rPr dirty="0" sz="1600">
                <a:latin typeface="Calibri"/>
                <a:cs typeface="Calibri"/>
              </a:rPr>
              <a:t>including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sensor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inspection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reports, 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operational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logs.</a:t>
            </a:r>
            <a:endParaRPr sz="1600">
              <a:latin typeface="Calibri"/>
              <a:cs typeface="Calibri"/>
            </a:endParaRPr>
          </a:p>
          <a:p>
            <a:pPr marL="241300" marR="3782695" indent="-228600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Velocity: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monitoring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production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processes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required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detect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address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quality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issues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promptly.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ts val="1630"/>
              </a:lnSpc>
              <a:spcBef>
                <a:spcPts val="42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600" spc="-10">
                <a:latin typeface="Calibri"/>
                <a:cs typeface="Calibri"/>
              </a:rPr>
              <a:t>Conventional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Limitation: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Traditional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quality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control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methods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cannot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ts val="1630"/>
              </a:lnSpc>
            </a:pPr>
            <a:r>
              <a:rPr dirty="0" sz="1600">
                <a:latin typeface="Calibri"/>
                <a:cs typeface="Calibri"/>
              </a:rPr>
              <a:t>volume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speed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necessary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identify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rectify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defects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real-time.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600">
                <a:latin typeface="Calibri"/>
                <a:cs typeface="Calibri"/>
              </a:rPr>
              <a:t>Outcome: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30%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product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defects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through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improved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quality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control.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4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Predictive</a:t>
            </a:r>
            <a:r>
              <a:rPr dirty="0" sz="16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Maintenance: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600">
                <a:latin typeface="Calibri"/>
                <a:cs typeface="Calibri"/>
              </a:rPr>
              <a:t>Example: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General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Electric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predictive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maintenance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equipment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downtime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20%.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Volume: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General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Electric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collects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terabytes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sensors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embedded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industrial</a:t>
            </a:r>
            <a:r>
              <a:rPr dirty="0" sz="1600" spc="-9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equipment,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capturing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operational parameters,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usage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patterns,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environmental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conditions.</a:t>
            </a:r>
            <a:endParaRPr sz="1600">
              <a:latin typeface="Calibri"/>
              <a:cs typeface="Calibri"/>
            </a:endParaRPr>
          </a:p>
          <a:p>
            <a:pPr marL="241300" marR="40005" indent="-228600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Velocity: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streams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thousands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sensors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require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immediate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analysis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predict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prevent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equipment failures.</a:t>
            </a:r>
            <a:endParaRPr sz="1600">
              <a:latin typeface="Calibri"/>
              <a:cs typeface="Calibri"/>
            </a:endParaRPr>
          </a:p>
          <a:p>
            <a:pPr marL="241300" marR="432434" indent="-228600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Conventional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Limitation: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Traditional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maintenance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schedules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cannot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adapt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quickly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0">
                <a:latin typeface="Calibri"/>
                <a:cs typeface="Calibri"/>
              </a:rPr>
              <a:t> 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data,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leading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0">
                <a:latin typeface="Calibri"/>
                <a:cs typeface="Calibri"/>
              </a:rPr>
              <a:t> unexpected downtimes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higher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maintenance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costs.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600">
                <a:latin typeface="Calibri"/>
                <a:cs typeface="Calibri"/>
              </a:rPr>
              <a:t>Outcome: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20%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equipment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downtime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through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predictive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maintenance.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Manufacturing</a:t>
            </a:r>
            <a:endParaRPr sz="28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6723" y="1760220"/>
            <a:ext cx="4037076" cy="228752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6939" y="1610258"/>
            <a:ext cx="9815830" cy="509079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Supply</a:t>
            </a:r>
            <a:r>
              <a:rPr dirty="0" sz="1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Chain</a:t>
            </a:r>
            <a:r>
              <a:rPr dirty="0" sz="16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Optimization:</a:t>
            </a:r>
            <a:endParaRPr sz="1600">
              <a:latin typeface="Calibri"/>
              <a:cs typeface="Calibri"/>
            </a:endParaRPr>
          </a:p>
          <a:p>
            <a:pPr marL="241300" marR="3835400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Example: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Procter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&amp;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Gamble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optimize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supply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chain, </a:t>
            </a:r>
            <a:r>
              <a:rPr dirty="0" sz="1600">
                <a:latin typeface="Calibri"/>
                <a:cs typeface="Calibri"/>
              </a:rPr>
              <a:t>saving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$1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billion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annually.</a:t>
            </a:r>
            <a:endParaRPr sz="1600">
              <a:latin typeface="Calibri"/>
              <a:cs typeface="Calibri"/>
            </a:endParaRPr>
          </a:p>
          <a:p>
            <a:pPr marL="241300" marR="4100195" indent="-229235">
              <a:lnSpc>
                <a:spcPct val="7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Volume: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Procter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&amp;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Gamble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processes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thousands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of </a:t>
            </a:r>
            <a:r>
              <a:rPr dirty="0" sz="1600">
                <a:latin typeface="Calibri"/>
                <a:cs typeface="Calibri"/>
              </a:rPr>
              <a:t>suppliers,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logistics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providers,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retail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partners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globally.</a:t>
            </a:r>
            <a:endParaRPr sz="1600">
              <a:latin typeface="Calibri"/>
              <a:cs typeface="Calibri"/>
            </a:endParaRPr>
          </a:p>
          <a:p>
            <a:pPr marL="241300" marR="3802379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Velocity: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analysis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essential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manage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inventory </a:t>
            </a:r>
            <a:r>
              <a:rPr dirty="0" sz="1600">
                <a:latin typeface="Calibri"/>
                <a:cs typeface="Calibri"/>
              </a:rPr>
              <a:t>levels,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transportation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logistics,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supplier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performance.</a:t>
            </a:r>
            <a:endParaRPr sz="1600">
              <a:latin typeface="Calibri"/>
              <a:cs typeface="Calibri"/>
            </a:endParaRPr>
          </a:p>
          <a:p>
            <a:pPr marL="241300" marR="3722370" indent="-229235">
              <a:lnSpc>
                <a:spcPct val="701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Conventional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Limitation: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Traditional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supply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chain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management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systems </a:t>
            </a:r>
            <a:r>
              <a:rPr dirty="0" sz="1600">
                <a:latin typeface="Calibri"/>
                <a:cs typeface="Calibri"/>
              </a:rPr>
              <a:t>cannot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handle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complexity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speed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required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optimal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supply </a:t>
            </a:r>
            <a:r>
              <a:rPr dirty="0" sz="1600">
                <a:latin typeface="Calibri"/>
                <a:cs typeface="Calibri"/>
              </a:rPr>
              <a:t>chain</a:t>
            </a:r>
            <a:r>
              <a:rPr dirty="0" sz="1600" spc="-10">
                <a:latin typeface="Calibri"/>
                <a:cs typeface="Calibri"/>
              </a:rPr>
              <a:t> operations.</a:t>
            </a:r>
            <a:endParaRPr sz="1600">
              <a:latin typeface="Calibri"/>
              <a:cs typeface="Calibri"/>
            </a:endParaRPr>
          </a:p>
          <a:p>
            <a:pPr marL="241300" marR="4062729" indent="-229235">
              <a:lnSpc>
                <a:spcPct val="7000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Outcome: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$1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billion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annual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savings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through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optimized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supply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chain management.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Product</a:t>
            </a:r>
            <a:r>
              <a:rPr dirty="0" sz="16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Innovation: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Example: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3M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accelerate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product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development,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launching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new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products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20%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faster.</a:t>
            </a:r>
            <a:endParaRPr sz="1600">
              <a:latin typeface="Calibri"/>
              <a:cs typeface="Calibri"/>
            </a:endParaRPr>
          </a:p>
          <a:p>
            <a:pPr marL="241300" marR="273050" indent="-229235">
              <a:lnSpc>
                <a:spcPct val="7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Volume: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3M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collects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analyzes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vast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amounts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market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research,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customer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feedback,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R&amp;D </a:t>
            </a:r>
            <a:r>
              <a:rPr dirty="0" sz="1600" spc="-10">
                <a:latin typeface="Calibri"/>
                <a:cs typeface="Calibri"/>
              </a:rPr>
              <a:t>activities.</a:t>
            </a:r>
            <a:endParaRPr sz="1600">
              <a:latin typeface="Calibri"/>
              <a:cs typeface="Calibri"/>
            </a:endParaRPr>
          </a:p>
          <a:p>
            <a:pPr marL="241300" marR="42545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Variety: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includes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structured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market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analysis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reports,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unstructured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customer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reviews,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semi-structured experimental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results.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ts val="163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Conventional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Limitation: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Traditional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product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development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cycles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cannot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leverage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diverse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extensive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sources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ts val="1630"/>
              </a:lnSpc>
            </a:pPr>
            <a:r>
              <a:rPr dirty="0" sz="1600" spc="-10">
                <a:latin typeface="Calibri"/>
                <a:cs typeface="Calibri"/>
              </a:rPr>
              <a:t>efficiently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accelerate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innovation.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Outcome: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20%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faster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product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launches</a:t>
            </a:r>
            <a:r>
              <a:rPr dirty="0" sz="1600" spc="-8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through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accelerated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product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development.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Transportation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8392" y="1869948"/>
            <a:ext cx="3645407" cy="250697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6939" y="1609933"/>
            <a:ext cx="10718165" cy="497967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 spc="-20">
                <a:solidFill>
                  <a:srgbClr val="FF0000"/>
                </a:solidFill>
                <a:latin typeface="Calibri"/>
                <a:cs typeface="Calibri"/>
              </a:rPr>
              <a:t>Traffic</a:t>
            </a:r>
            <a:r>
              <a:rPr dirty="0" sz="16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Management:</a:t>
            </a:r>
            <a:endParaRPr sz="1600">
              <a:latin typeface="Calibri"/>
              <a:cs typeface="Calibri"/>
            </a:endParaRPr>
          </a:p>
          <a:p>
            <a:pPr marL="241300" marR="4145279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Example: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city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Angeles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big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optimize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traffic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light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timing, </a:t>
            </a:r>
            <a:r>
              <a:rPr dirty="0" sz="1600">
                <a:latin typeface="Calibri"/>
                <a:cs typeface="Calibri"/>
              </a:rPr>
              <a:t>reducing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congestion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10%.</a:t>
            </a:r>
            <a:endParaRPr sz="1600">
              <a:latin typeface="Calibri"/>
              <a:cs typeface="Calibri"/>
            </a:endParaRPr>
          </a:p>
          <a:p>
            <a:pPr marL="241300" marR="4679315" indent="-229235">
              <a:lnSpc>
                <a:spcPct val="7000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Volume: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Angeles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collects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thousands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sensors</a:t>
            </a:r>
            <a:r>
              <a:rPr dirty="0" sz="1600" spc="-25">
                <a:latin typeface="Calibri"/>
                <a:cs typeface="Calibri"/>
              </a:rPr>
              <a:t> and </a:t>
            </a:r>
            <a:r>
              <a:rPr dirty="0" sz="1600">
                <a:latin typeface="Calibri"/>
                <a:cs typeface="Calibri"/>
              </a:rPr>
              <a:t>cameras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across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city,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monitoring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traffic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flow,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vehicle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speeds,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and </a:t>
            </a:r>
            <a:r>
              <a:rPr dirty="0" sz="1600" spc="-10">
                <a:latin typeface="Calibri"/>
                <a:cs typeface="Calibri"/>
              </a:rPr>
              <a:t>congestion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levels.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ts val="163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Velocity: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required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adjust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traffic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light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ts val="1630"/>
              </a:lnSpc>
            </a:pPr>
            <a:r>
              <a:rPr dirty="0" sz="1600">
                <a:latin typeface="Calibri"/>
                <a:cs typeface="Calibri"/>
              </a:rPr>
              <a:t>timings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dynamically.</a:t>
            </a:r>
            <a:endParaRPr sz="1600">
              <a:latin typeface="Calibri"/>
              <a:cs typeface="Calibri"/>
            </a:endParaRPr>
          </a:p>
          <a:p>
            <a:pPr marL="241300" marR="4552315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Conventional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Limitation: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Traditional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traffic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management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cannot </a:t>
            </a:r>
            <a:r>
              <a:rPr dirty="0" sz="1600">
                <a:latin typeface="Calibri"/>
                <a:cs typeface="Calibri"/>
              </a:rPr>
              <a:t>process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analyze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effectively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optimize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traffic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light timings.</a:t>
            </a:r>
            <a:endParaRPr sz="1600">
              <a:latin typeface="Calibri"/>
              <a:cs typeface="Calibri"/>
            </a:endParaRPr>
          </a:p>
          <a:p>
            <a:pPr marL="241300" marR="4226560" indent="-229235">
              <a:lnSpc>
                <a:spcPct val="7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Outcome: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10%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traffic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congestion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through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optimized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traffic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light timing.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Fleet</a:t>
            </a:r>
            <a:r>
              <a:rPr dirty="0" sz="1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Management: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Example: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UPS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optimize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delivery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routes,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saving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10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million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gallons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fuel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annually.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Volume: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UPS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processes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millions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deliveries,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including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vehicle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locations,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delivery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times,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traffic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conditions.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Velocity: 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route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optimization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necessary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adjust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changing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traffic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conditions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delivery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demands.</a:t>
            </a:r>
            <a:endParaRPr sz="160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Conventional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Limitation: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Traditional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route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planning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cannot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adapt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quickly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data,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leading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inefficiencies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and </a:t>
            </a:r>
            <a:r>
              <a:rPr dirty="0" sz="1600">
                <a:latin typeface="Calibri"/>
                <a:cs typeface="Calibri"/>
              </a:rPr>
              <a:t>higher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fuel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consumption.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Outcome: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10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million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gallons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fuel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saved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annually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through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optimized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delivery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routes.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Transportation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08115"/>
            <a:ext cx="10234295" cy="481711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 spc="-10">
                <a:solidFill>
                  <a:srgbClr val="FF0000"/>
                </a:solidFill>
                <a:latin typeface="Calibri"/>
                <a:cs typeface="Calibri"/>
              </a:rPr>
              <a:t>Predictive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0000"/>
                </a:solidFill>
                <a:latin typeface="Calibri"/>
                <a:cs typeface="Calibri"/>
              </a:rPr>
              <a:t>Maintenance: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Example: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Delta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Airlines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predictive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maintenance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reduce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flight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delays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due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mechanical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issues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3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15%.</a:t>
            </a:r>
            <a:endParaRPr sz="1700">
              <a:latin typeface="Calibri"/>
              <a:cs typeface="Calibri"/>
            </a:endParaRPr>
          </a:p>
          <a:p>
            <a:pPr marL="241300" marR="318770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Volume: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Delta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Airlines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collects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terabytes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from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aircraft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sensors,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including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engine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performance,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fuel </a:t>
            </a:r>
            <a:r>
              <a:rPr dirty="0" sz="1700">
                <a:latin typeface="Calibri"/>
                <a:cs typeface="Calibri"/>
              </a:rPr>
              <a:t>usage,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mechanical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health.</a:t>
            </a:r>
            <a:endParaRPr sz="1700">
              <a:latin typeface="Calibri"/>
              <a:cs typeface="Calibri"/>
            </a:endParaRPr>
          </a:p>
          <a:p>
            <a:pPr marL="241300" marR="504190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Velocity: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Real-</a:t>
            </a:r>
            <a:r>
              <a:rPr dirty="0" sz="1700">
                <a:latin typeface="Calibri"/>
                <a:cs typeface="Calibri"/>
              </a:rPr>
              <a:t>time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analysis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required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predict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prevent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mechanical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issues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before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they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cause delays.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ts val="1735"/>
              </a:lnSpc>
              <a:spcBef>
                <a:spcPts val="3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 spc="-10">
                <a:latin typeface="Calibri"/>
                <a:cs typeface="Calibri"/>
              </a:rPr>
              <a:t>Conventional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Limitation: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Traditional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maintenance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schedules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cannot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adapt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quickly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real-time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data,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leading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to</a:t>
            </a:r>
            <a:endParaRPr sz="1700">
              <a:latin typeface="Calibri"/>
              <a:cs typeface="Calibri"/>
            </a:endParaRPr>
          </a:p>
          <a:p>
            <a:pPr marL="241300">
              <a:lnSpc>
                <a:spcPts val="1735"/>
              </a:lnSpc>
            </a:pPr>
            <a:r>
              <a:rPr dirty="0" sz="1700">
                <a:latin typeface="Calibri"/>
                <a:cs typeface="Calibri"/>
              </a:rPr>
              <a:t>unexpected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breakdowns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delays.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Outcome: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15%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reduction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flight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delays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due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mechanical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issues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through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predictive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maintenance.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dirty="0" sz="17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0000"/>
                </a:solidFill>
                <a:latin typeface="Calibri"/>
                <a:cs typeface="Calibri"/>
              </a:rPr>
              <a:t>Transportation: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Example: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Transport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London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big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improve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schedules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reduce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waiting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times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4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12%.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ts val="1735"/>
              </a:lnSpc>
              <a:spcBef>
                <a:spcPts val="3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Volume: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Transport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London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processes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from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millions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passenger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journeys,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locations,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and</a:t>
            </a:r>
            <a:endParaRPr sz="1700">
              <a:latin typeface="Calibri"/>
              <a:cs typeface="Calibri"/>
            </a:endParaRPr>
          </a:p>
          <a:p>
            <a:pPr marL="241300">
              <a:lnSpc>
                <a:spcPts val="1735"/>
              </a:lnSpc>
            </a:pPr>
            <a:r>
              <a:rPr dirty="0" sz="1700">
                <a:latin typeface="Calibri"/>
                <a:cs typeface="Calibri"/>
              </a:rPr>
              <a:t>timetable</a:t>
            </a:r>
            <a:r>
              <a:rPr dirty="0" sz="1700" spc="-8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adherence.</a:t>
            </a:r>
            <a:endParaRPr sz="170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Velocity: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Real-</a:t>
            </a:r>
            <a:r>
              <a:rPr dirty="0" sz="1700">
                <a:latin typeface="Calibri"/>
                <a:cs typeface="Calibri"/>
              </a:rPr>
              <a:t>time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analysis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required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adjust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schedules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dynamically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based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passenger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demand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traffic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conditions.</a:t>
            </a:r>
            <a:endParaRPr sz="1700">
              <a:latin typeface="Calibri"/>
              <a:cs typeface="Calibri"/>
            </a:endParaRPr>
          </a:p>
          <a:p>
            <a:pPr marL="241300" marR="484505" indent="-229235">
              <a:lnSpc>
                <a:spcPct val="7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 spc="-10">
                <a:latin typeface="Calibri"/>
                <a:cs typeface="Calibri"/>
              </a:rPr>
              <a:t>Conventional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Limitation: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Traditional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public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transportation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systems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cannot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analyze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real-time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data </a:t>
            </a:r>
            <a:r>
              <a:rPr dirty="0" sz="1700" spc="-10">
                <a:latin typeface="Calibri"/>
                <a:cs typeface="Calibri"/>
              </a:rPr>
              <a:t>effectively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optimize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schedules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reduce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waiting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times.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Outcome: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12%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reduction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waiting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times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through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improved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schedules.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Energy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11477"/>
            <a:ext cx="9247505" cy="490474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Smart</a:t>
            </a:r>
            <a:r>
              <a:rPr dirty="0" sz="14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Grids:</a:t>
            </a:r>
            <a:endParaRPr sz="1400">
              <a:latin typeface="Calibri"/>
              <a:cs typeface="Calibri"/>
            </a:endParaRPr>
          </a:p>
          <a:p>
            <a:pPr marL="241300" marR="3076575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Example: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Duke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manage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smart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grid,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reducing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outages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by </a:t>
            </a:r>
            <a:r>
              <a:rPr dirty="0" sz="1400" spc="-20">
                <a:latin typeface="Calibri"/>
                <a:cs typeface="Calibri"/>
              </a:rPr>
              <a:t>25%.</a:t>
            </a:r>
            <a:endParaRPr sz="1400">
              <a:latin typeface="Calibri"/>
              <a:cs typeface="Calibri"/>
            </a:endParaRPr>
          </a:p>
          <a:p>
            <a:pPr marL="241300" marR="3115945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Volume: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Duke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millions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smart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meters,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sensors,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grid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equipment,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capturing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usage,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grid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status,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environmental conditions.</a:t>
            </a:r>
            <a:endParaRPr sz="1400">
              <a:latin typeface="Calibri"/>
              <a:cs typeface="Calibri"/>
            </a:endParaRPr>
          </a:p>
          <a:p>
            <a:pPr marL="241300" marR="3066415" indent="-229235">
              <a:lnSpc>
                <a:spcPct val="7000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Velocity: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analysis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required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monitor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grid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>
                <a:latin typeface="Calibri"/>
                <a:cs typeface="Calibri"/>
              </a:rPr>
              <a:t>detect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potential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issues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before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lead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outages.</a:t>
            </a:r>
            <a:endParaRPr sz="1400">
              <a:latin typeface="Calibri"/>
              <a:cs typeface="Calibri"/>
            </a:endParaRPr>
          </a:p>
          <a:p>
            <a:pPr marL="241300" marR="3042920" indent="-229235">
              <a:lnSpc>
                <a:spcPct val="701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latin typeface="Calibri"/>
                <a:cs typeface="Calibri"/>
              </a:rPr>
              <a:t>Conventional Limitation:</a:t>
            </a:r>
            <a:r>
              <a:rPr dirty="0" sz="1400" spc="-20">
                <a:latin typeface="Calibri"/>
                <a:cs typeface="Calibri"/>
              </a:rPr>
              <a:t> Traditional </a:t>
            </a:r>
            <a:r>
              <a:rPr dirty="0" sz="1400">
                <a:latin typeface="Calibri"/>
                <a:cs typeface="Calibri"/>
              </a:rPr>
              <a:t>grid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10">
                <a:latin typeface="Calibri"/>
                <a:cs typeface="Calibri"/>
              </a:rPr>
              <a:t>analyze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volume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speed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necessary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optimize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grid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operations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>
                <a:latin typeface="Calibri"/>
                <a:cs typeface="Calibri"/>
              </a:rPr>
              <a:t>reduce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outages.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Outcome: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25%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reduction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outages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through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improved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smart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grid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Renewable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Energy:</a:t>
            </a:r>
            <a:endParaRPr sz="1400">
              <a:latin typeface="Calibri"/>
              <a:cs typeface="Calibri"/>
            </a:endParaRPr>
          </a:p>
          <a:p>
            <a:pPr marL="241300" marR="768985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Example: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Google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optimize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renewable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projects,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achieving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100%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renewable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its </a:t>
            </a:r>
            <a:r>
              <a:rPr dirty="0" sz="1400" spc="-10">
                <a:latin typeface="Calibri"/>
                <a:cs typeface="Calibri"/>
              </a:rPr>
              <a:t>operations.</a:t>
            </a:r>
            <a:endParaRPr sz="140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Volume: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Google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collects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solar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panels,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wind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turbines,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other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renewable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sources,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monitoring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energy production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consumption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real-</a:t>
            </a:r>
            <a:r>
              <a:rPr dirty="0" sz="1400" spc="-20">
                <a:latin typeface="Calibri"/>
                <a:cs typeface="Calibri"/>
              </a:rPr>
              <a:t>time.</a:t>
            </a:r>
            <a:endParaRPr sz="1400">
              <a:latin typeface="Calibri"/>
              <a:cs typeface="Calibri"/>
            </a:endParaRPr>
          </a:p>
          <a:p>
            <a:pPr marL="241300" marR="617220" indent="-229235">
              <a:lnSpc>
                <a:spcPct val="70000"/>
              </a:lnSpc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Variety: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structured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production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unstructured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weather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forecasts,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semi-</a:t>
            </a:r>
            <a:r>
              <a:rPr dirty="0" sz="1400" spc="-10">
                <a:latin typeface="Calibri"/>
                <a:cs typeface="Calibri"/>
              </a:rPr>
              <a:t>structured maintenance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logs.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ts val="1430"/>
              </a:lnSpc>
              <a:spcBef>
                <a:spcPts val="4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 spc="-10">
                <a:latin typeface="Calibri"/>
                <a:cs typeface="Calibri"/>
              </a:rPr>
              <a:t>Conventional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Limitation: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Traditional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integrate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analyze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diverse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sources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430"/>
              </a:lnSpc>
            </a:pPr>
            <a:r>
              <a:rPr dirty="0" sz="1400" spc="-10">
                <a:latin typeface="Calibri"/>
                <a:cs typeface="Calibri"/>
              </a:rPr>
              <a:t>effectively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optimize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renewable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usage.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1400">
                <a:latin typeface="Calibri"/>
                <a:cs typeface="Calibri"/>
              </a:rPr>
              <a:t>Outcome: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Achieved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100%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renewable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operations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through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optimized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renewable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energy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projects.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2088" y="1705355"/>
            <a:ext cx="3791711" cy="25298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97051"/>
            <a:ext cx="10515600" cy="748665"/>
          </a:xfrm>
          <a:prstGeom prst="rect"/>
          <a:solidFill>
            <a:srgbClr val="673379"/>
          </a:solidFill>
        </p:spPr>
        <p:txBody>
          <a:bodyPr wrap="square" lIns="0" tIns="1168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20"/>
              </a:spcBef>
            </a:pPr>
            <a:r>
              <a:rPr dirty="0" sz="2800">
                <a:solidFill>
                  <a:srgbClr val="FFFFFF"/>
                </a:solidFill>
              </a:rPr>
              <a:t>Big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Data</a:t>
            </a:r>
            <a:r>
              <a:rPr dirty="0" sz="2800" spc="-55">
                <a:solidFill>
                  <a:srgbClr val="FFFFFF"/>
                </a:solidFill>
              </a:rPr>
              <a:t> </a:t>
            </a:r>
            <a:r>
              <a:rPr dirty="0" sz="2800">
                <a:solidFill>
                  <a:srgbClr val="FFFFFF"/>
                </a:solidFill>
              </a:rPr>
              <a:t>in</a:t>
            </a:r>
            <a:r>
              <a:rPr dirty="0" sz="2800" spc="-3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Energy</a:t>
            </a:r>
            <a:endParaRPr sz="28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/>
              <a:t>Energy</a:t>
            </a:r>
            <a:r>
              <a:rPr dirty="0" spc="-50"/>
              <a:t> </a:t>
            </a:r>
            <a:r>
              <a:rPr dirty="0" spc="-10"/>
              <a:t>Efficiency:</a:t>
            </a: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>
                <a:solidFill>
                  <a:srgbClr val="000000"/>
                </a:solidFill>
              </a:rPr>
              <a:t>Example: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Siemens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uses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big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improve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building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energy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management,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reducing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energy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consumption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20%.</a:t>
            </a:r>
          </a:p>
          <a:p>
            <a:pPr marL="241300" marR="95885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Volume: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Siemens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analyzes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from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building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sensors,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HVAC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systems,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energy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usage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records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identify </a:t>
            </a:r>
            <a:r>
              <a:rPr dirty="0">
                <a:solidFill>
                  <a:srgbClr val="000000"/>
                </a:solidFill>
              </a:rPr>
              <a:t>inefficiencies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optimize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energy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consumption.</a:t>
            </a:r>
          </a:p>
          <a:p>
            <a:pPr marL="241300" marR="57150" indent="-229235">
              <a:lnSpc>
                <a:spcPct val="70000"/>
              </a:lnSpc>
              <a:spcBef>
                <a:spcPts val="99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Velocity: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Real-</a:t>
            </a:r>
            <a:r>
              <a:rPr dirty="0">
                <a:solidFill>
                  <a:srgbClr val="000000"/>
                </a:solidFill>
              </a:rPr>
              <a:t>time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monitoring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analysis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required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adjust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building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systems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dynamically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optimal </a:t>
            </a:r>
            <a:r>
              <a:rPr dirty="0">
                <a:solidFill>
                  <a:srgbClr val="000000"/>
                </a:solidFill>
              </a:rPr>
              <a:t>energy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efficiency.</a:t>
            </a:r>
          </a:p>
          <a:p>
            <a:pPr marL="241300" indent="-228600">
              <a:lnSpc>
                <a:spcPts val="1735"/>
              </a:lnSpc>
              <a:spcBef>
                <a:spcPts val="3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pc="-10">
                <a:solidFill>
                  <a:srgbClr val="000000"/>
                </a:solidFill>
              </a:rPr>
              <a:t>Conventional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Limitation: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Traditional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building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management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systems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cannot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process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analyze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volume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and</a:t>
            </a:r>
          </a:p>
          <a:p>
            <a:pPr marL="241300">
              <a:lnSpc>
                <a:spcPts val="1735"/>
              </a:lnSpc>
            </a:pPr>
            <a:r>
              <a:rPr dirty="0">
                <a:solidFill>
                  <a:srgbClr val="000000"/>
                </a:solidFill>
              </a:rPr>
              <a:t>variety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required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achieve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significant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energy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savings.</a:t>
            </a: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>
                <a:solidFill>
                  <a:srgbClr val="000000"/>
                </a:solidFill>
              </a:rPr>
              <a:t>Outcome: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20%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reduction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energy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consumption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through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improved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building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energy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management.</a:t>
            </a: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/>
              <a:t>Asset</a:t>
            </a:r>
            <a:r>
              <a:rPr dirty="0" spc="-40"/>
              <a:t> </a:t>
            </a:r>
            <a:r>
              <a:rPr dirty="0" spc="-10"/>
              <a:t>Management:</a:t>
            </a: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>
                <a:solidFill>
                  <a:srgbClr val="000000"/>
                </a:solidFill>
              </a:rPr>
              <a:t>Example: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Shell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uses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big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monitor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maintain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its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oil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rigs,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reducing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maintenance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costs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dirty="0" spc="3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10%.</a:t>
            </a:r>
          </a:p>
          <a:p>
            <a:pPr marL="241300" indent="-228600">
              <a:lnSpc>
                <a:spcPts val="1735"/>
              </a:lnSpc>
              <a:spcBef>
                <a:spcPts val="3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Volume: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Shell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collects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terabytes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from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sensors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oil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rigs,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monitoring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equipment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performance,</a:t>
            </a:r>
          </a:p>
          <a:p>
            <a:pPr marL="241300">
              <a:lnSpc>
                <a:spcPts val="1735"/>
              </a:lnSpc>
            </a:pPr>
            <a:r>
              <a:rPr dirty="0" spc="-10">
                <a:solidFill>
                  <a:srgbClr val="000000"/>
                </a:solidFill>
              </a:rPr>
              <a:t>environmental</a:t>
            </a:r>
            <a:r>
              <a:rPr dirty="0" spc="-8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conditions,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operational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status.</a:t>
            </a: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Velocity: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Real-</a:t>
            </a:r>
            <a:r>
              <a:rPr dirty="0">
                <a:solidFill>
                  <a:srgbClr val="000000"/>
                </a:solidFill>
              </a:rPr>
              <a:t>time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analysis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essential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predict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maintenance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needs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prevent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equipment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failures.</a:t>
            </a:r>
          </a:p>
          <a:p>
            <a:pPr marL="241300" marR="300990" indent="-229235">
              <a:lnSpc>
                <a:spcPct val="7000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pc="-10">
                <a:solidFill>
                  <a:srgbClr val="000000"/>
                </a:solidFill>
              </a:rPr>
              <a:t>Conventional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Limitation: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Traditional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asset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management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systems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cannot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handle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volume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speed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data </a:t>
            </a:r>
            <a:r>
              <a:rPr dirty="0" spc="-10">
                <a:solidFill>
                  <a:srgbClr val="000000"/>
                </a:solidFill>
              </a:rPr>
              <a:t>required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optimize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maintenance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schedules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reduce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costs.</a:t>
            </a:r>
          </a:p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>
                <a:solidFill>
                  <a:srgbClr val="000000"/>
                </a:solidFill>
              </a:rPr>
              <a:t>Outcome: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10%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reduction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maintenance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costs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through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optimized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asset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 Fasha</dc:creator>
  <dc:title>Probability Distribution Functions</dc:title>
  <dcterms:created xsi:type="dcterms:W3CDTF">2024-07-24T15:30:49Z</dcterms:created>
  <dcterms:modified xsi:type="dcterms:W3CDTF">2024-07-24T15:30:49Z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2024-07-24T00:00:00Z</vt:filetime>
  </property>
  <property fmtid="{D5CDD505-2E9C-101B-9397-08002B2CF9AE}" pid="5" name="Producer">
    <vt:lpwstr>Microsoft® PowerPoint® for Microsoft 365</vt:lpwstr>
  </property>
</Properties>
</file>