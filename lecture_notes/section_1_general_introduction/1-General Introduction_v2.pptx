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15.jpg" ContentType="image/jpg"/>
  <Override PartName="/ppt/media/image16.jpg" ContentType="image/jpg"/>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455" r:id="rId2"/>
    <p:sldId id="503" r:id="rId3"/>
    <p:sldId id="515" r:id="rId4"/>
    <p:sldId id="513" r:id="rId5"/>
    <p:sldId id="462" r:id="rId6"/>
    <p:sldId id="463" r:id="rId7"/>
    <p:sldId id="508" r:id="rId8"/>
    <p:sldId id="512" r:id="rId9"/>
    <p:sldId id="509" r:id="rId10"/>
    <p:sldId id="510" r:id="rId11"/>
    <p:sldId id="514" r:id="rId12"/>
    <p:sldId id="483" r:id="rId13"/>
    <p:sldId id="283" r:id="rId14"/>
    <p:sldId id="516" r:id="rId15"/>
    <p:sldId id="517" r:id="rId16"/>
    <p:sldId id="289" r:id="rId17"/>
    <p:sldId id="291" r:id="rId18"/>
    <p:sldId id="293" r:id="rId19"/>
    <p:sldId id="518" r:id="rId20"/>
    <p:sldId id="519" r:id="rId21"/>
    <p:sldId id="280" r:id="rId22"/>
    <p:sldId id="52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823B"/>
    <a:srgbClr val="67337A"/>
    <a:srgbClr val="00642D"/>
    <a:srgbClr val="98A5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94" autoAdjust="0"/>
    <p:restoredTop sz="94660"/>
  </p:normalViewPr>
  <p:slideViewPr>
    <p:cSldViewPr snapToGrid="0">
      <p:cViewPr varScale="1">
        <p:scale>
          <a:sx n="111" d="100"/>
          <a:sy n="111" d="100"/>
        </p:scale>
        <p:origin x="720" y="102"/>
      </p:cViewPr>
      <p:guideLst/>
    </p:cSldViewPr>
  </p:slideViewPr>
  <p:notesTextViewPr>
    <p:cViewPr>
      <p:scale>
        <a:sx n="1" d="1"/>
        <a:sy n="1" d="1"/>
      </p:scale>
      <p:origin x="0" y="0"/>
    </p:cViewPr>
  </p:notesText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Fasha" userId="cc64f42d-a1a6-4f08-b97b-0c37f877119f" providerId="ADAL" clId="{33A44248-7984-4750-8CBD-503C66D5F8B6}"/>
    <pc:docChg chg="custSel addSld modSld">
      <pc:chgData name="Mohammed Fasha" userId="cc64f42d-a1a6-4f08-b97b-0c37f877119f" providerId="ADAL" clId="{33A44248-7984-4750-8CBD-503C66D5F8B6}" dt="2025-03-05T09:13:55.803" v="21" actId="1076"/>
      <pc:docMkLst>
        <pc:docMk/>
      </pc:docMkLst>
      <pc:sldChg chg="addSp delSp modSp add">
        <pc:chgData name="Mohammed Fasha" userId="cc64f42d-a1a6-4f08-b97b-0c37f877119f" providerId="ADAL" clId="{33A44248-7984-4750-8CBD-503C66D5F8B6}" dt="2025-03-05T09:13:55.803" v="21" actId="1076"/>
        <pc:sldMkLst>
          <pc:docMk/>
          <pc:sldMk cId="2982934387" sldId="520"/>
        </pc:sldMkLst>
        <pc:spChg chg="del">
          <ac:chgData name="Mohammed Fasha" userId="cc64f42d-a1a6-4f08-b97b-0c37f877119f" providerId="ADAL" clId="{33A44248-7984-4750-8CBD-503C66D5F8B6}" dt="2025-03-05T09:12:22.673" v="1"/>
          <ac:spMkLst>
            <pc:docMk/>
            <pc:sldMk cId="2982934387" sldId="520"/>
            <ac:spMk id="2" creationId="{14D14145-F17B-4916-8551-829457C08BB6}"/>
          </ac:spMkLst>
        </pc:spChg>
        <pc:spChg chg="add mod">
          <ac:chgData name="Mohammed Fasha" userId="cc64f42d-a1a6-4f08-b97b-0c37f877119f" providerId="ADAL" clId="{33A44248-7984-4750-8CBD-503C66D5F8B6}" dt="2025-03-05T09:13:55.803" v="21" actId="1076"/>
          <ac:spMkLst>
            <pc:docMk/>
            <pc:sldMk cId="2982934387" sldId="520"/>
            <ac:spMk id="2" creationId="{9B1E4384-89EC-4FE3-97CB-A8625BA161C5}"/>
          </ac:spMkLst>
        </pc:spChg>
        <pc:spChg chg="del">
          <ac:chgData name="Mohammed Fasha" userId="cc64f42d-a1a6-4f08-b97b-0c37f877119f" providerId="ADAL" clId="{33A44248-7984-4750-8CBD-503C66D5F8B6}" dt="2025-03-05T09:12:22.673" v="1"/>
          <ac:spMkLst>
            <pc:docMk/>
            <pc:sldMk cId="2982934387" sldId="520"/>
            <ac:spMk id="3" creationId="{EFAB1FD8-4541-4029-98F1-A78C31D87049}"/>
          </ac:spMkLst>
        </pc:spChg>
        <pc:spChg chg="add del mod">
          <ac:chgData name="Mohammed Fasha" userId="cc64f42d-a1a6-4f08-b97b-0c37f877119f" providerId="ADAL" clId="{33A44248-7984-4750-8CBD-503C66D5F8B6}" dt="2025-03-05T09:12:36.170" v="6" actId="478"/>
          <ac:spMkLst>
            <pc:docMk/>
            <pc:sldMk cId="2982934387" sldId="520"/>
            <ac:spMk id="13" creationId="{7FA9D8EF-A812-49FE-AED6-DBD5ECDB08B7}"/>
          </ac:spMkLst>
        </pc:spChg>
        <pc:graphicFrameChg chg="add del">
          <ac:chgData name="Mohammed Fasha" userId="cc64f42d-a1a6-4f08-b97b-0c37f877119f" providerId="ADAL" clId="{33A44248-7984-4750-8CBD-503C66D5F8B6}" dt="2025-03-05T09:12:26.258" v="3"/>
          <ac:graphicFrameMkLst>
            <pc:docMk/>
            <pc:sldMk cId="2982934387" sldId="520"/>
            <ac:graphicFrameMk id="4" creationId="{0FAA495F-A52A-45A6-9F17-330FBAB239B1}"/>
          </ac:graphicFrameMkLst>
        </pc:graphicFrameChg>
        <pc:graphicFrameChg chg="add del">
          <ac:chgData name="Mohammed Fasha" userId="cc64f42d-a1a6-4f08-b97b-0c37f877119f" providerId="ADAL" clId="{33A44248-7984-4750-8CBD-503C66D5F8B6}" dt="2025-03-05T09:12:26.258" v="3"/>
          <ac:graphicFrameMkLst>
            <pc:docMk/>
            <pc:sldMk cId="2982934387" sldId="520"/>
            <ac:graphicFrameMk id="5" creationId="{9B28A0B3-3B2D-4841-B6AD-3D44E88FD0C1}"/>
          </ac:graphicFrameMkLst>
        </pc:graphicFrameChg>
        <pc:graphicFrameChg chg="add del">
          <ac:chgData name="Mohammed Fasha" userId="cc64f42d-a1a6-4f08-b97b-0c37f877119f" providerId="ADAL" clId="{33A44248-7984-4750-8CBD-503C66D5F8B6}" dt="2025-03-05T09:12:26.258" v="3"/>
          <ac:graphicFrameMkLst>
            <pc:docMk/>
            <pc:sldMk cId="2982934387" sldId="520"/>
            <ac:graphicFrameMk id="6" creationId="{7CC29545-521B-4AA9-8349-31D5B4C7CE00}"/>
          </ac:graphicFrameMkLst>
        </pc:graphicFrameChg>
        <pc:graphicFrameChg chg="add del">
          <ac:chgData name="Mohammed Fasha" userId="cc64f42d-a1a6-4f08-b97b-0c37f877119f" providerId="ADAL" clId="{33A44248-7984-4750-8CBD-503C66D5F8B6}" dt="2025-03-05T09:12:26.258" v="3"/>
          <ac:graphicFrameMkLst>
            <pc:docMk/>
            <pc:sldMk cId="2982934387" sldId="520"/>
            <ac:graphicFrameMk id="7" creationId="{0843BCE4-8696-438E-87AB-839986D97D53}"/>
          </ac:graphicFrameMkLst>
        </pc:graphicFrameChg>
        <pc:graphicFrameChg chg="add del">
          <ac:chgData name="Mohammed Fasha" userId="cc64f42d-a1a6-4f08-b97b-0c37f877119f" providerId="ADAL" clId="{33A44248-7984-4750-8CBD-503C66D5F8B6}" dt="2025-03-05T09:12:26.258" v="3"/>
          <ac:graphicFrameMkLst>
            <pc:docMk/>
            <pc:sldMk cId="2982934387" sldId="520"/>
            <ac:graphicFrameMk id="8" creationId="{88F04E69-6B83-4077-8278-D1BF899BA2E2}"/>
          </ac:graphicFrameMkLst>
        </pc:graphicFrameChg>
        <pc:graphicFrameChg chg="add del">
          <ac:chgData name="Mohammed Fasha" userId="cc64f42d-a1a6-4f08-b97b-0c37f877119f" providerId="ADAL" clId="{33A44248-7984-4750-8CBD-503C66D5F8B6}" dt="2025-03-05T09:12:26.258" v="3"/>
          <ac:graphicFrameMkLst>
            <pc:docMk/>
            <pc:sldMk cId="2982934387" sldId="520"/>
            <ac:graphicFrameMk id="9" creationId="{9FA346D8-984C-4D51-99B7-3D05410EDF65}"/>
          </ac:graphicFrameMkLst>
        </pc:graphicFrameChg>
        <pc:graphicFrameChg chg="add del">
          <ac:chgData name="Mohammed Fasha" userId="cc64f42d-a1a6-4f08-b97b-0c37f877119f" providerId="ADAL" clId="{33A44248-7984-4750-8CBD-503C66D5F8B6}" dt="2025-03-05T09:12:26.258" v="3"/>
          <ac:graphicFrameMkLst>
            <pc:docMk/>
            <pc:sldMk cId="2982934387" sldId="520"/>
            <ac:graphicFrameMk id="10" creationId="{9CC3F8AA-4A8C-4908-80F0-AD4CF2383976}"/>
          </ac:graphicFrameMkLst>
        </pc:graphicFrameChg>
        <pc:graphicFrameChg chg="add del">
          <ac:chgData name="Mohammed Fasha" userId="cc64f42d-a1a6-4f08-b97b-0c37f877119f" providerId="ADAL" clId="{33A44248-7984-4750-8CBD-503C66D5F8B6}" dt="2025-03-05T09:12:26.258" v="3"/>
          <ac:graphicFrameMkLst>
            <pc:docMk/>
            <pc:sldMk cId="2982934387" sldId="520"/>
            <ac:graphicFrameMk id="11" creationId="{3745E6B3-189D-48CF-AEAE-49DFB6F76428}"/>
          </ac:graphicFrameMkLst>
        </pc:graphicFrameChg>
        <pc:graphicFrameChg chg="add mod modGraphic">
          <ac:chgData name="Mohammed Fasha" userId="cc64f42d-a1a6-4f08-b97b-0c37f877119f" providerId="ADAL" clId="{33A44248-7984-4750-8CBD-503C66D5F8B6}" dt="2025-03-05T09:12:46.070" v="10" actId="403"/>
          <ac:graphicFrameMkLst>
            <pc:docMk/>
            <pc:sldMk cId="2982934387" sldId="520"/>
            <ac:graphicFrameMk id="12" creationId="{DB47C7E2-3BA5-4C7E-B1E0-407B834675E2}"/>
          </ac:graphicFrameMkLst>
        </pc:graphicFrameChg>
      </pc:sldChg>
    </pc:docChg>
  </pc:docChgLst>
  <pc:docChgLst>
    <pc:chgData name="Mohammed Fasha" userId="cc64f42d-a1a6-4f08-b97b-0c37f877119f" providerId="ADAL" clId="{3EE877A4-DF4A-4FCE-ADC2-85A2F9DA6AD6}"/>
  </pc:docChgLst>
  <pc:docChgLst>
    <pc:chgData name="Mohammed Fasha" userId="cc64f42d-a1a6-4f08-b97b-0c37f877119f" providerId="ADAL" clId="{FDE0856B-42F7-40B6-BE6F-9BC89E48B27A}"/>
  </pc:docChgLst>
  <pc:docChgLst>
    <pc:chgData name="Mohammed Fasha" userId="cc64f42d-a1a6-4f08-b97b-0c37f877119f" providerId="ADAL" clId="{8BA7AB7A-7997-45E3-8DBB-BDB9BF02F4A1}"/>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BA03A4-B9F1-404C-8A74-B1AFD6480953}" type="datetimeFigureOut">
              <a:rPr lang="en-US" smtClean="0"/>
              <a:t>3/5/2025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3C3971-340B-41A2-ABD3-FB1A577E480B}" type="slidenum">
              <a:rPr lang="en-US" smtClean="0"/>
              <a:t>‹#›</a:t>
            </a:fld>
            <a:endParaRPr lang="en-US"/>
          </a:p>
        </p:txBody>
      </p:sp>
    </p:spTree>
    <p:extLst>
      <p:ext uri="{BB962C8B-B14F-4D97-AF65-F5344CB8AC3E}">
        <p14:creationId xmlns:p14="http://schemas.microsoft.com/office/powerpoint/2010/main" val="1056051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9B88D-A571-8D68-DA1D-4734ED37AE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433490-0BE8-AA6E-9BD9-B3AE42C098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2B6175-CE1C-2163-F07B-89B1D44CD718}"/>
              </a:ext>
            </a:extLst>
          </p:cNvPr>
          <p:cNvSpPr>
            <a:spLocks noGrp="1"/>
          </p:cNvSpPr>
          <p:nvPr>
            <p:ph type="dt" sz="half" idx="10"/>
          </p:nvPr>
        </p:nvSpPr>
        <p:spPr/>
        <p:txBody>
          <a:bodyPr/>
          <a:lstStyle/>
          <a:p>
            <a:fld id="{0DB78E95-DE77-44D3-BDB9-E242948FB112}" type="datetimeFigureOut">
              <a:rPr lang="en-US" smtClean="0"/>
              <a:t>3/5/2025</a:t>
            </a:fld>
            <a:endParaRPr lang="en-US"/>
          </a:p>
        </p:txBody>
      </p:sp>
      <p:sp>
        <p:nvSpPr>
          <p:cNvPr id="5" name="Footer Placeholder 4">
            <a:extLst>
              <a:ext uri="{FF2B5EF4-FFF2-40B4-BE49-F238E27FC236}">
                <a16:creationId xmlns:a16="http://schemas.microsoft.com/office/drawing/2014/main" id="{19231D7E-9560-9E2E-E325-EA9FF2B4F1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F25B4A-CC9F-DFD4-9C8C-EC0E3A6CB83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4063788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1AE11-FE2F-E8C7-76F8-4648B97755B7}"/>
              </a:ext>
            </a:extLst>
          </p:cNvPr>
          <p:cNvSpPr>
            <a:spLocks noGrp="1"/>
          </p:cNvSpPr>
          <p:nvPr>
            <p:ph type="title"/>
          </p:nvPr>
        </p:nvSpPr>
        <p:spPr>
          <a:xfrm>
            <a:off x="838200" y="797523"/>
            <a:ext cx="10515600" cy="748208"/>
          </a:xfrm>
          <a:solidFill>
            <a:srgbClr val="67337A"/>
          </a:solidFill>
        </p:spPr>
        <p:txBody>
          <a:bodyPr>
            <a:normAutofit/>
          </a:bodyPr>
          <a:lstStyle>
            <a:lvl1pPr>
              <a:defRPr sz="2800" b="0">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3FDCCF6-2612-A73C-C264-680D14569853}"/>
              </a:ext>
            </a:extLst>
          </p:cNvPr>
          <p:cNvSpPr>
            <a:spLocks noGrp="1"/>
          </p:cNvSpPr>
          <p:nvPr>
            <p:ph idx="1"/>
          </p:nvPr>
        </p:nvSpPr>
        <p:spPr>
          <a:xfrm>
            <a:off x="838200" y="1706007"/>
            <a:ext cx="10515600" cy="4991039"/>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73533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3632C-6DEE-7253-7D28-277A733B9623}"/>
              </a:ext>
            </a:extLst>
          </p:cNvPr>
          <p:cNvSpPr>
            <a:spLocks noGrp="1"/>
          </p:cNvSpPr>
          <p:nvPr>
            <p:ph type="title"/>
          </p:nvPr>
        </p:nvSpPr>
        <p:spPr>
          <a:xfrm>
            <a:off x="831850" y="3429001"/>
            <a:ext cx="10515600" cy="1410566"/>
          </a:xfrm>
        </p:spPr>
        <p:txBody>
          <a:bodyPr anchor="b">
            <a:normAutofit/>
          </a:bodyPr>
          <a:lstStyle>
            <a:lvl1pPr>
              <a:defRPr sz="5000"/>
            </a:lvl1pPr>
          </a:lstStyle>
          <a:p>
            <a:r>
              <a:rPr lang="en-US"/>
              <a:t>Click to edit Master title style</a:t>
            </a:r>
          </a:p>
        </p:txBody>
      </p:sp>
      <p:sp>
        <p:nvSpPr>
          <p:cNvPr id="3" name="Text Placeholder 2">
            <a:extLst>
              <a:ext uri="{FF2B5EF4-FFF2-40B4-BE49-F238E27FC236}">
                <a16:creationId xmlns:a16="http://schemas.microsoft.com/office/drawing/2014/main" id="{BC46F207-EFC1-8D09-1A43-C1BC66F4BCE3}"/>
              </a:ext>
            </a:extLst>
          </p:cNvPr>
          <p:cNvSpPr>
            <a:spLocks noGrp="1"/>
          </p:cNvSpPr>
          <p:nvPr>
            <p:ph type="body" idx="1"/>
          </p:nvPr>
        </p:nvSpPr>
        <p:spPr>
          <a:xfrm>
            <a:off x="831850" y="4956175"/>
            <a:ext cx="10515600" cy="11334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7066E6-0CE4-B283-4609-6B87CF61ED08}"/>
              </a:ext>
            </a:extLst>
          </p:cNvPr>
          <p:cNvSpPr>
            <a:spLocks noGrp="1"/>
          </p:cNvSpPr>
          <p:nvPr>
            <p:ph type="dt" sz="half" idx="10"/>
          </p:nvPr>
        </p:nvSpPr>
        <p:spPr/>
        <p:txBody>
          <a:bodyPr/>
          <a:lstStyle/>
          <a:p>
            <a:fld id="{0DB78E95-DE77-44D3-BDB9-E242948FB112}" type="datetimeFigureOut">
              <a:rPr lang="en-US" smtClean="0"/>
              <a:t>3/5/2025</a:t>
            </a:fld>
            <a:endParaRPr lang="en-US"/>
          </a:p>
        </p:txBody>
      </p:sp>
      <p:sp>
        <p:nvSpPr>
          <p:cNvPr id="5" name="Footer Placeholder 4">
            <a:extLst>
              <a:ext uri="{FF2B5EF4-FFF2-40B4-BE49-F238E27FC236}">
                <a16:creationId xmlns:a16="http://schemas.microsoft.com/office/drawing/2014/main" id="{3788F228-7BFB-DECA-1E8A-FE22303A6A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017116-D906-F8F1-9544-2F31FF8B39CA}"/>
              </a:ext>
            </a:extLst>
          </p:cNvPr>
          <p:cNvSpPr>
            <a:spLocks noGrp="1"/>
          </p:cNvSpPr>
          <p:nvPr>
            <p:ph type="sldNum" sz="quarter" idx="12"/>
          </p:nvPr>
        </p:nvSpPr>
        <p:spPr/>
        <p:txBody>
          <a:body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31FD8420-94D8-A22A-437F-9C23274717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8" name="Picture 7">
            <a:extLst>
              <a:ext uri="{FF2B5EF4-FFF2-40B4-BE49-F238E27FC236}">
                <a16:creationId xmlns:a16="http://schemas.microsoft.com/office/drawing/2014/main" id="{59A4E6A3-979F-577C-6B28-090C8441D5A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8965" y="160954"/>
            <a:ext cx="2120835" cy="636570"/>
          </a:xfrm>
          <a:prstGeom prst="rect">
            <a:avLst/>
          </a:prstGeom>
        </p:spPr>
      </p:pic>
      <p:pic>
        <p:nvPicPr>
          <p:cNvPr id="9" name="Picture 8">
            <a:extLst>
              <a:ext uri="{FF2B5EF4-FFF2-40B4-BE49-F238E27FC236}">
                <a16:creationId xmlns:a16="http://schemas.microsoft.com/office/drawing/2014/main" id="{ECF73805-8742-DDA0-8BA4-18F7B6B60B6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spTree>
    <p:extLst>
      <p:ext uri="{BB962C8B-B14F-4D97-AF65-F5344CB8AC3E}">
        <p14:creationId xmlns:p14="http://schemas.microsoft.com/office/powerpoint/2010/main" val="3394545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D320A-5856-7025-B675-5175C87BA4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A02420-256F-86BB-2069-DC7FC15985C7}"/>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74A8B5D-BE76-5309-6B35-5BB623D549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C55F1A-4711-E07F-4060-9DFA24B5F84D}"/>
              </a:ext>
            </a:extLst>
          </p:cNvPr>
          <p:cNvSpPr>
            <a:spLocks noGrp="1"/>
          </p:cNvSpPr>
          <p:nvPr>
            <p:ph type="dt" sz="half" idx="10"/>
          </p:nvPr>
        </p:nvSpPr>
        <p:spPr/>
        <p:txBody>
          <a:bodyPr/>
          <a:lstStyle/>
          <a:p>
            <a:fld id="{0DB78E95-DE77-44D3-BDB9-E242948FB112}" type="datetimeFigureOut">
              <a:rPr lang="en-US" smtClean="0"/>
              <a:t>3/5/2025</a:t>
            </a:fld>
            <a:endParaRPr lang="en-US"/>
          </a:p>
        </p:txBody>
      </p:sp>
      <p:sp>
        <p:nvSpPr>
          <p:cNvPr id="6" name="Footer Placeholder 5">
            <a:extLst>
              <a:ext uri="{FF2B5EF4-FFF2-40B4-BE49-F238E27FC236}">
                <a16:creationId xmlns:a16="http://schemas.microsoft.com/office/drawing/2014/main" id="{B84BDB2D-A305-9686-67A1-5E6D04DD8A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5DA501-D721-9762-F1D7-F2633610BCBD}"/>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51891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D67AB-B0CB-34AE-FB11-E6E73297D5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F1467F-4D04-1AE5-F976-549357D164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1D808E-728B-7E91-40BC-CEDF06A29F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AC8E04-B37B-1721-DBCE-7A749BD7AC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85EBE9-C42B-6432-1518-88FD8B1A9E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0A973D-A9C2-1CA6-05F5-A7C82D4020FD}"/>
              </a:ext>
            </a:extLst>
          </p:cNvPr>
          <p:cNvSpPr>
            <a:spLocks noGrp="1"/>
          </p:cNvSpPr>
          <p:nvPr>
            <p:ph type="dt" sz="half" idx="10"/>
          </p:nvPr>
        </p:nvSpPr>
        <p:spPr/>
        <p:txBody>
          <a:bodyPr/>
          <a:lstStyle/>
          <a:p>
            <a:fld id="{0DB78E95-DE77-44D3-BDB9-E242948FB112}" type="datetimeFigureOut">
              <a:rPr lang="en-US" smtClean="0"/>
              <a:t>3/5/2025</a:t>
            </a:fld>
            <a:endParaRPr lang="en-US"/>
          </a:p>
        </p:txBody>
      </p:sp>
      <p:sp>
        <p:nvSpPr>
          <p:cNvPr id="8" name="Footer Placeholder 7">
            <a:extLst>
              <a:ext uri="{FF2B5EF4-FFF2-40B4-BE49-F238E27FC236}">
                <a16:creationId xmlns:a16="http://schemas.microsoft.com/office/drawing/2014/main" id="{91B61A04-2021-047C-B370-D0B428F9B28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1AC7FB-EE3D-80A6-4C1A-80E359A3FC8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4229382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43EC8-462D-17BF-D668-48071F09B2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1285AC-0A2F-4AE5-D1B6-5C319BFFE485}"/>
              </a:ext>
            </a:extLst>
          </p:cNvPr>
          <p:cNvSpPr>
            <a:spLocks noGrp="1"/>
          </p:cNvSpPr>
          <p:nvPr>
            <p:ph type="dt" sz="half" idx="10"/>
          </p:nvPr>
        </p:nvSpPr>
        <p:spPr/>
        <p:txBody>
          <a:bodyPr/>
          <a:lstStyle/>
          <a:p>
            <a:fld id="{0DB78E95-DE77-44D3-BDB9-E242948FB112}" type="datetimeFigureOut">
              <a:rPr lang="en-US" smtClean="0"/>
              <a:t>3/5/2025</a:t>
            </a:fld>
            <a:endParaRPr lang="en-US"/>
          </a:p>
        </p:txBody>
      </p:sp>
      <p:sp>
        <p:nvSpPr>
          <p:cNvPr id="4" name="Footer Placeholder 3">
            <a:extLst>
              <a:ext uri="{FF2B5EF4-FFF2-40B4-BE49-F238E27FC236}">
                <a16:creationId xmlns:a16="http://schemas.microsoft.com/office/drawing/2014/main" id="{B81CD249-9162-ABF9-19A3-977BDD9DA2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E01C95-124F-0B3B-A8D9-B9C970F197B5}"/>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3712662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829541-D653-384C-D771-DD8F69A080C6}"/>
              </a:ext>
            </a:extLst>
          </p:cNvPr>
          <p:cNvSpPr>
            <a:spLocks noGrp="1"/>
          </p:cNvSpPr>
          <p:nvPr>
            <p:ph type="dt" sz="half" idx="10"/>
          </p:nvPr>
        </p:nvSpPr>
        <p:spPr/>
        <p:txBody>
          <a:bodyPr/>
          <a:lstStyle/>
          <a:p>
            <a:fld id="{0DB78E95-DE77-44D3-BDB9-E242948FB112}" type="datetimeFigureOut">
              <a:rPr lang="en-US" smtClean="0"/>
              <a:t>3/5/2025</a:t>
            </a:fld>
            <a:endParaRPr lang="en-US"/>
          </a:p>
        </p:txBody>
      </p:sp>
      <p:sp>
        <p:nvSpPr>
          <p:cNvPr id="3" name="Footer Placeholder 2">
            <a:extLst>
              <a:ext uri="{FF2B5EF4-FFF2-40B4-BE49-F238E27FC236}">
                <a16:creationId xmlns:a16="http://schemas.microsoft.com/office/drawing/2014/main" id="{1EC33C97-264B-3724-11ED-5BB6B8F25B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EE226B-01EA-120B-3387-6F48FDAFBC2E}"/>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188980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29331-9622-1254-250C-1A826F8675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2A61744-6E94-694D-5ACD-A392EBB2B1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72829D-7E3F-4729-5630-2FC6FC3388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A95737-F397-134D-F032-CB1CF8533C32}"/>
              </a:ext>
            </a:extLst>
          </p:cNvPr>
          <p:cNvSpPr>
            <a:spLocks noGrp="1"/>
          </p:cNvSpPr>
          <p:nvPr>
            <p:ph type="dt" sz="half" idx="10"/>
          </p:nvPr>
        </p:nvSpPr>
        <p:spPr/>
        <p:txBody>
          <a:bodyPr/>
          <a:lstStyle/>
          <a:p>
            <a:fld id="{0DB78E95-DE77-44D3-BDB9-E242948FB112}" type="datetimeFigureOut">
              <a:rPr lang="en-US" smtClean="0"/>
              <a:t>3/5/2025</a:t>
            </a:fld>
            <a:endParaRPr lang="en-US"/>
          </a:p>
        </p:txBody>
      </p:sp>
      <p:sp>
        <p:nvSpPr>
          <p:cNvPr id="6" name="Footer Placeholder 5">
            <a:extLst>
              <a:ext uri="{FF2B5EF4-FFF2-40B4-BE49-F238E27FC236}">
                <a16:creationId xmlns:a16="http://schemas.microsoft.com/office/drawing/2014/main" id="{A9454794-C979-4A92-C271-06A8ACAB14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3CABCC-6A8A-037D-30F0-16F152A1C790}"/>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6092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35548-3058-3FF3-095A-5746EA91DD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594BFE-AD4C-39A4-E6D7-3D67D9AF06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C17F4F-1D08-F5A7-0483-99EBD45B35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2418C9-6621-9F77-5D27-62F1D1DA50F1}"/>
              </a:ext>
            </a:extLst>
          </p:cNvPr>
          <p:cNvSpPr>
            <a:spLocks noGrp="1"/>
          </p:cNvSpPr>
          <p:nvPr>
            <p:ph type="dt" sz="half" idx="10"/>
          </p:nvPr>
        </p:nvSpPr>
        <p:spPr/>
        <p:txBody>
          <a:bodyPr/>
          <a:lstStyle/>
          <a:p>
            <a:fld id="{0DB78E95-DE77-44D3-BDB9-E242948FB112}" type="datetimeFigureOut">
              <a:rPr lang="en-US" smtClean="0"/>
              <a:t>3/5/2025</a:t>
            </a:fld>
            <a:endParaRPr lang="en-US"/>
          </a:p>
        </p:txBody>
      </p:sp>
      <p:sp>
        <p:nvSpPr>
          <p:cNvPr id="6" name="Footer Placeholder 5">
            <a:extLst>
              <a:ext uri="{FF2B5EF4-FFF2-40B4-BE49-F238E27FC236}">
                <a16:creationId xmlns:a16="http://schemas.microsoft.com/office/drawing/2014/main" id="{DB3E588C-5B83-3F14-34CB-FBF668EE84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9B9B1A-60F9-9274-969E-5776570FAE9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2599060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89562-02BA-F69E-C391-546A16C2F4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AC2F76-E2E8-15A6-A3C8-6CB5142D8A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76A671-E219-71C5-2625-4964456C4EE9}"/>
              </a:ext>
            </a:extLst>
          </p:cNvPr>
          <p:cNvSpPr>
            <a:spLocks noGrp="1"/>
          </p:cNvSpPr>
          <p:nvPr>
            <p:ph type="dt" sz="half" idx="10"/>
          </p:nvPr>
        </p:nvSpPr>
        <p:spPr/>
        <p:txBody>
          <a:bodyPr/>
          <a:lstStyle/>
          <a:p>
            <a:fld id="{0DB78E95-DE77-44D3-BDB9-E242948FB112}" type="datetimeFigureOut">
              <a:rPr lang="en-US" smtClean="0"/>
              <a:t>3/5/2025</a:t>
            </a:fld>
            <a:endParaRPr lang="en-US"/>
          </a:p>
        </p:txBody>
      </p:sp>
      <p:sp>
        <p:nvSpPr>
          <p:cNvPr id="5" name="Footer Placeholder 4">
            <a:extLst>
              <a:ext uri="{FF2B5EF4-FFF2-40B4-BE49-F238E27FC236}">
                <a16:creationId xmlns:a16="http://schemas.microsoft.com/office/drawing/2014/main" id="{3958E91A-8EA7-3C4C-E581-D2E7DE8014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2236E2-4C17-03F4-B4DC-034FD967F570}"/>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609014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7CBBF0-FFDE-1DC2-A2E8-4E454811897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26B3BF-C276-8333-A7E7-B8D443C6A9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9EB368-D24B-9EA8-8A8F-0AB2C5F185F0}"/>
              </a:ext>
            </a:extLst>
          </p:cNvPr>
          <p:cNvSpPr>
            <a:spLocks noGrp="1"/>
          </p:cNvSpPr>
          <p:nvPr>
            <p:ph type="dt" sz="half" idx="10"/>
          </p:nvPr>
        </p:nvSpPr>
        <p:spPr/>
        <p:txBody>
          <a:bodyPr/>
          <a:lstStyle/>
          <a:p>
            <a:fld id="{0DB78E95-DE77-44D3-BDB9-E242948FB112}" type="datetimeFigureOut">
              <a:rPr lang="en-US" smtClean="0"/>
              <a:t>3/5/2025</a:t>
            </a:fld>
            <a:endParaRPr lang="en-US"/>
          </a:p>
        </p:txBody>
      </p:sp>
      <p:sp>
        <p:nvSpPr>
          <p:cNvPr id="5" name="Footer Placeholder 4">
            <a:extLst>
              <a:ext uri="{FF2B5EF4-FFF2-40B4-BE49-F238E27FC236}">
                <a16:creationId xmlns:a16="http://schemas.microsoft.com/office/drawing/2014/main" id="{62BD0D11-FA10-A88B-DAAF-BDC5D659D7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9B60E9-3F05-AAE4-101F-3125133F2099}"/>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2782803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2762C5-8E42-00DD-5440-4A44E725ED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4D4F47-A5A1-F247-D7EC-43901BD919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71E946-8B54-76FA-E3B0-E48F8BEE74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B78E95-DE77-44D3-BDB9-E242948FB112}" type="datetimeFigureOut">
              <a:rPr lang="en-US" smtClean="0"/>
              <a:t>3/5/2025</a:t>
            </a:fld>
            <a:endParaRPr lang="en-US"/>
          </a:p>
        </p:txBody>
      </p:sp>
      <p:sp>
        <p:nvSpPr>
          <p:cNvPr id="5" name="Footer Placeholder 4">
            <a:extLst>
              <a:ext uri="{FF2B5EF4-FFF2-40B4-BE49-F238E27FC236}">
                <a16:creationId xmlns:a16="http://schemas.microsoft.com/office/drawing/2014/main" id="{7FE851E2-F7B0-D02A-22FA-EC3877EEE5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B2B3EB4-6884-55A1-71B3-B7A4121171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C594C39A-D09F-3FB5-FC83-3461D4B26A9C}"/>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9" name="Picture 8">
            <a:extLst>
              <a:ext uri="{FF2B5EF4-FFF2-40B4-BE49-F238E27FC236}">
                <a16:creationId xmlns:a16="http://schemas.microsoft.com/office/drawing/2014/main" id="{8541B7E3-0100-0D6B-212C-A14E821244AF}"/>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pic>
        <p:nvPicPr>
          <p:cNvPr id="13" name="Picture 12">
            <a:extLst>
              <a:ext uri="{FF2B5EF4-FFF2-40B4-BE49-F238E27FC236}">
                <a16:creationId xmlns:a16="http://schemas.microsoft.com/office/drawing/2014/main" id="{60C727CE-6255-82CB-CFCB-7738B389789F}"/>
              </a:ext>
            </a:extLst>
          </p:cNvPr>
          <p:cNvPicPr>
            <a:picLocks noChangeAspect="1"/>
          </p:cNvPicPr>
          <p:nvPr userDrawn="1"/>
        </p:nvPicPr>
        <p:blipFill>
          <a:blip r:embed="rId15"/>
          <a:stretch>
            <a:fillRect/>
          </a:stretch>
        </p:blipFill>
        <p:spPr>
          <a:xfrm>
            <a:off x="0" y="92622"/>
            <a:ext cx="2123320" cy="447651"/>
          </a:xfrm>
          <a:prstGeom prst="rect">
            <a:avLst/>
          </a:prstGeom>
        </p:spPr>
      </p:pic>
    </p:spTree>
    <p:extLst>
      <p:ext uri="{BB962C8B-B14F-4D97-AF65-F5344CB8AC3E}">
        <p14:creationId xmlns:p14="http://schemas.microsoft.com/office/powerpoint/2010/main" val="7428114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07CF054-390C-DCFC-C9A6-9E95C859A175}"/>
              </a:ext>
            </a:extLst>
          </p:cNvPr>
          <p:cNvSpPr>
            <a:spLocks noGrp="1"/>
          </p:cNvSpPr>
          <p:nvPr>
            <p:ph type="ctrTitle"/>
          </p:nvPr>
        </p:nvSpPr>
        <p:spPr>
          <a:xfrm>
            <a:off x="1524000" y="3993099"/>
            <a:ext cx="9144000" cy="1124910"/>
          </a:xfrm>
        </p:spPr>
        <p:txBody>
          <a:bodyPr>
            <a:noAutofit/>
          </a:bodyPr>
          <a:lstStyle/>
          <a:p>
            <a:r>
              <a:rPr lang="en-US" sz="2800" dirty="0"/>
              <a:t>307401</a:t>
            </a:r>
            <a:br>
              <a:rPr lang="en-US" sz="2800" dirty="0"/>
            </a:br>
            <a:r>
              <a:rPr lang="en-US" sz="2800" dirty="0"/>
              <a:t>Big Data and Data Warehouses</a:t>
            </a:r>
          </a:p>
        </p:txBody>
      </p:sp>
      <p:sp>
        <p:nvSpPr>
          <p:cNvPr id="9" name="Subtitle 8">
            <a:extLst>
              <a:ext uri="{FF2B5EF4-FFF2-40B4-BE49-F238E27FC236}">
                <a16:creationId xmlns:a16="http://schemas.microsoft.com/office/drawing/2014/main" id="{F599965F-D781-62F6-30A4-33D89AC89080}"/>
              </a:ext>
            </a:extLst>
          </p:cNvPr>
          <p:cNvSpPr>
            <a:spLocks noGrp="1"/>
          </p:cNvSpPr>
          <p:nvPr>
            <p:ph type="subTitle" idx="1"/>
          </p:nvPr>
        </p:nvSpPr>
        <p:spPr>
          <a:xfrm>
            <a:off x="1524000" y="5644282"/>
            <a:ext cx="9144000" cy="612146"/>
          </a:xfrm>
        </p:spPr>
        <p:txBody>
          <a:bodyPr/>
          <a:lstStyle/>
          <a:p>
            <a:r>
              <a:rPr lang="en-US" dirty="0"/>
              <a:t>Introduction to Big Data</a:t>
            </a:r>
          </a:p>
        </p:txBody>
      </p:sp>
      <p:pic>
        <p:nvPicPr>
          <p:cNvPr id="8200" name="Picture 8" descr="Big Data">
            <a:extLst>
              <a:ext uri="{FF2B5EF4-FFF2-40B4-BE49-F238E27FC236}">
                <a16:creationId xmlns:a16="http://schemas.microsoft.com/office/drawing/2014/main" id="{0B715F17-2500-5A8C-2E8B-1C0C28DA5B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6111" y="1284418"/>
            <a:ext cx="3579778" cy="22443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9447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83827-6166-EE32-3A01-25CC38964E33}"/>
              </a:ext>
            </a:extLst>
          </p:cNvPr>
          <p:cNvSpPr>
            <a:spLocks noGrp="1"/>
          </p:cNvSpPr>
          <p:nvPr>
            <p:ph type="title"/>
          </p:nvPr>
        </p:nvSpPr>
        <p:spPr/>
        <p:txBody>
          <a:bodyPr/>
          <a:lstStyle/>
          <a:p>
            <a:r>
              <a:rPr lang="en-US" dirty="0"/>
              <a:t>What is Big Data?</a:t>
            </a:r>
          </a:p>
        </p:txBody>
      </p:sp>
      <p:sp>
        <p:nvSpPr>
          <p:cNvPr id="3" name="Content Placeholder 2">
            <a:extLst>
              <a:ext uri="{FF2B5EF4-FFF2-40B4-BE49-F238E27FC236}">
                <a16:creationId xmlns:a16="http://schemas.microsoft.com/office/drawing/2014/main" id="{1DD5D26F-BE2B-B34F-8DA1-55240D9B673E}"/>
              </a:ext>
            </a:extLst>
          </p:cNvPr>
          <p:cNvSpPr>
            <a:spLocks noGrp="1"/>
          </p:cNvSpPr>
          <p:nvPr>
            <p:ph idx="1"/>
          </p:nvPr>
        </p:nvSpPr>
        <p:spPr>
          <a:xfrm>
            <a:off x="838200" y="1706007"/>
            <a:ext cx="6019800" cy="4991039"/>
          </a:xfrm>
        </p:spPr>
        <p:txBody>
          <a:bodyPr/>
          <a:lstStyle/>
          <a:p>
            <a:r>
              <a:rPr lang="en-US" dirty="0"/>
              <a:t>Big Data refers to datasets that are </a:t>
            </a:r>
            <a:r>
              <a:rPr lang="en-US" dirty="0">
                <a:solidFill>
                  <a:srgbClr val="FF0000"/>
                </a:solidFill>
              </a:rPr>
              <a:t>so large, diverse, and fast-changing</a:t>
            </a:r>
            <a:r>
              <a:rPr lang="en-US" dirty="0"/>
              <a:t> that they </a:t>
            </a:r>
            <a:r>
              <a:rPr lang="en-US" dirty="0">
                <a:solidFill>
                  <a:srgbClr val="FF0000"/>
                </a:solidFill>
              </a:rPr>
              <a:t>exceed</a:t>
            </a:r>
            <a:r>
              <a:rPr lang="en-US" dirty="0"/>
              <a:t> the </a:t>
            </a:r>
            <a:r>
              <a:rPr lang="en-US" dirty="0">
                <a:solidFill>
                  <a:srgbClr val="FF0000"/>
                </a:solidFill>
              </a:rPr>
              <a:t>capabilities</a:t>
            </a:r>
            <a:r>
              <a:rPr lang="en-US" dirty="0"/>
              <a:t> of traditional data processing technologies and methods. </a:t>
            </a:r>
          </a:p>
          <a:p>
            <a:r>
              <a:rPr lang="en-US" dirty="0"/>
              <a:t>These datasets </a:t>
            </a:r>
            <a:r>
              <a:rPr lang="en-US" dirty="0">
                <a:solidFill>
                  <a:srgbClr val="FF0000"/>
                </a:solidFill>
              </a:rPr>
              <a:t>require advanced tools </a:t>
            </a:r>
            <a:r>
              <a:rPr lang="en-US" dirty="0"/>
              <a:t>and techniques to capture, store, manage, and analyze effectively.</a:t>
            </a:r>
          </a:p>
        </p:txBody>
      </p:sp>
      <p:pic>
        <p:nvPicPr>
          <p:cNvPr id="1026" name="Picture 2" descr="The era of big data - Bannari Amman Institute of Technology">
            <a:extLst>
              <a:ext uri="{FF2B5EF4-FFF2-40B4-BE49-F238E27FC236}">
                <a16:creationId xmlns:a16="http://schemas.microsoft.com/office/drawing/2014/main" id="{47437C1F-117B-9D06-E23A-916F851DD8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1436" y="1706007"/>
            <a:ext cx="4397188" cy="4397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2783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E49D5-8E35-6831-4F8D-386310D0140A}"/>
              </a:ext>
            </a:extLst>
          </p:cNvPr>
          <p:cNvSpPr>
            <a:spLocks noGrp="1"/>
          </p:cNvSpPr>
          <p:nvPr>
            <p:ph type="title"/>
          </p:nvPr>
        </p:nvSpPr>
        <p:spPr/>
        <p:txBody>
          <a:bodyPr/>
          <a:lstStyle/>
          <a:p>
            <a:r>
              <a:rPr lang="en-US" dirty="0"/>
              <a:t>Motivations for Big Data</a:t>
            </a:r>
          </a:p>
        </p:txBody>
      </p:sp>
      <p:sp>
        <p:nvSpPr>
          <p:cNvPr id="7" name="Content Placeholder 6">
            <a:extLst>
              <a:ext uri="{FF2B5EF4-FFF2-40B4-BE49-F238E27FC236}">
                <a16:creationId xmlns:a16="http://schemas.microsoft.com/office/drawing/2014/main" id="{1139B857-9088-9EA6-44CA-41039ECCCF90}"/>
              </a:ext>
            </a:extLst>
          </p:cNvPr>
          <p:cNvSpPr>
            <a:spLocks noGrp="1"/>
          </p:cNvSpPr>
          <p:nvPr>
            <p:ph idx="1"/>
          </p:nvPr>
        </p:nvSpPr>
        <p:spPr/>
        <p:txBody>
          <a:bodyPr>
            <a:normAutofit/>
          </a:bodyPr>
          <a:lstStyle/>
          <a:p>
            <a:pPr marL="285750" indent="-285750">
              <a:buFont typeface="Arial" panose="020B0604020202020204" pitchFamily="34" charset="0"/>
              <a:buChar char="•"/>
            </a:pPr>
            <a:r>
              <a:rPr lang="en-US" b="1" dirty="0"/>
              <a:t>Global Connectivity:</a:t>
            </a:r>
            <a:endParaRPr lang="en-US" dirty="0"/>
          </a:p>
          <a:p>
            <a:pPr marL="742950" lvl="1" indent="-285750">
              <a:buFont typeface="Arial" panose="020B0604020202020204" pitchFamily="34" charset="0"/>
              <a:buChar char="•"/>
            </a:pPr>
            <a:r>
              <a:rPr lang="en-US" dirty="0"/>
              <a:t>Internet penetration, Mobile device usage</a:t>
            </a:r>
          </a:p>
          <a:p>
            <a:pPr marL="285750" indent="-285750">
              <a:buFont typeface="Arial" panose="020B0604020202020204" pitchFamily="34" charset="0"/>
              <a:buChar char="•"/>
            </a:pPr>
            <a:r>
              <a:rPr lang="en-US" sz="1800" b="1" dirty="0"/>
              <a:t>Technological Advancements:</a:t>
            </a:r>
            <a:endParaRPr lang="en-US" sz="1800" dirty="0"/>
          </a:p>
          <a:p>
            <a:pPr marL="742950" lvl="1" indent="-285750">
              <a:buFont typeface="Arial" panose="020B0604020202020204" pitchFamily="34" charset="0"/>
              <a:buChar char="•"/>
            </a:pPr>
            <a:r>
              <a:rPr lang="en-US" sz="1800" dirty="0"/>
              <a:t>Increased computing power, Improved storage solutions</a:t>
            </a:r>
          </a:p>
          <a:p>
            <a:pPr marL="285750" indent="-285750">
              <a:buFont typeface="Arial" panose="020B0604020202020204" pitchFamily="34" charset="0"/>
              <a:buChar char="•"/>
            </a:pPr>
            <a:r>
              <a:rPr lang="en-US" sz="1800" b="1" dirty="0"/>
              <a:t>Data Generation Sources:</a:t>
            </a:r>
            <a:endParaRPr lang="en-US" sz="1800" dirty="0"/>
          </a:p>
          <a:p>
            <a:pPr marL="742950" lvl="1" indent="-285750">
              <a:buFont typeface="Arial" panose="020B0604020202020204" pitchFamily="34" charset="0"/>
              <a:buChar char="•"/>
            </a:pPr>
            <a:r>
              <a:rPr lang="en-US" sz="1800" dirty="0"/>
              <a:t>Proliferation of IoT devices, Social media explosion</a:t>
            </a:r>
          </a:p>
          <a:p>
            <a:pPr marL="285750" indent="-285750">
              <a:buFont typeface="Arial" panose="020B0604020202020204" pitchFamily="34" charset="0"/>
              <a:buChar char="•"/>
            </a:pPr>
            <a:r>
              <a:rPr lang="en-US" sz="1800" b="1" dirty="0"/>
              <a:t>Economic and Business Needs:</a:t>
            </a:r>
            <a:endParaRPr lang="en-US" sz="1800" dirty="0"/>
          </a:p>
          <a:p>
            <a:pPr marL="742950" lvl="1" indent="-285750">
              <a:buFont typeface="Arial" panose="020B0604020202020204" pitchFamily="34" charset="0"/>
              <a:buChar char="•"/>
            </a:pPr>
            <a:r>
              <a:rPr lang="en-US" sz="1800" dirty="0"/>
              <a:t>Enhanced decision-making, Personalized marketing</a:t>
            </a:r>
          </a:p>
          <a:p>
            <a:pPr marL="285750" indent="-285750">
              <a:buFont typeface="Arial" panose="020B0604020202020204" pitchFamily="34" charset="0"/>
              <a:buChar char="•"/>
            </a:pPr>
            <a:r>
              <a:rPr lang="en-US" sz="1800" b="1" dirty="0"/>
              <a:t>Scientific and Research Advancements:</a:t>
            </a:r>
            <a:endParaRPr lang="en-US" sz="1800" dirty="0"/>
          </a:p>
          <a:p>
            <a:pPr marL="742950" lvl="1" indent="-285750">
              <a:buFont typeface="Arial" panose="020B0604020202020204" pitchFamily="34" charset="0"/>
              <a:buChar char="•"/>
            </a:pPr>
            <a:r>
              <a:rPr lang="en-US" sz="1800" dirty="0"/>
              <a:t>Genome sequencing, Astronomical data</a:t>
            </a:r>
          </a:p>
          <a:p>
            <a:pPr marL="285750" indent="-285750">
              <a:buFont typeface="Arial" panose="020B0604020202020204" pitchFamily="34" charset="0"/>
              <a:buChar char="•"/>
            </a:pPr>
            <a:r>
              <a:rPr lang="en-US" b="1" dirty="0"/>
              <a:t>Regulatory and Compliance Requirements:</a:t>
            </a:r>
            <a:endParaRPr lang="en-US" dirty="0"/>
          </a:p>
          <a:p>
            <a:pPr marL="742950" lvl="1" indent="-285750">
              <a:buFont typeface="Arial" panose="020B0604020202020204" pitchFamily="34" charset="0"/>
              <a:buChar char="•"/>
            </a:pPr>
            <a:r>
              <a:rPr lang="en-US" dirty="0"/>
              <a:t>Data retention policies, Transparency and accountability</a:t>
            </a:r>
          </a:p>
          <a:p>
            <a:pPr marL="285750" indent="-285750">
              <a:buFont typeface="Arial" panose="020B0604020202020204" pitchFamily="34" charset="0"/>
              <a:buChar char="•"/>
            </a:pPr>
            <a:r>
              <a:rPr lang="en-US" b="1" dirty="0"/>
              <a:t>User Expectations:</a:t>
            </a:r>
            <a:endParaRPr lang="en-US" dirty="0"/>
          </a:p>
          <a:p>
            <a:pPr marL="742950" lvl="1" indent="-285750">
              <a:buFont typeface="Arial" panose="020B0604020202020204" pitchFamily="34" charset="0"/>
              <a:buChar char="•"/>
            </a:pPr>
            <a:r>
              <a:rPr lang="en-US" dirty="0"/>
              <a:t>On-demand services, Enhanced user experience</a:t>
            </a:r>
          </a:p>
        </p:txBody>
      </p:sp>
    </p:spTree>
    <p:extLst>
      <p:ext uri="{BB962C8B-B14F-4D97-AF65-F5344CB8AC3E}">
        <p14:creationId xmlns:p14="http://schemas.microsoft.com/office/powerpoint/2010/main" val="464321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557FA-8F67-3D81-A80B-D1DE44018A8A}"/>
              </a:ext>
            </a:extLst>
          </p:cNvPr>
          <p:cNvSpPr>
            <a:spLocks noGrp="1"/>
          </p:cNvSpPr>
          <p:nvPr>
            <p:ph type="title"/>
          </p:nvPr>
        </p:nvSpPr>
        <p:spPr/>
        <p:txBody>
          <a:bodyPr/>
          <a:lstStyle/>
          <a:p>
            <a:r>
              <a:rPr lang="en-US" dirty="0"/>
              <a:t>Historical Evolution</a:t>
            </a:r>
          </a:p>
        </p:txBody>
      </p:sp>
      <p:sp>
        <p:nvSpPr>
          <p:cNvPr id="6" name="Rectangle 3">
            <a:extLst>
              <a:ext uri="{FF2B5EF4-FFF2-40B4-BE49-F238E27FC236}">
                <a16:creationId xmlns:a16="http://schemas.microsoft.com/office/drawing/2014/main" id="{6A1181F6-3E6C-3D98-1B37-73B25DC9F4A9}"/>
              </a:ext>
            </a:extLst>
          </p:cNvPr>
          <p:cNvSpPr>
            <a:spLocks noGrp="1" noChangeArrowheads="1"/>
          </p:cNvSpPr>
          <p:nvPr>
            <p:ph idx="1"/>
          </p:nvPr>
        </p:nvSpPr>
        <p:spPr bwMode="auto">
          <a:xfrm>
            <a:off x="838200" y="1748339"/>
            <a:ext cx="11858759" cy="3884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2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Pre-1970s</a:t>
            </a:r>
            <a:r>
              <a:rPr kumimoji="0" lang="en-US" altLang="en-US" sz="1800" b="0" i="0" u="none" strike="noStrike" cap="none" normalizeH="0" baseline="0" dirty="0">
                <a:ln>
                  <a:noFill/>
                </a:ln>
                <a:solidFill>
                  <a:schemeClr val="tx1"/>
                </a:solidFill>
                <a:effectLst/>
                <a:latin typeface="Arial" panose="020B0604020202020204" pitchFamily="34" charset="0"/>
              </a:rPr>
              <a:t>: Mainframe computers, batch processing, expensive storage, and limited analysis.</a:t>
            </a:r>
          </a:p>
          <a:p>
            <a:pPr eaLnBrk="0" fontAlgn="base" hangingPunct="0">
              <a:lnSpc>
                <a:spcPct val="2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1970s</a:t>
            </a:r>
            <a:r>
              <a:rPr kumimoji="0" lang="en-US" altLang="en-US" sz="1800" b="0" i="0" u="none" strike="noStrike" cap="none" normalizeH="0" baseline="0" dirty="0">
                <a:ln>
                  <a:noFill/>
                </a:ln>
                <a:solidFill>
                  <a:schemeClr val="tx1"/>
                </a:solidFill>
                <a:effectLst/>
                <a:latin typeface="Arial" panose="020B0604020202020204" pitchFamily="34" charset="0"/>
              </a:rPr>
              <a:t>: Introduction of RDBMS and SQL, revolutionizing structured data management.</a:t>
            </a:r>
          </a:p>
          <a:p>
            <a:pPr eaLnBrk="0" fontAlgn="base" hangingPunct="0">
              <a:lnSpc>
                <a:spcPct val="2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1980s</a:t>
            </a:r>
            <a:r>
              <a:rPr kumimoji="0" lang="en-US" altLang="en-US" sz="1800" b="0" i="0" u="none" strike="noStrike" cap="none" normalizeH="0" baseline="0" dirty="0">
                <a:ln>
                  <a:noFill/>
                </a:ln>
                <a:solidFill>
                  <a:schemeClr val="tx1"/>
                </a:solidFill>
                <a:effectLst/>
                <a:latin typeface="Arial" panose="020B0604020202020204" pitchFamily="34" charset="0"/>
              </a:rPr>
              <a:t>: Birth of data warehousing, concept of ETL, integration of data from multiple sources.</a:t>
            </a:r>
          </a:p>
          <a:p>
            <a:pPr eaLnBrk="0" fontAlgn="base" hangingPunct="0">
              <a:lnSpc>
                <a:spcPct val="2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1990s</a:t>
            </a:r>
            <a:r>
              <a:rPr kumimoji="0" lang="en-US" altLang="en-US" sz="1800" b="0" i="0" u="none" strike="noStrike" cap="none" normalizeH="0" baseline="0" dirty="0">
                <a:ln>
                  <a:noFill/>
                </a:ln>
                <a:solidFill>
                  <a:schemeClr val="tx1"/>
                </a:solidFill>
                <a:effectLst/>
                <a:latin typeface="Arial" panose="020B0604020202020204" pitchFamily="34" charset="0"/>
              </a:rPr>
              <a:t>: Growth of OLAP, data warehouse appliances, enhanced data analysis capabilities.</a:t>
            </a:r>
          </a:p>
          <a:p>
            <a:pPr eaLnBrk="0" fontAlgn="base" hangingPunct="0">
              <a:lnSpc>
                <a:spcPct val="2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2000s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rgbClr val="FF0000"/>
                </a:solidFill>
                <a:effectLst/>
                <a:latin typeface="Arial" panose="020B0604020202020204" pitchFamily="34" charset="0"/>
              </a:rPr>
              <a:t>Emergence of Big Data</a:t>
            </a:r>
            <a:r>
              <a:rPr kumimoji="0" lang="en-US" altLang="en-US" sz="1800" b="0" i="0" u="none" strike="noStrike" cap="none" normalizeH="0" baseline="0" dirty="0">
                <a:ln>
                  <a:noFill/>
                </a:ln>
                <a:solidFill>
                  <a:schemeClr val="tx1"/>
                </a:solidFill>
                <a:effectLst/>
                <a:latin typeface="Arial" panose="020B0604020202020204" pitchFamily="34" charset="0"/>
              </a:rPr>
              <a:t>, limitations of traditional systems, introduction of Hadoop and NoSQL databases.</a:t>
            </a:r>
          </a:p>
          <a:p>
            <a:pPr eaLnBrk="0" fontAlgn="base" hangingPunct="0">
              <a:lnSpc>
                <a:spcPct val="2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2010s</a:t>
            </a:r>
            <a:r>
              <a:rPr kumimoji="0" lang="en-US" altLang="en-US" sz="1800" b="0" i="0" u="none" strike="noStrike" cap="none" normalizeH="0" baseline="0" dirty="0">
                <a:ln>
                  <a:noFill/>
                </a:ln>
                <a:solidFill>
                  <a:schemeClr val="tx1"/>
                </a:solidFill>
                <a:effectLst/>
                <a:latin typeface="Arial" panose="020B0604020202020204" pitchFamily="34" charset="0"/>
              </a:rPr>
              <a:t>: Development of Spark, real-time data processing technologies, cloud computing.</a:t>
            </a:r>
          </a:p>
          <a:p>
            <a:pPr eaLnBrk="0" fontAlgn="base" hangingPunct="0">
              <a:lnSpc>
                <a:spcPct val="2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2020s</a:t>
            </a:r>
            <a:r>
              <a:rPr kumimoji="0" lang="en-US" altLang="en-US" sz="1800" b="0" i="0" u="none" strike="noStrike" cap="none" normalizeH="0" baseline="0" dirty="0">
                <a:ln>
                  <a:noFill/>
                </a:ln>
                <a:solidFill>
                  <a:schemeClr val="tx1"/>
                </a:solidFill>
                <a:effectLst/>
                <a:latin typeface="Arial" panose="020B0604020202020204" pitchFamily="34" charset="0"/>
              </a:rPr>
              <a:t>: Integration of AI and ML, rise of data lakes, edge computing, advanced analytics. </a:t>
            </a:r>
          </a:p>
        </p:txBody>
      </p:sp>
    </p:spTree>
    <p:extLst>
      <p:ext uri="{BB962C8B-B14F-4D97-AF65-F5344CB8AC3E}">
        <p14:creationId xmlns:p14="http://schemas.microsoft.com/office/powerpoint/2010/main" val="2862507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648CB-D79F-799C-843E-44F044CB73B7}"/>
              </a:ext>
            </a:extLst>
          </p:cNvPr>
          <p:cNvSpPr>
            <a:spLocks noGrp="1"/>
          </p:cNvSpPr>
          <p:nvPr>
            <p:ph type="title"/>
          </p:nvPr>
        </p:nvSpPr>
        <p:spPr/>
        <p:txBody>
          <a:bodyPr/>
          <a:lstStyle/>
          <a:p>
            <a:r>
              <a:rPr lang="en-US"/>
              <a:t>Challenges in Processing Big Data - </a:t>
            </a:r>
            <a:r>
              <a:rPr lang="en-US" dirty="0"/>
              <a:t>The 5 Vs of Big Data</a:t>
            </a:r>
          </a:p>
        </p:txBody>
      </p:sp>
      <p:sp>
        <p:nvSpPr>
          <p:cNvPr id="3" name="Content Placeholder 2">
            <a:extLst>
              <a:ext uri="{FF2B5EF4-FFF2-40B4-BE49-F238E27FC236}">
                <a16:creationId xmlns:a16="http://schemas.microsoft.com/office/drawing/2014/main" id="{207DF167-1A00-D01F-AB0D-C872A5F6FD63}"/>
              </a:ext>
            </a:extLst>
          </p:cNvPr>
          <p:cNvSpPr>
            <a:spLocks noGrp="1"/>
          </p:cNvSpPr>
          <p:nvPr>
            <p:ph idx="1"/>
          </p:nvPr>
        </p:nvSpPr>
        <p:spPr>
          <a:xfrm>
            <a:off x="838200" y="1706007"/>
            <a:ext cx="7332194" cy="4991039"/>
          </a:xfrm>
        </p:spPr>
        <p:txBody>
          <a:bodyPr>
            <a:normAutofit/>
          </a:bodyPr>
          <a:lstStyle/>
          <a:p>
            <a:pPr marL="457200" indent="-457200">
              <a:buFont typeface="+mj-lt"/>
              <a:buAutoNum type="arabicPeriod"/>
            </a:pPr>
            <a:r>
              <a:rPr lang="en-US" dirty="0">
                <a:solidFill>
                  <a:srgbClr val="FF0000"/>
                </a:solidFill>
              </a:rPr>
              <a:t>Volume</a:t>
            </a:r>
            <a:r>
              <a:rPr lang="en-US" dirty="0"/>
              <a:t>: The sheer size of data generated every second.</a:t>
            </a:r>
          </a:p>
          <a:p>
            <a:pPr marL="457200" indent="-457200">
              <a:buFont typeface="+mj-lt"/>
              <a:buAutoNum type="arabicPeriod"/>
            </a:pPr>
            <a:r>
              <a:rPr lang="en-US" dirty="0">
                <a:solidFill>
                  <a:srgbClr val="FF0000"/>
                </a:solidFill>
              </a:rPr>
              <a:t>Velocity</a:t>
            </a:r>
            <a:r>
              <a:rPr lang="en-US" dirty="0"/>
              <a:t>: The speed at which new data is generated and processed.</a:t>
            </a:r>
          </a:p>
          <a:p>
            <a:pPr marL="457200" indent="-457200">
              <a:buFont typeface="+mj-lt"/>
              <a:buAutoNum type="arabicPeriod"/>
            </a:pPr>
            <a:r>
              <a:rPr lang="en-US" dirty="0">
                <a:solidFill>
                  <a:srgbClr val="FF0000"/>
                </a:solidFill>
              </a:rPr>
              <a:t>Variety</a:t>
            </a:r>
            <a:r>
              <a:rPr lang="en-US" dirty="0"/>
              <a:t>: The different types of data.</a:t>
            </a:r>
          </a:p>
          <a:p>
            <a:pPr marL="457200" indent="-457200">
              <a:buFont typeface="+mj-lt"/>
              <a:buAutoNum type="arabicPeriod"/>
            </a:pPr>
            <a:r>
              <a:rPr lang="en-US" dirty="0">
                <a:solidFill>
                  <a:srgbClr val="FF0000"/>
                </a:solidFill>
              </a:rPr>
              <a:t>Veracity</a:t>
            </a:r>
            <a:r>
              <a:rPr lang="en-US" dirty="0"/>
              <a:t>: The accuracy and trustworthiness of the data.</a:t>
            </a:r>
          </a:p>
          <a:p>
            <a:pPr marL="457200" indent="-457200">
              <a:buFont typeface="+mj-lt"/>
              <a:buAutoNum type="arabicPeriod"/>
            </a:pPr>
            <a:r>
              <a:rPr lang="en-US" dirty="0">
                <a:solidFill>
                  <a:srgbClr val="FF0000"/>
                </a:solidFill>
              </a:rPr>
              <a:t>Value</a:t>
            </a:r>
            <a:r>
              <a:rPr lang="en-US" dirty="0"/>
              <a:t>: The potential insights and benefits that can be derived from data.</a:t>
            </a:r>
          </a:p>
        </p:txBody>
      </p:sp>
      <p:pic>
        <p:nvPicPr>
          <p:cNvPr id="3074" name="Picture 2" descr="The four main data characteristics of big data | Download ...">
            <a:extLst>
              <a:ext uri="{FF2B5EF4-FFF2-40B4-BE49-F238E27FC236}">
                <a16:creationId xmlns:a16="http://schemas.microsoft.com/office/drawing/2014/main" id="{FE9D37B7-ED4D-FA4F-19A3-F1D708A7ED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6301" y="1738870"/>
            <a:ext cx="3577499" cy="3380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2344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CE5A2-BA7C-0494-8A12-A098EC76D386}"/>
              </a:ext>
            </a:extLst>
          </p:cNvPr>
          <p:cNvSpPr>
            <a:spLocks noGrp="1"/>
          </p:cNvSpPr>
          <p:nvPr>
            <p:ph type="title"/>
          </p:nvPr>
        </p:nvSpPr>
        <p:spPr/>
        <p:txBody>
          <a:bodyPr/>
          <a:lstStyle/>
          <a:p>
            <a:r>
              <a:rPr lang="en-US" dirty="0"/>
              <a:t>Volume</a:t>
            </a:r>
          </a:p>
        </p:txBody>
      </p:sp>
      <p:sp>
        <p:nvSpPr>
          <p:cNvPr id="3" name="Content Placeholder 2">
            <a:extLst>
              <a:ext uri="{FF2B5EF4-FFF2-40B4-BE49-F238E27FC236}">
                <a16:creationId xmlns:a16="http://schemas.microsoft.com/office/drawing/2014/main" id="{79DC08C5-F59D-35D2-93FD-CD301F7F69E1}"/>
              </a:ext>
            </a:extLst>
          </p:cNvPr>
          <p:cNvSpPr>
            <a:spLocks noGrp="1"/>
          </p:cNvSpPr>
          <p:nvPr>
            <p:ph idx="1"/>
          </p:nvPr>
        </p:nvSpPr>
        <p:spPr>
          <a:xfrm>
            <a:off x="838200" y="1706008"/>
            <a:ext cx="6341151" cy="2417758"/>
          </a:xfrm>
        </p:spPr>
        <p:txBody>
          <a:bodyPr>
            <a:normAutofit/>
          </a:bodyPr>
          <a:lstStyle/>
          <a:p>
            <a:r>
              <a:rPr lang="en-US" dirty="0"/>
              <a:t>Volume refers to the amount of data generated and stored. This data is often measured in </a:t>
            </a:r>
            <a:r>
              <a:rPr lang="en-US" dirty="0">
                <a:solidFill>
                  <a:srgbClr val="FF0000"/>
                </a:solidFill>
              </a:rPr>
              <a:t>petabytes</a:t>
            </a:r>
            <a:r>
              <a:rPr lang="en-US" dirty="0"/>
              <a:t> or </a:t>
            </a:r>
            <a:r>
              <a:rPr lang="en-US" dirty="0">
                <a:solidFill>
                  <a:srgbClr val="FF0000"/>
                </a:solidFill>
              </a:rPr>
              <a:t>exabytes</a:t>
            </a:r>
            <a:r>
              <a:rPr lang="en-US" dirty="0"/>
              <a:t>.</a:t>
            </a:r>
          </a:p>
          <a:p>
            <a:r>
              <a:rPr lang="en-US" dirty="0"/>
              <a:t>Large data volumes requires </a:t>
            </a:r>
            <a:r>
              <a:rPr lang="en-US" dirty="0">
                <a:solidFill>
                  <a:srgbClr val="FF0000"/>
                </a:solidFill>
              </a:rPr>
              <a:t>scalable</a:t>
            </a:r>
            <a:r>
              <a:rPr lang="en-US" dirty="0"/>
              <a:t> storage solutions and distributed processing power to manage and analyze.</a:t>
            </a:r>
          </a:p>
          <a:p>
            <a:r>
              <a:rPr lang="en-US" dirty="0"/>
              <a:t>Every day, </a:t>
            </a:r>
            <a:r>
              <a:rPr lang="en-US" dirty="0">
                <a:solidFill>
                  <a:srgbClr val="FF0000"/>
                </a:solidFill>
              </a:rPr>
              <a:t>2.5 quintillion </a:t>
            </a:r>
            <a:r>
              <a:rPr lang="en-US" dirty="0"/>
              <a:t>bytes of data are created (IBM).</a:t>
            </a:r>
          </a:p>
          <a:p>
            <a:endParaRPr lang="en-US" dirty="0"/>
          </a:p>
        </p:txBody>
      </p:sp>
      <p:pic>
        <p:nvPicPr>
          <p:cNvPr id="9" name="Picture 8">
            <a:extLst>
              <a:ext uri="{FF2B5EF4-FFF2-40B4-BE49-F238E27FC236}">
                <a16:creationId xmlns:a16="http://schemas.microsoft.com/office/drawing/2014/main" id="{7B2F2984-FCF1-13F9-AA56-8FB5C699E7D2}"/>
              </a:ext>
            </a:extLst>
          </p:cNvPr>
          <p:cNvPicPr>
            <a:picLocks noChangeAspect="1"/>
          </p:cNvPicPr>
          <p:nvPr/>
        </p:nvPicPr>
        <p:blipFill>
          <a:blip r:embed="rId2"/>
          <a:stretch>
            <a:fillRect/>
          </a:stretch>
        </p:blipFill>
        <p:spPr>
          <a:xfrm>
            <a:off x="7080739" y="1706008"/>
            <a:ext cx="4174449" cy="2068134"/>
          </a:xfrm>
          <a:prstGeom prst="rect">
            <a:avLst/>
          </a:prstGeom>
        </p:spPr>
      </p:pic>
      <p:sp>
        <p:nvSpPr>
          <p:cNvPr id="11" name="TextBox 10">
            <a:extLst>
              <a:ext uri="{FF2B5EF4-FFF2-40B4-BE49-F238E27FC236}">
                <a16:creationId xmlns:a16="http://schemas.microsoft.com/office/drawing/2014/main" id="{31823B43-5EE5-7392-75E8-D2802E43B2F5}"/>
              </a:ext>
            </a:extLst>
          </p:cNvPr>
          <p:cNvSpPr txBox="1"/>
          <p:nvPr/>
        </p:nvSpPr>
        <p:spPr>
          <a:xfrm>
            <a:off x="838200" y="4033238"/>
            <a:ext cx="11204643" cy="1692771"/>
          </a:xfrm>
          <a:prstGeom prst="rect">
            <a:avLst/>
          </a:prstGeom>
          <a:noFill/>
        </p:spPr>
        <p:txBody>
          <a:bodyPr wrap="square">
            <a:spAutoFit/>
          </a:bodyPr>
          <a:lstStyle/>
          <a:p>
            <a:pPr marL="285750" indent="-285750">
              <a:buFont typeface="Arial" panose="020B0604020202020204" pitchFamily="34" charset="0"/>
              <a:buChar char="•"/>
            </a:pPr>
            <a:r>
              <a:rPr lang="en-US" sz="2000" b="1" dirty="0"/>
              <a:t>Examples</a:t>
            </a:r>
            <a:r>
              <a:rPr lang="en-US" sz="2000" dirty="0"/>
              <a:t>:</a:t>
            </a:r>
          </a:p>
          <a:p>
            <a:pPr marL="742950" lvl="1" indent="-285750">
              <a:buFont typeface="Arial" panose="020B0604020202020204" pitchFamily="34" charset="0"/>
              <a:buChar char="•"/>
            </a:pPr>
            <a:r>
              <a:rPr lang="en-US" sz="2000" dirty="0"/>
              <a:t>Social Media: Facebook generates 4 petabytes of data per day from user interactions.</a:t>
            </a:r>
          </a:p>
          <a:p>
            <a:pPr marL="742950" lvl="1" indent="-285750">
              <a:buFont typeface="Arial" panose="020B0604020202020204" pitchFamily="34" charset="0"/>
              <a:buChar char="•"/>
            </a:pPr>
            <a:r>
              <a:rPr lang="en-US" sz="2000" dirty="0"/>
              <a:t>E-commerce: Amazon handles millions of back-end operations daily, along with queries from more than half a billion customer accounts.</a:t>
            </a:r>
          </a:p>
          <a:p>
            <a:pPr marL="742950" lvl="1" indent="-285750">
              <a:buFont typeface="Arial" panose="020B0604020202020204" pitchFamily="34" charset="0"/>
              <a:buChar char="•"/>
            </a:pPr>
            <a:r>
              <a:rPr lang="en-US" sz="2000" dirty="0"/>
              <a:t>IoT Devices: Connected devices are expected to generate 79.4 zettabytes of data by 2025.</a:t>
            </a:r>
          </a:p>
        </p:txBody>
      </p:sp>
    </p:spTree>
    <p:extLst>
      <p:ext uri="{BB962C8B-B14F-4D97-AF65-F5344CB8AC3E}">
        <p14:creationId xmlns:p14="http://schemas.microsoft.com/office/powerpoint/2010/main" val="2574210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03719-7A4B-1B2A-00FC-196046DF14A3}"/>
              </a:ext>
            </a:extLst>
          </p:cNvPr>
          <p:cNvSpPr>
            <a:spLocks noGrp="1"/>
          </p:cNvSpPr>
          <p:nvPr>
            <p:ph type="title"/>
          </p:nvPr>
        </p:nvSpPr>
        <p:spPr/>
        <p:txBody>
          <a:bodyPr/>
          <a:lstStyle/>
          <a:p>
            <a:r>
              <a:rPr lang="en-US" dirty="0"/>
              <a:t>Velocity</a:t>
            </a:r>
          </a:p>
        </p:txBody>
      </p:sp>
      <p:sp>
        <p:nvSpPr>
          <p:cNvPr id="3" name="Content Placeholder 2">
            <a:extLst>
              <a:ext uri="{FF2B5EF4-FFF2-40B4-BE49-F238E27FC236}">
                <a16:creationId xmlns:a16="http://schemas.microsoft.com/office/drawing/2014/main" id="{5D6918F3-A1D4-E8EE-5A1D-EDEF85BA7083}"/>
              </a:ext>
            </a:extLst>
          </p:cNvPr>
          <p:cNvSpPr>
            <a:spLocks noGrp="1"/>
          </p:cNvSpPr>
          <p:nvPr>
            <p:ph idx="1"/>
          </p:nvPr>
        </p:nvSpPr>
        <p:spPr/>
        <p:txBody>
          <a:bodyPr/>
          <a:lstStyle/>
          <a:p>
            <a:pPr>
              <a:buFont typeface="Arial" panose="020B0604020202020204" pitchFamily="34" charset="0"/>
              <a:buChar char="•"/>
            </a:pPr>
            <a:r>
              <a:rPr lang="en-US" dirty="0"/>
              <a:t>Velocity refers to the </a:t>
            </a:r>
            <a:r>
              <a:rPr lang="en-US" dirty="0">
                <a:solidFill>
                  <a:srgbClr val="FF0000"/>
                </a:solidFill>
              </a:rPr>
              <a:t>speed</a:t>
            </a:r>
            <a:r>
              <a:rPr lang="en-US" dirty="0"/>
              <a:t> at which data is </a:t>
            </a:r>
            <a:r>
              <a:rPr lang="en-US" dirty="0">
                <a:solidFill>
                  <a:srgbClr val="FF0000"/>
                </a:solidFill>
              </a:rPr>
              <a:t>generated</a:t>
            </a:r>
            <a:r>
              <a:rPr lang="en-US" dirty="0"/>
              <a:t>, collected, and processed.</a:t>
            </a:r>
          </a:p>
          <a:p>
            <a:pPr>
              <a:buFont typeface="Arial" panose="020B0604020202020204" pitchFamily="34" charset="0"/>
              <a:buChar char="•"/>
            </a:pPr>
            <a:r>
              <a:rPr lang="en-US" dirty="0"/>
              <a:t>Velocity requires </a:t>
            </a:r>
            <a:r>
              <a:rPr lang="en-US" dirty="0">
                <a:solidFill>
                  <a:srgbClr val="FF0000"/>
                </a:solidFill>
              </a:rPr>
              <a:t>real-time</a:t>
            </a:r>
            <a:r>
              <a:rPr lang="en-US" dirty="0"/>
              <a:t> data </a:t>
            </a:r>
            <a:r>
              <a:rPr lang="en-US" dirty="0">
                <a:solidFill>
                  <a:srgbClr val="FF0000"/>
                </a:solidFill>
              </a:rPr>
              <a:t>processing</a:t>
            </a:r>
            <a:r>
              <a:rPr lang="en-US" dirty="0"/>
              <a:t> and analytics capabilities.</a:t>
            </a:r>
          </a:p>
          <a:p>
            <a:pPr>
              <a:buFont typeface="Arial" panose="020B0604020202020204" pitchFamily="34" charset="0"/>
              <a:buChar char="•"/>
            </a:pPr>
            <a:r>
              <a:rPr lang="en-US"/>
              <a:t>"</a:t>
            </a:r>
            <a:r>
              <a:rPr lang="en-US" dirty="0"/>
              <a:t>90% of the world’s data has been generated in the last two years" (SINTEF).</a:t>
            </a:r>
          </a:p>
          <a:p>
            <a:pPr>
              <a:buFont typeface="Arial" panose="020B0604020202020204" pitchFamily="34" charset="0"/>
              <a:buChar char="•"/>
            </a:pPr>
            <a:r>
              <a:rPr lang="en-US" b="1" dirty="0"/>
              <a:t>Examples</a:t>
            </a:r>
            <a:r>
              <a:rPr lang="en-US" dirty="0"/>
              <a:t>:</a:t>
            </a:r>
          </a:p>
          <a:p>
            <a:pPr marL="742950" lvl="1" indent="-285750">
              <a:buFont typeface="Arial" panose="020B0604020202020204" pitchFamily="34" charset="0"/>
              <a:buChar char="•"/>
            </a:pPr>
            <a:r>
              <a:rPr lang="en-US" dirty="0"/>
              <a:t>Financial Markets: Stock exchanges generate millions of transactions per second that need to be processed in real-time for trading decisions.</a:t>
            </a:r>
          </a:p>
          <a:p>
            <a:pPr marL="742950" lvl="1" indent="-285750">
              <a:buFont typeface="Arial" panose="020B0604020202020204" pitchFamily="34" charset="0"/>
              <a:buChar char="•"/>
            </a:pPr>
            <a:r>
              <a:rPr lang="en-US" dirty="0"/>
              <a:t>Online Advertising: Real-time bidding platforms process terabytes of data within milliseconds to serve targeted ads.</a:t>
            </a:r>
          </a:p>
          <a:p>
            <a:pPr marL="742950" lvl="1" indent="-285750">
              <a:buFont typeface="Arial" panose="020B0604020202020204" pitchFamily="34" charset="0"/>
              <a:buChar char="•"/>
            </a:pPr>
            <a:r>
              <a:rPr lang="en-US" dirty="0"/>
              <a:t>Sensors and IoT: Autonomous vehicles generate and process data in real-time to make driving decisions.</a:t>
            </a:r>
          </a:p>
        </p:txBody>
      </p:sp>
    </p:spTree>
    <p:extLst>
      <p:ext uri="{BB962C8B-B14F-4D97-AF65-F5344CB8AC3E}">
        <p14:creationId xmlns:p14="http://schemas.microsoft.com/office/powerpoint/2010/main" val="2436502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3DE4B-FD94-07B8-2909-A6893B9E1D88}"/>
              </a:ext>
            </a:extLst>
          </p:cNvPr>
          <p:cNvSpPr>
            <a:spLocks noGrp="1"/>
          </p:cNvSpPr>
          <p:nvPr>
            <p:ph type="title"/>
          </p:nvPr>
        </p:nvSpPr>
        <p:spPr/>
        <p:txBody>
          <a:bodyPr/>
          <a:lstStyle/>
          <a:p>
            <a:r>
              <a:rPr lang="en-US" dirty="0"/>
              <a:t>Variety</a:t>
            </a:r>
          </a:p>
        </p:txBody>
      </p:sp>
      <p:sp>
        <p:nvSpPr>
          <p:cNvPr id="3" name="Content Placeholder 2">
            <a:extLst>
              <a:ext uri="{FF2B5EF4-FFF2-40B4-BE49-F238E27FC236}">
                <a16:creationId xmlns:a16="http://schemas.microsoft.com/office/drawing/2014/main" id="{6D3F4E0D-848C-0382-83BA-B0928A7E3CD5}"/>
              </a:ext>
            </a:extLst>
          </p:cNvPr>
          <p:cNvSpPr>
            <a:spLocks noGrp="1"/>
          </p:cNvSpPr>
          <p:nvPr>
            <p:ph idx="1"/>
          </p:nvPr>
        </p:nvSpPr>
        <p:spPr>
          <a:xfrm>
            <a:off x="838200" y="1706008"/>
            <a:ext cx="10515600" cy="2776346"/>
          </a:xfrm>
        </p:spPr>
        <p:txBody>
          <a:bodyPr>
            <a:normAutofit/>
          </a:bodyPr>
          <a:lstStyle/>
          <a:p>
            <a:pPr>
              <a:buFont typeface="Arial" panose="020B0604020202020204" pitchFamily="34" charset="0"/>
              <a:buChar char="•"/>
            </a:pPr>
            <a:r>
              <a:rPr lang="en-US" dirty="0"/>
              <a:t>Variety refers to the </a:t>
            </a:r>
            <a:r>
              <a:rPr lang="en-US" dirty="0">
                <a:solidFill>
                  <a:srgbClr val="FF0000"/>
                </a:solidFill>
              </a:rPr>
              <a:t>different types </a:t>
            </a:r>
            <a:r>
              <a:rPr lang="en-US" dirty="0"/>
              <a:t>of data: structured, semi-structured, and unstructured.</a:t>
            </a:r>
          </a:p>
          <a:p>
            <a:pPr>
              <a:buFont typeface="Arial" panose="020B0604020202020204" pitchFamily="34" charset="0"/>
              <a:buChar char="•"/>
            </a:pPr>
            <a:r>
              <a:rPr lang="en-US" dirty="0"/>
              <a:t>Variety requires advanced data integration techniques and diverse analytical tools.</a:t>
            </a:r>
          </a:p>
          <a:p>
            <a:pPr>
              <a:buFont typeface="Arial" panose="020B0604020202020204" pitchFamily="34" charset="0"/>
              <a:buChar char="•"/>
            </a:pPr>
            <a:r>
              <a:rPr lang="en-US" b="1" dirty="0"/>
              <a:t>Examples</a:t>
            </a:r>
            <a:r>
              <a:rPr lang="en-US" dirty="0"/>
              <a:t>:</a:t>
            </a:r>
          </a:p>
          <a:p>
            <a:pPr marL="742950" lvl="1" indent="-285750">
              <a:buFont typeface="Arial" panose="020B0604020202020204" pitchFamily="34" charset="0"/>
              <a:buChar char="•"/>
            </a:pPr>
            <a:r>
              <a:rPr lang="en-US" dirty="0"/>
              <a:t>Structured Data: Traditional databases with tables and columns, such as customer information in a CRM system.</a:t>
            </a:r>
          </a:p>
          <a:p>
            <a:pPr marL="742950" lvl="1" indent="-285750">
              <a:buFont typeface="Arial" panose="020B0604020202020204" pitchFamily="34" charset="0"/>
              <a:buChar char="•"/>
            </a:pPr>
            <a:r>
              <a:rPr lang="en-US" dirty="0"/>
              <a:t>Semi-Structured Data: JSON, XML files, log files from servers.</a:t>
            </a:r>
          </a:p>
          <a:p>
            <a:pPr marL="742950" lvl="1" indent="-285750">
              <a:buFont typeface="Arial" panose="020B0604020202020204" pitchFamily="34" charset="0"/>
              <a:buChar char="•"/>
            </a:pPr>
            <a:r>
              <a:rPr lang="en-US" dirty="0"/>
              <a:t>Unstructured Data: Text from social media posts, images, videos, emails, and audio files. For example, 95 million photos and videos are shared on Instagram daily.</a:t>
            </a:r>
          </a:p>
        </p:txBody>
      </p:sp>
    </p:spTree>
    <p:extLst>
      <p:ext uri="{BB962C8B-B14F-4D97-AF65-F5344CB8AC3E}">
        <p14:creationId xmlns:p14="http://schemas.microsoft.com/office/powerpoint/2010/main" val="3342384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28E84-5C43-6CD1-9879-C50E30A16E62}"/>
              </a:ext>
            </a:extLst>
          </p:cNvPr>
          <p:cNvSpPr>
            <a:spLocks noGrp="1"/>
          </p:cNvSpPr>
          <p:nvPr>
            <p:ph type="title"/>
          </p:nvPr>
        </p:nvSpPr>
        <p:spPr/>
        <p:txBody>
          <a:bodyPr/>
          <a:lstStyle/>
          <a:p>
            <a:r>
              <a:rPr lang="en-US" dirty="0"/>
              <a:t>Veracity</a:t>
            </a:r>
          </a:p>
        </p:txBody>
      </p:sp>
      <p:sp>
        <p:nvSpPr>
          <p:cNvPr id="3" name="Content Placeholder 2">
            <a:extLst>
              <a:ext uri="{FF2B5EF4-FFF2-40B4-BE49-F238E27FC236}">
                <a16:creationId xmlns:a16="http://schemas.microsoft.com/office/drawing/2014/main" id="{1AF784E8-CEB4-0D7C-4D56-102D21FA5D14}"/>
              </a:ext>
            </a:extLst>
          </p:cNvPr>
          <p:cNvSpPr>
            <a:spLocks noGrp="1"/>
          </p:cNvSpPr>
          <p:nvPr>
            <p:ph idx="1"/>
          </p:nvPr>
        </p:nvSpPr>
        <p:spPr/>
        <p:txBody>
          <a:bodyPr>
            <a:normAutofit/>
          </a:bodyPr>
          <a:lstStyle/>
          <a:p>
            <a:pPr>
              <a:buFont typeface="Arial" panose="020B0604020202020204" pitchFamily="34" charset="0"/>
              <a:buChar char="•"/>
            </a:pPr>
            <a:r>
              <a:rPr lang="en-US" dirty="0"/>
              <a:t>Veracity refers to the accuracy, reliability, and trustworthiness of data.</a:t>
            </a:r>
          </a:p>
          <a:p>
            <a:pPr>
              <a:buFont typeface="Arial" panose="020B0604020202020204" pitchFamily="34" charset="0"/>
              <a:buChar char="•"/>
            </a:pPr>
            <a:r>
              <a:rPr lang="en-US" dirty="0"/>
              <a:t>Veracity requires robust data cleaning, validation, and governance to ensure data accuracy and reliability.</a:t>
            </a:r>
          </a:p>
          <a:p>
            <a:pPr>
              <a:buFont typeface="Arial" panose="020B0604020202020204" pitchFamily="34" charset="0"/>
              <a:buChar char="•"/>
            </a:pPr>
            <a:r>
              <a:rPr lang="en-US" dirty="0"/>
              <a:t>Challenges: Inconsistencies, biases, noise.</a:t>
            </a:r>
          </a:p>
          <a:p>
            <a:pPr>
              <a:buFont typeface="Arial" panose="020B0604020202020204" pitchFamily="34" charset="0"/>
              <a:buChar char="•"/>
            </a:pPr>
            <a:r>
              <a:rPr lang="en-US" b="1" dirty="0"/>
              <a:t>Examples</a:t>
            </a:r>
            <a:r>
              <a:rPr lang="en-US" dirty="0"/>
              <a:t>:</a:t>
            </a:r>
          </a:p>
          <a:p>
            <a:pPr marL="742950" lvl="1" indent="-285750"/>
            <a:r>
              <a:rPr lang="en-US" dirty="0"/>
              <a:t>Social Media Data: </a:t>
            </a:r>
            <a:r>
              <a:rPr lang="en-US" sz="1600" dirty="0"/>
              <a:t>User-generated</a:t>
            </a:r>
            <a:r>
              <a:rPr lang="en-US" dirty="0"/>
              <a:t> content can contain </a:t>
            </a:r>
            <a:r>
              <a:rPr lang="en-US" dirty="0">
                <a:solidFill>
                  <a:srgbClr val="FF0000"/>
                </a:solidFill>
              </a:rPr>
              <a:t>noise</a:t>
            </a:r>
            <a:r>
              <a:rPr lang="en-US" dirty="0"/>
              <a:t>, </a:t>
            </a:r>
            <a:r>
              <a:rPr lang="en-US" dirty="0">
                <a:solidFill>
                  <a:srgbClr val="FF0000"/>
                </a:solidFill>
              </a:rPr>
              <a:t>biases</a:t>
            </a:r>
            <a:r>
              <a:rPr lang="en-US" dirty="0"/>
              <a:t>, and inaccuracies that need to be filtered.</a:t>
            </a:r>
          </a:p>
          <a:p>
            <a:pPr marL="742950" lvl="1" indent="-285750">
              <a:buFont typeface="Arial" panose="020B0604020202020204" pitchFamily="34" charset="0"/>
              <a:buChar char="•"/>
            </a:pPr>
            <a:r>
              <a:rPr lang="en-US" dirty="0"/>
              <a:t>Product ratings on an online marketplace might be skewed by </a:t>
            </a:r>
            <a:r>
              <a:rPr lang="en-US" dirty="0">
                <a:solidFill>
                  <a:srgbClr val="FF0000"/>
                </a:solidFill>
              </a:rPr>
              <a:t>fake</a:t>
            </a:r>
            <a:r>
              <a:rPr lang="en-US" dirty="0"/>
              <a:t> reviews posted by </a:t>
            </a:r>
            <a:r>
              <a:rPr lang="en-US" dirty="0">
                <a:solidFill>
                  <a:srgbClr val="FF0000"/>
                </a:solidFill>
              </a:rPr>
              <a:t>automated bots </a:t>
            </a:r>
            <a:r>
              <a:rPr lang="en-US" dirty="0"/>
              <a:t>or competitors.</a:t>
            </a:r>
          </a:p>
          <a:p>
            <a:pPr marL="742950" lvl="1" indent="-285750">
              <a:buFont typeface="Arial" panose="020B0604020202020204" pitchFamily="34" charset="0"/>
              <a:buChar char="•"/>
            </a:pPr>
            <a:r>
              <a:rPr lang="en-US" dirty="0"/>
              <a:t>A temperature sensor in a smart home system might report incorrect values due to </a:t>
            </a:r>
            <a:r>
              <a:rPr lang="en-US" dirty="0">
                <a:solidFill>
                  <a:srgbClr val="FF0000"/>
                </a:solidFill>
              </a:rPr>
              <a:t>dust accumulation </a:t>
            </a:r>
            <a:r>
              <a:rPr lang="en-US" dirty="0"/>
              <a:t>or hardware faults.</a:t>
            </a:r>
          </a:p>
          <a:p>
            <a:pPr marL="742950" lvl="1" indent="-285750">
              <a:buFont typeface="Arial" panose="020B0604020202020204" pitchFamily="34" charset="0"/>
              <a:buChar char="•"/>
            </a:pPr>
            <a:r>
              <a:rPr lang="en-US" dirty="0"/>
              <a:t>Web server logs might contain </a:t>
            </a:r>
            <a:r>
              <a:rPr lang="en-US" dirty="0">
                <a:solidFill>
                  <a:srgbClr val="FF0000"/>
                </a:solidFill>
              </a:rPr>
              <a:t>duplicated</a:t>
            </a:r>
            <a:r>
              <a:rPr lang="en-US" dirty="0"/>
              <a:t> or </a:t>
            </a:r>
            <a:r>
              <a:rPr lang="en-US" dirty="0">
                <a:solidFill>
                  <a:srgbClr val="FF0000"/>
                </a:solidFill>
              </a:rPr>
              <a:t>corrupted</a:t>
            </a:r>
            <a:r>
              <a:rPr lang="en-US" dirty="0"/>
              <a:t> entries due to </a:t>
            </a:r>
            <a:r>
              <a:rPr lang="en-US" dirty="0">
                <a:solidFill>
                  <a:srgbClr val="FF0000"/>
                </a:solidFill>
              </a:rPr>
              <a:t>server crashes </a:t>
            </a:r>
            <a:r>
              <a:rPr lang="en-US" dirty="0"/>
              <a:t>or improper shutdowns, leading to inaccurate traffic analysis.</a:t>
            </a:r>
          </a:p>
        </p:txBody>
      </p:sp>
    </p:spTree>
    <p:extLst>
      <p:ext uri="{BB962C8B-B14F-4D97-AF65-F5344CB8AC3E}">
        <p14:creationId xmlns:p14="http://schemas.microsoft.com/office/powerpoint/2010/main" val="2875373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AD891-7DD5-A455-26A1-E68AAC39473F}"/>
              </a:ext>
            </a:extLst>
          </p:cNvPr>
          <p:cNvSpPr>
            <a:spLocks noGrp="1"/>
          </p:cNvSpPr>
          <p:nvPr>
            <p:ph type="title"/>
          </p:nvPr>
        </p:nvSpPr>
        <p:spPr/>
        <p:txBody>
          <a:bodyPr/>
          <a:lstStyle/>
          <a:p>
            <a:r>
              <a:rPr lang="en-US" dirty="0"/>
              <a:t>Value</a:t>
            </a:r>
          </a:p>
        </p:txBody>
      </p:sp>
      <p:sp>
        <p:nvSpPr>
          <p:cNvPr id="3" name="Content Placeholder 2">
            <a:extLst>
              <a:ext uri="{FF2B5EF4-FFF2-40B4-BE49-F238E27FC236}">
                <a16:creationId xmlns:a16="http://schemas.microsoft.com/office/drawing/2014/main" id="{96D13677-0540-A200-A11E-201303CD3E24}"/>
              </a:ext>
            </a:extLst>
          </p:cNvPr>
          <p:cNvSpPr>
            <a:spLocks noGrp="1"/>
          </p:cNvSpPr>
          <p:nvPr>
            <p:ph idx="1"/>
          </p:nvPr>
        </p:nvSpPr>
        <p:spPr/>
        <p:txBody>
          <a:bodyPr/>
          <a:lstStyle/>
          <a:p>
            <a:pPr>
              <a:buFont typeface="Arial" panose="020B0604020202020204" pitchFamily="34" charset="0"/>
              <a:buChar char="•"/>
            </a:pPr>
            <a:r>
              <a:rPr lang="en-US" dirty="0"/>
              <a:t>Value refers to the insights and </a:t>
            </a:r>
            <a:r>
              <a:rPr lang="en-US" dirty="0">
                <a:solidFill>
                  <a:srgbClr val="FF0000"/>
                </a:solidFill>
              </a:rPr>
              <a:t>benefits</a:t>
            </a:r>
            <a:r>
              <a:rPr lang="en-US" dirty="0"/>
              <a:t> derived from analyzing Big Data.</a:t>
            </a:r>
          </a:p>
          <a:p>
            <a:pPr>
              <a:buFont typeface="Arial" panose="020B0604020202020204" pitchFamily="34" charset="0"/>
              <a:buChar char="•"/>
            </a:pPr>
            <a:r>
              <a:rPr lang="en-US" dirty="0"/>
              <a:t>The ultimate goal of Big Data is to extract meaningful insights that drive better decision-making and innovation.</a:t>
            </a:r>
          </a:p>
          <a:p>
            <a:pPr>
              <a:buFont typeface="Arial" panose="020B0604020202020204" pitchFamily="34" charset="0"/>
              <a:buChar char="•"/>
            </a:pPr>
            <a:r>
              <a:rPr lang="en-US" b="1" dirty="0"/>
              <a:t>Examples</a:t>
            </a:r>
            <a:r>
              <a:rPr lang="en-US" dirty="0"/>
              <a:t>:</a:t>
            </a:r>
          </a:p>
          <a:p>
            <a:pPr marL="742950" lvl="1" indent="-285750">
              <a:buFont typeface="Arial" panose="020B0604020202020204" pitchFamily="34" charset="0"/>
              <a:buChar char="•"/>
            </a:pPr>
            <a:r>
              <a:rPr lang="en-US" dirty="0"/>
              <a:t>Retail: Walmart uses Big Data analytics to </a:t>
            </a:r>
            <a:r>
              <a:rPr lang="en-US" dirty="0">
                <a:solidFill>
                  <a:srgbClr val="FF0000"/>
                </a:solidFill>
              </a:rPr>
              <a:t>optimize its supply chain</a:t>
            </a:r>
            <a:r>
              <a:rPr lang="en-US" dirty="0"/>
              <a:t>, reducing costs and improving efficiency.</a:t>
            </a:r>
          </a:p>
          <a:p>
            <a:pPr marL="742950" lvl="1" indent="-285750">
              <a:buFont typeface="Arial" panose="020B0604020202020204" pitchFamily="34" charset="0"/>
              <a:buChar char="•"/>
            </a:pPr>
            <a:r>
              <a:rPr lang="en-US" dirty="0"/>
              <a:t>Healthcare: Predictive analytics helps in </a:t>
            </a:r>
            <a:r>
              <a:rPr lang="en-US" dirty="0">
                <a:solidFill>
                  <a:srgbClr val="FF0000"/>
                </a:solidFill>
              </a:rPr>
              <a:t>early diagnosis of diseases, personalized treatment plans</a:t>
            </a:r>
            <a:r>
              <a:rPr lang="en-US" dirty="0"/>
              <a:t>, and improved patient outcomes.</a:t>
            </a:r>
          </a:p>
          <a:p>
            <a:pPr marL="742950" lvl="1" indent="-285750">
              <a:buFont typeface="Arial" panose="020B0604020202020204" pitchFamily="34" charset="0"/>
              <a:buChar char="•"/>
            </a:pPr>
            <a:r>
              <a:rPr lang="en-US" dirty="0"/>
              <a:t>Marketing: Companies like Netflix use data analytics to </a:t>
            </a:r>
            <a:r>
              <a:rPr lang="en-US" dirty="0">
                <a:solidFill>
                  <a:srgbClr val="FF0000"/>
                </a:solidFill>
              </a:rPr>
              <a:t>recommend personalized content</a:t>
            </a:r>
            <a:r>
              <a:rPr lang="en-US" dirty="0"/>
              <a:t>, enhancing customer experience and increasing retention.</a:t>
            </a:r>
          </a:p>
        </p:txBody>
      </p:sp>
    </p:spTree>
    <p:extLst>
      <p:ext uri="{BB962C8B-B14F-4D97-AF65-F5344CB8AC3E}">
        <p14:creationId xmlns:p14="http://schemas.microsoft.com/office/powerpoint/2010/main" val="624540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F5239-5120-237C-CF0B-B1F6B5FA7421}"/>
              </a:ext>
            </a:extLst>
          </p:cNvPr>
          <p:cNvSpPr>
            <a:spLocks noGrp="1"/>
          </p:cNvSpPr>
          <p:nvPr>
            <p:ph type="title"/>
          </p:nvPr>
        </p:nvSpPr>
        <p:spPr/>
        <p:txBody>
          <a:bodyPr/>
          <a:lstStyle/>
          <a:p>
            <a:r>
              <a:rPr lang="en-US" dirty="0"/>
              <a:t>Sources of Big Data</a:t>
            </a:r>
          </a:p>
        </p:txBody>
      </p:sp>
      <p:sp>
        <p:nvSpPr>
          <p:cNvPr id="4" name="Rectangle 1">
            <a:extLst>
              <a:ext uri="{FF2B5EF4-FFF2-40B4-BE49-F238E27FC236}">
                <a16:creationId xmlns:a16="http://schemas.microsoft.com/office/drawing/2014/main" id="{EBF3A572-C229-01E8-7B50-3D52A2DE949D}"/>
              </a:ext>
            </a:extLst>
          </p:cNvPr>
          <p:cNvSpPr>
            <a:spLocks noGrp="1" noChangeArrowheads="1"/>
          </p:cNvSpPr>
          <p:nvPr>
            <p:ph idx="1"/>
          </p:nvPr>
        </p:nvSpPr>
        <p:spPr bwMode="auto">
          <a:xfrm>
            <a:off x="838200" y="1579405"/>
            <a:ext cx="5666117" cy="4585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Social Media</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Platforms like Facebook, Twitter, Instagram.</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Examples: Posts, tweets, photos, videos, comments.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Sensors and IoT Devices</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Smart homes, wearables, industrial sensors.</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Examples: Temperature readings, fitness data, machinery monitoring.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Business Applications</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Financial</a:t>
            </a:r>
            <a:r>
              <a:rPr lang="en-US" altLang="en-US" sz="1400" dirty="0">
                <a:latin typeface="Arial" panose="020B0604020202020204" pitchFamily="34" charset="0"/>
              </a:rPr>
              <a:t>, Retail, Health, Government systems and application.</a:t>
            </a:r>
            <a:r>
              <a:rPr kumimoji="0" lang="en-US" altLang="en-US" sz="1400" b="0" i="0" u="none" strike="noStrike" cap="none" normalizeH="0" baseline="0" dirty="0">
                <a:ln>
                  <a:noFill/>
                </a:ln>
                <a:solidFill>
                  <a:schemeClr val="tx1"/>
                </a:solidFill>
                <a:effectLst/>
                <a:latin typeface="Arial" panose="020B0604020202020204" pitchFamily="34" charset="0"/>
              </a:rPr>
              <a:t> </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Examples: Banks Transactions, Purchase history, account activity.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Data Logs and Machine Data</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Generated by servers, applications, and network devices.</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Examples: Web server logs, application logs, network traffic logs.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Public Data</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Government reports, weather data, research publications.</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Examples: Census data, meteorological data, scientific datasets.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1031" name="Picture 7" descr="Χόλιγουντ Ενδιαφέρον Διεκδικώ sources of big data Ατρόμητος παραδίδω Απαχος">
            <a:extLst>
              <a:ext uri="{FF2B5EF4-FFF2-40B4-BE49-F238E27FC236}">
                <a16:creationId xmlns:a16="http://schemas.microsoft.com/office/drawing/2014/main" id="{57912019-AAF9-2691-D235-1CD1B5B8E6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0454" y="2137512"/>
            <a:ext cx="5076728" cy="346965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Smartphone Sensors for Health and Wellness Mobile Apps: An Explainer -  MindSea">
            <a:extLst>
              <a:ext uri="{FF2B5EF4-FFF2-40B4-BE49-F238E27FC236}">
                <a16:creationId xmlns:a16="http://schemas.microsoft.com/office/drawing/2014/main" id="{C6B3A1B4-2490-40CC-BE4B-8C5FAADA2D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76894" y="5988855"/>
            <a:ext cx="1531887" cy="6163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9197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8E519F-B015-4348-49CC-2C573A868725}"/>
              </a:ext>
            </a:extLst>
          </p:cNvPr>
          <p:cNvSpPr>
            <a:spLocks noGrp="1"/>
          </p:cNvSpPr>
          <p:nvPr>
            <p:ph type="title"/>
          </p:nvPr>
        </p:nvSpPr>
        <p:spPr/>
        <p:txBody>
          <a:bodyPr>
            <a:noAutofit/>
          </a:bodyPr>
          <a:lstStyle/>
          <a:p>
            <a:r>
              <a:rPr lang="en-US" sz="4800" dirty="0"/>
              <a:t>Importance and Applications of Big Data</a:t>
            </a:r>
          </a:p>
        </p:txBody>
      </p:sp>
      <p:sp>
        <p:nvSpPr>
          <p:cNvPr id="5" name="Text Placeholder 4">
            <a:extLst>
              <a:ext uri="{FF2B5EF4-FFF2-40B4-BE49-F238E27FC236}">
                <a16:creationId xmlns:a16="http://schemas.microsoft.com/office/drawing/2014/main" id="{177BD156-FC69-8996-0925-D4A4A6E5E9B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08672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897193"/>
            <a:ext cx="10515600" cy="548868"/>
          </a:xfrm>
          <a:prstGeom prst="rect">
            <a:avLst/>
          </a:prstGeom>
          <a:solidFill>
            <a:srgbClr val="673379"/>
          </a:solidFill>
        </p:spPr>
        <p:txBody>
          <a:bodyPr vert="horz" wrap="square" lIns="0" tIns="116840" rIns="0" bIns="0" rtlCol="0">
            <a:spAutoFit/>
          </a:bodyPr>
          <a:lstStyle/>
          <a:p>
            <a:pPr marL="91440">
              <a:lnSpc>
                <a:spcPct val="100000"/>
              </a:lnSpc>
              <a:spcBef>
                <a:spcPts val="920"/>
              </a:spcBef>
            </a:pPr>
            <a:r>
              <a:rPr lang="en-US" sz="2800" dirty="0">
                <a:solidFill>
                  <a:srgbClr val="FFFFFF"/>
                </a:solidFill>
              </a:rPr>
              <a:t>Real-Time Stock Market Analysis</a:t>
            </a:r>
          </a:p>
        </p:txBody>
      </p:sp>
      <p:sp>
        <p:nvSpPr>
          <p:cNvPr id="5" name="Content Placeholder 4">
            <a:extLst>
              <a:ext uri="{FF2B5EF4-FFF2-40B4-BE49-F238E27FC236}">
                <a16:creationId xmlns:a16="http://schemas.microsoft.com/office/drawing/2014/main" id="{63702E21-AF0E-A9BA-4D25-AD7183126B7B}"/>
              </a:ext>
            </a:extLst>
          </p:cNvPr>
          <p:cNvSpPr>
            <a:spLocks noGrp="1"/>
          </p:cNvSpPr>
          <p:nvPr>
            <p:ph idx="1"/>
          </p:nvPr>
        </p:nvSpPr>
        <p:spPr>
          <a:xfrm>
            <a:off x="838201" y="1706007"/>
            <a:ext cx="5069732" cy="3279561"/>
          </a:xfrm>
        </p:spPr>
        <p:txBody>
          <a:bodyPr>
            <a:normAutofit lnSpcReduction="10000"/>
          </a:bodyPr>
          <a:lstStyle/>
          <a:p>
            <a:pPr>
              <a:buFont typeface="Arial" panose="020B0604020202020204" pitchFamily="34" charset="0"/>
              <a:buChar char="•"/>
            </a:pPr>
            <a:r>
              <a:rPr lang="en-US" sz="1800" b="1" dirty="0"/>
              <a:t>Goldman Sachs </a:t>
            </a:r>
            <a:r>
              <a:rPr lang="en-US" sz="1800" dirty="0"/>
              <a:t>uses big data to perform </a:t>
            </a:r>
            <a:r>
              <a:rPr lang="en-US" sz="1800" dirty="0">
                <a:solidFill>
                  <a:srgbClr val="FF0000"/>
                </a:solidFill>
              </a:rPr>
              <a:t>real-time stock market analysis</a:t>
            </a:r>
            <a:r>
              <a:rPr lang="en-US" sz="1800" dirty="0"/>
              <a:t>, enabling high-frequency trading and informed investment decisions.</a:t>
            </a:r>
          </a:p>
          <a:p>
            <a:pPr>
              <a:buFont typeface="Arial" panose="020B0604020202020204" pitchFamily="34" charset="0"/>
              <a:buChar char="•"/>
            </a:pPr>
            <a:r>
              <a:rPr lang="en-US" sz="1800" b="1" dirty="0"/>
              <a:t>Data Volume:</a:t>
            </a:r>
            <a:r>
              <a:rPr lang="en-US" sz="1800" dirty="0"/>
              <a:t> Goldman Sachs </a:t>
            </a:r>
            <a:r>
              <a:rPr lang="en-US" sz="1800" dirty="0">
                <a:solidFill>
                  <a:srgbClr val="FF0000"/>
                </a:solidFill>
              </a:rPr>
              <a:t>processes terabytes of data daily</a:t>
            </a:r>
            <a:r>
              <a:rPr lang="en-US" sz="1800" dirty="0"/>
              <a:t>, including market transactions, historical stock prices, and economic indicators.</a:t>
            </a:r>
          </a:p>
          <a:p>
            <a:pPr>
              <a:buFont typeface="Arial" panose="020B0604020202020204" pitchFamily="34" charset="0"/>
              <a:buChar char="•"/>
            </a:pPr>
            <a:r>
              <a:rPr lang="en-US" sz="1800" b="1" dirty="0"/>
              <a:t>Data Velocity:</a:t>
            </a:r>
            <a:r>
              <a:rPr lang="en-US" sz="1800" dirty="0"/>
              <a:t> The stock market generates data at an extremely high velocity, with </a:t>
            </a:r>
            <a:r>
              <a:rPr lang="en-US" sz="1800" dirty="0">
                <a:solidFill>
                  <a:srgbClr val="FF0000"/>
                </a:solidFill>
              </a:rPr>
              <a:t>thousands of trades executed every second</a:t>
            </a:r>
            <a:r>
              <a:rPr lang="en-US" sz="1800" dirty="0"/>
              <a:t> that need to be analyzed instantly to capitalize on market opportunities.</a:t>
            </a:r>
          </a:p>
        </p:txBody>
      </p:sp>
      <p:pic>
        <p:nvPicPr>
          <p:cNvPr id="7" name="Picture 6">
            <a:extLst>
              <a:ext uri="{FF2B5EF4-FFF2-40B4-BE49-F238E27FC236}">
                <a16:creationId xmlns:a16="http://schemas.microsoft.com/office/drawing/2014/main" id="{5A491A43-CFF3-B218-6C4F-7FDCA4BD5456}"/>
              </a:ext>
            </a:extLst>
          </p:cNvPr>
          <p:cNvPicPr>
            <a:picLocks noChangeAspect="1"/>
          </p:cNvPicPr>
          <p:nvPr/>
        </p:nvPicPr>
        <p:blipFill>
          <a:blip r:embed="rId2"/>
          <a:stretch>
            <a:fillRect/>
          </a:stretch>
        </p:blipFill>
        <p:spPr>
          <a:xfrm>
            <a:off x="6284069" y="1706007"/>
            <a:ext cx="5069731" cy="2878205"/>
          </a:xfrm>
          <a:prstGeom prst="rect">
            <a:avLst/>
          </a:prstGeom>
        </p:spPr>
      </p:pic>
      <p:sp>
        <p:nvSpPr>
          <p:cNvPr id="8" name="Content Placeholder 4">
            <a:extLst>
              <a:ext uri="{FF2B5EF4-FFF2-40B4-BE49-F238E27FC236}">
                <a16:creationId xmlns:a16="http://schemas.microsoft.com/office/drawing/2014/main" id="{7C9D85BF-B88C-699B-3F96-C28FCCDAE4C1}"/>
              </a:ext>
            </a:extLst>
          </p:cNvPr>
          <p:cNvSpPr txBox="1">
            <a:spLocks/>
          </p:cNvSpPr>
          <p:nvPr/>
        </p:nvSpPr>
        <p:spPr>
          <a:xfrm>
            <a:off x="838200" y="4985569"/>
            <a:ext cx="11016574" cy="28782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dirty="0"/>
              <a:t>Conventional Limitation:</a:t>
            </a:r>
            <a:r>
              <a:rPr lang="en-US" sz="1800" dirty="0"/>
              <a:t> Traditional financial analysis systems </a:t>
            </a:r>
            <a:r>
              <a:rPr lang="en-US" sz="1800" dirty="0">
                <a:solidFill>
                  <a:srgbClr val="FF0000"/>
                </a:solidFill>
              </a:rPr>
              <a:t>cannot</a:t>
            </a:r>
            <a:r>
              <a:rPr lang="en-US" sz="1800" dirty="0"/>
              <a:t> keep up with the </a:t>
            </a:r>
            <a:r>
              <a:rPr lang="en-US" sz="1800" dirty="0">
                <a:solidFill>
                  <a:srgbClr val="FF0000"/>
                </a:solidFill>
              </a:rPr>
              <a:t>high frequency and vast amount of data</a:t>
            </a:r>
            <a:r>
              <a:rPr lang="en-US" sz="1800" dirty="0"/>
              <a:t>, leading to delays in trading decisions and missed opportunities.</a:t>
            </a:r>
          </a:p>
          <a:p>
            <a:r>
              <a:rPr lang="en-US" sz="1800" b="1" dirty="0"/>
              <a:t>Big Data Parallelism:</a:t>
            </a:r>
            <a:r>
              <a:rPr lang="en-US" sz="1800" dirty="0"/>
              <a:t> Big data platforms utilize </a:t>
            </a:r>
            <a:r>
              <a:rPr lang="en-US" sz="1800" dirty="0">
                <a:solidFill>
                  <a:srgbClr val="FF0000"/>
                </a:solidFill>
              </a:rPr>
              <a:t>distributed computing </a:t>
            </a:r>
            <a:r>
              <a:rPr lang="en-US" sz="1800" dirty="0"/>
              <a:t>and </a:t>
            </a:r>
            <a:r>
              <a:rPr lang="en-US" sz="1800" dirty="0">
                <a:solidFill>
                  <a:srgbClr val="FF0000"/>
                </a:solidFill>
              </a:rPr>
              <a:t>parallel processing </a:t>
            </a:r>
            <a:r>
              <a:rPr lang="en-US" sz="1800" dirty="0"/>
              <a:t>to analyze real-time data streams from the stock market, enabling Goldman Sachs to execute trades within milliseconds and make timely investment decisions based on comprehensive and up-to-date information.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13B8B-1F05-290A-D027-4454F92A975A}"/>
              </a:ext>
            </a:extLst>
          </p:cNvPr>
          <p:cNvSpPr>
            <a:spLocks noGrp="1"/>
          </p:cNvSpPr>
          <p:nvPr>
            <p:ph type="title"/>
          </p:nvPr>
        </p:nvSpPr>
        <p:spPr/>
        <p:txBody>
          <a:bodyPr>
            <a:normAutofit/>
          </a:bodyPr>
          <a:lstStyle/>
          <a:p>
            <a:r>
              <a:rPr lang="en-US" dirty="0"/>
              <a:t>Customer Behavior Analysis in Retail</a:t>
            </a:r>
          </a:p>
        </p:txBody>
      </p:sp>
      <p:sp>
        <p:nvSpPr>
          <p:cNvPr id="3" name="Content Placeholder 2">
            <a:extLst>
              <a:ext uri="{FF2B5EF4-FFF2-40B4-BE49-F238E27FC236}">
                <a16:creationId xmlns:a16="http://schemas.microsoft.com/office/drawing/2014/main" id="{6F9083EF-B78A-C2AF-A3F5-B66B4B4143FE}"/>
              </a:ext>
            </a:extLst>
          </p:cNvPr>
          <p:cNvSpPr>
            <a:spLocks noGrp="1"/>
          </p:cNvSpPr>
          <p:nvPr>
            <p:ph idx="1"/>
          </p:nvPr>
        </p:nvSpPr>
        <p:spPr>
          <a:xfrm>
            <a:off x="838200" y="1706008"/>
            <a:ext cx="6074923" cy="3060546"/>
          </a:xfrm>
        </p:spPr>
        <p:txBody>
          <a:bodyPr>
            <a:normAutofit lnSpcReduction="10000"/>
          </a:bodyPr>
          <a:lstStyle/>
          <a:p>
            <a:pPr>
              <a:buFont typeface="Arial" panose="020B0604020202020204" pitchFamily="34" charset="0"/>
              <a:buChar char="•"/>
            </a:pPr>
            <a:r>
              <a:rPr lang="en-US" b="1" dirty="0"/>
              <a:t>Walmart</a:t>
            </a:r>
            <a:r>
              <a:rPr lang="en-US" dirty="0"/>
              <a:t> uses big data to analyze customer behavior, optimizing </a:t>
            </a:r>
            <a:r>
              <a:rPr lang="en-US" dirty="0">
                <a:solidFill>
                  <a:srgbClr val="FF0000"/>
                </a:solidFill>
              </a:rPr>
              <a:t>inventory management and personalized marketing</a:t>
            </a:r>
            <a:r>
              <a:rPr lang="en-US" dirty="0"/>
              <a:t>.</a:t>
            </a:r>
          </a:p>
          <a:p>
            <a:pPr>
              <a:buFont typeface="Arial" panose="020B0604020202020204" pitchFamily="34" charset="0"/>
              <a:buChar char="•"/>
            </a:pPr>
            <a:r>
              <a:rPr lang="en-US" b="1" dirty="0"/>
              <a:t>Data Volume:</a:t>
            </a:r>
            <a:r>
              <a:rPr lang="en-US" dirty="0"/>
              <a:t> Walmart processes over </a:t>
            </a:r>
            <a:r>
              <a:rPr lang="en-US" dirty="0">
                <a:solidFill>
                  <a:srgbClr val="FF0000"/>
                </a:solidFill>
              </a:rPr>
              <a:t>2.5 petabytes of data every hour </a:t>
            </a:r>
            <a:r>
              <a:rPr lang="en-US" dirty="0"/>
              <a:t>from transactions, customer interactions, and inventory records.</a:t>
            </a:r>
          </a:p>
          <a:p>
            <a:pPr>
              <a:buFont typeface="Arial" panose="020B0604020202020204" pitchFamily="34" charset="0"/>
              <a:buChar char="•"/>
            </a:pPr>
            <a:r>
              <a:rPr lang="en-US" b="1" dirty="0"/>
              <a:t>Data Velocity:</a:t>
            </a:r>
            <a:r>
              <a:rPr lang="en-US" dirty="0"/>
              <a:t> With </a:t>
            </a:r>
            <a:r>
              <a:rPr lang="en-US" dirty="0">
                <a:solidFill>
                  <a:srgbClr val="FF0000"/>
                </a:solidFill>
              </a:rPr>
              <a:t>millions of transactions occurring daily across thousands of stores worldwide</a:t>
            </a:r>
            <a:r>
              <a:rPr lang="en-US" dirty="0"/>
              <a:t>, Walmart generates data in real-time that needs to be processed instantly to make timely decisions.</a:t>
            </a:r>
          </a:p>
          <a:p>
            <a:endParaRPr lang="en-US" dirty="0"/>
          </a:p>
        </p:txBody>
      </p:sp>
      <p:pic>
        <p:nvPicPr>
          <p:cNvPr id="2051" name="Picture 3" descr="Walmart Just Announced a Major Grocery Change That Has Shoppers Excited |  The Kitchn">
            <a:extLst>
              <a:ext uri="{FF2B5EF4-FFF2-40B4-BE49-F238E27FC236}">
                <a16:creationId xmlns:a16="http://schemas.microsoft.com/office/drawing/2014/main" id="{F5A80FB7-6C4F-E470-3A4B-B6742F9C30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7344" y="1706007"/>
            <a:ext cx="4266456" cy="2846252"/>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595ED9B2-156C-567A-BE62-282F8C17C9DA}"/>
              </a:ext>
            </a:extLst>
          </p:cNvPr>
          <p:cNvSpPr txBox="1">
            <a:spLocks/>
          </p:cNvSpPr>
          <p:nvPr/>
        </p:nvSpPr>
        <p:spPr>
          <a:xfrm>
            <a:off x="838199" y="4552259"/>
            <a:ext cx="10770141" cy="49910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Conventional Limitation:</a:t>
            </a:r>
            <a:r>
              <a:rPr lang="en-US" dirty="0"/>
              <a:t> Traditional retail analytics systems cannot handle the massive volume and real-time processing requirements, leading to delayed insights and suboptimal inventory management.</a:t>
            </a:r>
          </a:p>
          <a:p>
            <a:r>
              <a:rPr lang="en-US" b="1" dirty="0"/>
              <a:t>Big Data Parallelism:</a:t>
            </a:r>
            <a:r>
              <a:rPr lang="en-US" dirty="0"/>
              <a:t> Big data systems allow Walmart to process vast amounts of data in parallel across distributed computing resources, enabling real-time analytics to forecast demand, optimize stock levels, and personalize marketing efforts effectively.</a:t>
            </a:r>
          </a:p>
          <a:p>
            <a:endParaRPr lang="en-US" dirty="0"/>
          </a:p>
        </p:txBody>
      </p:sp>
    </p:spTree>
    <p:extLst>
      <p:ext uri="{BB962C8B-B14F-4D97-AF65-F5344CB8AC3E}">
        <p14:creationId xmlns:p14="http://schemas.microsoft.com/office/powerpoint/2010/main" val="33800938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FD260-6B88-7BD2-83D4-030FD174AE0A}"/>
              </a:ext>
            </a:extLst>
          </p:cNvPr>
          <p:cNvSpPr>
            <a:spLocks noGrp="1"/>
          </p:cNvSpPr>
          <p:nvPr>
            <p:ph type="title"/>
          </p:nvPr>
        </p:nvSpPr>
        <p:spPr/>
        <p:txBody>
          <a:bodyPr>
            <a:normAutofit/>
          </a:bodyPr>
          <a:lstStyle/>
          <a:p>
            <a:r>
              <a:rPr lang="en-US" dirty="0"/>
              <a:t>Personalized Medicine and Genomic Analysis:</a:t>
            </a:r>
          </a:p>
        </p:txBody>
      </p:sp>
      <p:sp>
        <p:nvSpPr>
          <p:cNvPr id="3" name="Content Placeholder 2">
            <a:extLst>
              <a:ext uri="{FF2B5EF4-FFF2-40B4-BE49-F238E27FC236}">
                <a16:creationId xmlns:a16="http://schemas.microsoft.com/office/drawing/2014/main" id="{01AF120D-6E45-B702-DE6F-DB00F66B5880}"/>
              </a:ext>
            </a:extLst>
          </p:cNvPr>
          <p:cNvSpPr>
            <a:spLocks noGrp="1"/>
          </p:cNvSpPr>
          <p:nvPr>
            <p:ph idx="1"/>
          </p:nvPr>
        </p:nvSpPr>
        <p:spPr>
          <a:xfrm>
            <a:off x="838199" y="1706008"/>
            <a:ext cx="6457545" cy="2930844"/>
          </a:xfrm>
        </p:spPr>
        <p:txBody>
          <a:bodyPr>
            <a:normAutofit/>
          </a:bodyPr>
          <a:lstStyle/>
          <a:p>
            <a:pPr>
              <a:buFont typeface="Arial" panose="020B0604020202020204" pitchFamily="34" charset="0"/>
              <a:buChar char="•"/>
            </a:pPr>
            <a:r>
              <a:rPr lang="en-US" b="1" dirty="0"/>
              <a:t>The Mayo Clinic </a:t>
            </a:r>
            <a:r>
              <a:rPr lang="en-US" dirty="0"/>
              <a:t>uses big data for </a:t>
            </a:r>
            <a:r>
              <a:rPr lang="en-US" dirty="0">
                <a:solidFill>
                  <a:srgbClr val="FF0000"/>
                </a:solidFill>
              </a:rPr>
              <a:t>personalized medicine by analyzing genomic data to tailor treatments to individual patients</a:t>
            </a:r>
            <a:r>
              <a:rPr lang="en-US" dirty="0"/>
              <a:t>.</a:t>
            </a:r>
          </a:p>
          <a:p>
            <a:pPr>
              <a:buFont typeface="Arial" panose="020B0604020202020204" pitchFamily="34" charset="0"/>
              <a:buChar char="•"/>
            </a:pPr>
            <a:r>
              <a:rPr lang="en-US" b="1" dirty="0"/>
              <a:t>Data Volume:</a:t>
            </a:r>
            <a:r>
              <a:rPr lang="en-US" dirty="0"/>
              <a:t> The Mayo Clinic processes </a:t>
            </a:r>
            <a:r>
              <a:rPr lang="en-US" dirty="0">
                <a:solidFill>
                  <a:srgbClr val="FF0000"/>
                </a:solidFill>
              </a:rPr>
              <a:t>petabytes of genomic data</a:t>
            </a:r>
            <a:r>
              <a:rPr lang="en-US" dirty="0"/>
              <a:t>, which includes sequencing information from millions of patients' DNA.</a:t>
            </a:r>
          </a:p>
          <a:p>
            <a:pPr>
              <a:buFont typeface="Arial" panose="020B0604020202020204" pitchFamily="34" charset="0"/>
              <a:buChar char="•"/>
            </a:pPr>
            <a:r>
              <a:rPr lang="en-US" b="1" dirty="0"/>
              <a:t>Data Variety:</a:t>
            </a:r>
            <a:r>
              <a:rPr lang="en-US" dirty="0"/>
              <a:t> Genomic data is highly diverse, including information on gene sequences, protein interactions, and patient medical histories.</a:t>
            </a:r>
          </a:p>
        </p:txBody>
      </p:sp>
      <p:pic>
        <p:nvPicPr>
          <p:cNvPr id="4099" name="Picture 3" descr="The Rise of Personalized Medicine: How Biotech is Changing Healthcare">
            <a:extLst>
              <a:ext uri="{FF2B5EF4-FFF2-40B4-BE49-F238E27FC236}">
                <a16:creationId xmlns:a16="http://schemas.microsoft.com/office/drawing/2014/main" id="{04C25C79-0620-386A-2067-3C5E9E2B4D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77176" y="1791207"/>
            <a:ext cx="3976624" cy="2501933"/>
          </a:xfrm>
          <a:prstGeom prst="rect">
            <a:avLst/>
          </a:prstGeom>
          <a:noFill/>
          <a:extLst>
            <a:ext uri="{909E8E84-426E-40DD-AFC4-6F175D3DCCD1}">
              <a14:hiddenFill xmlns:a14="http://schemas.microsoft.com/office/drawing/2010/main">
                <a:solidFill>
                  <a:srgbClr val="FFFFFF"/>
                </a:solidFill>
              </a14:hiddenFill>
            </a:ext>
          </a:extLst>
        </p:spPr>
      </p:pic>
      <p:pic>
        <p:nvPicPr>
          <p:cNvPr id="4101" name="Picture 5" descr="Boston Scientific, Mayo Clinic ...">
            <a:extLst>
              <a:ext uri="{FF2B5EF4-FFF2-40B4-BE49-F238E27FC236}">
                <a16:creationId xmlns:a16="http://schemas.microsoft.com/office/drawing/2014/main" id="{4E0CA2C8-6D5B-4B67-90FC-FB10AA12FB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22250" y="3230901"/>
            <a:ext cx="872146" cy="872146"/>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9AF4AA19-BBB5-EB35-9DDB-97AFEBE0C127}"/>
              </a:ext>
            </a:extLst>
          </p:cNvPr>
          <p:cNvSpPr txBox="1">
            <a:spLocks/>
          </p:cNvSpPr>
          <p:nvPr/>
        </p:nvSpPr>
        <p:spPr>
          <a:xfrm>
            <a:off x="838199" y="4636852"/>
            <a:ext cx="10633954" cy="206383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Conventional Limitation:</a:t>
            </a:r>
            <a:r>
              <a:rPr lang="en-US" dirty="0"/>
              <a:t> Traditional computing methods </a:t>
            </a:r>
            <a:r>
              <a:rPr lang="en-US" dirty="0">
                <a:solidFill>
                  <a:srgbClr val="FF0000"/>
                </a:solidFill>
              </a:rPr>
              <a:t>struggle</a:t>
            </a:r>
            <a:r>
              <a:rPr lang="en-US" dirty="0"/>
              <a:t> to handle the </a:t>
            </a:r>
            <a:r>
              <a:rPr lang="en-US" dirty="0">
                <a:solidFill>
                  <a:srgbClr val="FF0000"/>
                </a:solidFill>
              </a:rPr>
              <a:t>vast</a:t>
            </a:r>
            <a:r>
              <a:rPr lang="en-US" dirty="0"/>
              <a:t>, </a:t>
            </a:r>
            <a:r>
              <a:rPr lang="en-US" dirty="0">
                <a:solidFill>
                  <a:srgbClr val="FF0000"/>
                </a:solidFill>
              </a:rPr>
              <a:t>complex</a:t>
            </a:r>
            <a:r>
              <a:rPr lang="en-US" dirty="0"/>
              <a:t>, and </a:t>
            </a:r>
            <a:r>
              <a:rPr lang="en-US" dirty="0">
                <a:solidFill>
                  <a:srgbClr val="FF0000"/>
                </a:solidFill>
              </a:rPr>
              <a:t>varied</a:t>
            </a:r>
            <a:r>
              <a:rPr lang="en-US" dirty="0"/>
              <a:t> datasets required for genomic analysis, often resulting in prolonged processing times and less precise treatment recommendations.</a:t>
            </a:r>
          </a:p>
          <a:p>
            <a:r>
              <a:rPr lang="en-US" b="1" dirty="0"/>
              <a:t>Big Data Parallelism:</a:t>
            </a:r>
            <a:r>
              <a:rPr lang="en-US" dirty="0"/>
              <a:t> Big data platforms use parallel processing and advanced algorithms to analyze vast genomic datasets quickly and accurately, enabling the Mayo Clinic to develop personalized treatment plans based on an individual's genetic makeup, thereby improving treatment efficacy and patient outcomes.</a:t>
            </a:r>
          </a:p>
        </p:txBody>
      </p:sp>
    </p:spTree>
    <p:extLst>
      <p:ext uri="{BB962C8B-B14F-4D97-AF65-F5344CB8AC3E}">
        <p14:creationId xmlns:p14="http://schemas.microsoft.com/office/powerpoint/2010/main" val="33554277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896949"/>
            <a:ext cx="10515600" cy="548868"/>
          </a:xfrm>
          <a:prstGeom prst="rect">
            <a:avLst/>
          </a:prstGeom>
          <a:solidFill>
            <a:srgbClr val="673379"/>
          </a:solidFill>
        </p:spPr>
        <p:txBody>
          <a:bodyPr vert="horz" wrap="square" lIns="0" tIns="116840" rIns="0" bIns="0" rtlCol="0">
            <a:spAutoFit/>
          </a:bodyPr>
          <a:lstStyle/>
          <a:p>
            <a:pPr marL="91440">
              <a:lnSpc>
                <a:spcPct val="100000"/>
              </a:lnSpc>
              <a:spcBef>
                <a:spcPts val="920"/>
              </a:spcBef>
            </a:pPr>
            <a:r>
              <a:rPr lang="en-US" sz="2800" dirty="0">
                <a:solidFill>
                  <a:srgbClr val="FFFFFF"/>
                </a:solidFill>
              </a:rPr>
              <a:t>Predictive Maintenance in Manufacturing</a:t>
            </a:r>
          </a:p>
        </p:txBody>
      </p:sp>
      <p:pic>
        <p:nvPicPr>
          <p:cNvPr id="3" name="object 3"/>
          <p:cNvPicPr/>
          <p:nvPr/>
        </p:nvPicPr>
        <p:blipFill>
          <a:blip r:embed="rId2" cstate="print"/>
          <a:stretch>
            <a:fillRect/>
          </a:stretch>
        </p:blipFill>
        <p:spPr>
          <a:xfrm>
            <a:off x="7574604" y="1746715"/>
            <a:ext cx="3779196" cy="2217451"/>
          </a:xfrm>
          <a:prstGeom prst="rect">
            <a:avLst/>
          </a:prstGeom>
        </p:spPr>
      </p:pic>
      <p:sp>
        <p:nvSpPr>
          <p:cNvPr id="4" name="object 4"/>
          <p:cNvSpPr txBox="1"/>
          <p:nvPr/>
        </p:nvSpPr>
        <p:spPr>
          <a:xfrm>
            <a:off x="838200" y="1608611"/>
            <a:ext cx="6671553" cy="2559034"/>
          </a:xfrm>
          <a:prstGeom prst="rect">
            <a:avLst/>
          </a:prstGeom>
        </p:spPr>
        <p:txBody>
          <a:bodyPr vert="horz" wrap="square" lIns="0" tIns="65405" rIns="0" bIns="0" rtlCol="0">
            <a:spAutoFit/>
          </a:bodyPr>
          <a:lstStyle/>
          <a:p>
            <a:pPr marL="285750" indent="-285750">
              <a:buFont typeface="Arial" panose="020B0604020202020204" pitchFamily="34" charset="0"/>
              <a:buChar char="•"/>
            </a:pPr>
            <a:r>
              <a:rPr lang="en-US" b="1" dirty="0"/>
              <a:t>General Electric (GE) </a:t>
            </a:r>
            <a:r>
              <a:rPr lang="en-US" dirty="0"/>
              <a:t>uses big data for </a:t>
            </a:r>
            <a:r>
              <a:rPr lang="en-US" dirty="0">
                <a:solidFill>
                  <a:srgbClr val="FF0000"/>
                </a:solidFill>
              </a:rPr>
              <a:t>predictive maintenance </a:t>
            </a:r>
            <a:r>
              <a:rPr lang="en-US" dirty="0"/>
              <a:t>to improve equipment reliability and reduce downtime in its manufacturing plants.</a:t>
            </a:r>
          </a:p>
          <a:p>
            <a:pPr marL="285750" indent="-285750">
              <a:buFont typeface="Arial" panose="020B0604020202020204" pitchFamily="34" charset="0"/>
              <a:buChar char="•"/>
            </a:pPr>
            <a:r>
              <a:rPr lang="en-US" b="1" dirty="0"/>
              <a:t>Data Volume:</a:t>
            </a:r>
            <a:r>
              <a:rPr lang="en-US" dirty="0"/>
              <a:t> GE processes </a:t>
            </a:r>
            <a:r>
              <a:rPr lang="en-US" dirty="0">
                <a:solidFill>
                  <a:srgbClr val="FF0000"/>
                </a:solidFill>
              </a:rPr>
              <a:t>terabytes</a:t>
            </a:r>
            <a:r>
              <a:rPr lang="en-US" dirty="0"/>
              <a:t> of data daily from </a:t>
            </a:r>
            <a:r>
              <a:rPr lang="en-US" dirty="0">
                <a:solidFill>
                  <a:srgbClr val="FF0000"/>
                </a:solidFill>
              </a:rPr>
              <a:t>sensors embedded in machinery</a:t>
            </a:r>
            <a:r>
              <a:rPr lang="en-US" dirty="0"/>
              <a:t>, capturing information such as temperature, vibration, and pressure.</a:t>
            </a:r>
          </a:p>
          <a:p>
            <a:pPr marL="285750" indent="-285750">
              <a:buFont typeface="Arial" panose="020B0604020202020204" pitchFamily="34" charset="0"/>
              <a:buChar char="•"/>
            </a:pPr>
            <a:r>
              <a:rPr lang="en-US" b="1" dirty="0"/>
              <a:t>Data Velocity:</a:t>
            </a:r>
            <a:r>
              <a:rPr lang="en-US" dirty="0"/>
              <a:t> The sensors generate data in real-time, </a:t>
            </a:r>
            <a:r>
              <a:rPr lang="en-US" dirty="0">
                <a:solidFill>
                  <a:srgbClr val="FF0000"/>
                </a:solidFill>
              </a:rPr>
              <a:t>with thousands of data points per</a:t>
            </a:r>
            <a:r>
              <a:rPr lang="en-US" dirty="0"/>
              <a:t> second that need to be analyzed continuously to detect potential equipment failures.</a:t>
            </a:r>
          </a:p>
        </p:txBody>
      </p:sp>
      <p:sp>
        <p:nvSpPr>
          <p:cNvPr id="5" name="object 4">
            <a:extLst>
              <a:ext uri="{FF2B5EF4-FFF2-40B4-BE49-F238E27FC236}">
                <a16:creationId xmlns:a16="http://schemas.microsoft.com/office/drawing/2014/main" id="{BED56984-22FB-2BA6-7700-13615353E380}"/>
              </a:ext>
            </a:extLst>
          </p:cNvPr>
          <p:cNvSpPr txBox="1"/>
          <p:nvPr/>
        </p:nvSpPr>
        <p:spPr>
          <a:xfrm>
            <a:off x="838200" y="4468543"/>
            <a:ext cx="10763655" cy="1451038"/>
          </a:xfrm>
          <a:prstGeom prst="rect">
            <a:avLst/>
          </a:prstGeom>
        </p:spPr>
        <p:txBody>
          <a:bodyPr vert="horz" wrap="square" lIns="0" tIns="65405" rIns="0" bIns="0" rtlCol="0">
            <a:spAutoFit/>
          </a:bodyPr>
          <a:lstStyle/>
          <a:p>
            <a:pPr marL="285750" indent="-285750">
              <a:buFont typeface="Arial" panose="020B0604020202020204" pitchFamily="34" charset="0"/>
              <a:buChar char="•"/>
            </a:pPr>
            <a:r>
              <a:rPr lang="en-US" b="1" dirty="0"/>
              <a:t>Conventional Limitation:</a:t>
            </a:r>
            <a:r>
              <a:rPr lang="en-US" dirty="0"/>
              <a:t> Traditional maintenance systems rely on </a:t>
            </a:r>
            <a:r>
              <a:rPr lang="en-US" dirty="0">
                <a:solidFill>
                  <a:srgbClr val="FF0000"/>
                </a:solidFill>
              </a:rPr>
              <a:t>scheduled inspections </a:t>
            </a:r>
            <a:r>
              <a:rPr lang="en-US" dirty="0"/>
              <a:t>and </a:t>
            </a:r>
            <a:r>
              <a:rPr lang="en-US" u="sng" dirty="0">
                <a:solidFill>
                  <a:srgbClr val="FF0000"/>
                </a:solidFill>
              </a:rPr>
              <a:t>reactive repairs</a:t>
            </a:r>
            <a:r>
              <a:rPr lang="en-US" dirty="0"/>
              <a:t>, which can </a:t>
            </a:r>
            <a:r>
              <a:rPr lang="en-US" dirty="0">
                <a:solidFill>
                  <a:srgbClr val="FF0000"/>
                </a:solidFill>
              </a:rPr>
              <a:t>miss early signs of equipment degradation </a:t>
            </a:r>
            <a:r>
              <a:rPr lang="en-US" dirty="0"/>
              <a:t>and lead to unplanned downtime.</a:t>
            </a:r>
          </a:p>
          <a:p>
            <a:pPr marL="285750" indent="-285750">
              <a:buFont typeface="Arial" panose="020B0604020202020204" pitchFamily="34" charset="0"/>
              <a:buChar char="•"/>
            </a:pPr>
            <a:r>
              <a:rPr lang="en-US" b="1" dirty="0"/>
              <a:t>Big Data Parallelism:</a:t>
            </a:r>
            <a:r>
              <a:rPr lang="en-US" dirty="0"/>
              <a:t> Big data platforms enable GE to analyze real-time sensor data using machine learning algorithms and distributed computing. This allows for the early detection of anomalies and prediction of equipment failures before they occur, facilitating </a:t>
            </a:r>
            <a:r>
              <a:rPr lang="en-US" u="sng" dirty="0">
                <a:solidFill>
                  <a:srgbClr val="FF0000"/>
                </a:solidFill>
              </a:rPr>
              <a:t>proactive maintenance </a:t>
            </a:r>
            <a:r>
              <a:rPr lang="en-US" dirty="0"/>
              <a:t>and minimizing downtime.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897193"/>
            <a:ext cx="10515600" cy="548868"/>
          </a:xfrm>
          <a:prstGeom prst="rect">
            <a:avLst/>
          </a:prstGeom>
          <a:solidFill>
            <a:srgbClr val="673379"/>
          </a:solidFill>
        </p:spPr>
        <p:txBody>
          <a:bodyPr vert="horz" wrap="square" lIns="0" tIns="116840" rIns="0" bIns="0" rtlCol="0">
            <a:spAutoFit/>
          </a:bodyPr>
          <a:lstStyle/>
          <a:p>
            <a:pPr marL="91440">
              <a:lnSpc>
                <a:spcPct val="100000"/>
              </a:lnSpc>
              <a:spcBef>
                <a:spcPts val="920"/>
              </a:spcBef>
            </a:pPr>
            <a:r>
              <a:rPr lang="en-US" sz="2800" dirty="0">
                <a:solidFill>
                  <a:srgbClr val="FFFFFF"/>
                </a:solidFill>
              </a:rPr>
              <a:t>Fleet Management in Transportation</a:t>
            </a:r>
          </a:p>
        </p:txBody>
      </p:sp>
      <p:sp>
        <p:nvSpPr>
          <p:cNvPr id="5" name="Content Placeholder 4">
            <a:extLst>
              <a:ext uri="{FF2B5EF4-FFF2-40B4-BE49-F238E27FC236}">
                <a16:creationId xmlns:a16="http://schemas.microsoft.com/office/drawing/2014/main" id="{806B172B-4F97-3F45-98CB-BC121C05D67F}"/>
              </a:ext>
            </a:extLst>
          </p:cNvPr>
          <p:cNvSpPr>
            <a:spLocks noGrp="1"/>
          </p:cNvSpPr>
          <p:nvPr>
            <p:ph idx="1"/>
          </p:nvPr>
        </p:nvSpPr>
        <p:spPr>
          <a:xfrm>
            <a:off x="838200" y="1706007"/>
            <a:ext cx="6794770" cy="2853023"/>
          </a:xfrm>
        </p:spPr>
        <p:txBody>
          <a:bodyPr>
            <a:normAutofit fontScale="92500" lnSpcReduction="20000"/>
          </a:bodyPr>
          <a:lstStyle/>
          <a:p>
            <a:pPr>
              <a:buFont typeface="Arial" panose="020B0604020202020204" pitchFamily="34" charset="0"/>
              <a:buChar char="•"/>
            </a:pPr>
            <a:r>
              <a:rPr lang="en-US" b="1" dirty="0"/>
              <a:t>UPS</a:t>
            </a:r>
            <a:r>
              <a:rPr lang="en-US" dirty="0"/>
              <a:t> uses big data for fleet management to </a:t>
            </a:r>
            <a:r>
              <a:rPr lang="en-US" dirty="0">
                <a:solidFill>
                  <a:srgbClr val="FF0000"/>
                </a:solidFill>
              </a:rPr>
              <a:t>optimize delivery routes, reduce fuel consumption, and improve delivery times</a:t>
            </a:r>
            <a:r>
              <a:rPr lang="en-US" dirty="0"/>
              <a:t>. It can use data to predict demand, weather, traffic and improve efficiency and customer satisfaction.</a:t>
            </a:r>
          </a:p>
          <a:p>
            <a:pPr>
              <a:buFont typeface="Arial" panose="020B0604020202020204" pitchFamily="34" charset="0"/>
              <a:buChar char="•"/>
            </a:pPr>
            <a:r>
              <a:rPr lang="en-US" b="1" dirty="0"/>
              <a:t>Data Volume:</a:t>
            </a:r>
            <a:r>
              <a:rPr lang="en-US" dirty="0"/>
              <a:t> UPS processes over </a:t>
            </a:r>
            <a:r>
              <a:rPr lang="en-US" dirty="0">
                <a:solidFill>
                  <a:srgbClr val="FF0000"/>
                </a:solidFill>
              </a:rPr>
              <a:t>16 petabytes </a:t>
            </a:r>
            <a:r>
              <a:rPr lang="en-US" dirty="0"/>
              <a:t>of data annually from GPS devices, vehicle sensors, customer orders, and traffic information.</a:t>
            </a:r>
          </a:p>
          <a:p>
            <a:pPr>
              <a:buFont typeface="Arial" panose="020B0604020202020204" pitchFamily="34" charset="0"/>
              <a:buChar char="•"/>
            </a:pPr>
            <a:r>
              <a:rPr lang="en-US" b="1" dirty="0"/>
              <a:t>Data Velocity:</a:t>
            </a:r>
            <a:r>
              <a:rPr lang="en-US" dirty="0"/>
              <a:t> The fleet generates data in real-time, with </a:t>
            </a:r>
            <a:r>
              <a:rPr lang="en-US" dirty="0">
                <a:solidFill>
                  <a:srgbClr val="FF0000"/>
                </a:solidFill>
              </a:rPr>
              <a:t>continuous updates on vehicle locations, speed, engine performance</a:t>
            </a:r>
            <a:r>
              <a:rPr lang="en-US" dirty="0"/>
              <a:t>, and traffic conditions that need to be analyzed instantly.</a:t>
            </a:r>
          </a:p>
          <a:p>
            <a:endParaRPr lang="en-US" dirty="0"/>
          </a:p>
        </p:txBody>
      </p:sp>
      <p:pic>
        <p:nvPicPr>
          <p:cNvPr id="3" name="object 3"/>
          <p:cNvPicPr/>
          <p:nvPr/>
        </p:nvPicPr>
        <p:blipFill>
          <a:blip r:embed="rId2" cstate="print"/>
          <a:stretch>
            <a:fillRect/>
          </a:stretch>
        </p:blipFill>
        <p:spPr>
          <a:xfrm>
            <a:off x="7708392" y="1869948"/>
            <a:ext cx="3645407" cy="2506979"/>
          </a:xfrm>
          <a:prstGeom prst="rect">
            <a:avLst/>
          </a:prstGeom>
        </p:spPr>
      </p:pic>
      <p:sp>
        <p:nvSpPr>
          <p:cNvPr id="6" name="Content Placeholder 4">
            <a:extLst>
              <a:ext uri="{FF2B5EF4-FFF2-40B4-BE49-F238E27FC236}">
                <a16:creationId xmlns:a16="http://schemas.microsoft.com/office/drawing/2014/main" id="{AD53E51B-BFC0-7BF5-E735-7E51C62E14B4}"/>
              </a:ext>
            </a:extLst>
          </p:cNvPr>
          <p:cNvSpPr txBox="1">
            <a:spLocks/>
          </p:cNvSpPr>
          <p:nvPr/>
        </p:nvSpPr>
        <p:spPr>
          <a:xfrm>
            <a:off x="838200" y="4559030"/>
            <a:ext cx="11186808" cy="210918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Conventional Limitation:</a:t>
            </a:r>
            <a:r>
              <a:rPr lang="en-US" dirty="0"/>
              <a:t> Traditional fleet management systems cannot handle the </a:t>
            </a:r>
            <a:r>
              <a:rPr lang="en-US" dirty="0">
                <a:solidFill>
                  <a:srgbClr val="FF0000"/>
                </a:solidFill>
              </a:rPr>
              <a:t>massive volume </a:t>
            </a:r>
            <a:r>
              <a:rPr lang="en-US" dirty="0"/>
              <a:t>of data and lack the real-time processing capabilities needed to optimize routes dynamically and respond to changing conditions on the fly.</a:t>
            </a:r>
          </a:p>
          <a:p>
            <a:r>
              <a:rPr lang="en-US" b="1" dirty="0"/>
              <a:t>Big Data Parallelism:</a:t>
            </a:r>
            <a:r>
              <a:rPr lang="en-US" dirty="0"/>
              <a:t> Big data platforms allow UPS to </a:t>
            </a:r>
            <a:r>
              <a:rPr lang="en-US" dirty="0">
                <a:solidFill>
                  <a:srgbClr val="FF0000"/>
                </a:solidFill>
              </a:rPr>
              <a:t>analyze real-time data from thousands of vehicles </a:t>
            </a:r>
            <a:r>
              <a:rPr lang="en-US" dirty="0"/>
              <a:t>simultaneously, using advanced algorithms to </a:t>
            </a:r>
            <a:r>
              <a:rPr lang="en-US" dirty="0">
                <a:solidFill>
                  <a:srgbClr val="FF0000"/>
                </a:solidFill>
              </a:rPr>
              <a:t>optimize delivery routes</a:t>
            </a:r>
            <a:r>
              <a:rPr lang="en-US" dirty="0"/>
              <a:t>, predict maintenance needs, and adjust for traffic conditions in real-time. This leads to reduced fuel consumption, lower operational costs, and improved delivery times.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897193"/>
            <a:ext cx="10515600" cy="548868"/>
          </a:xfrm>
          <a:prstGeom prst="rect">
            <a:avLst/>
          </a:prstGeom>
          <a:solidFill>
            <a:srgbClr val="673379"/>
          </a:solidFill>
        </p:spPr>
        <p:txBody>
          <a:bodyPr vert="horz" wrap="square" lIns="0" tIns="116840" rIns="0" bIns="0" rtlCol="0">
            <a:spAutoFit/>
          </a:bodyPr>
          <a:lstStyle/>
          <a:p>
            <a:pPr marL="91440">
              <a:lnSpc>
                <a:spcPct val="100000"/>
              </a:lnSpc>
              <a:spcBef>
                <a:spcPts val="920"/>
              </a:spcBef>
            </a:pPr>
            <a:r>
              <a:rPr lang="en-US" sz="2800" dirty="0">
                <a:solidFill>
                  <a:srgbClr val="FFFFFF"/>
                </a:solidFill>
              </a:rPr>
              <a:t>Smart Grid Management in the Energy Sector</a:t>
            </a:r>
          </a:p>
        </p:txBody>
      </p:sp>
      <p:sp>
        <p:nvSpPr>
          <p:cNvPr id="5" name="Content Placeholder 4">
            <a:extLst>
              <a:ext uri="{FF2B5EF4-FFF2-40B4-BE49-F238E27FC236}">
                <a16:creationId xmlns:a16="http://schemas.microsoft.com/office/drawing/2014/main" id="{7407A918-0A35-ACFA-8994-249A01C454A8}"/>
              </a:ext>
            </a:extLst>
          </p:cNvPr>
          <p:cNvSpPr>
            <a:spLocks noGrp="1"/>
          </p:cNvSpPr>
          <p:nvPr>
            <p:ph idx="1"/>
          </p:nvPr>
        </p:nvSpPr>
        <p:spPr>
          <a:xfrm>
            <a:off x="838200" y="1706008"/>
            <a:ext cx="6561306" cy="2742776"/>
          </a:xfrm>
        </p:spPr>
        <p:txBody>
          <a:bodyPr>
            <a:normAutofit lnSpcReduction="10000"/>
          </a:bodyPr>
          <a:lstStyle/>
          <a:p>
            <a:pPr>
              <a:buFont typeface="Arial" panose="020B0604020202020204" pitchFamily="34" charset="0"/>
              <a:buChar char="•"/>
            </a:pPr>
            <a:r>
              <a:rPr lang="en-US" b="1" dirty="0"/>
              <a:t>Duke Energy </a:t>
            </a:r>
            <a:r>
              <a:rPr lang="en-US" dirty="0"/>
              <a:t>uses big data for smart grid management to enhance energy distribution efficiency and reliability.</a:t>
            </a:r>
          </a:p>
          <a:p>
            <a:pPr>
              <a:buFont typeface="Arial" panose="020B0604020202020204" pitchFamily="34" charset="0"/>
              <a:buChar char="•"/>
            </a:pPr>
            <a:r>
              <a:rPr lang="en-US" b="1" dirty="0"/>
              <a:t>Data Volume:</a:t>
            </a:r>
            <a:r>
              <a:rPr lang="en-US" dirty="0"/>
              <a:t> Duke Energy processes </a:t>
            </a:r>
            <a:r>
              <a:rPr lang="en-US" dirty="0">
                <a:solidFill>
                  <a:srgbClr val="FF0000"/>
                </a:solidFill>
              </a:rPr>
              <a:t>terabytes of data daily </a:t>
            </a:r>
            <a:r>
              <a:rPr lang="en-US" dirty="0"/>
              <a:t>from smart meters, grid sensors, weather stations, and consumer usage patterns.</a:t>
            </a:r>
          </a:p>
          <a:p>
            <a:pPr>
              <a:buFont typeface="Arial" panose="020B0604020202020204" pitchFamily="34" charset="0"/>
              <a:buChar char="•"/>
            </a:pPr>
            <a:r>
              <a:rPr lang="en-US" b="1" dirty="0"/>
              <a:t>Data Velocity:</a:t>
            </a:r>
            <a:r>
              <a:rPr lang="en-US" dirty="0"/>
              <a:t> Smart meters and grid sensors </a:t>
            </a:r>
            <a:r>
              <a:rPr lang="en-US" dirty="0">
                <a:solidFill>
                  <a:srgbClr val="FF0000"/>
                </a:solidFill>
              </a:rPr>
              <a:t>generate data in real-time</a:t>
            </a:r>
            <a:r>
              <a:rPr lang="en-US" dirty="0"/>
              <a:t>, with updates every few seconds, providing continuous streams of information on energy consumption, grid status, and environmental conditions.</a:t>
            </a:r>
          </a:p>
          <a:p>
            <a:endParaRPr lang="en-US" dirty="0"/>
          </a:p>
        </p:txBody>
      </p:sp>
      <p:sp>
        <p:nvSpPr>
          <p:cNvPr id="6" name="Content Placeholder 4">
            <a:extLst>
              <a:ext uri="{FF2B5EF4-FFF2-40B4-BE49-F238E27FC236}">
                <a16:creationId xmlns:a16="http://schemas.microsoft.com/office/drawing/2014/main" id="{5D35BA1C-F191-F903-8B94-3D762CB69DD4}"/>
              </a:ext>
            </a:extLst>
          </p:cNvPr>
          <p:cNvSpPr txBox="1">
            <a:spLocks/>
          </p:cNvSpPr>
          <p:nvPr/>
        </p:nvSpPr>
        <p:spPr>
          <a:xfrm>
            <a:off x="838200" y="4448784"/>
            <a:ext cx="10880387" cy="34155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Conventional Limitation:</a:t>
            </a:r>
            <a:r>
              <a:rPr lang="en-US" dirty="0"/>
              <a:t> Traditional energy management systems struggle to process and analyze the </a:t>
            </a:r>
            <a:r>
              <a:rPr lang="en-US" dirty="0">
                <a:solidFill>
                  <a:srgbClr val="FF0000"/>
                </a:solidFill>
              </a:rPr>
              <a:t>vast amounts of real-time data needed to optimize grid performance</a:t>
            </a:r>
            <a:r>
              <a:rPr lang="en-US" dirty="0"/>
              <a:t> and respond to issues quickly, leading to inefficiencies and slower response times to outages or demand spikes.</a:t>
            </a:r>
          </a:p>
          <a:p>
            <a:r>
              <a:rPr lang="en-US" b="1" dirty="0"/>
              <a:t>Big Data Parallelism:</a:t>
            </a:r>
            <a:r>
              <a:rPr lang="en-US" dirty="0"/>
              <a:t> Big data platforms enable Duke Energy to analyze real-time data from </a:t>
            </a:r>
            <a:r>
              <a:rPr lang="en-US" dirty="0">
                <a:solidFill>
                  <a:srgbClr val="FF0000"/>
                </a:solidFill>
              </a:rPr>
              <a:t>millions of smart meters and sensors simultaneously</a:t>
            </a:r>
            <a:r>
              <a:rPr lang="en-US" dirty="0"/>
              <a:t>, using parallel processing and advanced analytics to optimize energy distribution, predict and prevent outages, and </a:t>
            </a:r>
            <a:r>
              <a:rPr lang="en-US" dirty="0">
                <a:solidFill>
                  <a:srgbClr val="FF0000"/>
                </a:solidFill>
              </a:rPr>
              <a:t>balance supply with demand dynamically</a:t>
            </a:r>
            <a:r>
              <a:rPr lang="en-US" dirty="0"/>
              <a:t>. This results in a more efficient, reliable, and responsive energy grid.</a:t>
            </a:r>
          </a:p>
          <a:p>
            <a:endParaRPr lang="en-US" dirty="0"/>
          </a:p>
        </p:txBody>
      </p:sp>
      <p:pic>
        <p:nvPicPr>
          <p:cNvPr id="5122" name="Picture 2" descr="Stupid Duke Energy dumb smart meters - Chatham Journal Newspaper">
            <a:extLst>
              <a:ext uri="{FF2B5EF4-FFF2-40B4-BE49-F238E27FC236}">
                <a16:creationId xmlns:a16="http://schemas.microsoft.com/office/drawing/2014/main" id="{7F7E11BD-C933-550A-7861-BCEE6F128E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62088" y="1659649"/>
            <a:ext cx="3647446" cy="25291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897193"/>
            <a:ext cx="10515600" cy="548868"/>
          </a:xfrm>
          <a:prstGeom prst="rect">
            <a:avLst/>
          </a:prstGeom>
          <a:solidFill>
            <a:srgbClr val="673379"/>
          </a:solidFill>
        </p:spPr>
        <p:txBody>
          <a:bodyPr vert="horz" wrap="square" lIns="0" tIns="116840" rIns="0" bIns="0" rtlCol="0">
            <a:spAutoFit/>
          </a:bodyPr>
          <a:lstStyle/>
          <a:p>
            <a:pPr marL="91440">
              <a:lnSpc>
                <a:spcPct val="100000"/>
              </a:lnSpc>
              <a:spcBef>
                <a:spcPts val="920"/>
              </a:spcBef>
            </a:pPr>
            <a:r>
              <a:rPr lang="en-US" sz="2800" dirty="0">
                <a:solidFill>
                  <a:srgbClr val="FFFFFF"/>
                </a:solidFill>
              </a:rPr>
              <a:t>Sentiment Analysis and Trend Prediction in Social Media</a:t>
            </a:r>
          </a:p>
        </p:txBody>
      </p:sp>
      <p:sp>
        <p:nvSpPr>
          <p:cNvPr id="5" name="Content Placeholder 4">
            <a:extLst>
              <a:ext uri="{FF2B5EF4-FFF2-40B4-BE49-F238E27FC236}">
                <a16:creationId xmlns:a16="http://schemas.microsoft.com/office/drawing/2014/main" id="{7407A918-0A35-ACFA-8994-249A01C454A8}"/>
              </a:ext>
            </a:extLst>
          </p:cNvPr>
          <p:cNvSpPr>
            <a:spLocks noGrp="1"/>
          </p:cNvSpPr>
          <p:nvPr>
            <p:ph idx="1"/>
          </p:nvPr>
        </p:nvSpPr>
        <p:spPr>
          <a:xfrm>
            <a:off x="838200" y="1706007"/>
            <a:ext cx="6561306" cy="2943813"/>
          </a:xfrm>
        </p:spPr>
        <p:txBody>
          <a:bodyPr>
            <a:normAutofit fontScale="92500" lnSpcReduction="10000"/>
          </a:bodyPr>
          <a:lstStyle/>
          <a:p>
            <a:pPr>
              <a:buFont typeface="Arial" panose="020B0604020202020204" pitchFamily="34" charset="0"/>
              <a:buChar char="•"/>
            </a:pPr>
            <a:r>
              <a:rPr lang="en-US" b="1" dirty="0"/>
              <a:t>Twitter</a:t>
            </a:r>
            <a:r>
              <a:rPr lang="en-US" dirty="0"/>
              <a:t> uses big data to perform sentiment analysis and </a:t>
            </a:r>
            <a:r>
              <a:rPr lang="en-US" dirty="0">
                <a:solidFill>
                  <a:srgbClr val="FF0000"/>
                </a:solidFill>
              </a:rPr>
              <a:t>predict trends</a:t>
            </a:r>
            <a:r>
              <a:rPr lang="en-US" dirty="0"/>
              <a:t>, helping businesses and advertisers understand </a:t>
            </a:r>
            <a:r>
              <a:rPr lang="en-US" dirty="0">
                <a:solidFill>
                  <a:srgbClr val="FF0000"/>
                </a:solidFill>
              </a:rPr>
              <a:t>public opinion </a:t>
            </a:r>
            <a:r>
              <a:rPr lang="en-US" dirty="0"/>
              <a:t>and </a:t>
            </a:r>
            <a:r>
              <a:rPr lang="en-US" dirty="0">
                <a:solidFill>
                  <a:srgbClr val="FF0000"/>
                </a:solidFill>
              </a:rPr>
              <a:t>market trends</a:t>
            </a:r>
            <a:r>
              <a:rPr lang="en-US" dirty="0"/>
              <a:t>.</a:t>
            </a:r>
          </a:p>
          <a:p>
            <a:pPr>
              <a:buFont typeface="Arial" panose="020B0604020202020204" pitchFamily="34" charset="0"/>
              <a:buChar char="•"/>
            </a:pPr>
            <a:r>
              <a:rPr lang="en-US" b="1" dirty="0"/>
              <a:t>Data Volume:</a:t>
            </a:r>
            <a:r>
              <a:rPr lang="en-US" dirty="0"/>
              <a:t> Twitter processes over </a:t>
            </a:r>
            <a:r>
              <a:rPr lang="en-US" dirty="0">
                <a:solidFill>
                  <a:srgbClr val="FF0000"/>
                </a:solidFill>
              </a:rPr>
              <a:t>500 million tweets daily</a:t>
            </a:r>
            <a:r>
              <a:rPr lang="en-US" dirty="0"/>
              <a:t>, amounting to </a:t>
            </a:r>
            <a:r>
              <a:rPr lang="en-US" dirty="0">
                <a:solidFill>
                  <a:srgbClr val="FF0000"/>
                </a:solidFill>
              </a:rPr>
              <a:t>terabytes of data that include text, images, videos, and user interactions</a:t>
            </a:r>
            <a:r>
              <a:rPr lang="en-US" dirty="0"/>
              <a:t>.</a:t>
            </a:r>
          </a:p>
          <a:p>
            <a:pPr>
              <a:buFont typeface="Arial" panose="020B0604020202020204" pitchFamily="34" charset="0"/>
              <a:buChar char="•"/>
            </a:pPr>
            <a:r>
              <a:rPr lang="en-US" b="1" dirty="0"/>
              <a:t>Data Velocity:</a:t>
            </a:r>
            <a:r>
              <a:rPr lang="en-US" dirty="0"/>
              <a:t> The platform generates data at an extremely high velocity, with thousands of tweets being posted every second, requiring real-time analysis to capture trending topics and shifts in public sentiment.</a:t>
            </a:r>
          </a:p>
        </p:txBody>
      </p:sp>
      <p:sp>
        <p:nvSpPr>
          <p:cNvPr id="6" name="Content Placeholder 4">
            <a:extLst>
              <a:ext uri="{FF2B5EF4-FFF2-40B4-BE49-F238E27FC236}">
                <a16:creationId xmlns:a16="http://schemas.microsoft.com/office/drawing/2014/main" id="{5D35BA1C-F191-F903-8B94-3D762CB69DD4}"/>
              </a:ext>
            </a:extLst>
          </p:cNvPr>
          <p:cNvSpPr txBox="1">
            <a:spLocks/>
          </p:cNvSpPr>
          <p:nvPr/>
        </p:nvSpPr>
        <p:spPr>
          <a:xfrm>
            <a:off x="838200" y="4448784"/>
            <a:ext cx="10880387" cy="34155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en-US" b="1" dirty="0"/>
              <a:t>Conventional Limitation:</a:t>
            </a:r>
            <a:r>
              <a:rPr lang="en-US" dirty="0"/>
              <a:t> Traditional text analysis systems cannot keep up with the high speed and sheer volume of social media data, leading to delayed insights and missed opportunities to capitalize on emerging trends.</a:t>
            </a:r>
          </a:p>
          <a:p>
            <a:pPr>
              <a:buFont typeface="Arial" panose="020B0604020202020204" pitchFamily="34" charset="0"/>
              <a:buChar char="•"/>
            </a:pPr>
            <a:r>
              <a:rPr lang="en-US" b="1" dirty="0"/>
              <a:t>Big Data Parallelism:</a:t>
            </a:r>
            <a:r>
              <a:rPr lang="en-US" dirty="0"/>
              <a:t> Big data platforms allow Twitter to analyze vast amounts of real-time data using distributed computing and natural language processing (NLP) algorithms. This enables the platform to provide instant insights into public sentiment, identify trending topics as they emerge, and deliver targeted content to users.</a:t>
            </a:r>
          </a:p>
        </p:txBody>
      </p:sp>
      <p:pic>
        <p:nvPicPr>
          <p:cNvPr id="7170" name="Picture 2" descr="Twitter Sentiment Analysis in Real-Time">
            <a:extLst>
              <a:ext uri="{FF2B5EF4-FFF2-40B4-BE49-F238E27FC236}">
                <a16:creationId xmlns:a16="http://schemas.microsoft.com/office/drawing/2014/main" id="{6D61261C-8F1A-3EC3-2D5F-D4EEB124C9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3737" y="1653584"/>
            <a:ext cx="4080063" cy="1992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39437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897193"/>
            <a:ext cx="10515600" cy="548868"/>
          </a:xfrm>
          <a:prstGeom prst="rect">
            <a:avLst/>
          </a:prstGeom>
          <a:solidFill>
            <a:srgbClr val="673379"/>
          </a:solidFill>
        </p:spPr>
        <p:txBody>
          <a:bodyPr vert="horz" wrap="square" lIns="0" tIns="116840" rIns="0" bIns="0" rtlCol="0">
            <a:spAutoFit/>
          </a:bodyPr>
          <a:lstStyle/>
          <a:p>
            <a:pPr marL="91440">
              <a:lnSpc>
                <a:spcPct val="100000"/>
              </a:lnSpc>
              <a:spcBef>
                <a:spcPts val="920"/>
              </a:spcBef>
            </a:pPr>
            <a:r>
              <a:rPr lang="en-US" sz="2800" dirty="0">
                <a:solidFill>
                  <a:srgbClr val="FFFFFF"/>
                </a:solidFill>
              </a:rPr>
              <a:t>Smart City Infrastructure Management using IoT</a:t>
            </a:r>
          </a:p>
        </p:txBody>
      </p:sp>
      <p:sp>
        <p:nvSpPr>
          <p:cNvPr id="5" name="Content Placeholder 4">
            <a:extLst>
              <a:ext uri="{FF2B5EF4-FFF2-40B4-BE49-F238E27FC236}">
                <a16:creationId xmlns:a16="http://schemas.microsoft.com/office/drawing/2014/main" id="{7407A918-0A35-ACFA-8994-249A01C454A8}"/>
              </a:ext>
            </a:extLst>
          </p:cNvPr>
          <p:cNvSpPr>
            <a:spLocks noGrp="1"/>
          </p:cNvSpPr>
          <p:nvPr>
            <p:ph idx="1"/>
          </p:nvPr>
        </p:nvSpPr>
        <p:spPr>
          <a:xfrm>
            <a:off x="838200" y="1706007"/>
            <a:ext cx="5757153" cy="3060545"/>
          </a:xfrm>
        </p:spPr>
        <p:txBody>
          <a:bodyPr>
            <a:normAutofit lnSpcReduction="10000"/>
          </a:bodyPr>
          <a:lstStyle/>
          <a:p>
            <a:pPr>
              <a:buFont typeface="Arial" panose="020B0604020202020204" pitchFamily="34" charset="0"/>
              <a:buChar char="•"/>
            </a:pPr>
            <a:r>
              <a:rPr lang="en-US" sz="1800" b="1" dirty="0"/>
              <a:t>Barcelona</a:t>
            </a:r>
            <a:r>
              <a:rPr lang="en-US" sz="1800" dirty="0"/>
              <a:t> uses big data and IoT for smart city infrastructure management to </a:t>
            </a:r>
            <a:r>
              <a:rPr lang="en-US" sz="1800" dirty="0">
                <a:solidFill>
                  <a:srgbClr val="FF0000"/>
                </a:solidFill>
              </a:rPr>
              <a:t>improve urban living and resource efficiency</a:t>
            </a:r>
            <a:r>
              <a:rPr lang="en-US" sz="1800" dirty="0"/>
              <a:t>.</a:t>
            </a:r>
          </a:p>
          <a:p>
            <a:pPr>
              <a:buFont typeface="Arial" panose="020B0604020202020204" pitchFamily="34" charset="0"/>
              <a:buChar char="•"/>
            </a:pPr>
            <a:r>
              <a:rPr lang="en-US" sz="1800" b="1" dirty="0"/>
              <a:t>Data Volume:</a:t>
            </a:r>
            <a:r>
              <a:rPr lang="en-US" sz="1800" dirty="0"/>
              <a:t> Barcelona </a:t>
            </a:r>
            <a:r>
              <a:rPr lang="en-US" sz="1800" dirty="0">
                <a:solidFill>
                  <a:srgbClr val="FF0000"/>
                </a:solidFill>
              </a:rPr>
              <a:t>collects petabytes of data annually </a:t>
            </a:r>
            <a:r>
              <a:rPr lang="en-US" sz="1800" dirty="0"/>
              <a:t>from </a:t>
            </a:r>
            <a:r>
              <a:rPr lang="en-US" sz="1800" dirty="0">
                <a:solidFill>
                  <a:srgbClr val="FF0000"/>
                </a:solidFill>
              </a:rPr>
              <a:t>thousands of IoT </a:t>
            </a:r>
            <a:r>
              <a:rPr lang="en-US" sz="1800" dirty="0"/>
              <a:t>sensors deployed across the city, monitoring everything from </a:t>
            </a:r>
            <a:r>
              <a:rPr lang="en-US" sz="1800" dirty="0">
                <a:solidFill>
                  <a:srgbClr val="FF0000"/>
                </a:solidFill>
              </a:rPr>
              <a:t>traffic flow </a:t>
            </a:r>
            <a:r>
              <a:rPr lang="en-US" sz="1800" dirty="0"/>
              <a:t>and </a:t>
            </a:r>
            <a:r>
              <a:rPr lang="en-US" sz="1800" dirty="0">
                <a:solidFill>
                  <a:srgbClr val="FF0000"/>
                </a:solidFill>
              </a:rPr>
              <a:t>air quality </a:t>
            </a:r>
            <a:r>
              <a:rPr lang="en-US" sz="1800" dirty="0"/>
              <a:t>to </a:t>
            </a:r>
            <a:r>
              <a:rPr lang="en-US" sz="1800" dirty="0">
                <a:solidFill>
                  <a:srgbClr val="FF0000"/>
                </a:solidFill>
              </a:rPr>
              <a:t>energy usage </a:t>
            </a:r>
            <a:r>
              <a:rPr lang="en-US" sz="1800" dirty="0"/>
              <a:t>and </a:t>
            </a:r>
            <a:r>
              <a:rPr lang="en-US" sz="1800" dirty="0">
                <a:solidFill>
                  <a:srgbClr val="FF0000"/>
                </a:solidFill>
              </a:rPr>
              <a:t>waste management</a:t>
            </a:r>
            <a:r>
              <a:rPr lang="en-US" sz="1800" dirty="0"/>
              <a:t>.</a:t>
            </a:r>
          </a:p>
          <a:p>
            <a:pPr>
              <a:buFont typeface="Arial" panose="020B0604020202020204" pitchFamily="34" charset="0"/>
              <a:buChar char="•"/>
            </a:pPr>
            <a:r>
              <a:rPr lang="en-US" sz="1800" b="1" dirty="0"/>
              <a:t>Data Velocity:</a:t>
            </a:r>
            <a:r>
              <a:rPr lang="en-US" sz="1800" dirty="0"/>
              <a:t> </a:t>
            </a:r>
            <a:r>
              <a:rPr lang="en-US" sz="1800" dirty="0">
                <a:solidFill>
                  <a:srgbClr val="FF0000"/>
                </a:solidFill>
              </a:rPr>
              <a:t>IoT sensors </a:t>
            </a:r>
            <a:r>
              <a:rPr lang="en-US" sz="1800" dirty="0"/>
              <a:t>generate data continuously in real-time, providing constant updates on various parameters such as traffic congestion, pollution levels, and energy consumption.</a:t>
            </a:r>
          </a:p>
        </p:txBody>
      </p:sp>
      <p:sp>
        <p:nvSpPr>
          <p:cNvPr id="6" name="Content Placeholder 4">
            <a:extLst>
              <a:ext uri="{FF2B5EF4-FFF2-40B4-BE49-F238E27FC236}">
                <a16:creationId xmlns:a16="http://schemas.microsoft.com/office/drawing/2014/main" id="{5D35BA1C-F191-F903-8B94-3D762CB69DD4}"/>
              </a:ext>
            </a:extLst>
          </p:cNvPr>
          <p:cNvSpPr txBox="1">
            <a:spLocks/>
          </p:cNvSpPr>
          <p:nvPr/>
        </p:nvSpPr>
        <p:spPr>
          <a:xfrm>
            <a:off x="838200" y="4708731"/>
            <a:ext cx="10880387" cy="34155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en-US" sz="1800" b="1" dirty="0"/>
              <a:t>Conventional Limitation:</a:t>
            </a:r>
            <a:r>
              <a:rPr lang="en-US" sz="1800" dirty="0"/>
              <a:t> Traditional urban management systems cannot handle the vast amounts of high-velocity data from numerous sensors, leading to delayed responses and inefficient resource utilization.</a:t>
            </a:r>
          </a:p>
          <a:p>
            <a:pPr>
              <a:buFont typeface="Arial" panose="020B0604020202020204" pitchFamily="34" charset="0"/>
              <a:buChar char="•"/>
            </a:pPr>
            <a:r>
              <a:rPr lang="en-US" sz="1800" b="1" dirty="0"/>
              <a:t>Big Data Parallelism:</a:t>
            </a:r>
            <a:r>
              <a:rPr lang="en-US" sz="1800" dirty="0"/>
              <a:t> Big data platforms enable Barcelona to process and analyze real-time data streams from IoT sensors using distributed computing and advanced analytics. This allows for dynamic traffic management, real-time monitoring of environmental conditions, efficient energy distribution, and timely waste collection, significantly enhancing the city's operational efficiency and quality of life for its residents.</a:t>
            </a:r>
          </a:p>
        </p:txBody>
      </p:sp>
      <p:pic>
        <p:nvPicPr>
          <p:cNvPr id="6146" name="Picture 2" descr="The concept of IoT enabled Smart City | by Muniba Talha | Tech Lounge |  Medium">
            <a:extLst>
              <a:ext uri="{FF2B5EF4-FFF2-40B4-BE49-F238E27FC236}">
                <a16:creationId xmlns:a16="http://schemas.microsoft.com/office/drawing/2014/main" id="{9B66E054-A661-B3A8-A840-A79413BC5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1045" y="1869949"/>
            <a:ext cx="4812443" cy="21549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59742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A728815-96F1-EDB0-B7BA-24153F3807DF}"/>
              </a:ext>
            </a:extLst>
          </p:cNvPr>
          <p:cNvSpPr>
            <a:spLocks noGrp="1"/>
          </p:cNvSpPr>
          <p:nvPr>
            <p:ph type="title"/>
          </p:nvPr>
        </p:nvSpPr>
        <p:spPr/>
        <p:txBody>
          <a:bodyPr/>
          <a:lstStyle/>
          <a:p>
            <a:r>
              <a:rPr lang="en-US" dirty="0"/>
              <a:t>Data Sizes and Data Units</a:t>
            </a:r>
          </a:p>
        </p:txBody>
      </p:sp>
      <p:sp>
        <p:nvSpPr>
          <p:cNvPr id="3" name="Date Placeholder 2"/>
          <p:cNvSpPr>
            <a:spLocks noGrp="1"/>
          </p:cNvSpPr>
          <p:nvPr>
            <p:ph type="dt" sz="half" idx="4294967295"/>
          </p:nvPr>
        </p:nvSpPr>
        <p:spPr>
          <a:xfrm>
            <a:off x="9147175" y="6405563"/>
            <a:ext cx="3044825" cy="365125"/>
          </a:xfrm>
          <a:prstGeom prst="rect">
            <a:avLst/>
          </a:prstGeom>
        </p:spPr>
        <p:txBody>
          <a:bodyPr vert="horz"/>
          <a:lstStyle>
            <a:defPPr>
              <a:defRPr lang="en-US"/>
            </a:defPPr>
            <a:lvl1pPr marL="0" algn="r" defTabSz="914400" rtl="0" eaLnBrk="1" latinLnBrk="0" hangingPunct="1">
              <a:defRPr kumimoji="0" sz="14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latinLnBrk="0" hangingPunct="1"/>
            <a:fld id="{53662EBF-F10E-4FC3-968B-8F16207D6450}" type="datetime1">
              <a:rPr lang="en-US" smtClean="0"/>
              <a:pPr eaLnBrk="1" latinLnBrk="0" hangingPunct="1"/>
              <a:t>3/5/2025</a:t>
            </a:fld>
            <a:endParaRPr lang="en-US"/>
          </a:p>
        </p:txBody>
      </p:sp>
      <p:sp>
        <p:nvSpPr>
          <p:cNvPr id="4" name="Footer Placeholder 3"/>
          <p:cNvSpPr>
            <a:spLocks noGrp="1"/>
          </p:cNvSpPr>
          <p:nvPr>
            <p:ph type="ftr" sz="quarter" idx="4294967295"/>
          </p:nvPr>
        </p:nvSpPr>
        <p:spPr>
          <a:xfrm>
            <a:off x="0" y="6410325"/>
            <a:ext cx="3581400" cy="366713"/>
          </a:xfrm>
          <a:prstGeom prst="rect">
            <a:avLst/>
          </a:prstGeom>
        </p:spPr>
        <p:txBody>
          <a:bodyPr vert="horz"/>
          <a:lstStyle>
            <a:defPPr>
              <a:defRPr lang="en-US"/>
            </a:defPPr>
            <a:lvl1pPr marL="0" algn="l" defTabSz="914400" rtl="0" eaLnBrk="1" latinLnBrk="0" hangingPunct="1">
              <a:defRPr kumimoji="0"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Dr vasu pinnti                                                 ICT</a:t>
            </a:r>
            <a:endParaRPr kumimoji="0" lang="en-US"/>
          </a:p>
        </p:txBody>
      </p:sp>
      <p:pic>
        <p:nvPicPr>
          <p:cNvPr id="9" name="Content Placeholder 8">
            <a:extLst>
              <a:ext uri="{FF2B5EF4-FFF2-40B4-BE49-F238E27FC236}">
                <a16:creationId xmlns:a16="http://schemas.microsoft.com/office/drawing/2014/main" id="{0B3246DF-0025-AC73-955C-1807080961CE}"/>
              </a:ext>
            </a:extLst>
          </p:cNvPr>
          <p:cNvPicPr>
            <a:picLocks noGrp="1" noChangeAspect="1"/>
          </p:cNvPicPr>
          <p:nvPr>
            <p:ph idx="1"/>
          </p:nvPr>
        </p:nvPicPr>
        <p:blipFill>
          <a:blip r:embed="rId2"/>
          <a:stretch>
            <a:fillRect/>
          </a:stretch>
        </p:blipFill>
        <p:spPr>
          <a:xfrm>
            <a:off x="2583976" y="1545731"/>
            <a:ext cx="6811411" cy="5151932"/>
          </a:xfrm>
          <a:prstGeom prst="rect">
            <a:avLst/>
          </a:prstGeom>
        </p:spPr>
      </p:pic>
    </p:spTree>
    <p:extLst>
      <p:ext uri="{BB962C8B-B14F-4D97-AF65-F5344CB8AC3E}">
        <p14:creationId xmlns:p14="http://schemas.microsoft.com/office/powerpoint/2010/main" val="39827090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DB47C7E2-3BA5-4C7E-B1E0-407B834675E2}"/>
              </a:ext>
            </a:extLst>
          </p:cNvPr>
          <p:cNvGraphicFramePr>
            <a:graphicFrameLocks noGrp="1"/>
          </p:cNvGraphicFramePr>
          <p:nvPr>
            <p:extLst>
              <p:ext uri="{D42A27DB-BD31-4B8C-83A1-F6EECF244321}">
                <p14:modId xmlns:p14="http://schemas.microsoft.com/office/powerpoint/2010/main" val="1873219853"/>
              </p:ext>
            </p:extLst>
          </p:nvPr>
        </p:nvGraphicFramePr>
        <p:xfrm>
          <a:off x="724619" y="1086929"/>
          <a:ext cx="10601864" cy="5227436"/>
        </p:xfrm>
        <a:graphic>
          <a:graphicData uri="http://schemas.openxmlformats.org/drawingml/2006/table">
            <a:tbl>
              <a:tblPr/>
              <a:tblGrid>
                <a:gridCol w="2650466">
                  <a:extLst>
                    <a:ext uri="{9D8B030D-6E8A-4147-A177-3AD203B41FA5}">
                      <a16:colId xmlns:a16="http://schemas.microsoft.com/office/drawing/2014/main" val="4186913649"/>
                    </a:ext>
                  </a:extLst>
                </a:gridCol>
                <a:gridCol w="2650466">
                  <a:extLst>
                    <a:ext uri="{9D8B030D-6E8A-4147-A177-3AD203B41FA5}">
                      <a16:colId xmlns:a16="http://schemas.microsoft.com/office/drawing/2014/main" val="2519432048"/>
                    </a:ext>
                  </a:extLst>
                </a:gridCol>
                <a:gridCol w="2650466">
                  <a:extLst>
                    <a:ext uri="{9D8B030D-6E8A-4147-A177-3AD203B41FA5}">
                      <a16:colId xmlns:a16="http://schemas.microsoft.com/office/drawing/2014/main" val="1265185566"/>
                    </a:ext>
                  </a:extLst>
                </a:gridCol>
                <a:gridCol w="2650466">
                  <a:extLst>
                    <a:ext uri="{9D8B030D-6E8A-4147-A177-3AD203B41FA5}">
                      <a16:colId xmlns:a16="http://schemas.microsoft.com/office/drawing/2014/main" val="1477967692"/>
                    </a:ext>
                  </a:extLst>
                </a:gridCol>
              </a:tblGrid>
              <a:tr h="440321">
                <a:tc>
                  <a:txBody>
                    <a:bodyPr/>
                    <a:lstStyle/>
                    <a:p>
                      <a:r>
                        <a:rPr lang="en-US" sz="1400" b="1"/>
                        <a:t>Hardware Specs</a:t>
                      </a:r>
                      <a:endParaRPr lang="en-US" sz="1400"/>
                    </a:p>
                  </a:txBody>
                  <a:tcPr marL="54392" marR="54392" marT="27196" marB="27196" anchor="ctr">
                    <a:lnL>
                      <a:noFill/>
                    </a:lnL>
                    <a:lnR>
                      <a:noFill/>
                    </a:lnR>
                    <a:lnT>
                      <a:noFill/>
                    </a:lnT>
                    <a:lnB>
                      <a:noFill/>
                    </a:lnB>
                  </a:tcPr>
                </a:tc>
                <a:tc>
                  <a:txBody>
                    <a:bodyPr/>
                    <a:lstStyle/>
                    <a:p>
                      <a:r>
                        <a:rPr lang="en-US" sz="1400" b="1"/>
                        <a:t>Data Size Range</a:t>
                      </a:r>
                      <a:endParaRPr lang="en-US" sz="1400"/>
                    </a:p>
                  </a:txBody>
                  <a:tcPr marL="54392" marR="54392" marT="27196" marB="27196" anchor="ctr">
                    <a:lnL>
                      <a:noFill/>
                    </a:lnL>
                    <a:lnR>
                      <a:noFill/>
                    </a:lnR>
                    <a:lnT>
                      <a:noFill/>
                    </a:lnT>
                    <a:lnB>
                      <a:noFill/>
                    </a:lnB>
                  </a:tcPr>
                </a:tc>
                <a:tc>
                  <a:txBody>
                    <a:bodyPr/>
                    <a:lstStyle/>
                    <a:p>
                      <a:r>
                        <a:rPr lang="en-US" sz="1400" b="1"/>
                        <a:t>Recommended Technology</a:t>
                      </a:r>
                      <a:endParaRPr lang="en-US" sz="1400"/>
                    </a:p>
                  </a:txBody>
                  <a:tcPr marL="54392" marR="54392" marT="27196" marB="27196" anchor="ctr">
                    <a:lnL>
                      <a:noFill/>
                    </a:lnL>
                    <a:lnR>
                      <a:noFill/>
                    </a:lnR>
                    <a:lnT>
                      <a:noFill/>
                    </a:lnT>
                    <a:lnB>
                      <a:noFill/>
                    </a:lnB>
                  </a:tcPr>
                </a:tc>
                <a:tc>
                  <a:txBody>
                    <a:bodyPr/>
                    <a:lstStyle/>
                    <a:p>
                      <a:r>
                        <a:rPr lang="en-US" sz="1400" b="1"/>
                        <a:t>Notes</a:t>
                      </a:r>
                      <a:endParaRPr lang="en-US" sz="1400"/>
                    </a:p>
                  </a:txBody>
                  <a:tcPr marL="54392" marR="54392" marT="27196" marB="27196" anchor="ctr">
                    <a:lnL>
                      <a:noFill/>
                    </a:lnL>
                    <a:lnR>
                      <a:noFill/>
                    </a:lnR>
                    <a:lnT>
                      <a:noFill/>
                    </a:lnT>
                    <a:lnB>
                      <a:noFill/>
                    </a:lnB>
                  </a:tcPr>
                </a:tc>
                <a:extLst>
                  <a:ext uri="{0D108BD9-81ED-4DB2-BD59-A6C34878D82A}">
                    <a16:rowId xmlns:a16="http://schemas.microsoft.com/office/drawing/2014/main" val="2932012173"/>
                  </a:ext>
                </a:extLst>
              </a:tr>
              <a:tr h="629751">
                <a:tc>
                  <a:txBody>
                    <a:bodyPr/>
                    <a:lstStyle/>
                    <a:p>
                      <a:r>
                        <a:rPr lang="en-US" sz="1400" b="1"/>
                        <a:t>Low-end Laptop</a:t>
                      </a:r>
                      <a:r>
                        <a:rPr lang="en-US" sz="1400"/>
                        <a:t> (4GB RAM, Dual-Core CPU)</a:t>
                      </a:r>
                    </a:p>
                  </a:txBody>
                  <a:tcPr marL="54392" marR="54392" marT="27196" marB="27196" anchor="ctr">
                    <a:lnL>
                      <a:noFill/>
                    </a:lnL>
                    <a:lnR>
                      <a:noFill/>
                    </a:lnR>
                    <a:lnT>
                      <a:noFill/>
                    </a:lnT>
                    <a:lnB>
                      <a:noFill/>
                    </a:lnB>
                  </a:tcPr>
                </a:tc>
                <a:tc>
                  <a:txBody>
                    <a:bodyPr/>
                    <a:lstStyle/>
                    <a:p>
                      <a:r>
                        <a:rPr lang="en-US" sz="1400" b="1"/>
                        <a:t>&lt; 100MB</a:t>
                      </a:r>
                      <a:endParaRPr lang="en-US" sz="1400"/>
                    </a:p>
                  </a:txBody>
                  <a:tcPr marL="54392" marR="54392" marT="27196" marB="27196" anchor="ctr">
                    <a:lnL>
                      <a:noFill/>
                    </a:lnL>
                    <a:lnR>
                      <a:noFill/>
                    </a:lnR>
                    <a:lnT>
                      <a:noFill/>
                    </a:lnT>
                    <a:lnB>
                      <a:noFill/>
                    </a:lnB>
                  </a:tcPr>
                </a:tc>
                <a:tc>
                  <a:txBody>
                    <a:bodyPr/>
                    <a:lstStyle/>
                    <a:p>
                      <a:r>
                        <a:rPr lang="en-US" sz="1400" b="1"/>
                        <a:t>Excel, Pandas (small data)</a:t>
                      </a:r>
                      <a:endParaRPr lang="en-US" sz="1400"/>
                    </a:p>
                  </a:txBody>
                  <a:tcPr marL="54392" marR="54392" marT="27196" marB="27196" anchor="ctr">
                    <a:lnL>
                      <a:noFill/>
                    </a:lnL>
                    <a:lnR>
                      <a:noFill/>
                    </a:lnR>
                    <a:lnT>
                      <a:noFill/>
                    </a:lnT>
                    <a:lnB>
                      <a:noFill/>
                    </a:lnB>
                  </a:tcPr>
                </a:tc>
                <a:tc>
                  <a:txBody>
                    <a:bodyPr/>
                    <a:lstStyle/>
                    <a:p>
                      <a:r>
                        <a:rPr lang="en-US" sz="1400"/>
                        <a:t>Suitable for small datasets like CSVs, spreadsheets.</a:t>
                      </a:r>
                    </a:p>
                  </a:txBody>
                  <a:tcPr marL="54392" marR="54392" marT="27196" marB="27196" anchor="ctr">
                    <a:lnL>
                      <a:noFill/>
                    </a:lnL>
                    <a:lnR>
                      <a:noFill/>
                    </a:lnR>
                    <a:lnT>
                      <a:noFill/>
                    </a:lnT>
                    <a:lnB>
                      <a:noFill/>
                    </a:lnB>
                  </a:tcPr>
                </a:tc>
                <a:extLst>
                  <a:ext uri="{0D108BD9-81ED-4DB2-BD59-A6C34878D82A}">
                    <a16:rowId xmlns:a16="http://schemas.microsoft.com/office/drawing/2014/main" val="113381987"/>
                  </a:ext>
                </a:extLst>
              </a:tr>
              <a:tr h="629751">
                <a:tc>
                  <a:txBody>
                    <a:bodyPr/>
                    <a:lstStyle/>
                    <a:p>
                      <a:r>
                        <a:rPr lang="en-US" sz="1400" b="1"/>
                        <a:t>Mid-range Laptop/Desktop</a:t>
                      </a:r>
                      <a:r>
                        <a:rPr lang="en-US" sz="1400"/>
                        <a:t> (8GB RAM, Quad-Core CPU)</a:t>
                      </a:r>
                    </a:p>
                  </a:txBody>
                  <a:tcPr marL="54392" marR="54392" marT="27196" marB="27196" anchor="ctr">
                    <a:lnL>
                      <a:noFill/>
                    </a:lnL>
                    <a:lnR>
                      <a:noFill/>
                    </a:lnR>
                    <a:lnT>
                      <a:noFill/>
                    </a:lnT>
                    <a:lnB>
                      <a:noFill/>
                    </a:lnB>
                  </a:tcPr>
                </a:tc>
                <a:tc>
                  <a:txBody>
                    <a:bodyPr/>
                    <a:lstStyle/>
                    <a:p>
                      <a:r>
                        <a:rPr lang="en-US" sz="1400" b="1"/>
                        <a:t>100MB – 1GB</a:t>
                      </a:r>
                      <a:endParaRPr lang="en-US" sz="1400"/>
                    </a:p>
                  </a:txBody>
                  <a:tcPr marL="54392" marR="54392" marT="27196" marB="27196" anchor="ctr">
                    <a:lnL>
                      <a:noFill/>
                    </a:lnL>
                    <a:lnR>
                      <a:noFill/>
                    </a:lnR>
                    <a:lnT>
                      <a:noFill/>
                    </a:lnT>
                    <a:lnB>
                      <a:noFill/>
                    </a:lnB>
                  </a:tcPr>
                </a:tc>
                <a:tc>
                  <a:txBody>
                    <a:bodyPr/>
                    <a:lstStyle/>
                    <a:p>
                      <a:r>
                        <a:rPr lang="en-US" sz="1400" b="1"/>
                        <a:t>Pandas, SQLite, Polars</a:t>
                      </a:r>
                      <a:endParaRPr lang="en-US" sz="1400"/>
                    </a:p>
                  </a:txBody>
                  <a:tcPr marL="54392" marR="54392" marT="27196" marB="27196" anchor="ctr">
                    <a:lnL>
                      <a:noFill/>
                    </a:lnL>
                    <a:lnR>
                      <a:noFill/>
                    </a:lnR>
                    <a:lnT>
                      <a:noFill/>
                    </a:lnT>
                    <a:lnB>
                      <a:noFill/>
                    </a:lnB>
                  </a:tcPr>
                </a:tc>
                <a:tc>
                  <a:txBody>
                    <a:bodyPr/>
                    <a:lstStyle/>
                    <a:p>
                      <a:r>
                        <a:rPr lang="en-US" sz="1400"/>
                        <a:t>Pandas works but may slow down, Polars is more efficient.</a:t>
                      </a:r>
                    </a:p>
                  </a:txBody>
                  <a:tcPr marL="54392" marR="54392" marT="27196" marB="27196" anchor="ctr">
                    <a:lnL>
                      <a:noFill/>
                    </a:lnL>
                    <a:lnR>
                      <a:noFill/>
                    </a:lnR>
                    <a:lnT>
                      <a:noFill/>
                    </a:lnT>
                    <a:lnB>
                      <a:noFill/>
                    </a:lnB>
                  </a:tcPr>
                </a:tc>
                <a:extLst>
                  <a:ext uri="{0D108BD9-81ED-4DB2-BD59-A6C34878D82A}">
                    <a16:rowId xmlns:a16="http://schemas.microsoft.com/office/drawing/2014/main" val="1992814784"/>
                  </a:ext>
                </a:extLst>
              </a:tr>
              <a:tr h="819180">
                <a:tc>
                  <a:txBody>
                    <a:bodyPr/>
                    <a:lstStyle/>
                    <a:p>
                      <a:r>
                        <a:rPr lang="en-US" sz="1400" b="1"/>
                        <a:t>High-end Desktop</a:t>
                      </a:r>
                      <a:r>
                        <a:rPr lang="en-US" sz="1400"/>
                        <a:t> (16GB RAM, 6-8 Core CPU)</a:t>
                      </a:r>
                    </a:p>
                  </a:txBody>
                  <a:tcPr marL="54392" marR="54392" marT="27196" marB="27196" anchor="ctr">
                    <a:lnL>
                      <a:noFill/>
                    </a:lnL>
                    <a:lnR>
                      <a:noFill/>
                    </a:lnR>
                    <a:lnT>
                      <a:noFill/>
                    </a:lnT>
                    <a:lnB>
                      <a:noFill/>
                    </a:lnB>
                  </a:tcPr>
                </a:tc>
                <a:tc>
                  <a:txBody>
                    <a:bodyPr/>
                    <a:lstStyle/>
                    <a:p>
                      <a:r>
                        <a:rPr lang="en-US" sz="1400" b="1"/>
                        <a:t>1GB – 10GB</a:t>
                      </a:r>
                      <a:endParaRPr lang="en-US" sz="1400"/>
                    </a:p>
                  </a:txBody>
                  <a:tcPr marL="54392" marR="54392" marT="27196" marB="27196" anchor="ctr">
                    <a:lnL>
                      <a:noFill/>
                    </a:lnL>
                    <a:lnR>
                      <a:noFill/>
                    </a:lnR>
                    <a:lnT>
                      <a:noFill/>
                    </a:lnT>
                    <a:lnB>
                      <a:noFill/>
                    </a:lnB>
                  </a:tcPr>
                </a:tc>
                <a:tc>
                  <a:txBody>
                    <a:bodyPr/>
                    <a:lstStyle/>
                    <a:p>
                      <a:r>
                        <a:rPr lang="en-US" sz="1400" b="1"/>
                        <a:t>Pandas (optimized), Dask, PostgreSQL</a:t>
                      </a:r>
                      <a:endParaRPr lang="en-US" sz="1400"/>
                    </a:p>
                  </a:txBody>
                  <a:tcPr marL="54392" marR="54392" marT="27196" marB="27196" anchor="ctr">
                    <a:lnL>
                      <a:noFill/>
                    </a:lnL>
                    <a:lnR>
                      <a:noFill/>
                    </a:lnR>
                    <a:lnT>
                      <a:noFill/>
                    </a:lnT>
                    <a:lnB>
                      <a:noFill/>
                    </a:lnB>
                  </a:tcPr>
                </a:tc>
                <a:tc>
                  <a:txBody>
                    <a:bodyPr/>
                    <a:lstStyle/>
                    <a:p>
                      <a:r>
                        <a:rPr lang="en-US" sz="1400"/>
                        <a:t>Dask allows parallel processing; SQL databases handle structured data well.</a:t>
                      </a:r>
                    </a:p>
                  </a:txBody>
                  <a:tcPr marL="54392" marR="54392" marT="27196" marB="27196" anchor="ctr">
                    <a:lnL>
                      <a:noFill/>
                    </a:lnL>
                    <a:lnR>
                      <a:noFill/>
                    </a:lnR>
                    <a:lnT>
                      <a:noFill/>
                    </a:lnT>
                    <a:lnB>
                      <a:noFill/>
                    </a:lnB>
                  </a:tcPr>
                </a:tc>
                <a:extLst>
                  <a:ext uri="{0D108BD9-81ED-4DB2-BD59-A6C34878D82A}">
                    <a16:rowId xmlns:a16="http://schemas.microsoft.com/office/drawing/2014/main" val="2305017404"/>
                  </a:ext>
                </a:extLst>
              </a:tr>
              <a:tr h="819180">
                <a:tc>
                  <a:txBody>
                    <a:bodyPr/>
                    <a:lstStyle/>
                    <a:p>
                      <a:r>
                        <a:rPr lang="en-US" sz="1400" b="1"/>
                        <a:t>Workstation</a:t>
                      </a:r>
                      <a:r>
                        <a:rPr lang="en-US" sz="1400"/>
                        <a:t> (32GB RAM, 8-12 Core CPU)</a:t>
                      </a:r>
                    </a:p>
                  </a:txBody>
                  <a:tcPr marL="54392" marR="54392" marT="27196" marB="27196" anchor="ctr">
                    <a:lnL>
                      <a:noFill/>
                    </a:lnL>
                    <a:lnR>
                      <a:noFill/>
                    </a:lnR>
                    <a:lnT>
                      <a:noFill/>
                    </a:lnT>
                    <a:lnB>
                      <a:noFill/>
                    </a:lnB>
                  </a:tcPr>
                </a:tc>
                <a:tc>
                  <a:txBody>
                    <a:bodyPr/>
                    <a:lstStyle/>
                    <a:p>
                      <a:r>
                        <a:rPr lang="en-US" sz="1400" b="1"/>
                        <a:t>10GB – 100GB</a:t>
                      </a:r>
                      <a:endParaRPr lang="en-US" sz="1400"/>
                    </a:p>
                  </a:txBody>
                  <a:tcPr marL="54392" marR="54392" marT="27196" marB="27196" anchor="ctr">
                    <a:lnL>
                      <a:noFill/>
                    </a:lnL>
                    <a:lnR>
                      <a:noFill/>
                    </a:lnR>
                    <a:lnT>
                      <a:noFill/>
                    </a:lnT>
                    <a:lnB>
                      <a:noFill/>
                    </a:lnB>
                  </a:tcPr>
                </a:tc>
                <a:tc>
                  <a:txBody>
                    <a:bodyPr/>
                    <a:lstStyle/>
                    <a:p>
                      <a:r>
                        <a:rPr lang="en-US" sz="1400" b="1"/>
                        <a:t>Dask, Polars, PySpark (local mode), PostgreSQL</a:t>
                      </a:r>
                      <a:endParaRPr lang="en-US" sz="1400"/>
                    </a:p>
                  </a:txBody>
                  <a:tcPr marL="54392" marR="54392" marT="27196" marB="27196" anchor="ctr">
                    <a:lnL>
                      <a:noFill/>
                    </a:lnL>
                    <a:lnR>
                      <a:noFill/>
                    </a:lnR>
                    <a:lnT>
                      <a:noFill/>
                    </a:lnT>
                    <a:lnB>
                      <a:noFill/>
                    </a:lnB>
                  </a:tcPr>
                </a:tc>
                <a:tc>
                  <a:txBody>
                    <a:bodyPr/>
                    <a:lstStyle/>
                    <a:p>
                      <a:r>
                        <a:rPr lang="en-US" sz="1400"/>
                        <a:t>Dask and Polars can handle larger-than-memory datasets efficiently.</a:t>
                      </a:r>
                    </a:p>
                  </a:txBody>
                  <a:tcPr marL="54392" marR="54392" marT="27196" marB="27196" anchor="ctr">
                    <a:lnL>
                      <a:noFill/>
                    </a:lnL>
                    <a:lnR>
                      <a:noFill/>
                    </a:lnR>
                    <a:lnT>
                      <a:noFill/>
                    </a:lnT>
                    <a:lnB>
                      <a:noFill/>
                    </a:lnB>
                  </a:tcPr>
                </a:tc>
                <a:extLst>
                  <a:ext uri="{0D108BD9-81ED-4DB2-BD59-A6C34878D82A}">
                    <a16:rowId xmlns:a16="http://schemas.microsoft.com/office/drawing/2014/main" val="3312668187"/>
                  </a:ext>
                </a:extLst>
              </a:tr>
              <a:tr h="629751">
                <a:tc>
                  <a:txBody>
                    <a:bodyPr/>
                    <a:lstStyle/>
                    <a:p>
                      <a:r>
                        <a:rPr lang="en-US" sz="1400" b="1"/>
                        <a:t>High-performance Workstation</a:t>
                      </a:r>
                      <a:r>
                        <a:rPr lang="en-US" sz="1400"/>
                        <a:t> (64GB+ RAM, 12+ Core CPU)</a:t>
                      </a:r>
                    </a:p>
                  </a:txBody>
                  <a:tcPr marL="54392" marR="54392" marT="27196" marB="27196" anchor="ctr">
                    <a:lnL>
                      <a:noFill/>
                    </a:lnL>
                    <a:lnR>
                      <a:noFill/>
                    </a:lnR>
                    <a:lnT>
                      <a:noFill/>
                    </a:lnT>
                    <a:lnB>
                      <a:noFill/>
                    </a:lnB>
                  </a:tcPr>
                </a:tc>
                <a:tc>
                  <a:txBody>
                    <a:bodyPr/>
                    <a:lstStyle/>
                    <a:p>
                      <a:r>
                        <a:rPr lang="en-US" sz="1400" b="1"/>
                        <a:t>100GB – 500GB</a:t>
                      </a:r>
                      <a:endParaRPr lang="en-US" sz="1400"/>
                    </a:p>
                  </a:txBody>
                  <a:tcPr marL="54392" marR="54392" marT="27196" marB="27196" anchor="ctr">
                    <a:lnL>
                      <a:noFill/>
                    </a:lnL>
                    <a:lnR>
                      <a:noFill/>
                    </a:lnR>
                    <a:lnT>
                      <a:noFill/>
                    </a:lnT>
                    <a:lnB>
                      <a:noFill/>
                    </a:lnB>
                  </a:tcPr>
                </a:tc>
                <a:tc>
                  <a:txBody>
                    <a:bodyPr/>
                    <a:lstStyle/>
                    <a:p>
                      <a:r>
                        <a:rPr lang="en-US" sz="1400" b="1"/>
                        <a:t>PySpark (local cluster), DuckDB, BigQuery (cloud SQL)</a:t>
                      </a:r>
                      <a:endParaRPr lang="en-US" sz="1400"/>
                    </a:p>
                  </a:txBody>
                  <a:tcPr marL="54392" marR="54392" marT="27196" marB="27196" anchor="ctr">
                    <a:lnL>
                      <a:noFill/>
                    </a:lnL>
                    <a:lnR>
                      <a:noFill/>
                    </a:lnR>
                    <a:lnT>
                      <a:noFill/>
                    </a:lnT>
                    <a:lnB>
                      <a:noFill/>
                    </a:lnB>
                  </a:tcPr>
                </a:tc>
                <a:tc>
                  <a:txBody>
                    <a:bodyPr/>
                    <a:lstStyle/>
                    <a:p>
                      <a:r>
                        <a:rPr lang="en-US" sz="1400"/>
                        <a:t>Need distributed computing for efficiency.</a:t>
                      </a:r>
                    </a:p>
                  </a:txBody>
                  <a:tcPr marL="54392" marR="54392" marT="27196" marB="27196" anchor="ctr">
                    <a:lnL>
                      <a:noFill/>
                    </a:lnL>
                    <a:lnR>
                      <a:noFill/>
                    </a:lnR>
                    <a:lnT>
                      <a:noFill/>
                    </a:lnT>
                    <a:lnB>
                      <a:noFill/>
                    </a:lnB>
                  </a:tcPr>
                </a:tc>
                <a:extLst>
                  <a:ext uri="{0D108BD9-81ED-4DB2-BD59-A6C34878D82A}">
                    <a16:rowId xmlns:a16="http://schemas.microsoft.com/office/drawing/2014/main" val="1064670213"/>
                  </a:ext>
                </a:extLst>
              </a:tr>
              <a:tr h="629751">
                <a:tc>
                  <a:txBody>
                    <a:bodyPr/>
                    <a:lstStyle/>
                    <a:p>
                      <a:r>
                        <a:rPr lang="en-US" sz="1400" b="1"/>
                        <a:t>Small Hadoop Cluster</a:t>
                      </a:r>
                      <a:r>
                        <a:rPr lang="en-US" sz="1400"/>
                        <a:t> (3+ Nodes, 128GB+ RAM)</a:t>
                      </a:r>
                    </a:p>
                  </a:txBody>
                  <a:tcPr marL="54392" marR="54392" marT="27196" marB="27196" anchor="ctr">
                    <a:lnL>
                      <a:noFill/>
                    </a:lnL>
                    <a:lnR>
                      <a:noFill/>
                    </a:lnR>
                    <a:lnT>
                      <a:noFill/>
                    </a:lnT>
                    <a:lnB>
                      <a:noFill/>
                    </a:lnB>
                  </a:tcPr>
                </a:tc>
                <a:tc>
                  <a:txBody>
                    <a:bodyPr/>
                    <a:lstStyle/>
                    <a:p>
                      <a:r>
                        <a:rPr lang="en-US" sz="1400" b="1"/>
                        <a:t>500GB – 1TB</a:t>
                      </a:r>
                      <a:endParaRPr lang="en-US" sz="1400"/>
                    </a:p>
                  </a:txBody>
                  <a:tcPr marL="54392" marR="54392" marT="27196" marB="27196" anchor="ctr">
                    <a:lnL>
                      <a:noFill/>
                    </a:lnL>
                    <a:lnR>
                      <a:noFill/>
                    </a:lnR>
                    <a:lnT>
                      <a:noFill/>
                    </a:lnT>
                    <a:lnB>
                      <a:noFill/>
                    </a:lnB>
                  </a:tcPr>
                </a:tc>
                <a:tc>
                  <a:txBody>
                    <a:bodyPr/>
                    <a:lstStyle/>
                    <a:p>
                      <a:r>
                        <a:rPr lang="en-US" sz="1400" b="1"/>
                        <a:t>Apache Spark, Hadoop (MapReduce, Hive), Databricks</a:t>
                      </a:r>
                      <a:endParaRPr lang="en-US" sz="1400"/>
                    </a:p>
                  </a:txBody>
                  <a:tcPr marL="54392" marR="54392" marT="27196" marB="27196" anchor="ctr">
                    <a:lnL>
                      <a:noFill/>
                    </a:lnL>
                    <a:lnR>
                      <a:noFill/>
                    </a:lnR>
                    <a:lnT>
                      <a:noFill/>
                    </a:lnT>
                    <a:lnB>
                      <a:noFill/>
                    </a:lnB>
                  </a:tcPr>
                </a:tc>
                <a:tc>
                  <a:txBody>
                    <a:bodyPr/>
                    <a:lstStyle/>
                    <a:p>
                      <a:r>
                        <a:rPr lang="en-US" sz="1400"/>
                        <a:t>For large-scale batch processing and analytics.</a:t>
                      </a:r>
                    </a:p>
                  </a:txBody>
                  <a:tcPr marL="54392" marR="54392" marT="27196" marB="27196" anchor="ctr">
                    <a:lnL>
                      <a:noFill/>
                    </a:lnL>
                    <a:lnR>
                      <a:noFill/>
                    </a:lnR>
                    <a:lnT>
                      <a:noFill/>
                    </a:lnT>
                    <a:lnB>
                      <a:noFill/>
                    </a:lnB>
                  </a:tcPr>
                </a:tc>
                <a:extLst>
                  <a:ext uri="{0D108BD9-81ED-4DB2-BD59-A6C34878D82A}">
                    <a16:rowId xmlns:a16="http://schemas.microsoft.com/office/drawing/2014/main" val="1832058907"/>
                  </a:ext>
                </a:extLst>
              </a:tr>
              <a:tr h="629751">
                <a:tc>
                  <a:txBody>
                    <a:bodyPr/>
                    <a:lstStyle/>
                    <a:p>
                      <a:r>
                        <a:rPr lang="fr-FR" sz="1400" b="1"/>
                        <a:t>Enterprise-Scale Cluster</a:t>
                      </a:r>
                      <a:r>
                        <a:rPr lang="fr-FR" sz="1400"/>
                        <a:t> (10+ Nodes, 1TB+ RAM)</a:t>
                      </a:r>
                    </a:p>
                  </a:txBody>
                  <a:tcPr marL="54392" marR="54392" marT="27196" marB="27196" anchor="ctr">
                    <a:lnL>
                      <a:noFill/>
                    </a:lnL>
                    <a:lnR>
                      <a:noFill/>
                    </a:lnR>
                    <a:lnT>
                      <a:noFill/>
                    </a:lnT>
                    <a:lnB>
                      <a:noFill/>
                    </a:lnB>
                  </a:tcPr>
                </a:tc>
                <a:tc>
                  <a:txBody>
                    <a:bodyPr/>
                    <a:lstStyle/>
                    <a:p>
                      <a:r>
                        <a:rPr lang="en-US" sz="1400" b="1"/>
                        <a:t>1TB+</a:t>
                      </a:r>
                      <a:endParaRPr lang="en-US" sz="1400"/>
                    </a:p>
                  </a:txBody>
                  <a:tcPr marL="54392" marR="54392" marT="27196" marB="27196" anchor="ctr">
                    <a:lnL>
                      <a:noFill/>
                    </a:lnL>
                    <a:lnR>
                      <a:noFill/>
                    </a:lnR>
                    <a:lnT>
                      <a:noFill/>
                    </a:lnT>
                    <a:lnB>
                      <a:noFill/>
                    </a:lnB>
                  </a:tcPr>
                </a:tc>
                <a:tc>
                  <a:txBody>
                    <a:bodyPr/>
                    <a:lstStyle/>
                    <a:p>
                      <a:r>
                        <a:rPr lang="en-US" sz="1400" b="1"/>
                        <a:t>Apache Spark, Hadoop, Google BigQuery, Azure Databricks</a:t>
                      </a:r>
                      <a:endParaRPr lang="en-US" sz="1400"/>
                    </a:p>
                  </a:txBody>
                  <a:tcPr marL="54392" marR="54392" marT="27196" marB="27196" anchor="ctr">
                    <a:lnL>
                      <a:noFill/>
                    </a:lnL>
                    <a:lnR>
                      <a:noFill/>
                    </a:lnR>
                    <a:lnT>
                      <a:noFill/>
                    </a:lnT>
                    <a:lnB>
                      <a:noFill/>
                    </a:lnB>
                  </a:tcPr>
                </a:tc>
                <a:tc>
                  <a:txBody>
                    <a:bodyPr/>
                    <a:lstStyle/>
                    <a:p>
                      <a:r>
                        <a:rPr lang="en-US" sz="1400" dirty="0"/>
                        <a:t>Cloud-based or distributed computing required for scalability.</a:t>
                      </a:r>
                    </a:p>
                  </a:txBody>
                  <a:tcPr marL="54392" marR="54392" marT="27196" marB="27196" anchor="ctr">
                    <a:lnL>
                      <a:noFill/>
                    </a:lnL>
                    <a:lnR>
                      <a:noFill/>
                    </a:lnR>
                    <a:lnT>
                      <a:noFill/>
                    </a:lnT>
                    <a:lnB>
                      <a:noFill/>
                    </a:lnB>
                  </a:tcPr>
                </a:tc>
                <a:extLst>
                  <a:ext uri="{0D108BD9-81ED-4DB2-BD59-A6C34878D82A}">
                    <a16:rowId xmlns:a16="http://schemas.microsoft.com/office/drawing/2014/main" val="3273223444"/>
                  </a:ext>
                </a:extLst>
              </a:tr>
            </a:tbl>
          </a:graphicData>
        </a:graphic>
      </p:graphicFrame>
      <p:sp>
        <p:nvSpPr>
          <p:cNvPr id="2" name="Rectangle 1">
            <a:extLst>
              <a:ext uri="{FF2B5EF4-FFF2-40B4-BE49-F238E27FC236}">
                <a16:creationId xmlns:a16="http://schemas.microsoft.com/office/drawing/2014/main" id="{9B1E4384-89EC-4FE3-97CB-A8625BA161C5}"/>
              </a:ext>
            </a:extLst>
          </p:cNvPr>
          <p:cNvSpPr/>
          <p:nvPr/>
        </p:nvSpPr>
        <p:spPr>
          <a:xfrm>
            <a:off x="201284" y="717597"/>
            <a:ext cx="11990716" cy="369332"/>
          </a:xfrm>
          <a:prstGeom prst="rect">
            <a:avLst/>
          </a:prstGeom>
        </p:spPr>
        <p:txBody>
          <a:bodyPr wrap="square">
            <a:spAutoFit/>
          </a:bodyPr>
          <a:lstStyle/>
          <a:p>
            <a:r>
              <a:rPr lang="en-US" dirty="0"/>
              <a:t>This table that maps </a:t>
            </a:r>
            <a:r>
              <a:rPr lang="en-US" b="1" dirty="0"/>
              <a:t>hardware specifications (RAM &amp; CPU)</a:t>
            </a:r>
            <a:r>
              <a:rPr lang="en-US" dirty="0"/>
              <a:t> to </a:t>
            </a:r>
            <a:r>
              <a:rPr lang="en-US" b="1" dirty="0"/>
              <a:t>data size limits</a:t>
            </a:r>
            <a:r>
              <a:rPr lang="en-US" dirty="0"/>
              <a:t> and the </a:t>
            </a:r>
            <a:r>
              <a:rPr lang="en-US" b="1" dirty="0"/>
              <a:t>best-suited technologies</a:t>
            </a:r>
            <a:r>
              <a:rPr lang="en-US" dirty="0"/>
              <a:t> for processing</a:t>
            </a:r>
          </a:p>
        </p:txBody>
      </p:sp>
    </p:spTree>
    <p:extLst>
      <p:ext uri="{BB962C8B-B14F-4D97-AF65-F5344CB8AC3E}">
        <p14:creationId xmlns:p14="http://schemas.microsoft.com/office/powerpoint/2010/main" val="29829343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6825</TotalTime>
  <Words>2566</Words>
  <Application>Microsoft Office PowerPoint</Application>
  <PresentationFormat>Widescreen</PresentationFormat>
  <Paragraphs>174</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307401 Big Data and Data Warehouses</vt:lpstr>
      <vt:lpstr>What is Big Data?</vt:lpstr>
      <vt:lpstr>Motivations for Big Data</vt:lpstr>
      <vt:lpstr>Historical Evolution</vt:lpstr>
      <vt:lpstr>Challenges in Processing Big Data - The 5 Vs of Big Data</vt:lpstr>
      <vt:lpstr>Volume</vt:lpstr>
      <vt:lpstr>Velocity</vt:lpstr>
      <vt:lpstr>Variety</vt:lpstr>
      <vt:lpstr>Veracity</vt:lpstr>
      <vt:lpstr>Value</vt:lpstr>
      <vt:lpstr>Sources of Big Data</vt:lpstr>
      <vt:lpstr>Importance and Applications of Big Data</vt:lpstr>
      <vt:lpstr>Real-Time Stock Market Analysis</vt:lpstr>
      <vt:lpstr>Customer Behavior Analysis in Retail</vt:lpstr>
      <vt:lpstr>Personalized Medicine and Genomic Analysis:</vt:lpstr>
      <vt:lpstr>Predictive Maintenance in Manufacturing</vt:lpstr>
      <vt:lpstr>Fleet Management in Transportation</vt:lpstr>
      <vt:lpstr>Smart Grid Management in the Energy Sector</vt:lpstr>
      <vt:lpstr>Sentiment Analysis and Trend Prediction in Social Media</vt:lpstr>
      <vt:lpstr>Smart City Infrastructure Management using IoT</vt:lpstr>
      <vt:lpstr>Data Sizes and Data Units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Probability Distribution Functions</dc:title>
  <dc:creator>Mohammed Fasha</dc:creator>
  <cp:lastModifiedBy>Mohammed Fasha</cp:lastModifiedBy>
  <cp:revision>827</cp:revision>
  <dcterms:created xsi:type="dcterms:W3CDTF">2023-03-26T11:17:23Z</dcterms:created>
  <dcterms:modified xsi:type="dcterms:W3CDTF">2025-03-05T09:13:56Z</dcterms:modified>
</cp:coreProperties>
</file>