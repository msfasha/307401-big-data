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heme/theme2.xml" ContentType="application/vnd.openxmlformats-officedocument.theme+xml"/>
  <Override PartName="/ppt/tags/tag43.xml" ContentType="application/vnd.openxmlformats-officedocument.presentationml.tags+xml"/>
  <Override PartName="/ppt/notesSlides/notesSlide1.xml" ContentType="application/vnd.openxmlformats-officedocument.presentationml.notesSlide+xml"/>
  <Override PartName="/ppt/tags/tag44.xml" ContentType="application/vnd.openxmlformats-officedocument.presentationml.tags+xml"/>
  <Override PartName="/ppt/notesSlides/notesSlide2.xml" ContentType="application/vnd.openxmlformats-officedocument.presentationml.notesSlide+xml"/>
  <Override PartName="/ppt/tags/tag45.xml" ContentType="application/vnd.openxmlformats-officedocument.presentationml.tags+xml"/>
  <Override PartName="/ppt/notesSlides/notesSlide3.xml" ContentType="application/vnd.openxmlformats-officedocument.presentationml.notesSlide+xml"/>
  <Override PartName="/ppt/tags/tag46.xml" ContentType="application/vnd.openxmlformats-officedocument.presentationml.tags+xml"/>
  <Override PartName="/ppt/notesSlides/notesSlide4.xml" ContentType="application/vnd.openxmlformats-officedocument.presentationml.notesSlide+xml"/>
  <Override PartName="/ppt/tags/tag47.xml" ContentType="application/vnd.openxmlformats-officedocument.presentationml.tags+xml"/>
  <Override PartName="/ppt/notesSlides/notesSlide5.xml" ContentType="application/vnd.openxmlformats-officedocument.presentationml.notesSlide+xml"/>
  <Override PartName="/ppt/tags/tag48.xml" ContentType="application/vnd.openxmlformats-officedocument.presentationml.tags+xml"/>
  <Override PartName="/ppt/notesSlides/notesSlide6.xml" ContentType="application/vnd.openxmlformats-officedocument.presentationml.notesSlide+xml"/>
  <Override PartName="/ppt/tags/tag49.xml" ContentType="application/vnd.openxmlformats-officedocument.presentationml.tags+xml"/>
  <Override PartName="/ppt/notesSlides/notesSlide7.xml" ContentType="application/vnd.openxmlformats-officedocument.presentationml.notesSlide+xml"/>
  <Override PartName="/ppt/tags/tag50.xml" ContentType="application/vnd.openxmlformats-officedocument.presentationml.tags+xml"/>
  <Override PartName="/ppt/notesSlides/notesSlide8.xml" ContentType="application/vnd.openxmlformats-officedocument.presentationml.notesSlide+xml"/>
  <Override PartName="/ppt/tags/tag51.xml" ContentType="application/vnd.openxmlformats-officedocument.presentationml.tags+xml"/>
  <Override PartName="/ppt/notesSlides/notesSlide9.xml" ContentType="application/vnd.openxmlformats-officedocument.presentationml.notesSlide+xml"/>
  <Override PartName="/ppt/tags/tag52.xml" ContentType="application/vnd.openxmlformats-officedocument.presentationml.tags+xml"/>
  <Override PartName="/ppt/notesSlides/notesSlide10.xml" ContentType="application/vnd.openxmlformats-officedocument.presentationml.notesSlide+xml"/>
  <Override PartName="/ppt/tags/tag53.xml" ContentType="application/vnd.openxmlformats-officedocument.presentationml.tags+xml"/>
  <Override PartName="/ppt/notesSlides/notesSlide11.xml" ContentType="application/vnd.openxmlformats-officedocument.presentationml.notesSlide+xml"/>
  <Override PartName="/ppt/tags/tag54.xml" ContentType="application/vnd.openxmlformats-officedocument.presentationml.tags+xml"/>
  <Override PartName="/ppt/notesSlides/notesSlide12.xml" ContentType="application/vnd.openxmlformats-officedocument.presentationml.notesSlide+xml"/>
  <Override PartName="/ppt/tags/tag55.xml" ContentType="application/vnd.openxmlformats-officedocument.presentationml.tags+xml"/>
  <Override PartName="/ppt/notesSlides/notesSlide13.xml" ContentType="application/vnd.openxmlformats-officedocument.presentationml.notesSlide+xml"/>
  <Override PartName="/ppt/tags/tag56.xml" ContentType="application/vnd.openxmlformats-officedocument.presentationml.tags+xml"/>
  <Override PartName="/ppt/notesSlides/notesSlide14.xml" ContentType="application/vnd.openxmlformats-officedocument.presentationml.notesSlide+xml"/>
  <Override PartName="/ppt/tags/tag57.xml" ContentType="application/vnd.openxmlformats-officedocument.presentationml.tags+xml"/>
  <Override PartName="/ppt/notesSlides/notesSlide15.xml" ContentType="application/vnd.openxmlformats-officedocument.presentationml.notesSlide+xml"/>
  <Override PartName="/ppt/tags/tag58.xml" ContentType="application/vnd.openxmlformats-officedocument.presentationml.tags+xml"/>
  <Override PartName="/ppt/notesSlides/notesSlide16.xml" ContentType="application/vnd.openxmlformats-officedocument.presentationml.notesSlide+xml"/>
  <Override PartName="/ppt/tags/tag59.xml" ContentType="application/vnd.openxmlformats-officedocument.presentationml.tags+xml"/>
  <Override PartName="/ppt/notesSlides/notesSlide17.xml" ContentType="application/vnd.openxmlformats-officedocument.presentationml.notesSlide+xml"/>
  <Override PartName="/ppt/tags/tag60.xml" ContentType="application/vnd.openxmlformats-officedocument.presentationml.tags+xml"/>
  <Override PartName="/ppt/notesSlides/notesSlide18.xml" ContentType="application/vnd.openxmlformats-officedocument.presentationml.notesSlide+xml"/>
  <Override PartName="/ppt/tags/tag61.xml" ContentType="application/vnd.openxmlformats-officedocument.presentationml.tags+xml"/>
  <Override PartName="/ppt/notesSlides/notesSlide19.xml" ContentType="application/vnd.openxmlformats-officedocument.presentationml.notesSlide+xml"/>
  <Override PartName="/ppt/tags/tag62.xml" ContentType="application/vnd.openxmlformats-officedocument.presentationml.tags+xml"/>
  <Override PartName="/ppt/notesSlides/notesSlide20.xml" ContentType="application/vnd.openxmlformats-officedocument.presentationml.notesSlide+xml"/>
  <Override PartName="/ppt/tags/tag63.xml" ContentType="application/vnd.openxmlformats-officedocument.presentationml.tags+xml"/>
  <Override PartName="/ppt/notesSlides/notesSlide21.xml" ContentType="application/vnd.openxmlformats-officedocument.presentationml.notesSlide+xml"/>
  <Override PartName="/ppt/tags/tag64.xml" ContentType="application/vnd.openxmlformats-officedocument.presentationml.tags+xml"/>
  <Override PartName="/ppt/notesSlides/notesSlide22.xml" ContentType="application/vnd.openxmlformats-officedocument.presentationml.notesSlide+xml"/>
  <Override PartName="/ppt/tags/tag65.xml" ContentType="application/vnd.openxmlformats-officedocument.presentationml.tags+xml"/>
  <Override PartName="/ppt/notesSlides/notesSlide23.xml" ContentType="application/vnd.openxmlformats-officedocument.presentationml.notesSlide+xml"/>
  <Override PartName="/ppt/tags/tag66.xml" ContentType="application/vnd.openxmlformats-officedocument.presentationml.tags+xml"/>
  <Override PartName="/ppt/notesSlides/notesSlide24.xml" ContentType="application/vnd.openxmlformats-officedocument.presentationml.notesSlide+xml"/>
  <Override PartName="/ppt/tags/tag67.xml" ContentType="application/vnd.openxmlformats-officedocument.presentationml.tags+xml"/>
  <Override PartName="/ppt/notesSlides/notesSlide25.xml" ContentType="application/vnd.openxmlformats-officedocument.presentationml.notesSlide+xml"/>
  <Override PartName="/ppt/tags/tag68.xml" ContentType="application/vnd.openxmlformats-officedocument.presentationml.tags+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84"/>
  </p:notesMasterIdLst>
  <p:sldIdLst>
    <p:sldId id="316" r:id="rId2"/>
    <p:sldId id="257" r:id="rId3"/>
    <p:sldId id="260" r:id="rId4"/>
    <p:sldId id="268" r:id="rId5"/>
    <p:sldId id="271" r:id="rId6"/>
    <p:sldId id="318" r:id="rId7"/>
    <p:sldId id="325" r:id="rId8"/>
    <p:sldId id="327" r:id="rId9"/>
    <p:sldId id="333" r:id="rId10"/>
    <p:sldId id="296" r:id="rId11"/>
    <p:sldId id="274" r:id="rId12"/>
    <p:sldId id="329" r:id="rId13"/>
    <p:sldId id="298" r:id="rId14"/>
    <p:sldId id="269" r:id="rId15"/>
    <p:sldId id="277" r:id="rId16"/>
    <p:sldId id="283" r:id="rId17"/>
    <p:sldId id="284" r:id="rId18"/>
    <p:sldId id="285" r:id="rId19"/>
    <p:sldId id="261" r:id="rId20"/>
    <p:sldId id="297" r:id="rId21"/>
    <p:sldId id="293" r:id="rId22"/>
    <p:sldId id="294" r:id="rId23"/>
    <p:sldId id="299" r:id="rId24"/>
    <p:sldId id="473" r:id="rId25"/>
    <p:sldId id="471" r:id="rId26"/>
    <p:sldId id="476" r:id="rId27"/>
    <p:sldId id="525" r:id="rId28"/>
    <p:sldId id="484" r:id="rId29"/>
    <p:sldId id="485" r:id="rId30"/>
    <p:sldId id="486" r:id="rId31"/>
    <p:sldId id="487" r:id="rId32"/>
    <p:sldId id="488" r:id="rId33"/>
    <p:sldId id="489" r:id="rId34"/>
    <p:sldId id="490" r:id="rId35"/>
    <p:sldId id="491" r:id="rId36"/>
    <p:sldId id="492" r:id="rId37"/>
    <p:sldId id="493" r:id="rId38"/>
    <p:sldId id="526" r:id="rId39"/>
    <p:sldId id="494" r:id="rId40"/>
    <p:sldId id="495" r:id="rId41"/>
    <p:sldId id="496" r:id="rId42"/>
    <p:sldId id="497" r:id="rId43"/>
    <p:sldId id="498" r:id="rId44"/>
    <p:sldId id="499" r:id="rId45"/>
    <p:sldId id="500" r:id="rId46"/>
    <p:sldId id="501" r:id="rId47"/>
    <p:sldId id="502" r:id="rId48"/>
    <p:sldId id="537" r:id="rId49"/>
    <p:sldId id="538" r:id="rId50"/>
    <p:sldId id="503" r:id="rId51"/>
    <p:sldId id="539" r:id="rId52"/>
    <p:sldId id="527" r:id="rId53"/>
    <p:sldId id="504" r:id="rId54"/>
    <p:sldId id="505" r:id="rId55"/>
    <p:sldId id="506" r:id="rId56"/>
    <p:sldId id="507" r:id="rId57"/>
    <p:sldId id="508" r:id="rId58"/>
    <p:sldId id="509" r:id="rId59"/>
    <p:sldId id="510" r:id="rId60"/>
    <p:sldId id="511" r:id="rId61"/>
    <p:sldId id="512" r:id="rId62"/>
    <p:sldId id="513" r:id="rId63"/>
    <p:sldId id="528" r:id="rId64"/>
    <p:sldId id="514" r:id="rId65"/>
    <p:sldId id="515" r:id="rId66"/>
    <p:sldId id="516" r:id="rId67"/>
    <p:sldId id="517" r:id="rId68"/>
    <p:sldId id="518" r:id="rId69"/>
    <p:sldId id="519" r:id="rId70"/>
    <p:sldId id="520" r:id="rId71"/>
    <p:sldId id="521" r:id="rId72"/>
    <p:sldId id="522" r:id="rId73"/>
    <p:sldId id="529" r:id="rId74"/>
    <p:sldId id="523" r:id="rId75"/>
    <p:sldId id="524" r:id="rId76"/>
    <p:sldId id="530" r:id="rId77"/>
    <p:sldId id="531" r:id="rId78"/>
    <p:sldId id="532" r:id="rId79"/>
    <p:sldId id="533" r:id="rId80"/>
    <p:sldId id="534" r:id="rId81"/>
    <p:sldId id="535" r:id="rId82"/>
    <p:sldId id="536" r:id="rId83"/>
  </p:sldIdLst>
  <p:sldSz cx="12192000" cy="6858000"/>
  <p:notesSz cx="6858000" cy="9144000"/>
  <p:custDataLst>
    <p:tags r:id="rId85"/>
  </p:custDataLst>
  <p:defaultTextStyle>
    <a:defPPr>
      <a:defRPr lang="en-US"/>
    </a:defPPr>
    <a:lvl1pPr marL="0" algn="l" defTabSz="228600" rtl="0" eaLnBrk="1" latinLnBrk="0" hangingPunct="1">
      <a:defRPr sz="1800" kern="1200">
        <a:solidFill>
          <a:schemeClr val="tx1"/>
        </a:solidFill>
        <a:latin typeface="+mn-lt"/>
        <a:ea typeface="+mn-ea"/>
        <a:cs typeface="+mn-cs"/>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2: Data-Driven Organizations" id="{F951D943-4D35-4A91-8346-04D26B8D5550}">
          <p14:sldIdLst>
            <p14:sldId id="316"/>
            <p14:sldId id="257"/>
          </p14:sldIdLst>
        </p14:section>
        <p14:section name="The data pipeline – infrastructure for data-driven decisions" id="{A713CE27-ADA6-43D3-956E-EA6FE40D6278}">
          <p14:sldIdLst>
            <p14:sldId id="260"/>
            <p14:sldId id="268"/>
            <p14:sldId id="271"/>
            <p14:sldId id="318"/>
            <p14:sldId id="325"/>
            <p14:sldId id="327"/>
            <p14:sldId id="333"/>
            <p14:sldId id="296"/>
          </p14:sldIdLst>
        </p14:section>
        <p14:section name="The role of the data engineer in data-driven organizations" id="{16857DC9-8652-49CD-8150-AF3E070D2E30}">
          <p14:sldIdLst>
            <p14:sldId id="274"/>
            <p14:sldId id="329"/>
            <p14:sldId id="298"/>
          </p14:sldIdLst>
        </p14:section>
        <p14:section name="Modern data strategies" id="{83C8D926-ECA4-4A5C-BF3E-8A4AB69FE96A}">
          <p14:sldIdLst>
            <p14:sldId id="269"/>
            <p14:sldId id="277"/>
            <p14:sldId id="283"/>
            <p14:sldId id="284"/>
            <p14:sldId id="285"/>
            <p14:sldId id="261"/>
            <p14:sldId id="297"/>
          </p14:sldIdLst>
        </p14:section>
        <p14:section name="Lab: Accessing and Analyzing Data by Using Amazon S3" id="{D5A88868-6A6C-4371-B1E3-12B1BCBFB144}">
          <p14:sldIdLst/>
        </p14:section>
        <p14:section name="Wrap-up" id="{068BA809-5368-467F-A0A3-5A3502D623F9}">
          <p14:sldIdLst>
            <p14:sldId id="293"/>
            <p14:sldId id="294"/>
            <p14:sldId id="299"/>
            <p14:sldId id="473"/>
            <p14:sldId id="471"/>
            <p14:sldId id="476"/>
            <p14:sldId id="525"/>
            <p14:sldId id="484"/>
            <p14:sldId id="485"/>
            <p14:sldId id="486"/>
            <p14:sldId id="487"/>
            <p14:sldId id="488"/>
            <p14:sldId id="489"/>
            <p14:sldId id="490"/>
            <p14:sldId id="491"/>
            <p14:sldId id="492"/>
            <p14:sldId id="493"/>
            <p14:sldId id="526"/>
            <p14:sldId id="494"/>
            <p14:sldId id="495"/>
            <p14:sldId id="496"/>
            <p14:sldId id="497"/>
            <p14:sldId id="498"/>
            <p14:sldId id="499"/>
            <p14:sldId id="500"/>
            <p14:sldId id="501"/>
            <p14:sldId id="502"/>
            <p14:sldId id="537"/>
            <p14:sldId id="538"/>
            <p14:sldId id="503"/>
            <p14:sldId id="539"/>
            <p14:sldId id="527"/>
            <p14:sldId id="504"/>
            <p14:sldId id="505"/>
            <p14:sldId id="506"/>
            <p14:sldId id="507"/>
            <p14:sldId id="508"/>
            <p14:sldId id="509"/>
            <p14:sldId id="510"/>
            <p14:sldId id="511"/>
            <p14:sldId id="512"/>
            <p14:sldId id="513"/>
            <p14:sldId id="528"/>
            <p14:sldId id="514"/>
            <p14:sldId id="515"/>
            <p14:sldId id="516"/>
            <p14:sldId id="517"/>
            <p14:sldId id="518"/>
            <p14:sldId id="519"/>
            <p14:sldId id="520"/>
            <p14:sldId id="521"/>
            <p14:sldId id="522"/>
            <p14:sldId id="529"/>
            <p14:sldId id="523"/>
            <p14:sldId id="524"/>
            <p14:sldId id="530"/>
            <p14:sldId id="531"/>
            <p14:sldId id="532"/>
            <p14:sldId id="533"/>
            <p14:sldId id="534"/>
            <p14:sldId id="535"/>
            <p14:sldId id="53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swani, Monisha" initials="DM" lastIdx="17" clrIdx="0">
    <p:extLst>
      <p:ext uri="{19B8F6BF-5375-455C-9EA6-DF929625EA0E}">
        <p15:presenceInfo xmlns:p15="http://schemas.microsoft.com/office/powerpoint/2012/main" userId="S-1-5-21-1407069837-2091007605-538272213-41758195" providerId="AD"/>
      </p:ext>
    </p:extLst>
  </p:cmAuthor>
  <p:cmAuthor id="2" name="Raymond, Patty" initials="RP" lastIdx="35" clrIdx="1">
    <p:extLst>
      <p:ext uri="{19B8F6BF-5375-455C-9EA6-DF929625EA0E}">
        <p15:presenceInfo xmlns:p15="http://schemas.microsoft.com/office/powerpoint/2012/main" userId="S-1-5-21-1407069837-2091007605-538272213-29355854" providerId="AD"/>
      </p:ext>
    </p:extLst>
  </p:cmAuthor>
  <p:cmAuthor id="3" name="Stading, Katrina" initials="SK" lastIdx="37" clrIdx="2">
    <p:extLst>
      <p:ext uri="{19B8F6BF-5375-455C-9EA6-DF929625EA0E}">
        <p15:presenceInfo xmlns:p15="http://schemas.microsoft.com/office/powerpoint/2012/main" userId="S-1-5-21-1407069837-2091007605-538272213-31813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380CD8-E987-4B41-8030-FA0186F8573C}" v="1" dt="2025-05-03T11:55:38.8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26" autoAdjust="0"/>
    <p:restoredTop sz="63388" autoAdjust="0"/>
  </p:normalViewPr>
  <p:slideViewPr>
    <p:cSldViewPr snapToGrid="0">
      <p:cViewPr varScale="1">
        <p:scale>
          <a:sx n="97" d="100"/>
          <a:sy n="97" d="100"/>
        </p:scale>
        <p:origin x="2532" y="78"/>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Lst>
  </p:outlineViewPr>
  <p:notesTextViewPr>
    <p:cViewPr>
      <p:scale>
        <a:sx n="125" d="100"/>
        <a:sy n="125" d="100"/>
      </p:scale>
      <p:origin x="0" y="0"/>
    </p:cViewPr>
  </p:notesTextViewPr>
  <p:notesViewPr>
    <p:cSldViewPr snapToGrid="0">
      <p:cViewPr varScale="1">
        <p:scale>
          <a:sx n="95" d="100"/>
          <a:sy n="95" d="100"/>
        </p:scale>
        <p:origin x="4123" y="5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18" Type="http://schemas.openxmlformats.org/officeDocument/2006/relationships/slide" Target="slides/slide19.xml"/><Relationship Id="rId3" Type="http://schemas.openxmlformats.org/officeDocument/2006/relationships/slide" Target="slides/slide4.xml"/><Relationship Id="rId21" Type="http://schemas.openxmlformats.org/officeDocument/2006/relationships/slide" Target="slides/slide22.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5" Type="http://schemas.openxmlformats.org/officeDocument/2006/relationships/slide" Target="slides/slide26.xml"/><Relationship Id="rId2" Type="http://schemas.openxmlformats.org/officeDocument/2006/relationships/slide" Target="slides/slide3.xml"/><Relationship Id="rId16" Type="http://schemas.openxmlformats.org/officeDocument/2006/relationships/slide" Target="slides/slide17.xml"/><Relationship Id="rId20" Type="http://schemas.openxmlformats.org/officeDocument/2006/relationships/slide" Target="slides/slide21.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24" Type="http://schemas.openxmlformats.org/officeDocument/2006/relationships/slide" Target="slides/slide25.xml"/><Relationship Id="rId5" Type="http://schemas.openxmlformats.org/officeDocument/2006/relationships/slide" Target="slides/slide6.xml"/><Relationship Id="rId15" Type="http://schemas.openxmlformats.org/officeDocument/2006/relationships/slide" Target="slides/slide16.xml"/><Relationship Id="rId23" Type="http://schemas.openxmlformats.org/officeDocument/2006/relationships/slide" Target="slides/slide24.xml"/><Relationship Id="rId10" Type="http://schemas.openxmlformats.org/officeDocument/2006/relationships/slide" Target="slides/slide11.xml"/><Relationship Id="rId19" Type="http://schemas.openxmlformats.org/officeDocument/2006/relationships/slide" Target="slides/slide20.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40380CD8-E987-4B41-8030-FA0186F8573C}"/>
    <pc:docChg chg="custSel addSld modSld">
      <pc:chgData name="Mohammed Fasha" userId="cc64f42d-a1a6-4f08-b97b-0c37f877119f" providerId="ADAL" clId="{40380CD8-E987-4B41-8030-FA0186F8573C}" dt="2025-05-03T11:55:38.923" v="5" actId="27636"/>
      <pc:docMkLst>
        <pc:docMk/>
      </pc:docMkLst>
      <pc:sldChg chg="add">
        <pc:chgData name="Mohammed Fasha" userId="cc64f42d-a1a6-4f08-b97b-0c37f877119f" providerId="ADAL" clId="{40380CD8-E987-4B41-8030-FA0186F8573C}" dt="2025-05-03T11:55:38.859" v="0"/>
        <pc:sldMkLst>
          <pc:docMk/>
          <pc:sldMk cId="3095191240" sldId="484"/>
        </pc:sldMkLst>
      </pc:sldChg>
      <pc:sldChg chg="modSp add mod">
        <pc:chgData name="Mohammed Fasha" userId="cc64f42d-a1a6-4f08-b97b-0c37f877119f" providerId="ADAL" clId="{40380CD8-E987-4B41-8030-FA0186F8573C}" dt="2025-05-03T11:55:38.907" v="1" actId="27636"/>
        <pc:sldMkLst>
          <pc:docMk/>
          <pc:sldMk cId="2291173066" sldId="485"/>
        </pc:sldMkLst>
        <pc:spChg chg="mod">
          <ac:chgData name="Mohammed Fasha" userId="cc64f42d-a1a6-4f08-b97b-0c37f877119f" providerId="ADAL" clId="{40380CD8-E987-4B41-8030-FA0186F8573C}" dt="2025-05-03T11:55:38.907" v="1" actId="27636"/>
          <ac:spMkLst>
            <pc:docMk/>
            <pc:sldMk cId="2291173066" sldId="485"/>
            <ac:spMk id="3" creationId="{0F678EF9-E764-A624-249B-012102585840}"/>
          </ac:spMkLst>
        </pc:spChg>
      </pc:sldChg>
      <pc:sldChg chg="add">
        <pc:chgData name="Mohammed Fasha" userId="cc64f42d-a1a6-4f08-b97b-0c37f877119f" providerId="ADAL" clId="{40380CD8-E987-4B41-8030-FA0186F8573C}" dt="2025-05-03T11:55:38.859" v="0"/>
        <pc:sldMkLst>
          <pc:docMk/>
          <pc:sldMk cId="659999424" sldId="486"/>
        </pc:sldMkLst>
      </pc:sldChg>
      <pc:sldChg chg="add">
        <pc:chgData name="Mohammed Fasha" userId="cc64f42d-a1a6-4f08-b97b-0c37f877119f" providerId="ADAL" clId="{40380CD8-E987-4B41-8030-FA0186F8573C}" dt="2025-05-03T11:55:38.859" v="0"/>
        <pc:sldMkLst>
          <pc:docMk/>
          <pc:sldMk cId="1338099508" sldId="487"/>
        </pc:sldMkLst>
      </pc:sldChg>
      <pc:sldChg chg="add">
        <pc:chgData name="Mohammed Fasha" userId="cc64f42d-a1a6-4f08-b97b-0c37f877119f" providerId="ADAL" clId="{40380CD8-E987-4B41-8030-FA0186F8573C}" dt="2025-05-03T11:55:38.859" v="0"/>
        <pc:sldMkLst>
          <pc:docMk/>
          <pc:sldMk cId="2070932789" sldId="488"/>
        </pc:sldMkLst>
      </pc:sldChg>
      <pc:sldChg chg="add">
        <pc:chgData name="Mohammed Fasha" userId="cc64f42d-a1a6-4f08-b97b-0c37f877119f" providerId="ADAL" clId="{40380CD8-E987-4B41-8030-FA0186F8573C}" dt="2025-05-03T11:55:38.859" v="0"/>
        <pc:sldMkLst>
          <pc:docMk/>
          <pc:sldMk cId="1997852019" sldId="489"/>
        </pc:sldMkLst>
      </pc:sldChg>
      <pc:sldChg chg="add">
        <pc:chgData name="Mohammed Fasha" userId="cc64f42d-a1a6-4f08-b97b-0c37f877119f" providerId="ADAL" clId="{40380CD8-E987-4B41-8030-FA0186F8573C}" dt="2025-05-03T11:55:38.859" v="0"/>
        <pc:sldMkLst>
          <pc:docMk/>
          <pc:sldMk cId="2993562741" sldId="490"/>
        </pc:sldMkLst>
      </pc:sldChg>
      <pc:sldChg chg="add">
        <pc:chgData name="Mohammed Fasha" userId="cc64f42d-a1a6-4f08-b97b-0c37f877119f" providerId="ADAL" clId="{40380CD8-E987-4B41-8030-FA0186F8573C}" dt="2025-05-03T11:55:38.859" v="0"/>
        <pc:sldMkLst>
          <pc:docMk/>
          <pc:sldMk cId="403864655" sldId="491"/>
        </pc:sldMkLst>
      </pc:sldChg>
      <pc:sldChg chg="add">
        <pc:chgData name="Mohammed Fasha" userId="cc64f42d-a1a6-4f08-b97b-0c37f877119f" providerId="ADAL" clId="{40380CD8-E987-4B41-8030-FA0186F8573C}" dt="2025-05-03T11:55:38.859" v="0"/>
        <pc:sldMkLst>
          <pc:docMk/>
          <pc:sldMk cId="1009916886" sldId="492"/>
        </pc:sldMkLst>
      </pc:sldChg>
      <pc:sldChg chg="add">
        <pc:chgData name="Mohammed Fasha" userId="cc64f42d-a1a6-4f08-b97b-0c37f877119f" providerId="ADAL" clId="{40380CD8-E987-4B41-8030-FA0186F8573C}" dt="2025-05-03T11:55:38.859" v="0"/>
        <pc:sldMkLst>
          <pc:docMk/>
          <pc:sldMk cId="2905072372" sldId="493"/>
        </pc:sldMkLst>
      </pc:sldChg>
      <pc:sldChg chg="add">
        <pc:chgData name="Mohammed Fasha" userId="cc64f42d-a1a6-4f08-b97b-0c37f877119f" providerId="ADAL" clId="{40380CD8-E987-4B41-8030-FA0186F8573C}" dt="2025-05-03T11:55:38.859" v="0"/>
        <pc:sldMkLst>
          <pc:docMk/>
          <pc:sldMk cId="113112822" sldId="494"/>
        </pc:sldMkLst>
      </pc:sldChg>
      <pc:sldChg chg="add">
        <pc:chgData name="Mohammed Fasha" userId="cc64f42d-a1a6-4f08-b97b-0c37f877119f" providerId="ADAL" clId="{40380CD8-E987-4B41-8030-FA0186F8573C}" dt="2025-05-03T11:55:38.859" v="0"/>
        <pc:sldMkLst>
          <pc:docMk/>
          <pc:sldMk cId="1043757718" sldId="495"/>
        </pc:sldMkLst>
      </pc:sldChg>
      <pc:sldChg chg="add">
        <pc:chgData name="Mohammed Fasha" userId="cc64f42d-a1a6-4f08-b97b-0c37f877119f" providerId="ADAL" clId="{40380CD8-E987-4B41-8030-FA0186F8573C}" dt="2025-05-03T11:55:38.859" v="0"/>
        <pc:sldMkLst>
          <pc:docMk/>
          <pc:sldMk cId="3632187406" sldId="496"/>
        </pc:sldMkLst>
      </pc:sldChg>
      <pc:sldChg chg="add">
        <pc:chgData name="Mohammed Fasha" userId="cc64f42d-a1a6-4f08-b97b-0c37f877119f" providerId="ADAL" clId="{40380CD8-E987-4B41-8030-FA0186F8573C}" dt="2025-05-03T11:55:38.859" v="0"/>
        <pc:sldMkLst>
          <pc:docMk/>
          <pc:sldMk cId="1955568160" sldId="497"/>
        </pc:sldMkLst>
      </pc:sldChg>
      <pc:sldChg chg="add">
        <pc:chgData name="Mohammed Fasha" userId="cc64f42d-a1a6-4f08-b97b-0c37f877119f" providerId="ADAL" clId="{40380CD8-E987-4B41-8030-FA0186F8573C}" dt="2025-05-03T11:55:38.859" v="0"/>
        <pc:sldMkLst>
          <pc:docMk/>
          <pc:sldMk cId="2557989503" sldId="498"/>
        </pc:sldMkLst>
      </pc:sldChg>
      <pc:sldChg chg="add">
        <pc:chgData name="Mohammed Fasha" userId="cc64f42d-a1a6-4f08-b97b-0c37f877119f" providerId="ADAL" clId="{40380CD8-E987-4B41-8030-FA0186F8573C}" dt="2025-05-03T11:55:38.859" v="0"/>
        <pc:sldMkLst>
          <pc:docMk/>
          <pc:sldMk cId="1671422244" sldId="499"/>
        </pc:sldMkLst>
      </pc:sldChg>
      <pc:sldChg chg="add">
        <pc:chgData name="Mohammed Fasha" userId="cc64f42d-a1a6-4f08-b97b-0c37f877119f" providerId="ADAL" clId="{40380CD8-E987-4B41-8030-FA0186F8573C}" dt="2025-05-03T11:55:38.859" v="0"/>
        <pc:sldMkLst>
          <pc:docMk/>
          <pc:sldMk cId="3130337840" sldId="500"/>
        </pc:sldMkLst>
      </pc:sldChg>
      <pc:sldChg chg="add">
        <pc:chgData name="Mohammed Fasha" userId="cc64f42d-a1a6-4f08-b97b-0c37f877119f" providerId="ADAL" clId="{40380CD8-E987-4B41-8030-FA0186F8573C}" dt="2025-05-03T11:55:38.859" v="0"/>
        <pc:sldMkLst>
          <pc:docMk/>
          <pc:sldMk cId="291046217" sldId="501"/>
        </pc:sldMkLst>
      </pc:sldChg>
      <pc:sldChg chg="modSp add mod">
        <pc:chgData name="Mohammed Fasha" userId="cc64f42d-a1a6-4f08-b97b-0c37f877119f" providerId="ADAL" clId="{40380CD8-E987-4B41-8030-FA0186F8573C}" dt="2025-05-03T11:55:38.923" v="2" actId="27636"/>
        <pc:sldMkLst>
          <pc:docMk/>
          <pc:sldMk cId="230738594" sldId="502"/>
        </pc:sldMkLst>
        <pc:spChg chg="mod">
          <ac:chgData name="Mohammed Fasha" userId="cc64f42d-a1a6-4f08-b97b-0c37f877119f" providerId="ADAL" clId="{40380CD8-E987-4B41-8030-FA0186F8573C}" dt="2025-05-03T11:55:38.923" v="2" actId="27636"/>
          <ac:spMkLst>
            <pc:docMk/>
            <pc:sldMk cId="230738594" sldId="502"/>
            <ac:spMk id="3" creationId="{D4E8A736-63FA-4968-09E9-B91E06081D58}"/>
          </ac:spMkLst>
        </pc:spChg>
      </pc:sldChg>
      <pc:sldChg chg="add">
        <pc:chgData name="Mohammed Fasha" userId="cc64f42d-a1a6-4f08-b97b-0c37f877119f" providerId="ADAL" clId="{40380CD8-E987-4B41-8030-FA0186F8573C}" dt="2025-05-03T11:55:38.859" v="0"/>
        <pc:sldMkLst>
          <pc:docMk/>
          <pc:sldMk cId="2094350260" sldId="503"/>
        </pc:sldMkLst>
      </pc:sldChg>
      <pc:sldChg chg="add">
        <pc:chgData name="Mohammed Fasha" userId="cc64f42d-a1a6-4f08-b97b-0c37f877119f" providerId="ADAL" clId="{40380CD8-E987-4B41-8030-FA0186F8573C}" dt="2025-05-03T11:55:38.859" v="0"/>
        <pc:sldMkLst>
          <pc:docMk/>
          <pc:sldMk cId="345557149" sldId="504"/>
        </pc:sldMkLst>
      </pc:sldChg>
      <pc:sldChg chg="modSp add mod">
        <pc:chgData name="Mohammed Fasha" userId="cc64f42d-a1a6-4f08-b97b-0c37f877119f" providerId="ADAL" clId="{40380CD8-E987-4B41-8030-FA0186F8573C}" dt="2025-05-03T11:55:38.923" v="3" actId="27636"/>
        <pc:sldMkLst>
          <pc:docMk/>
          <pc:sldMk cId="390948629" sldId="505"/>
        </pc:sldMkLst>
        <pc:spChg chg="mod">
          <ac:chgData name="Mohammed Fasha" userId="cc64f42d-a1a6-4f08-b97b-0c37f877119f" providerId="ADAL" clId="{40380CD8-E987-4B41-8030-FA0186F8573C}" dt="2025-05-03T11:55:38.923" v="3" actId="27636"/>
          <ac:spMkLst>
            <pc:docMk/>
            <pc:sldMk cId="390948629" sldId="505"/>
            <ac:spMk id="3" creationId="{83E704A8-2091-9BA1-DBA0-A22FBF06E1CD}"/>
          </ac:spMkLst>
        </pc:spChg>
      </pc:sldChg>
      <pc:sldChg chg="add">
        <pc:chgData name="Mohammed Fasha" userId="cc64f42d-a1a6-4f08-b97b-0c37f877119f" providerId="ADAL" clId="{40380CD8-E987-4B41-8030-FA0186F8573C}" dt="2025-05-03T11:55:38.859" v="0"/>
        <pc:sldMkLst>
          <pc:docMk/>
          <pc:sldMk cId="3789034041" sldId="506"/>
        </pc:sldMkLst>
      </pc:sldChg>
      <pc:sldChg chg="add">
        <pc:chgData name="Mohammed Fasha" userId="cc64f42d-a1a6-4f08-b97b-0c37f877119f" providerId="ADAL" clId="{40380CD8-E987-4B41-8030-FA0186F8573C}" dt="2025-05-03T11:55:38.859" v="0"/>
        <pc:sldMkLst>
          <pc:docMk/>
          <pc:sldMk cId="1342257487" sldId="507"/>
        </pc:sldMkLst>
      </pc:sldChg>
      <pc:sldChg chg="add">
        <pc:chgData name="Mohammed Fasha" userId="cc64f42d-a1a6-4f08-b97b-0c37f877119f" providerId="ADAL" clId="{40380CD8-E987-4B41-8030-FA0186F8573C}" dt="2025-05-03T11:55:38.859" v="0"/>
        <pc:sldMkLst>
          <pc:docMk/>
          <pc:sldMk cId="128339916" sldId="508"/>
        </pc:sldMkLst>
      </pc:sldChg>
      <pc:sldChg chg="add">
        <pc:chgData name="Mohammed Fasha" userId="cc64f42d-a1a6-4f08-b97b-0c37f877119f" providerId="ADAL" clId="{40380CD8-E987-4B41-8030-FA0186F8573C}" dt="2025-05-03T11:55:38.859" v="0"/>
        <pc:sldMkLst>
          <pc:docMk/>
          <pc:sldMk cId="1219751810" sldId="509"/>
        </pc:sldMkLst>
      </pc:sldChg>
      <pc:sldChg chg="modSp add mod">
        <pc:chgData name="Mohammed Fasha" userId="cc64f42d-a1a6-4f08-b97b-0c37f877119f" providerId="ADAL" clId="{40380CD8-E987-4B41-8030-FA0186F8573C}" dt="2025-05-03T11:55:38.923" v="4" actId="27636"/>
        <pc:sldMkLst>
          <pc:docMk/>
          <pc:sldMk cId="394693278" sldId="510"/>
        </pc:sldMkLst>
        <pc:spChg chg="mod">
          <ac:chgData name="Mohammed Fasha" userId="cc64f42d-a1a6-4f08-b97b-0c37f877119f" providerId="ADAL" clId="{40380CD8-E987-4B41-8030-FA0186F8573C}" dt="2025-05-03T11:55:38.923" v="4" actId="27636"/>
          <ac:spMkLst>
            <pc:docMk/>
            <pc:sldMk cId="394693278" sldId="510"/>
            <ac:spMk id="3" creationId="{A23F8F36-C80D-0F77-B36A-E9D702BCEB8B}"/>
          </ac:spMkLst>
        </pc:spChg>
      </pc:sldChg>
      <pc:sldChg chg="add">
        <pc:chgData name="Mohammed Fasha" userId="cc64f42d-a1a6-4f08-b97b-0c37f877119f" providerId="ADAL" clId="{40380CD8-E987-4B41-8030-FA0186F8573C}" dt="2025-05-03T11:55:38.859" v="0"/>
        <pc:sldMkLst>
          <pc:docMk/>
          <pc:sldMk cId="2377485495" sldId="511"/>
        </pc:sldMkLst>
      </pc:sldChg>
      <pc:sldChg chg="add">
        <pc:chgData name="Mohammed Fasha" userId="cc64f42d-a1a6-4f08-b97b-0c37f877119f" providerId="ADAL" clId="{40380CD8-E987-4B41-8030-FA0186F8573C}" dt="2025-05-03T11:55:38.859" v="0"/>
        <pc:sldMkLst>
          <pc:docMk/>
          <pc:sldMk cId="811897159" sldId="512"/>
        </pc:sldMkLst>
      </pc:sldChg>
      <pc:sldChg chg="add">
        <pc:chgData name="Mohammed Fasha" userId="cc64f42d-a1a6-4f08-b97b-0c37f877119f" providerId="ADAL" clId="{40380CD8-E987-4B41-8030-FA0186F8573C}" dt="2025-05-03T11:55:38.859" v="0"/>
        <pc:sldMkLst>
          <pc:docMk/>
          <pc:sldMk cId="1900480923" sldId="513"/>
        </pc:sldMkLst>
      </pc:sldChg>
      <pc:sldChg chg="add">
        <pc:chgData name="Mohammed Fasha" userId="cc64f42d-a1a6-4f08-b97b-0c37f877119f" providerId="ADAL" clId="{40380CD8-E987-4B41-8030-FA0186F8573C}" dt="2025-05-03T11:55:38.859" v="0"/>
        <pc:sldMkLst>
          <pc:docMk/>
          <pc:sldMk cId="4249048296" sldId="514"/>
        </pc:sldMkLst>
      </pc:sldChg>
      <pc:sldChg chg="add">
        <pc:chgData name="Mohammed Fasha" userId="cc64f42d-a1a6-4f08-b97b-0c37f877119f" providerId="ADAL" clId="{40380CD8-E987-4B41-8030-FA0186F8573C}" dt="2025-05-03T11:55:38.859" v="0"/>
        <pc:sldMkLst>
          <pc:docMk/>
          <pc:sldMk cId="68927344" sldId="515"/>
        </pc:sldMkLst>
      </pc:sldChg>
      <pc:sldChg chg="add">
        <pc:chgData name="Mohammed Fasha" userId="cc64f42d-a1a6-4f08-b97b-0c37f877119f" providerId="ADAL" clId="{40380CD8-E987-4B41-8030-FA0186F8573C}" dt="2025-05-03T11:55:38.859" v="0"/>
        <pc:sldMkLst>
          <pc:docMk/>
          <pc:sldMk cId="4095132677" sldId="516"/>
        </pc:sldMkLst>
      </pc:sldChg>
      <pc:sldChg chg="add">
        <pc:chgData name="Mohammed Fasha" userId="cc64f42d-a1a6-4f08-b97b-0c37f877119f" providerId="ADAL" clId="{40380CD8-E987-4B41-8030-FA0186F8573C}" dt="2025-05-03T11:55:38.859" v="0"/>
        <pc:sldMkLst>
          <pc:docMk/>
          <pc:sldMk cId="1759421747" sldId="517"/>
        </pc:sldMkLst>
      </pc:sldChg>
      <pc:sldChg chg="add">
        <pc:chgData name="Mohammed Fasha" userId="cc64f42d-a1a6-4f08-b97b-0c37f877119f" providerId="ADAL" clId="{40380CD8-E987-4B41-8030-FA0186F8573C}" dt="2025-05-03T11:55:38.859" v="0"/>
        <pc:sldMkLst>
          <pc:docMk/>
          <pc:sldMk cId="256442872" sldId="518"/>
        </pc:sldMkLst>
      </pc:sldChg>
      <pc:sldChg chg="add">
        <pc:chgData name="Mohammed Fasha" userId="cc64f42d-a1a6-4f08-b97b-0c37f877119f" providerId="ADAL" clId="{40380CD8-E987-4B41-8030-FA0186F8573C}" dt="2025-05-03T11:55:38.859" v="0"/>
        <pc:sldMkLst>
          <pc:docMk/>
          <pc:sldMk cId="1709980919" sldId="519"/>
        </pc:sldMkLst>
      </pc:sldChg>
      <pc:sldChg chg="add">
        <pc:chgData name="Mohammed Fasha" userId="cc64f42d-a1a6-4f08-b97b-0c37f877119f" providerId="ADAL" clId="{40380CD8-E987-4B41-8030-FA0186F8573C}" dt="2025-05-03T11:55:38.859" v="0"/>
        <pc:sldMkLst>
          <pc:docMk/>
          <pc:sldMk cId="747295024" sldId="520"/>
        </pc:sldMkLst>
      </pc:sldChg>
      <pc:sldChg chg="add">
        <pc:chgData name="Mohammed Fasha" userId="cc64f42d-a1a6-4f08-b97b-0c37f877119f" providerId="ADAL" clId="{40380CD8-E987-4B41-8030-FA0186F8573C}" dt="2025-05-03T11:55:38.859" v="0"/>
        <pc:sldMkLst>
          <pc:docMk/>
          <pc:sldMk cId="1550363585" sldId="521"/>
        </pc:sldMkLst>
      </pc:sldChg>
      <pc:sldChg chg="add">
        <pc:chgData name="Mohammed Fasha" userId="cc64f42d-a1a6-4f08-b97b-0c37f877119f" providerId="ADAL" clId="{40380CD8-E987-4B41-8030-FA0186F8573C}" dt="2025-05-03T11:55:38.859" v="0"/>
        <pc:sldMkLst>
          <pc:docMk/>
          <pc:sldMk cId="1054359035" sldId="522"/>
        </pc:sldMkLst>
      </pc:sldChg>
      <pc:sldChg chg="add">
        <pc:chgData name="Mohammed Fasha" userId="cc64f42d-a1a6-4f08-b97b-0c37f877119f" providerId="ADAL" clId="{40380CD8-E987-4B41-8030-FA0186F8573C}" dt="2025-05-03T11:55:38.859" v="0"/>
        <pc:sldMkLst>
          <pc:docMk/>
          <pc:sldMk cId="3368455129" sldId="523"/>
        </pc:sldMkLst>
      </pc:sldChg>
      <pc:sldChg chg="add">
        <pc:chgData name="Mohammed Fasha" userId="cc64f42d-a1a6-4f08-b97b-0c37f877119f" providerId="ADAL" clId="{40380CD8-E987-4B41-8030-FA0186F8573C}" dt="2025-05-03T11:55:38.859" v="0"/>
        <pc:sldMkLst>
          <pc:docMk/>
          <pc:sldMk cId="978439977" sldId="524"/>
        </pc:sldMkLst>
      </pc:sldChg>
      <pc:sldChg chg="add">
        <pc:chgData name="Mohammed Fasha" userId="cc64f42d-a1a6-4f08-b97b-0c37f877119f" providerId="ADAL" clId="{40380CD8-E987-4B41-8030-FA0186F8573C}" dt="2025-05-03T11:55:38.859" v="0"/>
        <pc:sldMkLst>
          <pc:docMk/>
          <pc:sldMk cId="1742003254" sldId="525"/>
        </pc:sldMkLst>
      </pc:sldChg>
      <pc:sldChg chg="add">
        <pc:chgData name="Mohammed Fasha" userId="cc64f42d-a1a6-4f08-b97b-0c37f877119f" providerId="ADAL" clId="{40380CD8-E987-4B41-8030-FA0186F8573C}" dt="2025-05-03T11:55:38.859" v="0"/>
        <pc:sldMkLst>
          <pc:docMk/>
          <pc:sldMk cId="658470431" sldId="526"/>
        </pc:sldMkLst>
      </pc:sldChg>
      <pc:sldChg chg="add">
        <pc:chgData name="Mohammed Fasha" userId="cc64f42d-a1a6-4f08-b97b-0c37f877119f" providerId="ADAL" clId="{40380CD8-E987-4B41-8030-FA0186F8573C}" dt="2025-05-03T11:55:38.859" v="0"/>
        <pc:sldMkLst>
          <pc:docMk/>
          <pc:sldMk cId="3736522797" sldId="527"/>
        </pc:sldMkLst>
      </pc:sldChg>
      <pc:sldChg chg="add">
        <pc:chgData name="Mohammed Fasha" userId="cc64f42d-a1a6-4f08-b97b-0c37f877119f" providerId="ADAL" clId="{40380CD8-E987-4B41-8030-FA0186F8573C}" dt="2025-05-03T11:55:38.859" v="0"/>
        <pc:sldMkLst>
          <pc:docMk/>
          <pc:sldMk cId="3866587945" sldId="528"/>
        </pc:sldMkLst>
      </pc:sldChg>
      <pc:sldChg chg="add">
        <pc:chgData name="Mohammed Fasha" userId="cc64f42d-a1a6-4f08-b97b-0c37f877119f" providerId="ADAL" clId="{40380CD8-E987-4B41-8030-FA0186F8573C}" dt="2025-05-03T11:55:38.859" v="0"/>
        <pc:sldMkLst>
          <pc:docMk/>
          <pc:sldMk cId="3405490312" sldId="529"/>
        </pc:sldMkLst>
      </pc:sldChg>
      <pc:sldChg chg="modSp add mod">
        <pc:chgData name="Mohammed Fasha" userId="cc64f42d-a1a6-4f08-b97b-0c37f877119f" providerId="ADAL" clId="{40380CD8-E987-4B41-8030-FA0186F8573C}" dt="2025-05-03T11:55:38.923" v="5" actId="27636"/>
        <pc:sldMkLst>
          <pc:docMk/>
          <pc:sldMk cId="2000670635" sldId="530"/>
        </pc:sldMkLst>
        <pc:spChg chg="mod">
          <ac:chgData name="Mohammed Fasha" userId="cc64f42d-a1a6-4f08-b97b-0c37f877119f" providerId="ADAL" clId="{40380CD8-E987-4B41-8030-FA0186F8573C}" dt="2025-05-03T11:55:38.923" v="5" actId="27636"/>
          <ac:spMkLst>
            <pc:docMk/>
            <pc:sldMk cId="2000670635" sldId="530"/>
            <ac:spMk id="3" creationId="{B44BF42D-EC6A-69D7-4769-0FA6C029B960}"/>
          </ac:spMkLst>
        </pc:spChg>
      </pc:sldChg>
      <pc:sldChg chg="add">
        <pc:chgData name="Mohammed Fasha" userId="cc64f42d-a1a6-4f08-b97b-0c37f877119f" providerId="ADAL" clId="{40380CD8-E987-4B41-8030-FA0186F8573C}" dt="2025-05-03T11:55:38.859" v="0"/>
        <pc:sldMkLst>
          <pc:docMk/>
          <pc:sldMk cId="2414963508" sldId="531"/>
        </pc:sldMkLst>
      </pc:sldChg>
      <pc:sldChg chg="add">
        <pc:chgData name="Mohammed Fasha" userId="cc64f42d-a1a6-4f08-b97b-0c37f877119f" providerId="ADAL" clId="{40380CD8-E987-4B41-8030-FA0186F8573C}" dt="2025-05-03T11:55:38.859" v="0"/>
        <pc:sldMkLst>
          <pc:docMk/>
          <pc:sldMk cId="2696719718" sldId="532"/>
        </pc:sldMkLst>
      </pc:sldChg>
      <pc:sldChg chg="add">
        <pc:chgData name="Mohammed Fasha" userId="cc64f42d-a1a6-4f08-b97b-0c37f877119f" providerId="ADAL" clId="{40380CD8-E987-4B41-8030-FA0186F8573C}" dt="2025-05-03T11:55:38.859" v="0"/>
        <pc:sldMkLst>
          <pc:docMk/>
          <pc:sldMk cId="1467010027" sldId="533"/>
        </pc:sldMkLst>
      </pc:sldChg>
      <pc:sldChg chg="add">
        <pc:chgData name="Mohammed Fasha" userId="cc64f42d-a1a6-4f08-b97b-0c37f877119f" providerId="ADAL" clId="{40380CD8-E987-4B41-8030-FA0186F8573C}" dt="2025-05-03T11:55:38.859" v="0"/>
        <pc:sldMkLst>
          <pc:docMk/>
          <pc:sldMk cId="3469217301" sldId="534"/>
        </pc:sldMkLst>
      </pc:sldChg>
      <pc:sldChg chg="add">
        <pc:chgData name="Mohammed Fasha" userId="cc64f42d-a1a6-4f08-b97b-0c37f877119f" providerId="ADAL" clId="{40380CD8-E987-4B41-8030-FA0186F8573C}" dt="2025-05-03T11:55:38.859" v="0"/>
        <pc:sldMkLst>
          <pc:docMk/>
          <pc:sldMk cId="182050409" sldId="535"/>
        </pc:sldMkLst>
      </pc:sldChg>
      <pc:sldChg chg="add">
        <pc:chgData name="Mohammed Fasha" userId="cc64f42d-a1a6-4f08-b97b-0c37f877119f" providerId="ADAL" clId="{40380CD8-E987-4B41-8030-FA0186F8573C}" dt="2025-05-03T11:55:38.859" v="0"/>
        <pc:sldMkLst>
          <pc:docMk/>
          <pc:sldMk cId="3937355315" sldId="536"/>
        </pc:sldMkLst>
      </pc:sldChg>
      <pc:sldChg chg="add">
        <pc:chgData name="Mohammed Fasha" userId="cc64f42d-a1a6-4f08-b97b-0c37f877119f" providerId="ADAL" clId="{40380CD8-E987-4B41-8030-FA0186F8573C}" dt="2025-05-03T11:55:38.859" v="0"/>
        <pc:sldMkLst>
          <pc:docMk/>
          <pc:sldMk cId="469775294" sldId="537"/>
        </pc:sldMkLst>
      </pc:sldChg>
      <pc:sldChg chg="add">
        <pc:chgData name="Mohammed Fasha" userId="cc64f42d-a1a6-4f08-b97b-0c37f877119f" providerId="ADAL" clId="{40380CD8-E987-4B41-8030-FA0186F8573C}" dt="2025-05-03T11:55:38.859" v="0"/>
        <pc:sldMkLst>
          <pc:docMk/>
          <pc:sldMk cId="3560187721" sldId="538"/>
        </pc:sldMkLst>
      </pc:sldChg>
      <pc:sldChg chg="add">
        <pc:chgData name="Mohammed Fasha" userId="cc64f42d-a1a6-4f08-b97b-0c37f877119f" providerId="ADAL" clId="{40380CD8-E987-4B41-8030-FA0186F8573C}" dt="2025-05-03T11:55:38.859" v="0"/>
        <pc:sldMkLst>
          <pc:docMk/>
          <pc:sldMk cId="1512065499" sldId="539"/>
        </pc:sldMkLst>
      </pc:sldChg>
    </pc:docChg>
  </pc:docChgLst>
  <pc:docChgLst>
    <pc:chgData name="Mohammed Fasha" userId="cc64f42d-a1a6-4f08-b97b-0c37f877119f" providerId="ADAL" clId="{86806EEA-D20C-4771-AB93-CD600C4A677D}"/>
    <pc:docChg chg="custSel modSld">
      <pc:chgData name="Mohammed Fasha" userId="cc64f42d-a1a6-4f08-b97b-0c37f877119f" providerId="ADAL" clId="{86806EEA-D20C-4771-AB93-CD600C4A677D}" dt="2024-07-30T12:46:57.869" v="0" actId="33524"/>
      <pc:docMkLst>
        <pc:docMk/>
      </pc:docMkLst>
      <pc:sldChg chg="modSp mod">
        <pc:chgData name="Mohammed Fasha" userId="cc64f42d-a1a6-4f08-b97b-0c37f877119f" providerId="ADAL" clId="{86806EEA-D20C-4771-AB93-CD600C4A677D}" dt="2024-07-30T12:46:57.869" v="0" actId="33524"/>
        <pc:sldMkLst>
          <pc:docMk/>
          <pc:sldMk cId="1405370405"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7042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53D6894-8726-415B-9FD1-9AEC571F76BC}" type="slidenum">
              <a:rPr lang="en-US" b="1" smtClean="0"/>
              <a:pPr/>
              <a:t>1</a:t>
            </a:fld>
            <a:r>
              <a:rPr lang="en-US" b="1" dirty="0"/>
              <a:t> </a:t>
            </a:r>
          </a:p>
          <a:p>
            <a:r>
              <a:rPr lang="en-US" b="1" dirty="0"/>
              <a:t>|Instructor notes</a:t>
            </a:r>
          </a:p>
          <a:p>
            <a:r>
              <a:rPr lang="en-US" b="1" dirty="0"/>
              <a:t>|</a:t>
            </a:r>
          </a:p>
          <a:p>
            <a:r>
              <a:rPr lang="en-US" b="1" dirty="0"/>
              <a:t>|Student notes</a:t>
            </a:r>
          </a:p>
          <a:p>
            <a:pPr lvl="0">
              <a:defRPr/>
            </a:pPr>
            <a:r>
              <a:rPr lang="en-US" dirty="0"/>
              <a:t>Welcome to the AWS Academy Data Engineering course.</a:t>
            </a:r>
          </a:p>
        </p:txBody>
      </p:sp>
    </p:spTree>
    <p:extLst>
      <p:ext uri="{BB962C8B-B14F-4D97-AF65-F5344CB8AC3E}">
        <p14:creationId xmlns:p14="http://schemas.microsoft.com/office/powerpoint/2010/main" val="4084858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t>2</a:t>
            </a:fld>
            <a:endParaRPr lang="en-US" b="1" dirty="0"/>
          </a:p>
          <a:p>
            <a:r>
              <a:rPr lang="en-US" b="1" dirty="0"/>
              <a:t>|Instructor notes</a:t>
            </a:r>
          </a:p>
          <a:p>
            <a:r>
              <a:rPr lang="en-US" b="0" dirty="0">
                <a:solidFill>
                  <a:srgbClr val="000000"/>
                </a:solidFill>
                <a:latin typeface="Calibri" panose="020F0502020204030204" pitchFamily="34" charset="0"/>
              </a:rPr>
              <a:t>|</a:t>
            </a:r>
          </a:p>
          <a:p>
            <a:r>
              <a:rPr lang="en-US" b="1" dirty="0"/>
              <a:t>|Student notes</a:t>
            </a:r>
          </a:p>
          <a:p>
            <a:r>
              <a:rPr lang="en-US" dirty="0"/>
              <a:t>Welcome to the Data-Driven Organizations module. This module introduces how modern organizations use data and data science to make decisions.</a:t>
            </a:r>
          </a:p>
        </p:txBody>
      </p:sp>
    </p:spTree>
    <p:extLst>
      <p:ext uri="{BB962C8B-B14F-4D97-AF65-F5344CB8AC3E}">
        <p14:creationId xmlns:p14="http://schemas.microsoft.com/office/powerpoint/2010/main" val="1542418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3</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A data pipeline provides the infrastructure to turn data into insights and make data-driven decisions. This section introduces the basic layers of a data pipeline.</a:t>
            </a:r>
          </a:p>
        </p:txBody>
      </p:sp>
    </p:spTree>
    <p:extLst>
      <p:ext uri="{BB962C8B-B14F-4D97-AF65-F5344CB8AC3E}">
        <p14:creationId xmlns:p14="http://schemas.microsoft.com/office/powerpoint/2010/main" val="1191483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4</a:t>
            </a:fld>
            <a:endParaRPr lang="en-US" b="1" dirty="0"/>
          </a:p>
          <a:p>
            <a:r>
              <a:rPr lang="en-US" b="1" dirty="0"/>
              <a:t>|Instructor notes</a:t>
            </a:r>
          </a:p>
          <a:p>
            <a:r>
              <a:rPr lang="en-US" b="0" dirty="0"/>
              <a:t>|Modules 3 and 4 will iterate further on this topic. Those modules will apply more technical details about the types of data and data processing, and match that information to the AWS services and reference architectures that will be used. The goal of this section is to introduce the high-level vocabulary and provide a simplified analogy by using plastic building blocks. It might be helpful to return to this analogy as the course becomes more complex. Modules 6–11 will go deeper into each individual layer and the services and considerations that impact design of that layer.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The data pipeline is the infrastructure that you build to support data-driven decision-making. At the most basic level, any data pipeline infrastructure must be able to bring data in, store it, and provide the means to work with the data to derive insights. As the data engineer or data scientist, it's your job to build the pipeline to figure out what's appropriate and how you're going to do it. Often this will include exploring and experimenting to get to know the data and the best way to derive value from it.</a:t>
            </a:r>
          </a:p>
        </p:txBody>
      </p:sp>
    </p:spTree>
    <p:extLst>
      <p:ext uri="{BB962C8B-B14F-4D97-AF65-F5344CB8AC3E}">
        <p14:creationId xmlns:p14="http://schemas.microsoft.com/office/powerpoint/2010/main" val="320641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5</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number of variations and options to create a data pipeline are broad. The key to designing an effective decision-making infrastructure is to start with the business problem to be solved or decision to be made. Then, build the pipeline that best suits that use case. The cloud makes it easier to start up different infrastructure to serve different use cases. An organization doesn't need to invest in an infrastructure that tries to serve all business needs with a single database, server, or technology stack. For each use case, start with the end in mind, and build the data pipeline that supports it.</a:t>
            </a:r>
          </a:p>
        </p:txBody>
      </p:sp>
    </p:spTree>
    <p:extLst>
      <p:ext uri="{BB962C8B-B14F-4D97-AF65-F5344CB8AC3E}">
        <p14:creationId xmlns:p14="http://schemas.microsoft.com/office/powerpoint/2010/main" val="2194652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6</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r>
              <a:rPr lang="en-US" dirty="0"/>
              <a:t>The infrastructure layers that you need to build include methods to ingest and store data from the data sources that you have identified. You need to make the stored data accessible for decision-making processes. You must also create the infrastructure to process, analyze, and visualize data by using tools that are appropriate to the use case. To build an appropriate infrastructure, you will need to understand the nature of the data and the intended type of processing and analysis to be performed.</a:t>
            </a:r>
          </a:p>
        </p:txBody>
      </p:sp>
    </p:spTree>
    <p:extLst>
      <p:ext uri="{BB962C8B-B14F-4D97-AF65-F5344CB8AC3E}">
        <p14:creationId xmlns:p14="http://schemas.microsoft.com/office/powerpoint/2010/main" val="915467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7</a:t>
            </a:fld>
            <a:endParaRPr lang="en-US" b="1" dirty="0"/>
          </a:p>
          <a:p>
            <a:r>
              <a:rPr lang="en-US" b="1" dirty="0"/>
              <a:t>|Instructor notes</a:t>
            </a:r>
          </a:p>
          <a:p>
            <a:r>
              <a:rPr lang="en-US" b="0" dirty="0"/>
              <a:t>|This slide includes an animation that runs automatically when you present the slide. It moves the data wrangling circle across the pipeline illustrating that data wrangling happens in multiple stages across the pipeline. </a:t>
            </a:r>
            <a:br>
              <a:rPr lang="en-US" b="0" dirty="0"/>
            </a:br>
            <a:r>
              <a:rPr lang="en-US" b="0" dirty="0"/>
              <a:t>|</a:t>
            </a:r>
          </a:p>
          <a:p>
            <a:r>
              <a:rPr lang="en-US" b="1" dirty="0"/>
              <a:t>|Student notes</a:t>
            </a:r>
          </a:p>
          <a:p>
            <a:r>
              <a:rPr lang="en-US" dirty="0"/>
              <a:t>Looking at the pipeline from the perspective of the data that travels through it, the pipeline must support the ability to discover details about the data and how it fits (or doesn't fit) your intended outcomes. You might start with a hypothesis and use BI tools or other mechanisms to discover more information about the data, and then experiment and see where it takes you.</a:t>
            </a:r>
          </a:p>
          <a:p>
            <a:endParaRPr lang="en-US" dirty="0"/>
          </a:p>
          <a:p>
            <a:r>
              <a:rPr lang="en-US" dirty="0"/>
              <a:t>Data might need to be cleaned or normalized. For example, you might merge multiple data sources that share some similar data and you need to rectify inconsistencies, or you might have a data source that hasn't been well-maintained or validated at its source. You need to prepare the data before it's viable for analysis.</a:t>
            </a:r>
          </a:p>
          <a:p>
            <a:endParaRPr lang="en-US" dirty="0"/>
          </a:p>
          <a:p>
            <a:r>
              <a:rPr lang="en-US" dirty="0"/>
              <a:t>Data will almost always be transformed as it moves through the pipeline. This might include modifying the format to support a specific analysis tool or replacing values (for example, zeroes in place of nulls). You might also augment the dataset by filling in gaps or enriching it with additional information. For example, you might calculate and save additional data values to be used during analysis. You might also add metadata to categorize and catalog data. </a:t>
            </a:r>
            <a:r>
              <a:rPr lang="en-US" i="1" dirty="0"/>
              <a:t>Data wrangling</a:t>
            </a:r>
            <a:r>
              <a:rPr lang="en-US" dirty="0"/>
              <a:t> is a term that is used to describe the ways in which data is manipulated and transformed from its raw state into more meaningful states that downstream processes or users can use.</a:t>
            </a:r>
          </a:p>
          <a:p>
            <a:endParaRPr lang="en-US" dirty="0"/>
          </a:p>
          <a:p>
            <a:r>
              <a:rPr lang="en-US" dirty="0"/>
              <a:t>Within each layer, or as part of transitioning between pipeline layers, you might perform these tasks on data to prepare it for the desired analysis or predictions. Some task types can happen in multiple places across the pipeline, and some tasks can be performed together as part of a single process. For example, in traditional data science architectures, the extract, transform, and load (ETL) process takes data from one source, performs some type of transformation on it, and then loads it into another location where the analysis is done.</a:t>
            </a:r>
          </a:p>
          <a:p>
            <a:endParaRPr lang="en-US" dirty="0"/>
          </a:p>
          <a:p>
            <a:r>
              <a:rPr lang="en-US" dirty="0"/>
              <a:t>As you learn about different scenarios, you will see these tasks performed at different points in the pipeline, using different services and methods dependent on the uses case.</a:t>
            </a:r>
          </a:p>
          <a:p>
            <a:endParaRPr lang="en-US" dirty="0"/>
          </a:p>
          <a:p>
            <a:r>
              <a:rPr lang="en-US" dirty="0"/>
              <a:t>The tools that you use and the way you perform these tasks will differ based on characteristics of your data, the business problem that you're addressing, and the methods or models that you're applying.</a:t>
            </a:r>
          </a:p>
        </p:txBody>
      </p:sp>
    </p:spTree>
    <p:extLst>
      <p:ext uri="{BB962C8B-B14F-4D97-AF65-F5344CB8AC3E}">
        <p14:creationId xmlns:p14="http://schemas.microsoft.com/office/powerpoint/2010/main" val="3847338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8</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key characteristic of deriving insights by using your data pipeline is that the process will almost always be iterative. You have a hypothesis about what you expect to find in the data, and you need to experiment and see where it takes you. You might develop your hypothesis by using BI tools to do initial discovery and analysis of data that has already been collected. You might iterate within a pipeline segment, or you might iterate across the entire pipeline. For example, in this illustration, the initial iteration (number 1) yielded a result that wasn't as defined as was desired. Therefore, the data scientist refined the model and reprocessed the data to get a better result (number 2). After reviewing those results, they determined that additional data could improve the detail available in their result, so an additional data source was tapped and ingested through the pipeline to produce the desired result (number 3).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pipeline often has iterations of storage and processing. For example, after the external data is ingested into pipeline storage, iterative processing transforms the data into different levels of refinement for different needs.</a:t>
            </a:r>
          </a:p>
        </p:txBody>
      </p:sp>
    </p:spTree>
    <p:extLst>
      <p:ext uri="{BB962C8B-B14F-4D97-AF65-F5344CB8AC3E}">
        <p14:creationId xmlns:p14="http://schemas.microsoft.com/office/powerpoint/2010/main" val="2803078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9</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This example is similar to the pipeline that you will work with in the lab titled Accessing and Analyzing Data by Using </a:t>
            </a:r>
            <a:r>
              <a:rPr lang="en-US" b="0" dirty="0"/>
              <a:t>Amazon S3.</a:t>
            </a:r>
            <a:r>
              <a:rPr lang="en-US" b="1" dirty="0"/>
              <a:t> </a:t>
            </a: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 dataset to be ingested into the pipeline is a .csv file that contains structured data. A developer uses a utility to compress the file, then uploads the file to an S3 bucket for storage. The data science team who will analyze the data can use S3 Select statements to directly query the data in Amazon S3.</a:t>
            </a:r>
          </a:p>
        </p:txBody>
      </p:sp>
    </p:spTree>
    <p:extLst>
      <p:ext uri="{BB962C8B-B14F-4D97-AF65-F5344CB8AC3E}">
        <p14:creationId xmlns:p14="http://schemas.microsoft.com/office/powerpoint/2010/main" val="3601417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10</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Here are a few key points to summarize this section:</a:t>
            </a:r>
          </a:p>
          <a:p>
            <a:pPr marL="171450" indent="-171450">
              <a:buFont typeface="Arial" panose="020B0604020202020204" pitchFamily="34" charset="0"/>
              <a:buChar char="•"/>
            </a:pPr>
            <a:r>
              <a:rPr lang="en-US" dirty="0"/>
              <a:t>The data pipeline provides the infrastructure for data-driven decisions and includes layers to ingest, store, process, and analyze and visualize data.</a:t>
            </a:r>
          </a:p>
          <a:p>
            <a:pPr marL="171450" indent="-171450">
              <a:buFont typeface="Arial" panose="020B0604020202020204" pitchFamily="34" charset="0"/>
              <a:buChar char="•"/>
            </a:pPr>
            <a:r>
              <a:rPr lang="en-US" dirty="0"/>
              <a:t>Data wrangling refers to the work to transform data to prepare it for analysis. Processing is typically iterative. The business problem should drive the pipeline design.</a:t>
            </a:r>
          </a:p>
        </p:txBody>
      </p:sp>
    </p:spTree>
    <p:extLst>
      <p:ext uri="{BB962C8B-B14F-4D97-AF65-F5344CB8AC3E}">
        <p14:creationId xmlns:p14="http://schemas.microsoft.com/office/powerpoint/2010/main" val="1850271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11</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solidFill>
                <a:srgbClr val="000000"/>
              </a:solidFill>
              <a:latin typeface="Calibri" panose="020F0502020204030204" pitchFamily="34" charset="0"/>
            </a:endParaRP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introduces the responsibilities of the data engineer and data scientist roles to plan and manage a data infrastructure.</a:t>
            </a:r>
          </a:p>
        </p:txBody>
      </p:sp>
    </p:spTree>
    <p:extLst>
      <p:ext uri="{BB962C8B-B14F-4D97-AF65-F5344CB8AC3E}">
        <p14:creationId xmlns:p14="http://schemas.microsoft.com/office/powerpoint/2010/main" val="22620888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12</a:t>
            </a:fld>
            <a:endParaRPr lang="en-US" b="1" dirty="0"/>
          </a:p>
          <a:p>
            <a:r>
              <a:rPr lang="en-US" b="1" dirty="0"/>
              <a:t>|Instructor notes</a:t>
            </a:r>
          </a:p>
          <a:p>
            <a:r>
              <a:rPr lang="en-US" dirty="0"/>
              <a:t>|This slide is a baseline setup for activities that the student will perform throughout the course. You might withhold the questions and instead treat this as a precursor to the data module that follows. The slide is animated to support withholding the questions and treating this as a discussion.</a:t>
            </a:r>
          </a:p>
          <a:p>
            <a:r>
              <a:rPr lang="en-US" dirty="0"/>
              <a:t>|Ask students to think of the type of questions that they believe will need to be answered by the data engineer based on what they have learned so far.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latin typeface="Calibri" panose="020F0502020204030204" pitchFamily="34" charset="0"/>
              </a:rPr>
              <a:t>|</a:t>
            </a:r>
            <a:endParaRPr lang="en-US" dirty="0"/>
          </a:p>
          <a:p>
            <a:r>
              <a:rPr lang="en-US" b="1" dirty="0"/>
              <a:t>|Student notes</a:t>
            </a:r>
          </a:p>
          <a:p>
            <a:r>
              <a:rPr lang="en-US" dirty="0"/>
              <a:t>To build the correct pipeline, the person responsible for building the pipeline needs to ask a lot of questions about the nature of the data and the intent for its processing. You can classify the questions broadly into data engineering questions, which are mostly focused on getting the data into the pipeline, and data science questions, which are mostly about what you are trying to get out of the data.</a:t>
            </a:r>
          </a:p>
          <a:p>
            <a:endParaRPr lang="en-US" dirty="0"/>
          </a:p>
          <a:p>
            <a:r>
              <a:rPr lang="en-US" dirty="0"/>
              <a:t>In the remainder of this course, you will learn how the answers to these types of data engineering questions lead you to select components and build pipelines that provide the appropriate infrastructure for data-driven decisions.</a:t>
            </a:r>
          </a:p>
        </p:txBody>
      </p:sp>
    </p:spTree>
    <p:extLst>
      <p:ext uri="{BB962C8B-B14F-4D97-AF65-F5344CB8AC3E}">
        <p14:creationId xmlns:p14="http://schemas.microsoft.com/office/powerpoint/2010/main" val="610313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13</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a few key points to summarize this section:</a:t>
            </a:r>
          </a:p>
          <a:p>
            <a:r>
              <a:rPr lang="en-US" dirty="0"/>
              <a:t>Data scientists and data engineers both work with the data pipeline, and depending on your organization some tasks might be performed by either role. But generally speaking, the data engineer is focused on the infrastructure the data passes through and the data scientist is focused on analyzing the data in the pipeline.  Both roles need to ask questions about how they data meets their needs, and iterate on their answers and design as they learn more. </a:t>
            </a:r>
          </a:p>
        </p:txBody>
      </p:sp>
    </p:spTree>
    <p:extLst>
      <p:ext uri="{BB962C8B-B14F-4D97-AF65-F5344CB8AC3E}">
        <p14:creationId xmlns:p14="http://schemas.microsoft.com/office/powerpoint/2010/main" val="309425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14</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This section introduces strategies that an organization can use to make the most of its data infrastructure.</a:t>
            </a:r>
          </a:p>
        </p:txBody>
      </p:sp>
    </p:spTree>
    <p:extLst>
      <p:ext uri="{BB962C8B-B14F-4D97-AF65-F5344CB8AC3E}">
        <p14:creationId xmlns:p14="http://schemas.microsoft.com/office/powerpoint/2010/main" val="2702883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15</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If you go to work for an organization that aspires to use its data as a strategic asset, you will likely spend time helping the organization to adapt more traditional infrastructures toward those that are designed to better support data analytics and AI/ML. Amazon Web Services (AWS) advises its customers to approach this type of data infrastructure along three strategies: modernize, unify, and innovate.</a:t>
            </a:r>
          </a:p>
        </p:txBody>
      </p:sp>
    </p:spTree>
    <p:extLst>
      <p:ext uri="{BB962C8B-B14F-4D97-AF65-F5344CB8AC3E}">
        <p14:creationId xmlns:p14="http://schemas.microsoft.com/office/powerpoint/2010/main" val="2945577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16</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Modernizing the infrastructure gives an organization the agility it needs to respond quickly to changes in the business landscape and incorporate new features. The practices listed here are actually applicable to any modern application architecture, but in this course, you will look at them through the lens of data analytics and AI/ML use cases.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AWS use the term undifferentiated heavy lifting to refer to the IT tasks that don't really help a business focus on their core value to customers, but take a lot of their time and resources. For example, managing data centers and hardware, or patching operating systems and databases.  By migrating applications and databases to the cloud, an organization can reduce its focus on administrative activities and instead focus development resources on business functionality. The cloud also makes it easier to start up different infrastructure to serve different use cases. An organization can choose the best set of tools and resources for each business problem. They can also experiment with new environment types or services without committing to resources long term.</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advantage of using cloud services is the ability to use purpose-built data stores rather than trying to use a single type of database to serve all needs. Choose a data store that matches the data structure and scalability that are required for each use case. Together with purpose-built data stores, use loosely coupled components so that you can use services that are designed for a targeted purpose and modify or scale them independently from each other. This greatly increases the flexibility of the infrastructure.</a:t>
            </a:r>
          </a:p>
        </p:txBody>
      </p:sp>
    </p:spTree>
    <p:extLst>
      <p:ext uri="{BB962C8B-B14F-4D97-AF65-F5344CB8AC3E}">
        <p14:creationId xmlns:p14="http://schemas.microsoft.com/office/powerpoint/2010/main" val="2555118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17</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important and most challenging strategies for successful data-driven organizations is to unify data to create a single source of truth. This means moving from siloed databases that one group of users access to a data lake, which brings all the data together and democratizes access. Control of data moves away from a centralized team such as IT, where users must request data. With modern data strategies, users can directly access the data that is relevant to them and build their own visualizations. Users can run queries directly against the data in the lake, but your infrastructure should also support movement between the data lake and purpose-built data stores that are needed for specific use cases.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Moving to this type of data structure often requires significant changes to the cultural aspects of who owns the data and the governance needed to maintain the single source of truth.</a:t>
            </a:r>
          </a:p>
        </p:txBody>
      </p:sp>
    </p:spTree>
    <p:extLst>
      <p:ext uri="{BB962C8B-B14F-4D97-AF65-F5344CB8AC3E}">
        <p14:creationId xmlns:p14="http://schemas.microsoft.com/office/powerpoint/2010/main" val="604463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18</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noted in an earlier section, the exploding availability of data and the lower costs of applying AI make it possible to incorporate AI and ML into more decision-making. Organizations that take advantage of this can drive value in new ways and adapt to changing business needs more proactively. But it takes conscious effort to reframe business problems as prediction problems and experiment with ML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trend in AWS service features is an increasing ability to apply an AI/ML type of functionality, without as much overhead or required experience as more traditional ML infrastructures. For example, Amazon SageMaker Studio provides fully managed ML infrastructure and a no-code visual interface for business analysts. Amazon Redshift is a data warehouse service, and one of its features, Redshift ML, helps users to create, train, and deploy SageMaker models by using familiar SQL syntax.</a:t>
            </a:r>
          </a:p>
        </p:txBody>
      </p:sp>
    </p:spTree>
    <p:extLst>
      <p:ext uri="{BB962C8B-B14F-4D97-AF65-F5344CB8AC3E}">
        <p14:creationId xmlns:p14="http://schemas.microsoft.com/office/powerpoint/2010/main" val="3948017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19</a:t>
            </a:fld>
            <a:endParaRPr lang="en-US" b="1" dirty="0"/>
          </a:p>
          <a:p>
            <a:r>
              <a:rPr lang="en-US" b="1" dirty="0"/>
              <a:t>|Instructor notes</a:t>
            </a:r>
          </a:p>
          <a:p>
            <a:r>
              <a:rPr lang="en-US" b="0" dirty="0">
                <a:solidFill>
                  <a:srgbClr val="000000"/>
                </a:solidFill>
                <a:latin typeface="Calibri" panose="020F0502020204030204" pitchFamily="34" charset="0"/>
              </a:rPr>
              <a:t>|</a:t>
            </a:r>
          </a:p>
          <a:p>
            <a:r>
              <a:rPr lang="en-US" b="1" dirty="0"/>
              <a:t>|Student notes</a:t>
            </a:r>
          </a:p>
          <a:p>
            <a:r>
              <a:rPr lang="en-US" sz="1200" kern="1200" dirty="0">
                <a:solidFill>
                  <a:schemeClr val="tx1"/>
                </a:solidFill>
                <a:effectLst/>
                <a:latin typeface="+mn-lt"/>
                <a:ea typeface="+mn-ea"/>
                <a:cs typeface="+mn-cs"/>
              </a:rPr>
              <a:t>Organizations that can put their data to work to make better, more informed decisions, can respond faster to the unexpected and uncover completely new opportunities. To be successful, organizations need to treat data as a strategic asset and build an infrastructure that allows them to use that strategic asset for big and small decisions all across the organization.</a:t>
            </a:r>
          </a:p>
        </p:txBody>
      </p:sp>
    </p:spTree>
    <p:extLst>
      <p:ext uri="{BB962C8B-B14F-4D97-AF65-F5344CB8AC3E}">
        <p14:creationId xmlns:p14="http://schemas.microsoft.com/office/powerpoint/2010/main" val="2915786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20</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Here are a few key points to summarize this section:</a:t>
            </a:r>
          </a:p>
          <a:p>
            <a:pPr marL="171450" indent="-171450">
              <a:buFont typeface="Arial" panose="020B0604020202020204" pitchFamily="34" charset="0"/>
              <a:buChar char="•"/>
            </a:pPr>
            <a:r>
              <a:rPr lang="en-US" dirty="0"/>
              <a:t>Organizations that want to become data driven should modernize, unify, and innovate. This means moving to cloud-based, purpose-built services and reducing operational overhead. It also means creating a single source of truth for data and making data available across the organization.</a:t>
            </a:r>
          </a:p>
          <a:p>
            <a:pPr marL="171450" indent="-171450">
              <a:buFont typeface="Arial" panose="020B0604020202020204" pitchFamily="34" charset="0"/>
              <a:buChar char="•"/>
            </a:pPr>
            <a:r>
              <a:rPr lang="en-US" dirty="0"/>
              <a:t>Organizations should innovate by finding new value in their data with the use of AI and ML.</a:t>
            </a:r>
          </a:p>
        </p:txBody>
      </p:sp>
    </p:spTree>
    <p:extLst>
      <p:ext uri="{BB962C8B-B14F-4D97-AF65-F5344CB8AC3E}">
        <p14:creationId xmlns:p14="http://schemas.microsoft.com/office/powerpoint/2010/main" val="39370961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21</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r>
              <a:rPr lang="en-US" dirty="0"/>
              <a:t>This section summarizes what you have learned and brings the Data-Driven Organizations module to a close.</a:t>
            </a:r>
          </a:p>
        </p:txBody>
      </p:sp>
    </p:spTree>
    <p:extLst>
      <p:ext uri="{BB962C8B-B14F-4D97-AF65-F5344CB8AC3E}">
        <p14:creationId xmlns:p14="http://schemas.microsoft.com/office/powerpoint/2010/main" val="2090860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number </a:t>
            </a:r>
            <a:fld id="{5C1B900B-5B1A-4351-A6A8-9EA466DC2EE4}" type="slidenum">
              <a:rPr lang="en-US" b="1" smtClean="0"/>
              <a:pPr/>
              <a:t>22</a:t>
            </a:fld>
            <a:endParaRPr lang="en-US" b="1" dirty="0"/>
          </a:p>
          <a:p>
            <a:r>
              <a:rPr lang="en-US" b="1" dirty="0"/>
              <a:t>|Instructor notes</a:t>
            </a:r>
          </a:p>
          <a:p>
            <a:r>
              <a:rPr lang="en-US" b="0" dirty="0">
                <a:solidFill>
                  <a:srgbClr val="000000"/>
                </a:solidFill>
                <a:latin typeface="Calibri" panose="020F0502020204030204" pitchFamily="34" charset="0"/>
              </a:rPr>
              <a:t>|</a:t>
            </a:r>
            <a:r>
              <a:rPr lang="en-US" dirty="0"/>
              <a:t>This is a good opportunity to use an online group or discussion board to ask students to reflect on what they have learned. You might ask the students to recall a point from the module that aligns to one of the listed objectives. This provides a good segue to the knowledge check and sample exam question.</a:t>
            </a:r>
          </a:p>
          <a:p>
            <a:r>
              <a:rPr lang="en-US" b="0" dirty="0"/>
              <a:t>|</a:t>
            </a:r>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module introduced data-driven decision-making and how data analytics and AI/ML can support decision-making. You learned that both data analytics and AI/ML can help with predictions, but AI/ML does it by learning about the data rather than by using programmed rules. You learned about the four main layers in a data pipeline: ingestion, storage, processing, and analysis and visualization. You were also introduced to the type of actions that are taken on data as it passes through the pipeline; for example, cleaning and transformation. You heard about the types of concerns that a data engineer or data scientist might have when building out and using a data pipeline. And finally, you learned about the modernize, unify, and innovate approach for building modern data infrastructures.</a:t>
            </a:r>
          </a:p>
        </p:txBody>
      </p:sp>
    </p:spTree>
    <p:extLst>
      <p:ext uri="{BB962C8B-B14F-4D97-AF65-F5344CB8AC3E}">
        <p14:creationId xmlns:p14="http://schemas.microsoft.com/office/powerpoint/2010/main" val="238341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C1B900B-5B1A-4351-A6A8-9EA466DC2EE4}" type="slidenum">
              <a:rPr lang="en-US" b="1" smtClean="0"/>
              <a:pPr/>
              <a:t>23</a:t>
            </a:fld>
            <a:endParaRPr lang="en-US" b="1" dirty="0"/>
          </a:p>
          <a:p>
            <a:r>
              <a:rPr lang="en-US" b="1" dirty="0"/>
              <a:t>|Instructor notes</a:t>
            </a:r>
          </a:p>
          <a:p>
            <a:r>
              <a:rPr lang="en-US" b="0" dirty="0">
                <a:solidFill>
                  <a:srgbClr val="000000"/>
                </a:solidFill>
                <a:latin typeface="Calibri" panose="020F0502020204030204" pitchFamily="34" charset="0"/>
              </a:rPr>
              <a:t>|</a:t>
            </a:r>
            <a:endParaRPr lang="en-US" b="1" dirty="0"/>
          </a:p>
          <a:p>
            <a:r>
              <a:rPr lang="en-US" b="1" dirty="0"/>
              <a:t>|Student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Calibri" panose="020F0502020204030204" pitchFamily="34" charset="0"/>
              </a:rPr>
              <a:t>Use your online course to access the knowledge check for this module.</a:t>
            </a:r>
            <a:endParaRPr lang="en-US" b="1" dirty="0"/>
          </a:p>
        </p:txBody>
      </p:sp>
    </p:spTree>
    <p:extLst>
      <p:ext uri="{BB962C8B-B14F-4D97-AF65-F5344CB8AC3E}">
        <p14:creationId xmlns:p14="http://schemas.microsoft.com/office/powerpoint/2010/main" val="1398228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D2AA25C6-F230-4FA8-A61D-98E7B01B9405}"/>
              </a:ext>
            </a:extLst>
          </p:cNvPr>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53D6894-8726-415B-9FD1-9AEC571F76BC}" type="slidenum">
              <a:rPr lang="en-US" b="1" smtClean="0"/>
              <a:pPr/>
              <a:t>24</a:t>
            </a:fld>
            <a:endParaRPr lang="en-US" b="0" dirty="0"/>
          </a:p>
          <a:p>
            <a:r>
              <a:rPr lang="en-US" b="1" dirty="0"/>
              <a:t>|Instructor notes: </a:t>
            </a:r>
            <a:r>
              <a:rPr lang="en-US" b="0" dirty="0"/>
              <a:t>The key words section is animated to be revealed on click. </a:t>
            </a:r>
          </a:p>
          <a:p>
            <a:r>
              <a:rPr lang="en-US" dirty="0"/>
              <a:t>|</a:t>
            </a:r>
          </a:p>
          <a:p>
            <a:r>
              <a:rPr lang="en-US" b="1" dirty="0"/>
              <a:t>|Student notes</a:t>
            </a:r>
          </a:p>
          <a:p>
            <a:r>
              <a:rPr lang="en-US" dirty="0"/>
              <a:t>The question implies the need for some type of analytics solution, based on the desired outcome of improved sales and the desire to address the request in a data-driven way. The other key consideration is that the question asks for the first step.</a:t>
            </a:r>
          </a:p>
        </p:txBody>
      </p:sp>
    </p:spTree>
    <p:extLst>
      <p:ext uri="{BB962C8B-B14F-4D97-AF65-F5344CB8AC3E}">
        <p14:creationId xmlns:p14="http://schemas.microsoft.com/office/powerpoint/2010/main" val="2938796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6CA4E64E-AFD1-4D4A-A515-38E98974BB62}"/>
              </a:ext>
            </a:extLst>
          </p:cNvPr>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53D6894-8726-415B-9FD1-9AEC571F76BC}" type="slidenum">
              <a:rPr lang="en-US" b="1" smtClean="0"/>
              <a:pPr/>
              <a:t>25</a:t>
            </a:fld>
            <a:endParaRPr lang="en-US" b="0" dirty="0"/>
          </a:p>
          <a:p>
            <a:r>
              <a:rPr lang="en-US" b="1" dirty="0"/>
              <a:t>|Instructor notes</a:t>
            </a:r>
          </a:p>
          <a:p>
            <a:r>
              <a:rPr lang="en-US" dirty="0"/>
              <a:t>|</a:t>
            </a:r>
          </a:p>
          <a:p>
            <a:r>
              <a:rPr lang="en-US" b="1" dirty="0"/>
              <a:t>|Student notes</a:t>
            </a:r>
          </a:p>
          <a:p>
            <a:r>
              <a:rPr lang="en-US" dirty="0"/>
              <a:t>Use the key words that you identified on the previous slide, and review each of the possible responses to determine which one best addresses the question.</a:t>
            </a:r>
          </a:p>
        </p:txBody>
      </p:sp>
    </p:spTree>
    <p:extLst>
      <p:ext uri="{BB962C8B-B14F-4D97-AF65-F5344CB8AC3E}">
        <p14:creationId xmlns:p14="http://schemas.microsoft.com/office/powerpoint/2010/main" val="42800261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F5EF8484-1427-4092-81D7-30D0C264985C}"/>
              </a:ext>
            </a:extLst>
          </p:cNvPr>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t>
            </a:r>
            <a:r>
              <a:rPr lang="en-US" b="1" dirty="0"/>
              <a:t>Slide number </a:t>
            </a:r>
            <a:fld id="{553D6894-8726-415B-9FD1-9AEC571F76BC}" type="slidenum">
              <a:rPr lang="en-US" b="1" smtClean="0"/>
              <a:pPr/>
              <a:t>26</a:t>
            </a:fld>
            <a:r>
              <a:rPr lang="en-US" b="1" dirty="0"/>
              <a:t> </a:t>
            </a:r>
            <a:endParaRPr lang="en-US" b="0" dirty="0"/>
          </a:p>
          <a:p>
            <a:r>
              <a:rPr lang="en-US" b="1" dirty="0"/>
              <a:t>|Instructor notes</a:t>
            </a:r>
          </a:p>
          <a:p>
            <a:r>
              <a:rPr lang="en-US" dirty="0"/>
              <a:t>|</a:t>
            </a:r>
          </a:p>
          <a:p>
            <a:r>
              <a:rPr lang="en-US" b="1" dirty="0"/>
              <a:t>|Student notes</a:t>
            </a:r>
          </a:p>
          <a:p>
            <a:pPr lvl="0"/>
            <a:r>
              <a:rPr lang="en-US" dirty="0"/>
              <a:t>Choice A (Develop an ML model that analyzes customer comments to determine where customers are unsatisfied) might be appropriate if the retailer believes that the cause of poor sales is related to customer satisfaction with their products and services.</a:t>
            </a:r>
          </a:p>
          <a:p>
            <a:pPr lvl="0"/>
            <a:endParaRPr lang="en-US" dirty="0"/>
          </a:p>
          <a:p>
            <a:pPr lvl="0"/>
            <a:r>
              <a:rPr lang="en-US" dirty="0"/>
              <a:t>Choice B (Use A/B testing to provide some customers with a new UI that is designed to simplify the purchasing process, and then compare sales results from the old and new UIs) might be appropriate if the retailer believes that sales are low because customers are having difficulty making purchases through the older UI.</a:t>
            </a:r>
          </a:p>
          <a:p>
            <a:pPr lvl="0"/>
            <a:endParaRPr lang="en-US" dirty="0"/>
          </a:p>
          <a:p>
            <a:pPr lvl="0"/>
            <a:r>
              <a:rPr lang="en-US" dirty="0"/>
              <a:t>Choice D (Analyze the total revenue per customer, and create customer segments that receive different types of offers based on their segment) might be appropriate if the retailer believes that low sales can be attributed to the way that different customer segments shop on their website.</a:t>
            </a:r>
          </a:p>
          <a:p>
            <a:pPr lvl="0"/>
            <a:endParaRPr lang="en-US" dirty="0"/>
          </a:p>
          <a:p>
            <a:pPr lvl="0"/>
            <a:r>
              <a:rPr lang="en-US" dirty="0"/>
              <a:t>Each of these answers (A, B, and D) represents ways that the organization might gather and analyze additional data depending on their hypothesis. But the first step should be to work backwards from the business problem (poor sales) to form a hypothesis and then build a data pipeline to collect and process data iteratively. So choice C is the correct answer.</a:t>
            </a:r>
          </a:p>
        </p:txBody>
      </p:sp>
    </p:spTree>
    <p:extLst>
      <p:ext uri="{BB962C8B-B14F-4D97-AF65-F5344CB8AC3E}">
        <p14:creationId xmlns:p14="http://schemas.microsoft.com/office/powerpoint/2010/main" val="37312885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8.svg"/><Relationship Id="rId5" Type="http://schemas.openxmlformats.org/officeDocument/2006/relationships/image" Target="../media/image7.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4.svg"/><Relationship Id="rId5" Type="http://schemas.openxmlformats.org/officeDocument/2006/relationships/image" Target="../media/image3.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4.svg"/><Relationship Id="rId5" Type="http://schemas.openxmlformats.org/officeDocument/2006/relationships/image" Target="../media/image3.png"/><Relationship Id="rId4" Type="http://schemas.microsoft.com/office/2007/relationships/hdphoto" Target="../media/hdphoto3.wdp"/></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7.xml"/><Relationship Id="rId4" Type="http://schemas.openxmlformats.org/officeDocument/2006/relationships/image" Target="../media/image4.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8.xml"/><Relationship Id="rId4"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Instructor Intro">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F3DBA0A-EF04-44BD-A704-1C36C47D2821}"/>
              </a:ext>
              <a:ext uri="{C183D7F6-B498-43B3-948B-1728B52AA6E4}">
                <adec:decorative xmlns:adec="http://schemas.microsoft.com/office/drawing/2017/decorative" val="1"/>
              </a:ext>
            </a:extLst>
          </p:cNvPr>
          <p:cNvGrpSpPr/>
          <p:nvPr/>
        </p:nvGrpSpPr>
        <p:grpSpPr>
          <a:xfrm>
            <a:off x="1" y="1"/>
            <a:ext cx="12004925" cy="6858000"/>
            <a:chOff x="1" y="1"/>
            <a:chExt cx="12004925" cy="6858000"/>
          </a:xfrm>
        </p:grpSpPr>
        <p:sp>
          <p:nvSpPr>
            <p:cNvPr id="93" name="BKG-LT">
              <a:extLst>
                <a:ext uri="{FF2B5EF4-FFF2-40B4-BE49-F238E27FC236}">
                  <a16:creationId xmlns:a16="http://schemas.microsoft.com/office/drawing/2014/main" id="{1636AFF1-562B-467D-8DC1-B38C08FBD4C3}"/>
                </a:ext>
                <a:ext uri="{C183D7F6-B498-43B3-948B-1728B52AA6E4}">
                  <adec:decorative xmlns:adec="http://schemas.microsoft.com/office/drawing/2017/decorative" val="1"/>
                </a:ext>
              </a:extLst>
            </p:cNvPr>
            <p:cNvSpPr/>
            <p:nvPr/>
          </p:nvSpPr>
          <p:spPr>
            <a:xfrm>
              <a:off x="1" y="1"/>
              <a:ext cx="590167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7" name="TrainingLine">
              <a:extLst>
                <a:ext uri="{FF2B5EF4-FFF2-40B4-BE49-F238E27FC236}">
                  <a16:creationId xmlns:a16="http://schemas.microsoft.com/office/drawing/2014/main" id="{D7310E2A-808D-407A-87D7-C505B238AAE6}"/>
                </a:ext>
                <a:ext uri="{C183D7F6-B498-43B3-948B-1728B52AA6E4}">
                  <adec:decorative xmlns:adec="http://schemas.microsoft.com/office/drawing/2017/decorative" val="1"/>
                </a:ext>
              </a:extLst>
            </p:cNvPr>
            <p:cNvCxnSpPr>
              <a:cxnSpLocks/>
            </p:cNvCxnSpPr>
            <p:nvPr/>
          </p:nvCxnSpPr>
          <p:spPr>
            <a:xfrm>
              <a:off x="198875" y="4775930"/>
              <a:ext cx="5503926" cy="0"/>
            </a:xfrm>
            <a:prstGeom prst="line">
              <a:avLst/>
            </a:prstGeom>
            <a:ln w="38100">
              <a:solidFill>
                <a:schemeClr val="accent2"/>
              </a:solidFill>
            </a:ln>
          </p:spPr>
          <p:style>
            <a:lnRef idx="3">
              <a:schemeClr val="accent3"/>
            </a:lnRef>
            <a:fillRef idx="0">
              <a:schemeClr val="accent3"/>
            </a:fillRef>
            <a:effectRef idx="2">
              <a:schemeClr val="accent3"/>
            </a:effectRef>
            <a:fontRef idx="minor">
              <a:schemeClr val="tx1"/>
            </a:fontRef>
          </p:style>
        </p:cxnSp>
        <p:sp>
          <p:nvSpPr>
            <p:cNvPr id="84" name="BKG-Photo">
              <a:extLst>
                <a:ext uri="{FF2B5EF4-FFF2-40B4-BE49-F238E27FC236}">
                  <a16:creationId xmlns:a16="http://schemas.microsoft.com/office/drawing/2014/main" id="{62D1E38E-9540-4F40-B30D-C4E76EF85FD1}"/>
                </a:ext>
                <a:ext uri="{C183D7F6-B498-43B3-948B-1728B52AA6E4}">
                  <adec:decorative xmlns:adec="http://schemas.microsoft.com/office/drawing/2017/decorative" val="1"/>
                </a:ext>
              </a:extLst>
            </p:cNvPr>
            <p:cNvSpPr/>
            <p:nvPr/>
          </p:nvSpPr>
          <p:spPr>
            <a:xfrm>
              <a:off x="6096000" y="412928"/>
              <a:ext cx="1636776" cy="1636776"/>
            </a:xfrm>
            <a:prstGeom prst="rect">
              <a:avLst/>
            </a:prstGeom>
            <a:solidFill>
              <a:schemeClr val="accent6"/>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InstructorLine">
              <a:extLst>
                <a:ext uri="{FF2B5EF4-FFF2-40B4-BE49-F238E27FC236}">
                  <a16:creationId xmlns:a16="http://schemas.microsoft.com/office/drawing/2014/main" id="{D2B179F5-8754-4804-B83A-9F86A1FABFC5}"/>
                </a:ext>
                <a:ext uri="{C183D7F6-B498-43B3-948B-1728B52AA6E4}">
                  <adec:decorative xmlns:adec="http://schemas.microsoft.com/office/drawing/2017/decorative" val="1"/>
                </a:ext>
              </a:extLst>
            </p:cNvPr>
            <p:cNvCxnSpPr>
              <a:cxnSpLocks/>
            </p:cNvCxnSpPr>
            <p:nvPr/>
          </p:nvCxnSpPr>
          <p:spPr>
            <a:xfrm>
              <a:off x="7715772" y="924231"/>
              <a:ext cx="4289154"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cxnSp>
          <p:nvCxnSpPr>
            <p:cNvPr id="85" name="ConnectLine">
              <a:extLst>
                <a:ext uri="{FF2B5EF4-FFF2-40B4-BE49-F238E27FC236}">
                  <a16:creationId xmlns:a16="http://schemas.microsoft.com/office/drawing/2014/main" id="{0C3C1B84-8505-4B24-973C-848AC60399A7}"/>
                </a:ext>
                <a:ext uri="{C183D7F6-B498-43B3-948B-1728B52AA6E4}">
                  <adec:decorative xmlns:adec="http://schemas.microsoft.com/office/drawing/2017/decorative" val="1"/>
                </a:ext>
              </a:extLst>
            </p:cNvPr>
            <p:cNvCxnSpPr>
              <a:cxnSpLocks/>
            </p:cNvCxnSpPr>
            <p:nvPr/>
          </p:nvCxnSpPr>
          <p:spPr>
            <a:xfrm>
              <a:off x="6096000" y="2841821"/>
              <a:ext cx="5908926"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pic>
          <p:nvPicPr>
            <p:cNvPr id="98" name="AWS Logo">
              <a:extLst>
                <a:ext uri="{FF2B5EF4-FFF2-40B4-BE49-F238E27FC236}">
                  <a16:creationId xmlns:a16="http://schemas.microsoft.com/office/drawing/2014/main" id="{EE68EF96-08A5-4475-A68D-AF69C928485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9" name="Copyright">
              <a:extLst>
                <a:ext uri="{FF2B5EF4-FFF2-40B4-BE49-F238E27FC236}">
                  <a16:creationId xmlns:a16="http://schemas.microsoft.com/office/drawing/2014/main" id="{0869739A-D862-4D7C-B7B5-2B689B100943}"/>
                </a:ext>
              </a:extLst>
            </p:cNvPr>
            <p:cNvSpPr txBox="1"/>
            <p:nvPr/>
          </p:nvSpPr>
          <p:spPr>
            <a:xfrm>
              <a:off x="876516" y="642353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0" name="Welcome">
            <a:extLst>
              <a:ext uri="{FF2B5EF4-FFF2-40B4-BE49-F238E27FC236}">
                <a16:creationId xmlns:a16="http://schemas.microsoft.com/office/drawing/2014/main" id="{440D7E67-8032-4F87-ACBA-58FA07AE3852}"/>
              </a:ext>
            </a:extLst>
          </p:cNvPr>
          <p:cNvSpPr txBox="1"/>
          <p:nvPr/>
        </p:nvSpPr>
        <p:spPr>
          <a:xfrm>
            <a:off x="1883879" y="587814"/>
            <a:ext cx="2133918" cy="523220"/>
          </a:xfrm>
          <a:prstGeom prst="rect">
            <a:avLst/>
          </a:prstGeom>
          <a:noFill/>
        </p:spPr>
        <p:txBody>
          <a:bodyPr wrap="none" rtlCol="0">
            <a:spAutoFit/>
          </a:bodyPr>
          <a:lstStyle/>
          <a:p>
            <a:pPr algn="ctr"/>
            <a:r>
              <a:rPr lang="en-US" sz="2800" dirty="0">
                <a:solidFill>
                  <a:schemeClr val="bg1"/>
                </a:solidFill>
                <a:latin typeface="+mn-lt"/>
                <a:ea typeface="Amazon Ember Light" panose="020B0403020204020204" pitchFamily="34" charset="0"/>
                <a:cs typeface="Amazon Ember Light" panose="020B0403020204020204" pitchFamily="34" charset="0"/>
              </a:rPr>
              <a:t>Welcome to</a:t>
            </a:r>
          </a:p>
        </p:txBody>
      </p:sp>
      <p:sp>
        <p:nvSpPr>
          <p:cNvPr id="2" name="Title">
            <a:extLst>
              <a:ext uri="{FF2B5EF4-FFF2-40B4-BE49-F238E27FC236}">
                <a16:creationId xmlns:a16="http://schemas.microsoft.com/office/drawing/2014/main" id="{7CF59815-B20B-41F2-B8C8-02A64BB4781A}"/>
              </a:ext>
            </a:extLst>
          </p:cNvPr>
          <p:cNvSpPr>
            <a:spLocks noGrp="1"/>
          </p:cNvSpPr>
          <p:nvPr>
            <p:ph type="title" hasCustomPrompt="1"/>
          </p:nvPr>
        </p:nvSpPr>
        <p:spPr>
          <a:xfrm>
            <a:off x="228606" y="1179326"/>
            <a:ext cx="5444465" cy="3404221"/>
          </a:xfrm>
        </p:spPr>
        <p:txBody>
          <a:bodyPr anchor="t">
            <a:noAutofit/>
          </a:bodyPr>
          <a:lstStyle>
            <a:lvl1pPr algn="ctr">
              <a:defRPr sz="48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Enter </a:t>
            </a:r>
            <a:br>
              <a:rPr lang="en-US" dirty="0"/>
            </a:br>
            <a:r>
              <a:rPr lang="en-US" dirty="0"/>
              <a:t>course title</a:t>
            </a:r>
          </a:p>
        </p:txBody>
      </p:sp>
      <p:sp>
        <p:nvSpPr>
          <p:cNvPr id="21" name="Training Begins">
            <a:extLst>
              <a:ext uri="{FF2B5EF4-FFF2-40B4-BE49-F238E27FC236}">
                <a16:creationId xmlns:a16="http://schemas.microsoft.com/office/drawing/2014/main" id="{D506D4EE-3DBD-4D77-AEE2-0FF7128DE4BD}"/>
              </a:ext>
            </a:extLst>
          </p:cNvPr>
          <p:cNvSpPr txBox="1"/>
          <p:nvPr/>
        </p:nvSpPr>
        <p:spPr>
          <a:xfrm>
            <a:off x="977546" y="4848827"/>
            <a:ext cx="3985386" cy="523220"/>
          </a:xfrm>
          <a:prstGeom prst="rect">
            <a:avLst/>
          </a:prstGeom>
          <a:noFill/>
        </p:spPr>
        <p:txBody>
          <a:bodyPr wrap="none" rtlCol="0">
            <a:spAutoFit/>
          </a:bodyPr>
          <a:lstStyle/>
          <a:p>
            <a:pPr algn="ctr"/>
            <a:r>
              <a:rPr lang="en-US" sz="28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This training will begin:</a:t>
            </a:r>
          </a:p>
        </p:txBody>
      </p:sp>
      <p:sp>
        <p:nvSpPr>
          <p:cNvPr id="3" name="TimeZone">
            <a:extLst>
              <a:ext uri="{FF2B5EF4-FFF2-40B4-BE49-F238E27FC236}">
                <a16:creationId xmlns:a16="http://schemas.microsoft.com/office/drawing/2014/main" id="{15FEBCEE-35B5-4CBC-BD60-FE197957D654}"/>
              </a:ext>
            </a:extLst>
          </p:cNvPr>
          <p:cNvSpPr>
            <a:spLocks noGrp="1"/>
          </p:cNvSpPr>
          <p:nvPr>
            <p:ph type="body" idx="1" hasCustomPrompt="1"/>
          </p:nvPr>
        </p:nvSpPr>
        <p:spPr>
          <a:xfrm>
            <a:off x="336114" y="5463827"/>
            <a:ext cx="5268251" cy="627245"/>
          </a:xfrm>
        </p:spPr>
        <p:txBody>
          <a:bodyPr anchor="t">
            <a:normAutofit/>
          </a:bodyPr>
          <a:lstStyle>
            <a:lvl1pPr marL="0" indent="0" algn="ctr">
              <a:buNone/>
              <a:defRPr sz="20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course start time and time zone</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4" hasCustomPrompt="1"/>
          </p:nvPr>
        </p:nvSpPr>
        <p:spPr>
          <a:xfrm>
            <a:off x="6122226" y="440360"/>
            <a:ext cx="1584325" cy="1581912"/>
          </a:xfrm>
        </p:spPr>
        <p:txBody>
          <a:bodyPr>
            <a:normAutofit/>
          </a:bodyPr>
          <a:lstStyle>
            <a:lvl1pPr marL="0" indent="0" algn="ctr">
              <a:buNone/>
              <a:defRPr sz="2000">
                <a:solidFill>
                  <a:schemeClr val="bg1"/>
                </a:solidFill>
              </a:defRPr>
            </a:lvl1pPr>
          </a:lstStyle>
          <a:p>
            <a:r>
              <a:rPr lang="en-US" dirty="0"/>
              <a:t>Instructor photo</a:t>
            </a:r>
          </a:p>
        </p:txBody>
      </p:sp>
      <p:sp>
        <p:nvSpPr>
          <p:cNvPr id="23" name="Instructor title">
            <a:extLst>
              <a:ext uri="{FF2B5EF4-FFF2-40B4-BE49-F238E27FC236}">
                <a16:creationId xmlns:a16="http://schemas.microsoft.com/office/drawing/2014/main" id="{1E89B15E-5A77-464A-BFA6-2416D1566FA9}"/>
              </a:ext>
            </a:extLst>
          </p:cNvPr>
          <p:cNvSpPr txBox="1"/>
          <p:nvPr/>
        </p:nvSpPr>
        <p:spPr>
          <a:xfrm>
            <a:off x="7715773" y="412928"/>
            <a:ext cx="3060453"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Your instructor is:</a:t>
            </a:r>
          </a:p>
        </p:txBody>
      </p:sp>
      <p:sp>
        <p:nvSpPr>
          <p:cNvPr id="7" name="Instructor Info">
            <a:extLst>
              <a:ext uri="{FF2B5EF4-FFF2-40B4-BE49-F238E27FC236}">
                <a16:creationId xmlns:a16="http://schemas.microsoft.com/office/drawing/2014/main" id="{09913C86-F9D2-40F4-BFE6-F0C9EF282B5E}"/>
              </a:ext>
            </a:extLst>
          </p:cNvPr>
          <p:cNvSpPr>
            <a:spLocks noGrp="1"/>
          </p:cNvSpPr>
          <p:nvPr>
            <p:ph type="body" idx="2" hasCustomPrompt="1"/>
          </p:nvPr>
        </p:nvSpPr>
        <p:spPr>
          <a:xfrm>
            <a:off x="7838662" y="1002529"/>
            <a:ext cx="4166263" cy="1021776"/>
          </a:xfrm>
        </p:spPr>
        <p:txBody>
          <a:bodyPr anchor="t">
            <a:normAutofit/>
          </a:bodyPr>
          <a:lstStyle>
            <a:lvl1pPr marL="0" indent="0" algn="l">
              <a:buNone/>
              <a:defRPr sz="20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24" name="Connection Title">
            <a:extLst>
              <a:ext uri="{FF2B5EF4-FFF2-40B4-BE49-F238E27FC236}">
                <a16:creationId xmlns:a16="http://schemas.microsoft.com/office/drawing/2014/main" id="{8EE8F574-4F92-4934-B4F0-90D055E5D8A2}"/>
              </a:ext>
            </a:extLst>
          </p:cNvPr>
          <p:cNvSpPr txBox="1"/>
          <p:nvPr/>
        </p:nvSpPr>
        <p:spPr>
          <a:xfrm>
            <a:off x="6447569" y="2330518"/>
            <a:ext cx="4328429"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Connect to the following:</a:t>
            </a:r>
          </a:p>
        </p:txBody>
      </p:sp>
      <p:sp>
        <p:nvSpPr>
          <p:cNvPr id="8" name="Resources">
            <a:extLst>
              <a:ext uri="{FF2B5EF4-FFF2-40B4-BE49-F238E27FC236}">
                <a16:creationId xmlns:a16="http://schemas.microsoft.com/office/drawing/2014/main" id="{B7141889-281C-44C1-8554-B9EEA8D5FF40}"/>
              </a:ext>
            </a:extLst>
          </p:cNvPr>
          <p:cNvSpPr>
            <a:spLocks noGrp="1"/>
          </p:cNvSpPr>
          <p:nvPr>
            <p:ph type="body" idx="3" hasCustomPrompt="1"/>
          </p:nvPr>
        </p:nvSpPr>
        <p:spPr>
          <a:xfrm>
            <a:off x="6095999" y="2920118"/>
            <a:ext cx="5908925" cy="3497521"/>
          </a:xfrm>
        </p:spPr>
        <p:txBody>
          <a:bodyPr anchor="t">
            <a:normAutofit/>
          </a:bodyPr>
          <a:lstStyle>
            <a:lvl1pPr marL="0" indent="0" algn="l">
              <a:buNone/>
              <a:defRPr sz="1800" baseline="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and any other resources the student needs to have loaded</a:t>
            </a:r>
          </a:p>
        </p:txBody>
      </p:sp>
    </p:spTree>
    <p:custDataLst>
      <p:tags r:id="rId1"/>
    </p:custDataLst>
    <p:extLst>
      <p:ext uri="{BB962C8B-B14F-4D97-AF65-F5344CB8AC3E}">
        <p14:creationId xmlns:p14="http://schemas.microsoft.com/office/powerpoint/2010/main" val="1509370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ECE86FD8-F169-471F-88EA-8FF7FCC5008E}"/>
              </a:ext>
              <a:ext uri="{C183D7F6-B498-43B3-948B-1728B52AA6E4}">
                <adec:decorative xmlns:adec="http://schemas.microsoft.com/office/drawing/2017/decorative" val="1"/>
              </a:ext>
            </a:extLst>
          </p:cNvPr>
          <p:cNvGrpSpPr/>
          <p:nvPr/>
        </p:nvGrpSpPr>
        <p:grpSpPr>
          <a:xfrm>
            <a:off x="0" y="-1"/>
            <a:ext cx="12192000" cy="6858001"/>
            <a:chOff x="0" y="-1"/>
            <a:chExt cx="12192000" cy="6858001"/>
          </a:xfrm>
        </p:grpSpPr>
        <p:sp>
          <p:nvSpPr>
            <p:cNvPr id="89" name="BKG">
              <a:extLst>
                <a:ext uri="{FF2B5EF4-FFF2-40B4-BE49-F238E27FC236}">
                  <a16:creationId xmlns:a16="http://schemas.microsoft.com/office/drawing/2014/main" id="{027B77B7-F317-4AA6-A627-75F5AE2E7A5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7" name="CubeSide">
              <a:extLst>
                <a:ext uri="{FF2B5EF4-FFF2-40B4-BE49-F238E27FC236}">
                  <a16:creationId xmlns:a16="http://schemas.microsoft.com/office/drawing/2014/main" id="{30CD656D-5337-4244-BA3E-ABD963579911}"/>
                </a:ext>
                <a:ext uri="{C183D7F6-B498-43B3-948B-1728B52AA6E4}">
                  <adec:decorative xmlns:adec="http://schemas.microsoft.com/office/drawing/2017/decorative" val="1"/>
                </a:ext>
              </a:extLst>
            </p:cNvPr>
            <p:cNvSpPr/>
            <p:nvPr/>
          </p:nvSpPr>
          <p:spPr>
            <a:xfrm>
              <a:off x="5867400" y="0"/>
              <a:ext cx="2228850" cy="2295144"/>
            </a:xfrm>
            <a:custGeom>
              <a:avLst/>
              <a:gdLst>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2295144 h 2295144"/>
                <a:gd name="connsiteX4" fmla="*/ 0 w 2228850"/>
                <a:gd name="connsiteY4" fmla="*/ 0 h 2295144"/>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0 h 2295144"/>
              </a:gdLst>
              <a:ahLst/>
              <a:cxnLst>
                <a:cxn ang="0">
                  <a:pos x="connsiteX0" y="connsiteY0"/>
                </a:cxn>
                <a:cxn ang="0">
                  <a:pos x="connsiteX1" y="connsiteY1"/>
                </a:cxn>
                <a:cxn ang="0">
                  <a:pos x="connsiteX2" y="connsiteY2"/>
                </a:cxn>
                <a:cxn ang="0">
                  <a:pos x="connsiteX3" y="connsiteY3"/>
                </a:cxn>
              </a:cxnLst>
              <a:rect l="l" t="t" r="r" b="b"/>
              <a:pathLst>
                <a:path w="2228850" h="2295144">
                  <a:moveTo>
                    <a:pt x="0" y="0"/>
                  </a:moveTo>
                  <a:lnTo>
                    <a:pt x="2228850" y="0"/>
                  </a:lnTo>
                  <a:lnTo>
                    <a:pt x="2228850" y="229514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CubeFront">
              <a:extLst>
                <a:ext uri="{FF2B5EF4-FFF2-40B4-BE49-F238E27FC236}">
                  <a16:creationId xmlns:a16="http://schemas.microsoft.com/office/drawing/2014/main" id="{66A5F4A5-2CA3-4E34-97C1-74E113BA3D7E}"/>
                </a:ext>
                <a:ext uri="{C183D7F6-B498-43B3-948B-1728B52AA6E4}">
                  <adec:decorative xmlns:adec="http://schemas.microsoft.com/office/drawing/2017/decorative" val="1"/>
                </a:ext>
              </a:extLst>
            </p:cNvPr>
            <p:cNvSpPr/>
            <p:nvPr/>
          </p:nvSpPr>
          <p:spPr>
            <a:xfrm>
              <a:off x="8096250" y="-1"/>
              <a:ext cx="4095750" cy="22955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8" name="AWS Logo">
              <a:extLst>
                <a:ext uri="{FF2B5EF4-FFF2-40B4-BE49-F238E27FC236}">
                  <a16:creationId xmlns:a16="http://schemas.microsoft.com/office/drawing/2014/main" id="{961F7EBA-6264-4D1A-BA90-2C8A61C69B3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5601" y="551423"/>
              <a:ext cx="1005840" cy="601499"/>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1"/>
                </a:solidFill>
              </a:defRPr>
            </a:lvl1pPr>
          </a:lstStyle>
          <a:p>
            <a:r>
              <a:rPr lang="en-US"/>
              <a:t>Click to edit Master title style</a:t>
            </a:r>
            <a:endParaRPr lang="en-US" dirty="0"/>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1"/>
                </a:solidFill>
              </a:defRPr>
            </a:lvl1pPr>
          </a:lstStyle>
          <a:p>
            <a:pPr lvl="0"/>
            <a:r>
              <a:rPr lang="en-US" dirty="0"/>
              <a:t>Type subtitle here</a:t>
            </a:r>
          </a:p>
        </p:txBody>
      </p:sp>
    </p:spTree>
    <p:custDataLst>
      <p:tags r:id="rId1"/>
    </p:custDataLst>
    <p:extLst>
      <p:ext uri="{BB962C8B-B14F-4D97-AF65-F5344CB8AC3E}">
        <p14:creationId xmlns:p14="http://schemas.microsoft.com/office/powerpoint/2010/main" val="3189323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Variant">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B3DCE0D-B1BB-4208-8FF4-6B7AC00DC28E}"/>
              </a:ext>
              <a:ext uri="{C183D7F6-B498-43B3-948B-1728B52AA6E4}">
                <adec:decorative xmlns:adec="http://schemas.microsoft.com/office/drawing/2017/decorative" val="1"/>
              </a:ext>
            </a:extLst>
          </p:cNvPr>
          <p:cNvGrpSpPr/>
          <p:nvPr/>
        </p:nvGrpSpPr>
        <p:grpSpPr>
          <a:xfrm>
            <a:off x="0" y="0"/>
            <a:ext cx="12192000" cy="6868287"/>
            <a:chOff x="0" y="0"/>
            <a:chExt cx="12192000" cy="6868287"/>
          </a:xfrm>
        </p:grpSpPr>
        <p:sp>
          <p:nvSpPr>
            <p:cNvPr id="92" name="BKG-TP">
              <a:extLst>
                <a:ext uri="{FF2B5EF4-FFF2-40B4-BE49-F238E27FC236}">
                  <a16:creationId xmlns:a16="http://schemas.microsoft.com/office/drawing/2014/main" id="{B149FB85-86EE-4435-AFFD-185416ABD0BC}"/>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beSide">
              <a:extLst>
                <a:ext uri="{FF2B5EF4-FFF2-40B4-BE49-F238E27FC236}">
                  <a16:creationId xmlns:a16="http://schemas.microsoft.com/office/drawing/2014/main" id="{F802EE88-1736-4DCA-8546-B833E1DC91F1}"/>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CubeFront">
              <a:extLst>
                <a:ext uri="{FF2B5EF4-FFF2-40B4-BE49-F238E27FC236}">
                  <a16:creationId xmlns:a16="http://schemas.microsoft.com/office/drawing/2014/main" id="{1909D555-A83A-43A3-ACF3-38A8D3D654E1}"/>
                </a:ext>
                <a:ext uri="{C183D7F6-B498-43B3-948B-1728B52AA6E4}">
                  <adec:decorative xmlns:adec="http://schemas.microsoft.com/office/drawing/2017/decorative" val="1"/>
                </a:ext>
              </a:extLst>
            </p:cNvPr>
            <p:cNvSpPr/>
            <p:nvPr/>
          </p:nvSpPr>
          <p:spPr>
            <a:xfrm>
              <a:off x="2552700" y="942975"/>
              <a:ext cx="9639300" cy="5925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F4EB4C23-6D3D-4AFD-8C20-ABBDE0E95555}"/>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5601" y="551423"/>
              <a:ext cx="1005840" cy="601499"/>
            </a:xfrm>
            <a:prstGeom prst="rect">
              <a:avLst/>
            </a:prstGeom>
          </p:spPr>
        </p:pic>
        <p:sp>
          <p:nvSpPr>
            <p:cNvPr id="10" name="Copyright">
              <a:extLst>
                <a:ext uri="{FF2B5EF4-FFF2-40B4-BE49-F238E27FC236}">
                  <a16:creationId xmlns:a16="http://schemas.microsoft.com/office/drawing/2014/main" id="{D18A8FFD-2A5D-4A49-85E4-97EFFB9C657F}"/>
                </a:ext>
              </a:extLst>
            </p:cNvPr>
            <p:cNvSpPr txBox="1"/>
            <p:nvPr/>
          </p:nvSpPr>
          <p:spPr>
            <a:xfrm>
              <a:off x="5039534" y="6568818"/>
              <a:ext cx="4659950" cy="261610"/>
            </a:xfrm>
            <a:prstGeom prst="rect">
              <a:avLst/>
            </a:prstGeom>
            <a:noFill/>
          </p:spPr>
          <p:txBody>
            <a:bodyPr wrap="square" rtlCol="0">
              <a:spAutoFit/>
            </a:bodyPr>
            <a:lstStyle/>
            <a:p>
              <a:pPr algn="ctr"/>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4033957-0EFE-4329-90FD-EA0B2493A7A5}"/>
              </a:ext>
            </a:extLst>
          </p:cNvPr>
          <p:cNvSpPr>
            <a:spLocks noGrp="1"/>
          </p:cNvSpPr>
          <p:nvPr>
            <p:ph type="ctrTitle" hasCustomPrompt="1"/>
          </p:nvPr>
        </p:nvSpPr>
        <p:spPr>
          <a:xfrm>
            <a:off x="2697480" y="1451250"/>
            <a:ext cx="9189490" cy="2325458"/>
          </a:xfrm>
        </p:spPr>
        <p:txBody>
          <a:bodyPr anchor="b"/>
          <a:lstStyle>
            <a:lvl1pPr algn="l">
              <a:lnSpc>
                <a:spcPct val="100000"/>
              </a:lnSpc>
              <a:defRPr sz="48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3" name="Subtitle">
            <a:extLst>
              <a:ext uri="{FF2B5EF4-FFF2-40B4-BE49-F238E27FC236}">
                <a16:creationId xmlns:a16="http://schemas.microsoft.com/office/drawing/2014/main" id="{D880B134-6E98-45E8-A3FF-0D4A8170A59B}"/>
              </a:ext>
            </a:extLst>
          </p:cNvPr>
          <p:cNvSpPr>
            <a:spLocks noGrp="1"/>
          </p:cNvSpPr>
          <p:nvPr>
            <p:ph type="subTitle" idx="1" hasCustomPrompt="1"/>
          </p:nvPr>
        </p:nvSpPr>
        <p:spPr>
          <a:xfrm>
            <a:off x="2697480" y="3799920"/>
            <a:ext cx="9189490" cy="2325458"/>
          </a:xfrm>
        </p:spPr>
        <p:txBody>
          <a:bodyPr lIns="0"/>
          <a:lstStyle>
            <a:lvl1pPr marL="0" indent="0" algn="l">
              <a:lnSpc>
                <a:spcPct val="100000"/>
              </a:lnSpc>
              <a:buNone/>
              <a:defRPr sz="32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Tree>
    <p:custDataLst>
      <p:tags r:id="rId1"/>
    </p:custDataLst>
    <p:extLst>
      <p:ext uri="{BB962C8B-B14F-4D97-AF65-F5344CB8AC3E}">
        <p14:creationId xmlns:p14="http://schemas.microsoft.com/office/powerpoint/2010/main" val="2929932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1B10142-B0CD-490B-913A-93A7D3CC5D7A}"/>
              </a:ext>
              <a:ext uri="{C183D7F6-B498-43B3-948B-1728B52AA6E4}">
                <adec:decorative xmlns:adec="http://schemas.microsoft.com/office/drawing/2017/decorative" val="1"/>
              </a:ext>
            </a:extLst>
          </p:cNvPr>
          <p:cNvGrpSpPr/>
          <p:nvPr/>
        </p:nvGrpSpPr>
        <p:grpSpPr>
          <a:xfrm>
            <a:off x="143797" y="-1"/>
            <a:ext cx="12048203" cy="6858001"/>
            <a:chOff x="143797" y="-1"/>
            <a:chExt cx="12048203" cy="6858001"/>
          </a:xfrm>
        </p:grpSpPr>
        <p:sp>
          <p:nvSpPr>
            <p:cNvPr id="96" name="CubeFront">
              <a:extLst>
                <a:ext uri="{FF2B5EF4-FFF2-40B4-BE49-F238E27FC236}">
                  <a16:creationId xmlns:a16="http://schemas.microsoft.com/office/drawing/2014/main" id="{EB9F2B64-3214-46CE-B26A-76A33B8A082C}"/>
                </a:ext>
                <a:ext uri="{C183D7F6-B498-43B3-948B-1728B52AA6E4}">
                  <adec:decorative xmlns:adec="http://schemas.microsoft.com/office/drawing/2017/decorative" val="1"/>
                </a:ext>
              </a:extLst>
            </p:cNvPr>
            <p:cNvSpPr/>
            <p:nvPr/>
          </p:nvSpPr>
          <p:spPr>
            <a:xfrm>
              <a:off x="575642" y="5917721"/>
              <a:ext cx="4282108" cy="9402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CubeTop">
              <a:extLst>
                <a:ext uri="{FF2B5EF4-FFF2-40B4-BE49-F238E27FC236}">
                  <a16:creationId xmlns:a16="http://schemas.microsoft.com/office/drawing/2014/main" id="{0FF51441-9768-48B1-AE80-CEAE9A021603}"/>
                </a:ext>
                <a:ext uri="{C183D7F6-B498-43B3-948B-1728B52AA6E4}">
                  <adec:decorative xmlns:adec="http://schemas.microsoft.com/office/drawing/2017/decorative" val="1"/>
                </a:ext>
              </a:extLst>
            </p:cNvPr>
            <p:cNvSpPr/>
            <p:nvPr/>
          </p:nvSpPr>
          <p:spPr>
            <a:xfrm>
              <a:off x="572679" y="4071144"/>
              <a:ext cx="11619321" cy="2786856"/>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BKG-RT">
              <a:extLst>
                <a:ext uri="{FF2B5EF4-FFF2-40B4-BE49-F238E27FC236}">
                  <a16:creationId xmlns:a16="http://schemas.microsoft.com/office/drawing/2014/main" id="{697F20B3-5BFF-47DC-AE6A-5F9A8918A682}"/>
                </a:ext>
                <a:ext uri="{C183D7F6-B498-43B3-948B-1728B52AA6E4}">
                  <adec:decorative xmlns:adec="http://schemas.microsoft.com/office/drawing/2017/decorative" val="1"/>
                </a:ext>
              </a:extLst>
            </p:cNvPr>
            <p:cNvSpPr/>
            <p:nvPr/>
          </p:nvSpPr>
          <p:spPr>
            <a:xfrm>
              <a:off x="9134016" y="-1"/>
              <a:ext cx="3057984" cy="478631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0" y="393065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88" name="Icons">
              <a:extLst>
                <a:ext uri="{FF2B5EF4-FFF2-40B4-BE49-F238E27FC236}">
                  <a16:creationId xmlns:a16="http://schemas.microsoft.com/office/drawing/2014/main" id="{B4EB8A30-C05D-469F-BB6F-51E2087DD9D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tretch>
              <a:fillRect/>
            </a:stretch>
          </p:blipFill>
          <p:spPr>
            <a:xfrm>
              <a:off x="933450" y="4011878"/>
              <a:ext cx="11258550" cy="2846121"/>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43797" y="6525216"/>
              <a:ext cx="366979" cy="219456"/>
            </a:xfrm>
            <a:prstGeom prst="rect">
              <a:avLst/>
            </a:prstGeom>
          </p:spPr>
        </p:pic>
      </p:grpSp>
      <p:sp>
        <p:nvSpPr>
          <p:cNvPr id="4" name="CopyBackground">
            <a:extLst>
              <a:ext uri="{FF2B5EF4-FFF2-40B4-BE49-F238E27FC236}">
                <a16:creationId xmlns:a16="http://schemas.microsoft.com/office/drawing/2014/main" id="{F06F3491-7AC4-48E9-9C0B-AAB51F148301}"/>
              </a:ext>
            </a:extLst>
          </p:cNvPr>
          <p:cNvSpPr/>
          <p:nvPr/>
        </p:nvSpPr>
        <p:spPr>
          <a:xfrm>
            <a:off x="7622849"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pyright">
            <a:extLst>
              <a:ext uri="{FF2B5EF4-FFF2-40B4-BE49-F238E27FC236}">
                <a16:creationId xmlns:a16="http://schemas.microsoft.com/office/drawing/2014/main" id="{5A486F92-5B56-43F0-919B-1CB4CEF78BAE}"/>
              </a:ext>
            </a:extLst>
          </p:cNvPr>
          <p:cNvSpPr txBox="1"/>
          <p:nvPr/>
        </p:nvSpPr>
        <p:spPr>
          <a:xfrm>
            <a:off x="7538162" y="6579898"/>
            <a:ext cx="4653838" cy="261610"/>
          </a:xfrm>
          <a:prstGeom prst="rect">
            <a:avLst/>
          </a:prstGeom>
          <a:noFill/>
        </p:spPr>
        <p:txBody>
          <a:bodyPr wrap="none" rtlCol="0">
            <a:spAutoFit/>
          </a:bodyPr>
          <a:lstStyle/>
          <a:p>
            <a:r>
              <a:rPr lang="en-US" sz="1100" kern="1200" dirty="0">
                <a:solidFill>
                  <a:schemeClr val="tx1"/>
                </a:solidFill>
                <a:effectLst/>
                <a:latin typeface="+mn-lt"/>
                <a:ea typeface="+mn-ea"/>
                <a:cs typeface="+mn-cs"/>
              </a:rPr>
              <a:t>© 2022, Amazon Web Services, Inc. or its affiliates. All rights reserved.</a:t>
            </a:r>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Tree>
    <p:custDataLst>
      <p:tags r:id="rId1"/>
    </p:custDataLst>
    <p:extLst>
      <p:ext uri="{BB962C8B-B14F-4D97-AF65-F5344CB8AC3E}">
        <p14:creationId xmlns:p14="http://schemas.microsoft.com/office/powerpoint/2010/main" val="891295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Variant">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D6A50E3-62DD-469F-A4B4-2DC279107EB8}"/>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1" name="BKG-BM">
              <a:extLst>
                <a:ext uri="{FF2B5EF4-FFF2-40B4-BE49-F238E27FC236}">
                  <a16:creationId xmlns:a16="http://schemas.microsoft.com/office/drawing/2014/main" id="{165087FF-D0AD-4AD7-B899-B2227A662904}"/>
                </a:ext>
                <a:ext uri="{C183D7F6-B498-43B3-948B-1728B52AA6E4}">
                  <adec:decorative xmlns:adec="http://schemas.microsoft.com/office/drawing/2017/decorative" val="1"/>
                </a:ext>
              </a:extLst>
            </p:cNvPr>
            <p:cNvSpPr/>
            <p:nvPr/>
          </p:nvSpPr>
          <p:spPr>
            <a:xfrm>
              <a:off x="0" y="5576341"/>
              <a:ext cx="11062270" cy="12816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CubeTop">
              <a:extLst>
                <a:ext uri="{FF2B5EF4-FFF2-40B4-BE49-F238E27FC236}">
                  <a16:creationId xmlns:a16="http://schemas.microsoft.com/office/drawing/2014/main" id="{81DABB71-298F-46E6-9028-558C99DF72DF}"/>
                </a:ext>
                <a:ext uri="{C183D7F6-B498-43B3-948B-1728B52AA6E4}">
                  <adec:decorative xmlns:adec="http://schemas.microsoft.com/office/drawing/2017/decorative" val="1"/>
                </a:ext>
              </a:extLst>
            </p:cNvPr>
            <p:cNvSpPr/>
            <p:nvPr/>
          </p:nvSpPr>
          <p:spPr>
            <a:xfrm>
              <a:off x="9669645" y="0"/>
              <a:ext cx="2522355" cy="14319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beSide">
              <a:extLst>
                <a:ext uri="{FF2B5EF4-FFF2-40B4-BE49-F238E27FC236}">
                  <a16:creationId xmlns:a16="http://schemas.microsoft.com/office/drawing/2014/main" id="{31FFCCD2-46F8-4A8C-9D8D-34F0218F69C7}"/>
                </a:ext>
                <a:ext uri="{C183D7F6-B498-43B3-948B-1728B52AA6E4}">
                  <adec:decorative xmlns:adec="http://schemas.microsoft.com/office/drawing/2017/decorative" val="1"/>
                </a:ext>
              </a:extLst>
            </p:cNvPr>
            <p:cNvSpPr/>
            <p:nvPr/>
          </p:nvSpPr>
          <p:spPr>
            <a:xfrm>
              <a:off x="9519222" y="0"/>
              <a:ext cx="1543050" cy="6858000"/>
            </a:xfrm>
            <a:custGeom>
              <a:avLst/>
              <a:gdLst>
                <a:gd name="connsiteX0" fmla="*/ 0 w 1533524"/>
                <a:gd name="connsiteY0" fmla="*/ 0 h 6858000"/>
                <a:gd name="connsiteX1" fmla="*/ 1533524 w 1533524"/>
                <a:gd name="connsiteY1" fmla="*/ 0 h 6858000"/>
                <a:gd name="connsiteX2" fmla="*/ 1533524 w 1533524"/>
                <a:gd name="connsiteY2" fmla="*/ 6858000 h 6858000"/>
                <a:gd name="connsiteX3" fmla="*/ 0 w 1533524"/>
                <a:gd name="connsiteY3" fmla="*/ 6858000 h 6858000"/>
                <a:gd name="connsiteX4" fmla="*/ 0 w 1533524"/>
                <a:gd name="connsiteY4" fmla="*/ 0 h 6858000"/>
                <a:gd name="connsiteX0" fmla="*/ 0 w 1533524"/>
                <a:gd name="connsiteY0" fmla="*/ 0 h 6858000"/>
                <a:gd name="connsiteX1" fmla="*/ 190500 w 1533524"/>
                <a:gd name="connsiteY1" fmla="*/ 0 h 6858000"/>
                <a:gd name="connsiteX2" fmla="*/ 1533524 w 1533524"/>
                <a:gd name="connsiteY2" fmla="*/ 0 h 6858000"/>
                <a:gd name="connsiteX3" fmla="*/ 1533524 w 1533524"/>
                <a:gd name="connsiteY3" fmla="*/ 6858000 h 6858000"/>
                <a:gd name="connsiteX4" fmla="*/ 0 w 1533524"/>
                <a:gd name="connsiteY4" fmla="*/ 6858000 h 6858000"/>
                <a:gd name="connsiteX5" fmla="*/ 0 w 1533524"/>
                <a:gd name="connsiteY5"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0 w 1533525"/>
                <a:gd name="connsiteY5" fmla="*/ 6858000 h 6858000"/>
                <a:gd name="connsiteX6" fmla="*/ 0 w 1533525"/>
                <a:gd name="connsiteY6"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1333500 w 1533525"/>
                <a:gd name="connsiteY5" fmla="*/ 6858000 h 6858000"/>
                <a:gd name="connsiteX6" fmla="*/ 0 w 1533525"/>
                <a:gd name="connsiteY6" fmla="*/ 6858000 h 6858000"/>
                <a:gd name="connsiteX7" fmla="*/ 0 w 1533525"/>
                <a:gd name="connsiteY7"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9525 w 1543050"/>
                <a:gd name="connsiteY6" fmla="*/ 6858000 h 6858000"/>
                <a:gd name="connsiteX7" fmla="*/ 0 w 1543050"/>
                <a:gd name="connsiteY7" fmla="*/ 5591175 h 6858000"/>
                <a:gd name="connsiteX8" fmla="*/ 9525 w 1543050"/>
                <a:gd name="connsiteY8"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0 w 1543050"/>
                <a:gd name="connsiteY6" fmla="*/ 5591175 h 6858000"/>
                <a:gd name="connsiteX7" fmla="*/ 9525 w 1543050"/>
                <a:gd name="connsiteY7" fmla="*/ 0 h 6858000"/>
                <a:gd name="connsiteX0" fmla="*/ 9525 w 1543050"/>
                <a:gd name="connsiteY0" fmla="*/ 0 h 6858000"/>
                <a:gd name="connsiteX1" fmla="*/ 200025 w 1543050"/>
                <a:gd name="connsiteY1" fmla="*/ 0 h 6858000"/>
                <a:gd name="connsiteX2" fmla="*/ 1543050 w 1543050"/>
                <a:gd name="connsiteY2" fmla="*/ 1343025 h 6858000"/>
                <a:gd name="connsiteX3" fmla="*/ 1543049 w 1543050"/>
                <a:gd name="connsiteY3" fmla="*/ 6858000 h 6858000"/>
                <a:gd name="connsiteX4" fmla="*/ 1343025 w 1543050"/>
                <a:gd name="connsiteY4" fmla="*/ 6858000 h 6858000"/>
                <a:gd name="connsiteX5" fmla="*/ 0 w 1543050"/>
                <a:gd name="connsiteY5" fmla="*/ 5591175 h 6858000"/>
                <a:gd name="connsiteX6" fmla="*/ 9525 w 154305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50" h="6858000">
                  <a:moveTo>
                    <a:pt x="9525" y="0"/>
                  </a:moveTo>
                  <a:lnTo>
                    <a:pt x="200025" y="0"/>
                  </a:lnTo>
                  <a:lnTo>
                    <a:pt x="1543050" y="1343025"/>
                  </a:lnTo>
                  <a:cubicBezTo>
                    <a:pt x="1543050" y="3181350"/>
                    <a:pt x="1543049" y="5019675"/>
                    <a:pt x="1543049" y="6858000"/>
                  </a:cubicBezTo>
                  <a:lnTo>
                    <a:pt x="1343025" y="6858000"/>
                  </a:lnTo>
                  <a:lnTo>
                    <a:pt x="0" y="5591175"/>
                  </a:lnTo>
                  <a:lnTo>
                    <a:pt x="952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CubeFront">
              <a:extLst>
                <a:ext uri="{FF2B5EF4-FFF2-40B4-BE49-F238E27FC236}">
                  <a16:creationId xmlns:a16="http://schemas.microsoft.com/office/drawing/2014/main" id="{7E222A23-E698-4993-93A7-9606CF977314}"/>
                </a:ext>
                <a:ext uri="{C183D7F6-B498-43B3-948B-1728B52AA6E4}">
                  <adec:decorative xmlns:adec="http://schemas.microsoft.com/office/drawing/2017/decorative" val="1"/>
                </a:ext>
              </a:extLst>
            </p:cNvPr>
            <p:cNvSpPr/>
            <p:nvPr/>
          </p:nvSpPr>
          <p:spPr>
            <a:xfrm>
              <a:off x="11062271" y="1339850"/>
              <a:ext cx="1129729" cy="551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6640" y="6525216"/>
              <a:ext cx="366979" cy="219456"/>
            </a:xfrm>
            <a:prstGeom prst="rect">
              <a:avLst/>
            </a:prstGeom>
          </p:spPr>
        </p:pic>
        <p:sp>
          <p:nvSpPr>
            <p:cNvPr id="12" name="Copyright">
              <a:extLst>
                <a:ext uri="{FF2B5EF4-FFF2-40B4-BE49-F238E27FC236}">
                  <a16:creationId xmlns:a16="http://schemas.microsoft.com/office/drawing/2014/main" id="{2BDDDA44-1049-4257-AA44-8A620E1B69F0}"/>
                </a:ext>
              </a:extLst>
            </p:cNvPr>
            <p:cNvSpPr txBox="1"/>
            <p:nvPr/>
          </p:nvSpPr>
          <p:spPr>
            <a:xfrm>
              <a:off x="342029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59" y="831163"/>
            <a:ext cx="9153461"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59" y="3152882"/>
            <a:ext cx="9153461" cy="2423459"/>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Tree>
    <p:custDataLst>
      <p:tags r:id="rId1"/>
    </p:custDataLst>
    <p:extLst>
      <p:ext uri="{BB962C8B-B14F-4D97-AF65-F5344CB8AC3E}">
        <p14:creationId xmlns:p14="http://schemas.microsoft.com/office/powerpoint/2010/main" val="4293173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opic Introduction">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4448175" cy="6858000"/>
            <a:chOff x="0" y="1"/>
            <a:chExt cx="4448175"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6" y="292099"/>
            <a:ext cx="7315200" cy="6031789"/>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97522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Lab Introduction">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1056CCF-5B21-4350-BF80-A3B57BA69974}"/>
              </a:ext>
              <a:ext uri="{C183D7F6-B498-43B3-948B-1728B52AA6E4}">
                <adec:decorative xmlns:adec="http://schemas.microsoft.com/office/drawing/2017/decorative" val="1"/>
              </a:ext>
            </a:extLst>
          </p:cNvPr>
          <p:cNvGrpSpPr/>
          <p:nvPr/>
        </p:nvGrpSpPr>
        <p:grpSpPr>
          <a:xfrm>
            <a:off x="0" y="1"/>
            <a:ext cx="4448175" cy="6858000"/>
            <a:chOff x="0" y="1"/>
            <a:chExt cx="4448175"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6907F1CE-62F4-48CA-89F6-0B629152175D}"/>
              </a:ext>
            </a:extLst>
          </p:cNvPr>
          <p:cNvSpPr>
            <a:spLocks noGrp="1"/>
          </p:cNvSpPr>
          <p:nvPr>
            <p:ph type="sldNum" sz="quarter" idx="19"/>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7" y="292099"/>
            <a:ext cx="7315200" cy="603504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56449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emo Introduction">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590C8418-C0F8-4BD5-BA8E-68B06A1A26FA}"/>
              </a:ext>
              <a:ext uri="{C183D7F6-B498-43B3-948B-1728B52AA6E4}">
                <adec:decorative xmlns:adec="http://schemas.microsoft.com/office/drawing/2017/decorative" val="1"/>
              </a:ext>
            </a:extLst>
          </p:cNvPr>
          <p:cNvGrpSpPr/>
          <p:nvPr/>
        </p:nvGrpSpPr>
        <p:grpSpPr>
          <a:xfrm>
            <a:off x="0" y="1"/>
            <a:ext cx="4448175" cy="6858000"/>
            <a:chOff x="0" y="1"/>
            <a:chExt cx="4448175" cy="6858000"/>
          </a:xfrm>
        </p:grpSpPr>
        <p:sp>
          <p:nvSpPr>
            <p:cNvPr id="93" name="BKG-LT">
              <a:extLst>
                <a:ext uri="{FF2B5EF4-FFF2-40B4-BE49-F238E27FC236}">
                  <a16:creationId xmlns:a16="http://schemas.microsoft.com/office/drawing/2014/main" id="{08C16C8F-F970-434B-A5D8-23375C792502}"/>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1D21189B-B67B-4124-B9C1-0445B174C37E}"/>
              </a:ext>
            </a:extLst>
          </p:cNvPr>
          <p:cNvSpPr>
            <a:spLocks noGrp="1"/>
          </p:cNvSpPr>
          <p:nvPr>
            <p:ph type="sldNum" sz="quarter" idx="2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8" name="Description">
            <a:extLst>
              <a:ext uri="{FF2B5EF4-FFF2-40B4-BE49-F238E27FC236}">
                <a16:creationId xmlns:a16="http://schemas.microsoft.com/office/drawing/2014/main" id="{AC3C5EEC-BB22-4195-B46B-9A90302F6B57}"/>
              </a:ext>
            </a:extLst>
          </p:cNvPr>
          <p:cNvSpPr>
            <a:spLocks noGrp="1"/>
          </p:cNvSpPr>
          <p:nvPr>
            <p:ph type="body" idx="2" hasCustomPrompt="1"/>
          </p:nvPr>
        </p:nvSpPr>
        <p:spPr>
          <a:xfrm>
            <a:off x="243681" y="2257425"/>
            <a:ext cx="3960813" cy="4069714"/>
          </a:xfrm>
        </p:spPr>
        <p:txBody>
          <a:bodyPr/>
          <a:lstStyle>
            <a:lvl1pPr marL="0" indent="0" algn="ctr">
              <a:buNone/>
              <a:defRPr>
                <a:solidFill>
                  <a:schemeClr val="bg1"/>
                </a:solidFill>
              </a:defRPr>
            </a:lvl1pPr>
          </a:lstStyle>
          <a:p>
            <a:r>
              <a:rPr lang="en-US" sz="2800" dirty="0"/>
              <a:t>Enter description</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8" y="292099"/>
            <a:ext cx="7315200" cy="603504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898339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A3DF3DE-0044-49A0-893D-4AE69524AE45}"/>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92" name="BKG-TP">
              <a:extLst>
                <a:ext uri="{FF2B5EF4-FFF2-40B4-BE49-F238E27FC236}">
                  <a16:creationId xmlns:a16="http://schemas.microsoft.com/office/drawing/2014/main" id="{80E539AA-5F27-4E27-A2EB-0002A460B024}"/>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beSide">
              <a:extLst>
                <a:ext uri="{FF2B5EF4-FFF2-40B4-BE49-F238E27FC236}">
                  <a16:creationId xmlns:a16="http://schemas.microsoft.com/office/drawing/2014/main" id="{0BD8C101-546C-4D96-9A74-D006A704F407}"/>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CubeFront">
              <a:extLst>
                <a:ext uri="{FF2B5EF4-FFF2-40B4-BE49-F238E27FC236}">
                  <a16:creationId xmlns:a16="http://schemas.microsoft.com/office/drawing/2014/main" id="{AEE440B8-B31E-487C-92A7-B1713A372E58}"/>
                </a:ext>
                <a:ext uri="{C183D7F6-B498-43B3-948B-1728B52AA6E4}">
                  <adec:decorative xmlns:adec="http://schemas.microsoft.com/office/drawing/2017/decorative" val="1"/>
                </a:ext>
              </a:extLst>
            </p:cNvPr>
            <p:cNvSpPr/>
            <p:nvPr/>
          </p:nvSpPr>
          <p:spPr>
            <a:xfrm>
              <a:off x="2552700" y="942975"/>
              <a:ext cx="9639300" cy="59150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7710" y="5789538"/>
              <a:ext cx="1097280" cy="656183"/>
            </a:xfrm>
            <a:prstGeom prst="rect">
              <a:avLst/>
            </a:prstGeom>
          </p:spPr>
        </p:pic>
        <p:sp>
          <p:nvSpPr>
            <p:cNvPr id="11" name="Copyright">
              <a:extLst>
                <a:ext uri="{FF2B5EF4-FFF2-40B4-BE49-F238E27FC236}">
                  <a16:creationId xmlns:a16="http://schemas.microsoft.com/office/drawing/2014/main" id="{DF9E4172-9EB6-4421-9EA3-78F3EDED9A1F}"/>
                </a:ext>
              </a:extLst>
            </p:cNvPr>
            <p:cNvSpPr txBox="1"/>
            <p:nvPr/>
          </p:nvSpPr>
          <p:spPr>
            <a:xfrm>
              <a:off x="506804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F677F69B-2CBA-4CD5-BED4-788402F16D10}"/>
              </a:ext>
            </a:extLst>
          </p:cNvPr>
          <p:cNvSpPr>
            <a:spLocks noGrp="1"/>
          </p:cNvSpPr>
          <p:nvPr>
            <p:ph type="sldNum" sz="quarter" idx="12"/>
          </p:nvPr>
        </p:nvSpPr>
        <p:spPr>
          <a:xfrm>
            <a:off x="11469389" y="6445721"/>
            <a:ext cx="484261" cy="289591"/>
          </a:xfrm>
          <a:prstGeom prst="rect">
            <a:avLst/>
          </a:prstGeom>
        </p:spPr>
        <p:txBody>
          <a:bodyPr/>
          <a:lstStyle>
            <a:lvl1pPr>
              <a:defRPr sz="1100">
                <a:solidFill>
                  <a:schemeClr val="bg1"/>
                </a:solidFill>
              </a:defRPr>
            </a:lvl1pPr>
          </a:lstStyle>
          <a:p>
            <a:fld id="{363DB862-5E2B-42BB-8337-D46E9881345F}" type="slidenum">
              <a:rPr lang="en-US" smtClean="0"/>
              <a:pPr/>
              <a:t>‹#›</a:t>
            </a:fld>
            <a:endParaRPr lang="en-US" dirty="0"/>
          </a:p>
        </p:txBody>
      </p:sp>
      <p:sp>
        <p:nvSpPr>
          <p:cNvPr id="12" name="Title">
            <a:extLst>
              <a:ext uri="{FF2B5EF4-FFF2-40B4-BE49-F238E27FC236}">
                <a16:creationId xmlns:a16="http://schemas.microsoft.com/office/drawing/2014/main" id="{19F4B46F-8918-4F56-950E-E5BF7CF82322}"/>
              </a:ext>
            </a:extLst>
          </p:cNvPr>
          <p:cNvSpPr>
            <a:spLocks noGrp="1"/>
          </p:cNvSpPr>
          <p:nvPr>
            <p:ph type="title" hasCustomPrompt="1"/>
          </p:nvPr>
        </p:nvSpPr>
        <p:spPr>
          <a:xfrm>
            <a:off x="2663862" y="1135062"/>
            <a:ext cx="9341063" cy="4049824"/>
          </a:xfrm>
        </p:spPr>
        <p:txBody>
          <a:bodyPr anchor="ctr"/>
          <a:lstStyle>
            <a:lvl1pPr>
              <a:defRPr sz="4400">
                <a:solidFill>
                  <a:schemeClr val="bg2"/>
                </a:solidFill>
              </a:defRPr>
            </a:lvl1pPr>
          </a:lstStyle>
          <a:p>
            <a:r>
              <a:rPr lang="en-US" dirty="0"/>
              <a:t>Thank you text</a:t>
            </a:r>
          </a:p>
        </p:txBody>
      </p:sp>
      <p:sp>
        <p:nvSpPr>
          <p:cNvPr id="13" name="Text Placeholder 4">
            <a:extLst>
              <a:ext uri="{FF2B5EF4-FFF2-40B4-BE49-F238E27FC236}">
                <a16:creationId xmlns:a16="http://schemas.microsoft.com/office/drawing/2014/main" id="{B78702CF-7EB1-4FBA-96A0-E24A909FF076}"/>
              </a:ext>
            </a:extLst>
          </p:cNvPr>
          <p:cNvSpPr>
            <a:spLocks noGrp="1"/>
          </p:cNvSpPr>
          <p:nvPr>
            <p:ph type="body" sz="quarter" idx="21"/>
          </p:nvPr>
        </p:nvSpPr>
        <p:spPr>
          <a:xfrm>
            <a:off x="2551176" y="5212080"/>
            <a:ext cx="9637776" cy="400110"/>
          </a:xfrm>
        </p:spPr>
        <p:txBody>
          <a:bodyPr>
            <a:spAutoFit/>
          </a:bodyPr>
          <a:lstStyle>
            <a:lvl1pPr marL="0" indent="0">
              <a:buNone/>
              <a:defRPr lang="en-US" sz="2000" kern="1200" dirty="0" smtClean="0">
                <a:solidFill>
                  <a:schemeClr val="bg2"/>
                </a:solidFill>
                <a:latin typeface="+mn-lt"/>
                <a:ea typeface="+mn-ea"/>
                <a:cs typeface="+mn-cs"/>
              </a:defRPr>
            </a:lvl1pPr>
            <a:lvl2pPr marL="227012" indent="0">
              <a:buNone/>
              <a:defRPr lang="en-US" sz="2000" kern="1200" dirty="0" smtClean="0">
                <a:solidFill>
                  <a:schemeClr val="bg2"/>
                </a:solidFill>
                <a:latin typeface="+mn-lt"/>
                <a:ea typeface="+mn-ea"/>
                <a:cs typeface="+mn-cs"/>
              </a:defRPr>
            </a:lvl2pPr>
            <a:lvl3pPr marL="455612" indent="0">
              <a:buNone/>
              <a:defRPr lang="en-US" sz="2000" kern="1200" dirty="0" smtClean="0">
                <a:solidFill>
                  <a:schemeClr val="bg2"/>
                </a:solidFill>
                <a:latin typeface="+mn-lt"/>
                <a:ea typeface="+mn-ea"/>
                <a:cs typeface="+mn-cs"/>
              </a:defRPr>
            </a:lvl3pPr>
            <a:lvl4pPr marL="684212" indent="0">
              <a:buNone/>
              <a:defRPr lang="en-US" sz="2000" kern="1200" dirty="0" smtClean="0">
                <a:solidFill>
                  <a:schemeClr val="bg2"/>
                </a:solidFill>
                <a:latin typeface="+mn-lt"/>
                <a:ea typeface="+mn-ea"/>
                <a:cs typeface="+mn-cs"/>
              </a:defRPr>
            </a:lvl4pPr>
            <a:lvl5pPr marL="912812" indent="0">
              <a:buNone/>
              <a:defRPr lang="en-US" sz="2000" kern="1200" dirty="0">
                <a:solidFill>
                  <a:schemeClr val="bg2"/>
                </a:solidFill>
                <a:latin typeface="+mn-lt"/>
                <a:ea typeface="+mn-ea"/>
                <a:cs typeface="+mn-cs"/>
              </a:defRPr>
            </a:lvl5pPr>
          </a:lstStyle>
          <a:p>
            <a:pPr lvl="0"/>
            <a:r>
              <a:rPr lang="en-US" dirty="0"/>
              <a:t>Edit Master text styles</a:t>
            </a:r>
          </a:p>
        </p:txBody>
      </p:sp>
    </p:spTree>
    <p:custDataLst>
      <p:tags r:id="rId1"/>
    </p:custDataLst>
    <p:extLst>
      <p:ext uri="{BB962C8B-B14F-4D97-AF65-F5344CB8AC3E}">
        <p14:creationId xmlns:p14="http://schemas.microsoft.com/office/powerpoint/2010/main" val="137072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hank You Variant">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56064E0D-105A-4446-B967-229FA49D135D}"/>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08870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CubeSide">
              <a:extLst>
                <a:ext uri="{FF2B5EF4-FFF2-40B4-BE49-F238E27FC236}">
                  <a16:creationId xmlns:a16="http://schemas.microsoft.com/office/drawing/2014/main" id="{279CDF30-3118-4A2F-93E0-DACD532E91B1}"/>
                </a:ext>
                <a:ext uri="{C183D7F6-B498-43B3-948B-1728B52AA6E4}">
                  <adec:decorative xmlns:adec="http://schemas.microsoft.com/office/drawing/2017/decorative" val="1"/>
                </a:ext>
              </a:extLst>
            </p:cNvPr>
            <p:cNvSpPr/>
            <p:nvPr/>
          </p:nvSpPr>
          <p:spPr>
            <a:xfrm>
              <a:off x="0" y="4327524"/>
              <a:ext cx="1685925" cy="2530476"/>
            </a:xfrm>
            <a:custGeom>
              <a:avLst/>
              <a:gdLst>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0 h 2530475"/>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 name="connsiteX5" fmla="*/ 0 w 1685925"/>
                <a:gd name="connsiteY5" fmla="*/ 0 h 2530475"/>
                <a:gd name="connsiteX0" fmla="*/ 0 w 1685925"/>
                <a:gd name="connsiteY0" fmla="*/ 1673226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2530475">
                  <a:moveTo>
                    <a:pt x="0" y="1673226"/>
                  </a:moveTo>
                  <a:lnTo>
                    <a:pt x="1685925" y="0"/>
                  </a:lnTo>
                  <a:lnTo>
                    <a:pt x="1685925" y="2530475"/>
                  </a:lnTo>
                  <a:lnTo>
                    <a:pt x="0" y="2530475"/>
                  </a:lnTo>
                  <a:lnTo>
                    <a:pt x="0" y="167322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CubeFront">
              <a:extLst>
                <a:ext uri="{FF2B5EF4-FFF2-40B4-BE49-F238E27FC236}">
                  <a16:creationId xmlns:a16="http://schemas.microsoft.com/office/drawing/2014/main" id="{4E6250DE-D4BC-48A7-942E-7C927E2BAC70}"/>
                </a:ext>
                <a:ext uri="{C183D7F6-B498-43B3-948B-1728B52AA6E4}">
                  <adec:decorative xmlns:adec="http://schemas.microsoft.com/office/drawing/2017/decorative" val="1"/>
                </a:ext>
              </a:extLst>
            </p:cNvPr>
            <p:cNvSpPr/>
            <p:nvPr/>
          </p:nvSpPr>
          <p:spPr>
            <a:xfrm>
              <a:off x="1685544" y="4327525"/>
              <a:ext cx="10506456" cy="2530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88" name="Icons">
              <a:extLst>
                <a:ext uri="{FF2B5EF4-FFF2-40B4-BE49-F238E27FC236}">
                  <a16:creationId xmlns:a16="http://schemas.microsoft.com/office/drawing/2014/main" id="{2697E9D6-D133-4E57-BD63-82D9E5002F18}"/>
                </a:ext>
                <a:ext uri="{C183D7F6-B498-43B3-948B-1728B52AA6E4}">
                  <adec:decorative xmlns:adec="http://schemas.microsoft.com/office/drawing/2017/decorative" val="1"/>
                </a:ext>
              </a:extLst>
            </p:cNvPr>
            <p:cNvPicPr>
              <a:picLocks noChangeAspect="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rcRect/>
            <a:stretch/>
          </p:blipFill>
          <p:spPr>
            <a:xfrm>
              <a:off x="1685544" y="4327524"/>
              <a:ext cx="10506456" cy="2530476"/>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12" name="CopyBackground">
              <a:extLst>
                <a:ext uri="{FF2B5EF4-FFF2-40B4-BE49-F238E27FC236}">
                  <a16:creationId xmlns:a16="http://schemas.microsoft.com/office/drawing/2014/main" id="{1A4014FF-ACF4-448A-8B91-F0495D354D3F}"/>
                </a:ext>
              </a:extLst>
            </p:cNvPr>
            <p:cNvSpPr/>
            <p:nvPr/>
          </p:nvSpPr>
          <p:spPr>
            <a:xfrm>
              <a:off x="4712264"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pyright">
              <a:extLst>
                <a:ext uri="{FF2B5EF4-FFF2-40B4-BE49-F238E27FC236}">
                  <a16:creationId xmlns:a16="http://schemas.microsoft.com/office/drawing/2014/main" id="{DFC9E3DE-5A7A-4B9A-94F3-0CC48D54301B}"/>
                </a:ext>
              </a:extLst>
            </p:cNvPr>
            <p:cNvSpPr txBox="1"/>
            <p:nvPr/>
          </p:nvSpPr>
          <p:spPr>
            <a:xfrm>
              <a:off x="4632211" y="6579898"/>
              <a:ext cx="4653838" cy="261610"/>
            </a:xfrm>
            <a:prstGeom prst="rect">
              <a:avLst/>
            </a:prstGeom>
            <a:noFill/>
          </p:spPr>
          <p:txBody>
            <a:bodyPr wrap="none" rtlCol="0">
              <a:spAutoFit/>
            </a:bodyPr>
            <a:lstStyle/>
            <a:p>
              <a:r>
                <a:rPr lang="en-US" sz="1100" kern="1200" dirty="0">
                  <a:solidFill>
                    <a:schemeClr val="tx1"/>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9B49CB56-F51A-4490-AF1E-E4240987B76D}"/>
              </a:ext>
            </a:extLst>
          </p:cNvPr>
          <p:cNvSpPr>
            <a:spLocks noGrp="1"/>
          </p:cNvSpPr>
          <p:nvPr>
            <p:ph type="sldNum" sz="quarter" idx="10"/>
          </p:nvPr>
        </p:nvSpPr>
        <p:spPr>
          <a:xfrm>
            <a:off x="137658"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371599"/>
            <a:ext cx="10218737" cy="1396999"/>
          </a:xfrm>
        </p:spPr>
        <p:txBody>
          <a:bodyPr anchor="ctr"/>
          <a:lstStyle>
            <a:lvl1pPr>
              <a:defRPr sz="4400">
                <a:solidFill>
                  <a:schemeClr val="bg1"/>
                </a:solidFill>
              </a:defRPr>
            </a:lvl1pPr>
          </a:lstStyle>
          <a:p>
            <a:r>
              <a:rPr lang="en-US" dirty="0"/>
              <a:t>Thank you text</a:t>
            </a:r>
          </a:p>
        </p:txBody>
      </p:sp>
      <p:sp>
        <p:nvSpPr>
          <p:cNvPr id="7" name="Copyright">
            <a:extLst>
              <a:ext uri="{FF2B5EF4-FFF2-40B4-BE49-F238E27FC236}">
                <a16:creationId xmlns:a16="http://schemas.microsoft.com/office/drawing/2014/main" id="{BAAF9A30-4DFD-4F8D-9003-F977112E6788}"/>
              </a:ext>
            </a:extLst>
          </p:cNvPr>
          <p:cNvSpPr>
            <a:spLocks noGrp="1"/>
          </p:cNvSpPr>
          <p:nvPr>
            <p:ph type="body" idx="1" hasCustomPrompt="1"/>
          </p:nvPr>
        </p:nvSpPr>
        <p:spPr>
          <a:xfrm>
            <a:off x="668338" y="2768600"/>
            <a:ext cx="10218737" cy="1558925"/>
          </a:xfrm>
        </p:spPr>
        <p:txBody>
          <a:bodyPr>
            <a:normAutofit/>
          </a:bodyPr>
          <a:lstStyle>
            <a:lvl1pPr marL="0" indent="0">
              <a:buNone/>
              <a:defRPr sz="1800">
                <a:solidFill>
                  <a:schemeClr val="bg2"/>
                </a:solidFill>
              </a:defRPr>
            </a:lvl1pPr>
            <a:lvl2pPr marL="341313" indent="0">
              <a:buNone/>
              <a:defRPr/>
            </a:lvl2pPr>
            <a:lvl3pPr marL="625475" indent="0">
              <a:buNone/>
              <a:defRPr/>
            </a:lvl3pPr>
            <a:lvl4pPr marL="911225" indent="0">
              <a:buNone/>
              <a:defRPr/>
            </a:lvl4pPr>
            <a:lvl5pPr marL="1255713" indent="0">
              <a:buNone/>
              <a:defRPr/>
            </a:lvl5pPr>
          </a:lstStyle>
          <a:p>
            <a:pPr lvl="0"/>
            <a:r>
              <a:rPr lang="en-US" dirty="0"/>
              <a:t>Enter copyright statement.</a:t>
            </a:r>
          </a:p>
        </p:txBody>
      </p:sp>
    </p:spTree>
    <p:custDataLst>
      <p:tags r:id="rId1"/>
    </p:custDataLst>
    <p:extLst>
      <p:ext uri="{BB962C8B-B14F-4D97-AF65-F5344CB8AC3E}">
        <p14:creationId xmlns:p14="http://schemas.microsoft.com/office/powerpoint/2010/main" val="3677397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C4FACA1-07DC-44B9-A79C-2B7C9D1B9221}"/>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CubeBack">
              <a:extLst>
                <a:ext uri="{FF2B5EF4-FFF2-40B4-BE49-F238E27FC236}">
                  <a16:creationId xmlns:a16="http://schemas.microsoft.com/office/drawing/2014/main" id="{9BA1593B-ADE5-482C-A193-F57F78F9B860}"/>
                </a:ext>
                <a:ext uri="{C183D7F6-B498-43B3-948B-1728B52AA6E4}">
                  <adec:decorative xmlns:adec="http://schemas.microsoft.com/office/drawing/2017/decorative" val="1"/>
                </a:ext>
              </a:extLst>
            </p:cNvPr>
            <p:cNvSpPr/>
            <p:nvPr/>
          </p:nvSpPr>
          <p:spPr>
            <a:xfrm>
              <a:off x="10547164" y="0"/>
              <a:ext cx="1644836" cy="516442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 name="connsiteX0" fmla="*/ 15888 w 3073872"/>
                <a:gd name="connsiteY0" fmla="*/ 0 h 4621213"/>
                <a:gd name="connsiteX1" fmla="*/ 3073414 w 3073872"/>
                <a:gd name="connsiteY1" fmla="*/ 0 h 4621213"/>
                <a:gd name="connsiteX2" fmla="*/ 3073414 w 3073872"/>
                <a:gd name="connsiteY2" fmla="*/ 4621213 h 4621213"/>
                <a:gd name="connsiteX3" fmla="*/ 0 w 3073872"/>
                <a:gd name="connsiteY3" fmla="*/ 4091237 h 4621213"/>
                <a:gd name="connsiteX4" fmla="*/ 15888 w 3073872"/>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7 w 3057984"/>
                <a:gd name="connsiteY3" fmla="*/ 4091237 h 4621213"/>
                <a:gd name="connsiteX4" fmla="*/ 0 w 3057984"/>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6 w 3057984"/>
                <a:gd name="connsiteY3" fmla="*/ 4114178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15886" y="4114178"/>
                  </a:lnTo>
                  <a:cubicBezTo>
                    <a:pt x="10590" y="2750432"/>
                    <a:pt x="5296" y="1363746"/>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96" name="CubeFront">
              <a:extLst>
                <a:ext uri="{FF2B5EF4-FFF2-40B4-BE49-F238E27FC236}">
                  <a16:creationId xmlns:a16="http://schemas.microsoft.com/office/drawing/2014/main" id="{A301667F-582A-4041-A2DA-F90362AE9A01}"/>
                </a:ext>
                <a:ext uri="{C183D7F6-B498-43B3-948B-1728B52AA6E4}">
                  <adec:decorative xmlns:adec="http://schemas.microsoft.com/office/drawing/2017/decorative" val="1"/>
                </a:ext>
              </a:extLst>
            </p:cNvPr>
            <p:cNvSpPr/>
            <p:nvPr/>
          </p:nvSpPr>
          <p:spPr>
            <a:xfrm>
              <a:off x="5944552" y="6094097"/>
              <a:ext cx="2303271" cy="7639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CubeTop">
              <a:extLst>
                <a:ext uri="{FF2B5EF4-FFF2-40B4-BE49-F238E27FC236}">
                  <a16:creationId xmlns:a16="http://schemas.microsoft.com/office/drawing/2014/main" id="{A99EDB1B-417F-40E6-B075-BDD46EDBA854}"/>
                </a:ext>
                <a:ext uri="{C183D7F6-B498-43B3-948B-1728B52AA6E4}">
                  <adec:decorative xmlns:adec="http://schemas.microsoft.com/office/drawing/2017/decorative" val="1"/>
                </a:ext>
              </a:extLst>
            </p:cNvPr>
            <p:cNvSpPr/>
            <p:nvPr/>
          </p:nvSpPr>
          <p:spPr>
            <a:xfrm>
              <a:off x="5942171" y="4579782"/>
              <a:ext cx="6249829" cy="2278218"/>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8" name="Icons">
              <a:extLst>
                <a:ext uri="{FF2B5EF4-FFF2-40B4-BE49-F238E27FC236}">
                  <a16:creationId xmlns:a16="http://schemas.microsoft.com/office/drawing/2014/main" id="{C128A75B-DB20-42AF-A3FD-12E5F3588AC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a:ext>
              </a:extLst>
            </a:blip>
            <a:stretch>
              <a:fillRect/>
            </a:stretch>
          </p:blipFill>
          <p:spPr>
            <a:xfrm>
              <a:off x="6472238" y="4694373"/>
              <a:ext cx="5719762" cy="2163627"/>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12" name="Copyright">
              <a:extLst>
                <a:ext uri="{FF2B5EF4-FFF2-40B4-BE49-F238E27FC236}">
                  <a16:creationId xmlns:a16="http://schemas.microsoft.com/office/drawing/2014/main" id="{6EB207FF-A323-40B5-B33E-59E364A7955B}"/>
                </a:ext>
              </a:extLst>
            </p:cNvPr>
            <p:cNvSpPr txBox="1"/>
            <p:nvPr/>
          </p:nvSpPr>
          <p:spPr>
            <a:xfrm>
              <a:off x="991688" y="646626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614746"/>
            <a:ext cx="9341063" cy="2293938"/>
          </a:xfrm>
        </p:spPr>
        <p:txBody>
          <a:bodyPr anchor="ctr"/>
          <a:lstStyle>
            <a:lvl1pPr>
              <a:defRPr sz="4400">
                <a:solidFill>
                  <a:schemeClr val="bg1"/>
                </a:solidFill>
              </a:defRPr>
            </a:lvl1pPr>
          </a:lstStyle>
          <a:p>
            <a:r>
              <a:rPr lang="en-US" dirty="0"/>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666271" y="3922297"/>
            <a:ext cx="9340846"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2400" b="0">
                <a:solidFill>
                  <a:schemeClr val="bg1"/>
                </a:solidFill>
              </a:defRPr>
            </a:lvl1pPr>
          </a:lstStyle>
          <a:p>
            <a:pPr lvl="0"/>
            <a:r>
              <a:rPr lang="en-US" dirty="0"/>
              <a:t>Enter quoted person’s name</a:t>
            </a:r>
          </a:p>
        </p:txBody>
      </p:sp>
      <p:sp>
        <p:nvSpPr>
          <p:cNvPr id="14" name="Slide Number">
            <a:extLst>
              <a:ext uri="{FF2B5EF4-FFF2-40B4-BE49-F238E27FC236}">
                <a16:creationId xmlns:a16="http://schemas.microsoft.com/office/drawing/2014/main" id="{C8840ABD-2650-4199-982B-E8F97C5823BD}"/>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Tree>
    <p:custDataLst>
      <p:tags r:id="rId1"/>
    </p:custDataLst>
    <p:extLst>
      <p:ext uri="{BB962C8B-B14F-4D97-AF65-F5344CB8AC3E}">
        <p14:creationId xmlns:p14="http://schemas.microsoft.com/office/powerpoint/2010/main" val="1191416564"/>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E9D2CE50-9EF5-41CF-94BD-9DA96E183D65}"/>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5" name="Content">
            <a:extLst>
              <a:ext uri="{FF2B5EF4-FFF2-40B4-BE49-F238E27FC236}">
                <a16:creationId xmlns:a16="http://schemas.microsoft.com/office/drawing/2014/main" id="{8A73B5A2-5001-4FA4-B113-0F6124F1F6A0}"/>
              </a:ext>
            </a:extLst>
          </p:cNvPr>
          <p:cNvSpPr>
            <a:spLocks noGrp="1"/>
          </p:cNvSpPr>
          <p:nvPr>
            <p:ph type="body" idx="1" hasCustomPrompt="1"/>
          </p:nvPr>
        </p:nvSpPr>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9592805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d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71A5E590-E321-4CED-8720-07AC22B296BD}"/>
              </a:ext>
            </a:extLst>
          </p:cNvPr>
          <p:cNvSpPr>
            <a:spLocks noGrp="1"/>
          </p:cNvSpPr>
          <p:nvPr>
            <p:ph type="sldNum" sz="quarter" idx="14"/>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p:txBody>
          <a:bodyPr/>
          <a:lstStyle>
            <a:lvl1pPr>
              <a:defRPr/>
            </a:lvl1pPr>
          </a:lstStyle>
          <a:p>
            <a:r>
              <a:rPr lang="en-US" dirty="0"/>
              <a:t>Title and code</a:t>
            </a:r>
          </a:p>
        </p:txBody>
      </p:sp>
      <p:sp>
        <p:nvSpPr>
          <p:cNvPr id="7" name="Code">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1156970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9" name="Title Border">
            <a:extLst>
              <a:ext uri="{FF2B5EF4-FFF2-40B4-BE49-F238E27FC236}">
                <a16:creationId xmlns:a16="http://schemas.microsoft.com/office/drawing/2014/main" id="{C3AAB48A-4CC9-410B-9FD0-0E32778B6BFF}"/>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268145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Text Column, and Small Pictur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8240" y="2286000"/>
            <a:ext cx="2971800" cy="2971800"/>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517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Header, Text, and Small Pictur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487257" cy="731318"/>
          </a:xfrm>
        </p:spPr>
        <p:txBody>
          <a:bodyPr/>
          <a:lstStyle>
            <a:lvl1pPr>
              <a:lnSpc>
                <a:spcPct val="100000"/>
              </a:lnSpc>
              <a:defRPr/>
            </a:lvl1pPr>
          </a:lstStyle>
          <a:p>
            <a:r>
              <a:rPr lang="en-US" dirty="0"/>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3311"/>
            <a:ext cx="11487257"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8303550" cy="4854665"/>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5263" y="2516806"/>
            <a:ext cx="2971800" cy="2971800"/>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1309362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2 Conten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89DB7BB-FAF3-47E4-8185-A932A84C3649}"/>
              </a:ext>
            </a:extLst>
          </p:cNvPr>
          <p:cNvSpPr>
            <a:spLocks noGrp="1"/>
          </p:cNvSpPr>
          <p:nvPr>
            <p:ph type="sldNum" sz="quarter" idx="12"/>
          </p:nvPr>
        </p:nvSpPr>
        <p:spPr>
          <a:xfrm>
            <a:off x="11466576" y="6446520"/>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566928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6265689" y="1143000"/>
            <a:ext cx="566928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705362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2 Code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89DB7BB-FAF3-47E4-8185-A932A84C3649}"/>
              </a:ext>
            </a:extLst>
          </p:cNvPr>
          <p:cNvSpPr>
            <a:spLocks noGrp="1"/>
          </p:cNvSpPr>
          <p:nvPr>
            <p:ph type="sldNum" sz="quarter" idx="12"/>
          </p:nvPr>
        </p:nvSpPr>
        <p:spPr>
          <a:xfrm>
            <a:off x="11466576" y="6446520"/>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code columns</a:t>
            </a:r>
          </a:p>
        </p:txBody>
      </p:sp>
      <p:sp>
        <p:nvSpPr>
          <p:cNvPr id="7" name="Code Left">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566928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8" name="Code Right">
            <a:extLst>
              <a:ext uri="{FF2B5EF4-FFF2-40B4-BE49-F238E27FC236}">
                <a16:creationId xmlns:a16="http://schemas.microsoft.com/office/drawing/2014/main" id="{E8572E41-DF36-40C1-9453-10D94D9775B7}"/>
              </a:ext>
            </a:extLst>
          </p:cNvPr>
          <p:cNvSpPr>
            <a:spLocks noGrp="1"/>
          </p:cNvSpPr>
          <p:nvPr>
            <p:ph type="body" idx="2" hasCustomPrompt="1"/>
          </p:nvPr>
        </p:nvSpPr>
        <p:spPr>
          <a:xfrm>
            <a:off x="6265689" y="1143000"/>
            <a:ext cx="566928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9" name="Title Border">
            <a:extLst>
              <a:ext uri="{FF2B5EF4-FFF2-40B4-BE49-F238E27FC236}">
                <a16:creationId xmlns:a16="http://schemas.microsoft.com/office/drawing/2014/main" id="{839B152F-AE78-42AF-B8FB-09C753D41393}"/>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2175047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2 Headers, and 2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and 2 header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0974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7321"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0974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27428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Header and Content Left, Full Height Pictur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header, content, and full height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EEA0232A-1E36-4B66-8855-7774205AD335}"/>
              </a:ext>
            </a:extLst>
          </p:cNvPr>
          <p:cNvSpPr>
            <a:spLocks noGrp="1"/>
          </p:cNvSpPr>
          <p:nvPr>
            <p:ph type="body" idx="1" hasCustomPrompt="1"/>
          </p:nvPr>
        </p:nvSpPr>
        <p:spPr>
          <a:xfrm>
            <a:off x="365760" y="1591056"/>
            <a:ext cx="566928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idx="9" hasCustomPrompt="1"/>
          </p:nvPr>
        </p:nvSpPr>
        <p:spPr>
          <a:xfrm>
            <a:off x="6199632" y="1046820"/>
            <a:ext cx="5669280" cy="5398901"/>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3659481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2 picture and header and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noChangeAspect="1"/>
          </p:cNvSpPr>
          <p:nvPr>
            <p:ph idx="8" hasCustomPrompt="1"/>
          </p:nvPr>
        </p:nvSpPr>
        <p:spPr>
          <a:xfrm>
            <a:off x="2057400"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5669280" cy="2639293"/>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Righ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noChangeAspect="1"/>
          </p:cNvSpPr>
          <p:nvPr>
            <p:ph idx="9" hasCustomPrompt="1"/>
          </p:nvPr>
        </p:nvSpPr>
        <p:spPr>
          <a:xfrm>
            <a:off x="7891272"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9632"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9632" y="3895344"/>
            <a:ext cx="5669280" cy="2639293"/>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4676910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3 Conten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89DB7BB-FAF3-47E4-8185-A932A84C3649}"/>
              </a:ext>
            </a:extLst>
          </p:cNvPr>
          <p:cNvSpPr>
            <a:spLocks noGrp="1"/>
          </p:cNvSpPr>
          <p:nvPr>
            <p:ph type="sldNum" sz="quarter" idx="12"/>
          </p:nvPr>
        </p:nvSpPr>
        <p:spPr>
          <a:xfrm>
            <a:off x="11466576" y="6446520"/>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3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37490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Middle">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251960" y="1143000"/>
            <a:ext cx="37490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8138160" y="1143000"/>
            <a:ext cx="37490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849E56B7-246D-4386-B8C5-E253AD940C1B}"/>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366904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3 Headers, and 3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and 3 header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37490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3455"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3455" y="1591056"/>
            <a:ext cx="37490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Right">
            <a:extLst>
              <a:ext uri="{FF2B5EF4-FFF2-40B4-BE49-F238E27FC236}">
                <a16:creationId xmlns:a16="http://schemas.microsoft.com/office/drawing/2014/main" id="{B3EBECE3-35F9-4AF4-A8A7-FD546C7C32D6}"/>
              </a:ext>
            </a:extLst>
          </p:cNvPr>
          <p:cNvSpPr>
            <a:spLocks noGrp="1"/>
          </p:cNvSpPr>
          <p:nvPr>
            <p:ph type="subTitle" idx="6" hasCustomPrompt="1"/>
          </p:nvPr>
        </p:nvSpPr>
        <p:spPr>
          <a:xfrm>
            <a:off x="814115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8141150" y="1591056"/>
            <a:ext cx="37490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694444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3 Pictures, 3 Headers, and 3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3 picture and header and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10972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3749040" cy="2551176"/>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49834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19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1960" y="3895344"/>
            <a:ext cx="3749040" cy="2551176"/>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88696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81381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8138160" y="3895344"/>
            <a:ext cx="3749040" cy="2551176"/>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5608030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4 Conten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889DB7BB-FAF3-47E4-8185-A932A84C3649}"/>
              </a:ext>
            </a:extLst>
          </p:cNvPr>
          <p:cNvSpPr>
            <a:spLocks noGrp="1"/>
          </p:cNvSpPr>
          <p:nvPr>
            <p:ph type="sldNum" sz="quarter" idx="12"/>
          </p:nvPr>
        </p:nvSpPr>
        <p:spPr>
          <a:xfrm>
            <a:off x="11466576" y="6446520"/>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4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28346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Center Lef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3265675" y="1143000"/>
            <a:ext cx="28346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Center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6165590" y="1143000"/>
            <a:ext cx="28346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0" name="Content Right">
            <a:extLst>
              <a:ext uri="{FF2B5EF4-FFF2-40B4-BE49-F238E27FC236}">
                <a16:creationId xmlns:a16="http://schemas.microsoft.com/office/drawing/2014/main" id="{BC11431A-8924-465C-98E0-6E4655C69AA7}"/>
              </a:ext>
            </a:extLst>
          </p:cNvPr>
          <p:cNvSpPr>
            <a:spLocks noGrp="1"/>
          </p:cNvSpPr>
          <p:nvPr>
            <p:ph type="body" idx="4" hasCustomPrompt="1"/>
          </p:nvPr>
        </p:nvSpPr>
        <p:spPr>
          <a:xfrm>
            <a:off x="9065505" y="1143000"/>
            <a:ext cx="2834640" cy="5257800"/>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1BFB2E0D-B82D-49CC-9802-AFB8BA6D0938}"/>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6702989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4 Headers, and 4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1"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6576"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header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28346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1591056"/>
            <a:ext cx="28346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6163056"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6163056" y="1591056"/>
            <a:ext cx="28346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9061704"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9061704" y="1591056"/>
            <a:ext cx="2834640" cy="4855464"/>
          </a:xfrm>
        </p:spPr>
        <p:txBody>
          <a:bodyPr>
            <a:noAutofit/>
          </a:bodyPr>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50741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8 Small Pictures, 8 Headers, and 8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0E189EDB-562D-4D7A-BCB4-14FBDC641A8C}"/>
              </a:ext>
            </a:extLst>
          </p:cNvPr>
          <p:cNvSpPr>
            <a:spLocks noGrp="1"/>
          </p:cNvSpPr>
          <p:nvPr>
            <p:ph type="sldNum" sz="quarter" idx="39"/>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Four-column layout with subtitles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365760" y="1051560"/>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9" hasCustomPrompt="1"/>
          </p:nvPr>
        </p:nvSpPr>
        <p:spPr>
          <a:xfrm>
            <a:off x="365760"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3264408" y="1051560"/>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10" hasCustomPrompt="1"/>
          </p:nvPr>
        </p:nvSpPr>
        <p:spPr>
          <a:xfrm>
            <a:off x="3264408"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6163056" y="1051560"/>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11" hasCustomPrompt="1"/>
          </p:nvPr>
        </p:nvSpPr>
        <p:spPr>
          <a:xfrm>
            <a:off x="6163056"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9061704" y="1051560"/>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12" hasCustomPrompt="1"/>
          </p:nvPr>
        </p:nvSpPr>
        <p:spPr>
          <a:xfrm>
            <a:off x="9061704"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365760" y="3862699"/>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31" name="Content Header 5">
            <a:extLst>
              <a:ext uri="{FF2B5EF4-FFF2-40B4-BE49-F238E27FC236}">
                <a16:creationId xmlns:a16="http://schemas.microsoft.com/office/drawing/2014/main" id="{E8024806-5459-4580-AA84-DFE98F18A5A3}"/>
              </a:ext>
            </a:extLst>
          </p:cNvPr>
          <p:cNvSpPr>
            <a:spLocks noGrp="1"/>
          </p:cNvSpPr>
          <p:nvPr>
            <p:ph type="subTitle" idx="13" hasCustomPrompt="1"/>
          </p:nvPr>
        </p:nvSpPr>
        <p:spPr>
          <a:xfrm>
            <a:off x="365760" y="5566299"/>
            <a:ext cx="2834640" cy="265434"/>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365760" y="5880783"/>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3264408" y="3862699"/>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34" name="Content Header 6">
            <a:extLst>
              <a:ext uri="{FF2B5EF4-FFF2-40B4-BE49-F238E27FC236}">
                <a16:creationId xmlns:a16="http://schemas.microsoft.com/office/drawing/2014/main" id="{484800A7-DA7A-48C2-BD82-C01F6FD9DB3E}"/>
              </a:ext>
            </a:extLst>
          </p:cNvPr>
          <p:cNvSpPr>
            <a:spLocks noGrp="1"/>
          </p:cNvSpPr>
          <p:nvPr>
            <p:ph type="subTitle" idx="14" hasCustomPrompt="1"/>
          </p:nvPr>
        </p:nvSpPr>
        <p:spPr>
          <a:xfrm>
            <a:off x="3264408" y="5566299"/>
            <a:ext cx="2834640" cy="265434"/>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3264408" y="5880783"/>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6" name="Picture 7">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idx="23" hasCustomPrompt="1"/>
          </p:nvPr>
        </p:nvSpPr>
        <p:spPr>
          <a:xfrm>
            <a:off x="6163056" y="3862699"/>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37" name="Content Header 7">
            <a:extLst>
              <a:ext uri="{FF2B5EF4-FFF2-40B4-BE49-F238E27FC236}">
                <a16:creationId xmlns:a16="http://schemas.microsoft.com/office/drawing/2014/main" id="{706046A5-A656-4648-BD39-64FA5E94B613}"/>
              </a:ext>
            </a:extLst>
          </p:cNvPr>
          <p:cNvSpPr>
            <a:spLocks noGrp="1"/>
          </p:cNvSpPr>
          <p:nvPr>
            <p:ph type="subTitle" idx="15" hasCustomPrompt="1"/>
          </p:nvPr>
        </p:nvSpPr>
        <p:spPr>
          <a:xfrm>
            <a:off x="6163056" y="5566299"/>
            <a:ext cx="2834640" cy="265434"/>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8" name="Content 7">
            <a:extLst>
              <a:ext uri="{FF2B5EF4-FFF2-40B4-BE49-F238E27FC236}">
                <a16:creationId xmlns:a16="http://schemas.microsoft.com/office/drawing/2014/main" id="{9B368858-C97D-421E-8EFA-7300741447EE}"/>
              </a:ext>
            </a:extLst>
          </p:cNvPr>
          <p:cNvSpPr>
            <a:spLocks noGrp="1"/>
          </p:cNvSpPr>
          <p:nvPr>
            <p:ph type="body" idx="7" hasCustomPrompt="1"/>
          </p:nvPr>
        </p:nvSpPr>
        <p:spPr>
          <a:xfrm>
            <a:off x="6163056" y="5880783"/>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9" name="Picture 8">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idx="24" hasCustomPrompt="1"/>
          </p:nvPr>
        </p:nvSpPr>
        <p:spPr>
          <a:xfrm>
            <a:off x="9061704" y="3862699"/>
            <a:ext cx="2834640" cy="1648911"/>
          </a:xfrm>
        </p:spPr>
        <p:txBody>
          <a:bodyPr anchor="t"/>
          <a:lstStyle>
            <a:lvl1pPr marL="0" indent="0" algn="ctr">
              <a:buNone/>
              <a:defRPr sz="2000">
                <a:solidFill>
                  <a:schemeClr val="tx2"/>
                </a:solidFill>
              </a:defRPr>
            </a:lvl1pPr>
          </a:lstStyle>
          <a:p>
            <a:r>
              <a:rPr lang="en-US"/>
              <a:t>Click icon to add image</a:t>
            </a:r>
          </a:p>
        </p:txBody>
      </p:sp>
      <p:sp>
        <p:nvSpPr>
          <p:cNvPr id="40" name="Content Header 8">
            <a:extLst>
              <a:ext uri="{FF2B5EF4-FFF2-40B4-BE49-F238E27FC236}">
                <a16:creationId xmlns:a16="http://schemas.microsoft.com/office/drawing/2014/main" id="{DE6244C7-6311-4CE0-AB72-2F6B429380EE}"/>
              </a:ext>
            </a:extLst>
          </p:cNvPr>
          <p:cNvSpPr>
            <a:spLocks noGrp="1"/>
          </p:cNvSpPr>
          <p:nvPr>
            <p:ph type="subTitle" idx="16" hasCustomPrompt="1"/>
          </p:nvPr>
        </p:nvSpPr>
        <p:spPr>
          <a:xfrm>
            <a:off x="9061704" y="5566299"/>
            <a:ext cx="2834640" cy="265434"/>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1" name="Content 8">
            <a:extLst>
              <a:ext uri="{FF2B5EF4-FFF2-40B4-BE49-F238E27FC236}">
                <a16:creationId xmlns:a16="http://schemas.microsoft.com/office/drawing/2014/main" id="{FD06B556-F6DC-4CCE-8B02-F0089954096F}"/>
              </a:ext>
            </a:extLst>
          </p:cNvPr>
          <p:cNvSpPr>
            <a:spLocks noGrp="1"/>
          </p:cNvSpPr>
          <p:nvPr>
            <p:ph type="body" idx="8" hasCustomPrompt="1"/>
          </p:nvPr>
        </p:nvSpPr>
        <p:spPr>
          <a:xfrm>
            <a:off x="9061704" y="5880783"/>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869175685"/>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4 Small Pictures, 4 Headers, and 4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358D1B1C-BB6D-4656-A627-256D6300DBE3}"/>
              </a:ext>
            </a:extLst>
          </p:cNvPr>
          <p:cNvSpPr>
            <a:spLocks noGrp="1"/>
          </p:cNvSpPr>
          <p:nvPr>
            <p:ph type="sldNum" sz="quarter" idx="27"/>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Four-column layout with subtitles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9" hasCustomPrompt="1"/>
          </p:nvPr>
        </p:nvSpPr>
        <p:spPr>
          <a:xfrm>
            <a:off x="977900" y="1051560"/>
            <a:ext cx="1828800" cy="1828800"/>
          </a:xfrm>
        </p:spPr>
        <p:txBody>
          <a:bodyPr anchor="t"/>
          <a:lstStyle>
            <a:lvl1pPr marL="0" indent="0" algn="ctr">
              <a:buNone/>
              <a:defRPr sz="20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5" hasCustomPrompt="1"/>
          </p:nvPr>
        </p:nvSpPr>
        <p:spPr>
          <a:xfrm>
            <a:off x="365760"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291840"/>
            <a:ext cx="2834640" cy="3017520"/>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0" hasCustomPrompt="1"/>
          </p:nvPr>
        </p:nvSpPr>
        <p:spPr>
          <a:xfrm>
            <a:off x="3812540" y="1051560"/>
            <a:ext cx="1828800" cy="1828800"/>
          </a:xfrm>
        </p:spPr>
        <p:txBody>
          <a:bodyPr anchor="t"/>
          <a:lstStyle>
            <a:lvl1pPr marL="0" indent="0" algn="ctr">
              <a:buNone/>
              <a:defRPr sz="20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6" hasCustomPrompt="1"/>
          </p:nvPr>
        </p:nvSpPr>
        <p:spPr>
          <a:xfrm>
            <a:off x="3264408"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291840"/>
            <a:ext cx="2834640" cy="3017520"/>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1" hasCustomPrompt="1"/>
          </p:nvPr>
        </p:nvSpPr>
        <p:spPr>
          <a:xfrm>
            <a:off x="6647180" y="1051560"/>
            <a:ext cx="1828800" cy="1828800"/>
          </a:xfrm>
        </p:spPr>
        <p:txBody>
          <a:bodyPr anchor="t"/>
          <a:lstStyle>
            <a:lvl1pPr marL="0" indent="0" algn="ctr">
              <a:buNone/>
              <a:defRPr sz="20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7" hasCustomPrompt="1"/>
          </p:nvPr>
        </p:nvSpPr>
        <p:spPr>
          <a:xfrm>
            <a:off x="6163056"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291840"/>
            <a:ext cx="2834640" cy="3017520"/>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12" hasCustomPrompt="1"/>
          </p:nvPr>
        </p:nvSpPr>
        <p:spPr>
          <a:xfrm>
            <a:off x="9481820" y="1051560"/>
            <a:ext cx="1828800" cy="1828800"/>
          </a:xfrm>
        </p:spPr>
        <p:txBody>
          <a:bodyPr anchor="t"/>
          <a:lstStyle>
            <a:lvl1pPr marL="0" indent="0" algn="ctr">
              <a:buNone/>
              <a:defRPr sz="20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8" hasCustomPrompt="1"/>
          </p:nvPr>
        </p:nvSpPr>
        <p:spPr>
          <a:xfrm>
            <a:off x="9061704"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291840"/>
            <a:ext cx="2834640" cy="3017520"/>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106808248"/>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4 Large Pictures, 4 Headers, and 4 Text Columns">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8E87C93A-7F97-44B2-A417-8D2E6E13CE89}"/>
              </a:ext>
            </a:extLst>
          </p:cNvPr>
          <p:cNvSpPr>
            <a:spLocks noGrp="1"/>
          </p:cNvSpPr>
          <p:nvPr>
            <p:ph type="sldNum" sz="quarter" idx="12"/>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picture and header and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051560"/>
            <a:ext cx="2834640" cy="2834640"/>
          </a:xfrm>
        </p:spPr>
        <p:txBody>
          <a:bodyPr anchor="t"/>
          <a:lstStyle>
            <a:lvl1pPr marL="0" indent="0" algn="ctr">
              <a:buNone/>
              <a:defRPr sz="20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4363106"/>
            <a:ext cx="2834640" cy="1994966"/>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051560"/>
            <a:ext cx="2834640" cy="2834640"/>
          </a:xfrm>
        </p:spPr>
        <p:txBody>
          <a:bodyPr anchor="t"/>
          <a:lstStyle>
            <a:lvl1pPr marL="0" indent="0" algn="ctr">
              <a:buNone/>
              <a:defRPr sz="2000">
                <a:solidFill>
                  <a:schemeClr val="tx2"/>
                </a:solidFill>
              </a:defRPr>
            </a:lvl1pPr>
          </a:lstStyle>
          <a:p>
            <a:r>
              <a:rPr lang="en-US"/>
              <a:t>Click icon to add image</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4363106"/>
            <a:ext cx="2834640" cy="1994966"/>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051560"/>
            <a:ext cx="2834640" cy="2834640"/>
          </a:xfrm>
        </p:spPr>
        <p:txBody>
          <a:bodyPr anchor="t"/>
          <a:lstStyle>
            <a:lvl1pPr marL="0" indent="0" algn="ctr">
              <a:buNone/>
              <a:defRPr sz="2000">
                <a:solidFill>
                  <a:schemeClr val="tx2"/>
                </a:solidFill>
              </a:defRPr>
            </a:lvl1pPr>
          </a:lstStyle>
          <a:p>
            <a:r>
              <a:rPr lang="en-US"/>
              <a:t>Click icon to add image</a:t>
            </a:r>
          </a:p>
        </p:txBody>
      </p:sp>
      <p:sp>
        <p:nvSpPr>
          <p:cNvPr id="5" name="Content 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63056" y="4363106"/>
            <a:ext cx="2834640" cy="1994966"/>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051560"/>
            <a:ext cx="2834640" cy="2834640"/>
          </a:xfrm>
        </p:spPr>
        <p:txBody>
          <a:bodyPr anchor="t"/>
          <a:lstStyle>
            <a:lvl1pPr marL="0" indent="0" algn="ctr">
              <a:buNone/>
              <a:defRPr sz="2000">
                <a:solidFill>
                  <a:schemeClr val="tx2"/>
                </a:solidFill>
              </a:defRPr>
            </a:lvl1pPr>
          </a:lstStyle>
          <a:p>
            <a:r>
              <a:rPr lang="en-US"/>
              <a:t>Click icon to add image</a:t>
            </a:r>
          </a:p>
        </p:txBody>
      </p:sp>
      <p:sp>
        <p:nvSpPr>
          <p:cNvPr id="16" name="Content 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528A167E-DBEB-4BD8-B32A-B1DBF78AA248}"/>
              </a:ext>
            </a:extLst>
          </p:cNvPr>
          <p:cNvSpPr>
            <a:spLocks noGrp="1"/>
          </p:cNvSpPr>
          <p:nvPr>
            <p:ph type="body" idx="4" hasCustomPrompt="1"/>
          </p:nvPr>
        </p:nvSpPr>
        <p:spPr>
          <a:xfrm>
            <a:off x="9061704" y="4363106"/>
            <a:ext cx="2834640" cy="1994966"/>
          </a:xfrm>
        </p:spPr>
        <p:txBody>
          <a:bodyPr lIns="91440"/>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9966069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36173320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Blank">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blank layout</a:t>
            </a:r>
          </a:p>
        </p:txBody>
      </p:sp>
    </p:spTree>
    <p:custDataLst>
      <p:tags r:id="rId1"/>
    </p:custDataLst>
    <p:extLst>
      <p:ext uri="{BB962C8B-B14F-4D97-AF65-F5344CB8AC3E}">
        <p14:creationId xmlns:p14="http://schemas.microsoft.com/office/powerpoint/2010/main" val="20483261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mall Title and Architectur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299526"/>
            <a:ext cx="11569209" cy="289591"/>
          </a:xfrm>
        </p:spPr>
        <p:txBody>
          <a:bodyPr>
            <a:normAutofit/>
          </a:bodyPr>
          <a:lstStyle>
            <a:lvl1pPr>
              <a:defRPr sz="1600"/>
            </a:lvl1pPr>
          </a:lstStyle>
          <a:p>
            <a:r>
              <a:rPr lang="en-US" dirty="0"/>
              <a:t>Architecture layout</a:t>
            </a:r>
          </a:p>
        </p:txBody>
      </p:sp>
    </p:spTree>
    <p:custDataLst>
      <p:tags r:id="rId1"/>
    </p:custDataLst>
    <p:extLst>
      <p:ext uri="{BB962C8B-B14F-4D97-AF65-F5344CB8AC3E}">
        <p14:creationId xmlns:p14="http://schemas.microsoft.com/office/powerpoint/2010/main" val="7887662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Full Bleed Image">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sz="1100"/>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0" y="154244"/>
            <a:ext cx="12192000" cy="289591"/>
          </a:xfrm>
        </p:spPr>
        <p:txBody>
          <a:bodyPr>
            <a:normAutofit/>
          </a:bodyPr>
          <a:lstStyle>
            <a:lvl1pPr marL="228600">
              <a:defRPr sz="1600"/>
            </a:lvl1pPr>
          </a:lstStyle>
          <a:p>
            <a:r>
              <a:rPr lang="en-US" dirty="0"/>
              <a:t>Architecture layout</a:t>
            </a:r>
          </a:p>
        </p:txBody>
      </p:sp>
      <p:sp>
        <p:nvSpPr>
          <p:cNvPr id="11" name="Picture">
            <a:extLst>
              <a:ext uri="{FF2B5EF4-FFF2-40B4-BE49-F238E27FC236}">
                <a16:creationId xmlns:a16="http://schemas.microsoft.com/office/drawing/2014/main" id="{0381C651-7A78-4580-9017-44C97E7FD95A}"/>
              </a:ext>
              <a:ext uri="{C183D7F6-B498-43B3-948B-1728B52AA6E4}">
                <adec:decorative xmlns:adec="http://schemas.microsoft.com/office/drawing/2017/decorative" val="0"/>
              </a:ext>
            </a:extLst>
          </p:cNvPr>
          <p:cNvSpPr>
            <a:spLocks noGrp="1"/>
          </p:cNvSpPr>
          <p:nvPr>
            <p:ph idx="1" hasCustomPrompt="1"/>
          </p:nvPr>
        </p:nvSpPr>
        <p:spPr>
          <a:xfrm>
            <a:off x="0" y="611150"/>
            <a:ext cx="12192000" cy="5745583"/>
          </a:xfrm>
        </p:spPr>
        <p:txBody>
          <a:bodyPr anchor="ctr"/>
          <a:lstStyle>
            <a:lvl1pPr marL="0" indent="0" algn="ctr">
              <a:buNone/>
              <a:defRPr/>
            </a:lvl1pPr>
          </a:lstStyle>
          <a:p>
            <a:r>
              <a:rPr lang="en-US" dirty="0"/>
              <a:t>Click to add image</a:t>
            </a:r>
          </a:p>
          <a:p>
            <a:r>
              <a:rPr lang="en-US" dirty="0"/>
              <a:t>Full bleed</a:t>
            </a:r>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31863755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and Gallary">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D8D55E07-9B6D-4BAF-87F6-80BC0ED1BB09}"/>
              </a:ext>
            </a:extLst>
          </p:cNvPr>
          <p:cNvSpPr>
            <a:spLocks noGrp="1" noSelect="1"/>
          </p:cNvSpPr>
          <p:nvPr>
            <p:ph type="sldNum" sz="quarter" idx="10"/>
          </p:nvPr>
        </p:nvSpPr>
        <p:spPr>
          <a:xfrm>
            <a:off x="11469389" y="6445721"/>
            <a:ext cx="484261" cy="289591"/>
          </a:xfrm>
          <a:prstGeom prst="rect">
            <a:avLst/>
          </a:prstGeom>
        </p:spPr>
        <p:txBody>
          <a:body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lvl1pPr>
          </a:lstStyle>
          <a:p>
            <a:r>
              <a:rPr lang="en-US" dirty="0"/>
              <a:t>Title only layout</a:t>
            </a:r>
          </a:p>
        </p:txBody>
      </p:sp>
      <p:sp>
        <p:nvSpPr>
          <p:cNvPr id="11" name="Picture 1">
            <a:extLst>
              <a:ext uri="{FF2B5EF4-FFF2-40B4-BE49-F238E27FC236}">
                <a16:creationId xmlns:a16="http://schemas.microsoft.com/office/drawing/2014/main" id="{01E0569B-0304-4CF2-95FE-74EEAC9AEC38}"/>
              </a:ext>
            </a:extLst>
          </p:cNvPr>
          <p:cNvSpPr>
            <a:spLocks noGrp="1"/>
          </p:cNvSpPr>
          <p:nvPr>
            <p:ph idx="1" hasCustomPrompt="1"/>
          </p:nvPr>
        </p:nvSpPr>
        <p:spPr>
          <a:xfrm>
            <a:off x="451220" y="104299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2" name="Picture 2">
            <a:extLst>
              <a:ext uri="{FF2B5EF4-FFF2-40B4-BE49-F238E27FC236}">
                <a16:creationId xmlns:a16="http://schemas.microsoft.com/office/drawing/2014/main" id="{4E39BCC2-7E6B-49A6-88A7-4389D0876599}"/>
              </a:ext>
            </a:extLst>
          </p:cNvPr>
          <p:cNvSpPr>
            <a:spLocks noGrp="1"/>
          </p:cNvSpPr>
          <p:nvPr>
            <p:ph idx="2" hasCustomPrompt="1"/>
          </p:nvPr>
        </p:nvSpPr>
        <p:spPr>
          <a:xfrm>
            <a:off x="3348813" y="104299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3" name="Picture 3">
            <a:extLst>
              <a:ext uri="{FF2B5EF4-FFF2-40B4-BE49-F238E27FC236}">
                <a16:creationId xmlns:a16="http://schemas.microsoft.com/office/drawing/2014/main" id="{292A7B23-5883-4A03-AA9E-D7887267A0B5}"/>
              </a:ext>
            </a:extLst>
          </p:cNvPr>
          <p:cNvSpPr>
            <a:spLocks noGrp="1"/>
          </p:cNvSpPr>
          <p:nvPr>
            <p:ph idx="3" hasCustomPrompt="1"/>
          </p:nvPr>
        </p:nvSpPr>
        <p:spPr>
          <a:xfrm>
            <a:off x="6246406" y="104299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4" name="Picture 4">
            <a:extLst>
              <a:ext uri="{FF2B5EF4-FFF2-40B4-BE49-F238E27FC236}">
                <a16:creationId xmlns:a16="http://schemas.microsoft.com/office/drawing/2014/main" id="{871FBC72-3D16-49CE-BD02-AD416196D37A}"/>
              </a:ext>
            </a:extLst>
          </p:cNvPr>
          <p:cNvSpPr>
            <a:spLocks noGrp="1"/>
          </p:cNvSpPr>
          <p:nvPr>
            <p:ph idx="4" hasCustomPrompt="1"/>
          </p:nvPr>
        </p:nvSpPr>
        <p:spPr>
          <a:xfrm>
            <a:off x="9144000" y="104299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5" name="Picture 5">
            <a:extLst>
              <a:ext uri="{FF2B5EF4-FFF2-40B4-BE49-F238E27FC236}">
                <a16:creationId xmlns:a16="http://schemas.microsoft.com/office/drawing/2014/main" id="{CCC335E7-FA18-44DB-ACBC-F2DABE9FB384}"/>
              </a:ext>
            </a:extLst>
          </p:cNvPr>
          <p:cNvSpPr>
            <a:spLocks noGrp="1"/>
          </p:cNvSpPr>
          <p:nvPr>
            <p:ph idx="5" hasCustomPrompt="1"/>
          </p:nvPr>
        </p:nvSpPr>
        <p:spPr>
          <a:xfrm>
            <a:off x="451220" y="375400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6" name="Picture 6">
            <a:extLst>
              <a:ext uri="{FF2B5EF4-FFF2-40B4-BE49-F238E27FC236}">
                <a16:creationId xmlns:a16="http://schemas.microsoft.com/office/drawing/2014/main" id="{BB740650-61A2-4FDC-8700-54D96F01FF5A}"/>
              </a:ext>
            </a:extLst>
          </p:cNvPr>
          <p:cNvSpPr>
            <a:spLocks noGrp="1"/>
          </p:cNvSpPr>
          <p:nvPr>
            <p:ph idx="6" hasCustomPrompt="1"/>
          </p:nvPr>
        </p:nvSpPr>
        <p:spPr>
          <a:xfrm>
            <a:off x="3348813" y="375400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7" name="Picture 7">
            <a:extLst>
              <a:ext uri="{FF2B5EF4-FFF2-40B4-BE49-F238E27FC236}">
                <a16:creationId xmlns:a16="http://schemas.microsoft.com/office/drawing/2014/main" id="{CA951A10-B648-4F4E-87FD-97FD8FEB4106}"/>
              </a:ext>
            </a:extLst>
          </p:cNvPr>
          <p:cNvSpPr>
            <a:spLocks noGrp="1"/>
          </p:cNvSpPr>
          <p:nvPr>
            <p:ph idx="7" hasCustomPrompt="1"/>
          </p:nvPr>
        </p:nvSpPr>
        <p:spPr>
          <a:xfrm>
            <a:off x="6246406" y="375400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8" name="Picture 8">
            <a:extLst>
              <a:ext uri="{FF2B5EF4-FFF2-40B4-BE49-F238E27FC236}">
                <a16:creationId xmlns:a16="http://schemas.microsoft.com/office/drawing/2014/main" id="{1F4C4007-9EA0-4D1F-938D-A38B105119E9}"/>
              </a:ext>
            </a:extLst>
          </p:cNvPr>
          <p:cNvSpPr>
            <a:spLocks noGrp="1"/>
          </p:cNvSpPr>
          <p:nvPr>
            <p:ph idx="8" hasCustomPrompt="1"/>
          </p:nvPr>
        </p:nvSpPr>
        <p:spPr>
          <a:xfrm>
            <a:off x="9144000" y="3754006"/>
            <a:ext cx="2651760" cy="2651760"/>
          </a:xfrm>
        </p:spPr>
        <p:txBody>
          <a:bodyPr anchor="t"/>
          <a:lstStyle>
            <a:lvl1pPr marL="0" indent="0" algn="ctr">
              <a:buNone/>
              <a:defRPr sz="18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278353139"/>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KC-Vertical-Question">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944148AD-FBE4-4610-A02B-F09937856BFE}"/>
              </a:ext>
              <a:ext uri="{C183D7F6-B498-43B3-948B-1728B52AA6E4}">
                <adec:decorative xmlns:adec="http://schemas.microsoft.com/office/drawing/2017/decorative" val="1"/>
              </a:ext>
            </a:extLst>
          </p:cNvPr>
          <p:cNvGrpSpPr/>
          <p:nvPr/>
        </p:nvGrpSpPr>
        <p:grpSpPr>
          <a:xfrm>
            <a:off x="0" y="1"/>
            <a:ext cx="12192000" cy="6858000"/>
            <a:chOff x="0" y="1"/>
            <a:chExt cx="12192000" cy="6858000"/>
          </a:xfrm>
        </p:grpSpPr>
        <p:sp>
          <p:nvSpPr>
            <p:cNvPr id="92" name="BKG-TP">
              <a:extLst>
                <a:ext uri="{FF2B5EF4-FFF2-40B4-BE49-F238E27FC236}">
                  <a16:creationId xmlns:a16="http://schemas.microsoft.com/office/drawing/2014/main" id="{EE0FEDDA-942B-48BE-AAB8-C426A48B446B}"/>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BKG-RT">
              <a:extLst>
                <a:ext uri="{FF2B5EF4-FFF2-40B4-BE49-F238E27FC236}">
                  <a16:creationId xmlns:a16="http://schemas.microsoft.com/office/drawing/2014/main" id="{8926E20E-BC19-41F8-A693-C36187128391}"/>
                </a:ext>
                <a:ext uri="{C183D7F6-B498-43B3-948B-1728B52AA6E4}">
                  <adec:decorative xmlns:adec="http://schemas.microsoft.com/office/drawing/2017/decorative" val="1"/>
                </a:ext>
              </a:extLst>
            </p:cNvPr>
            <p:cNvSpPr/>
            <p:nvPr/>
          </p:nvSpPr>
          <p:spPr>
            <a:xfrm>
              <a:off x="4584699" y="1005354"/>
              <a:ext cx="7607301" cy="54411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98" name="AWS Logo">
              <a:extLst>
                <a:ext uri="{FF2B5EF4-FFF2-40B4-BE49-F238E27FC236}">
                  <a16:creationId xmlns:a16="http://schemas.microsoft.com/office/drawing/2014/main" id="{13179500-6F1A-4F08-95D3-20B705F0686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5"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6" name="Slide Number">
            <a:extLst>
              <a:ext uri="{FF2B5EF4-FFF2-40B4-BE49-F238E27FC236}">
                <a16:creationId xmlns:a16="http://schemas.microsoft.com/office/drawing/2014/main" id="{4ADB9219-F2B8-4503-92E5-3B4A6A10A1E8}"/>
              </a:ext>
            </a:extLst>
          </p:cNvPr>
          <p:cNvSpPr>
            <a:spLocks noGrp="1"/>
          </p:cNvSpPr>
          <p:nvPr>
            <p:ph type="sldNum" sz="quarter" idx="10"/>
          </p:nvPr>
        </p:nvSpPr>
        <p:spPr>
          <a:xfrm>
            <a:off x="11466576" y="6446520"/>
            <a:ext cx="484261" cy="289591"/>
          </a:xfrm>
          <a:prstGeom prst="rect">
            <a:avLst/>
          </a:prstGeom>
        </p:spPr>
        <p:txBody>
          <a:bodyPr/>
          <a:lstStyle>
            <a:lvl1pPr>
              <a:defRPr sz="1100">
                <a:solidFill>
                  <a:schemeClr val="bg2"/>
                </a:solidFill>
              </a:defRPr>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dirty="0"/>
              <a:t>Question and Responses</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7"/>
            <a:ext cx="4401650" cy="5441164"/>
          </a:xfrm>
          <a:solidFill>
            <a:schemeClr val="accent1"/>
          </a:solidFill>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3" name="Choice Header">
            <a:extLst>
              <a:ext uri="{FF2B5EF4-FFF2-40B4-BE49-F238E27FC236}">
                <a16:creationId xmlns:a16="http://schemas.microsoft.com/office/drawing/2014/main" id="{94A86AAC-E12E-4379-82C3-110918D47BB2}"/>
              </a:ext>
            </a:extLst>
          </p:cNvPr>
          <p:cNvSpPr>
            <a:spLocks noGrp="1"/>
          </p:cNvSpPr>
          <p:nvPr>
            <p:ph type="subTitle" idx="13" hasCustomPrompt="1"/>
          </p:nvPr>
        </p:nvSpPr>
        <p:spPr>
          <a:xfrm>
            <a:off x="4581525" y="1008063"/>
            <a:ext cx="847725" cy="323850"/>
          </a:xfrm>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49A546CD-B784-4C60-8DF1-04299A8BD8DC}"/>
              </a:ext>
            </a:extLst>
          </p:cNvPr>
          <p:cNvSpPr>
            <a:spLocks noGrp="1"/>
          </p:cNvSpPr>
          <p:nvPr>
            <p:ph type="subTitle" idx="14" hasCustomPrompt="1"/>
          </p:nvPr>
        </p:nvSpPr>
        <p:spPr>
          <a:xfrm>
            <a:off x="5429250" y="1008063"/>
            <a:ext cx="2457450" cy="323850"/>
          </a:xfrm>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Response A">
            <a:extLst>
              <a:ext uri="{FF2B5EF4-FFF2-40B4-BE49-F238E27FC236}">
                <a16:creationId xmlns:a16="http://schemas.microsoft.com/office/drawing/2014/main" id="{DF65B8F8-C411-4217-9956-036774AA94F8}"/>
              </a:ext>
            </a:extLst>
          </p:cNvPr>
          <p:cNvSpPr>
            <a:spLocks noGrp="1"/>
          </p:cNvSpPr>
          <p:nvPr>
            <p:ph type="body" idx="8" hasCustomPrompt="1"/>
          </p:nvPr>
        </p:nvSpPr>
        <p:spPr>
          <a:xfrm>
            <a:off x="4584699" y="1344286"/>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Response A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5429250" y="1344286"/>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Response B">
            <a:extLst>
              <a:ext uri="{FF2B5EF4-FFF2-40B4-BE49-F238E27FC236}">
                <a16:creationId xmlns:a16="http://schemas.microsoft.com/office/drawing/2014/main" id="{B27347F1-D178-4BA7-947D-9C3316CA7F55}"/>
              </a:ext>
            </a:extLst>
          </p:cNvPr>
          <p:cNvSpPr>
            <a:spLocks noGrp="1"/>
          </p:cNvSpPr>
          <p:nvPr>
            <p:ph type="body" idx="9" hasCustomPrompt="1"/>
          </p:nvPr>
        </p:nvSpPr>
        <p:spPr>
          <a:xfrm>
            <a:off x="4584699" y="2197687"/>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Response B Text">
            <a:extLst>
              <a:ext uri="{FF2B5EF4-FFF2-40B4-BE49-F238E27FC236}">
                <a16:creationId xmlns:a16="http://schemas.microsoft.com/office/drawing/2014/main" id="{9762E385-4F68-4D4A-BE57-EDA108A285B5}"/>
              </a:ext>
            </a:extLst>
          </p:cNvPr>
          <p:cNvSpPr>
            <a:spLocks noGrp="1"/>
          </p:cNvSpPr>
          <p:nvPr>
            <p:ph type="body" idx="3" hasCustomPrompt="1"/>
          </p:nvPr>
        </p:nvSpPr>
        <p:spPr>
          <a:xfrm>
            <a:off x="5429250" y="2197687"/>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Response C">
            <a:extLst>
              <a:ext uri="{FF2B5EF4-FFF2-40B4-BE49-F238E27FC236}">
                <a16:creationId xmlns:a16="http://schemas.microsoft.com/office/drawing/2014/main" id="{2ACAFB9D-8E9C-4408-85E1-A3501374C2E9}"/>
              </a:ext>
            </a:extLst>
          </p:cNvPr>
          <p:cNvSpPr>
            <a:spLocks noGrp="1"/>
          </p:cNvSpPr>
          <p:nvPr>
            <p:ph type="body" idx="10" hasCustomPrompt="1"/>
          </p:nvPr>
        </p:nvSpPr>
        <p:spPr>
          <a:xfrm>
            <a:off x="4584699" y="3042542"/>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Response C Text">
            <a:extLst>
              <a:ext uri="{FF2B5EF4-FFF2-40B4-BE49-F238E27FC236}">
                <a16:creationId xmlns:a16="http://schemas.microsoft.com/office/drawing/2014/main" id="{22884D39-7004-49D5-8E88-C45BE1C9BFCB}"/>
              </a:ext>
            </a:extLst>
          </p:cNvPr>
          <p:cNvSpPr>
            <a:spLocks noGrp="1"/>
          </p:cNvSpPr>
          <p:nvPr>
            <p:ph type="body" idx="4" hasCustomPrompt="1"/>
          </p:nvPr>
        </p:nvSpPr>
        <p:spPr>
          <a:xfrm>
            <a:off x="5429250" y="3042542"/>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Response D">
            <a:extLst>
              <a:ext uri="{FF2B5EF4-FFF2-40B4-BE49-F238E27FC236}">
                <a16:creationId xmlns:a16="http://schemas.microsoft.com/office/drawing/2014/main" id="{310C83DA-41AE-4CBA-AA96-EB5CB2226FCF}"/>
              </a:ext>
            </a:extLst>
          </p:cNvPr>
          <p:cNvSpPr>
            <a:spLocks noGrp="1"/>
          </p:cNvSpPr>
          <p:nvPr>
            <p:ph type="body" idx="11" hasCustomPrompt="1"/>
          </p:nvPr>
        </p:nvSpPr>
        <p:spPr>
          <a:xfrm>
            <a:off x="4584699" y="3878850"/>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Response D Text">
            <a:extLst>
              <a:ext uri="{FF2B5EF4-FFF2-40B4-BE49-F238E27FC236}">
                <a16:creationId xmlns:a16="http://schemas.microsoft.com/office/drawing/2014/main" id="{AEE05FA0-DD58-4D0B-A7E0-EAC7B789E7A7}"/>
              </a:ext>
            </a:extLst>
          </p:cNvPr>
          <p:cNvSpPr>
            <a:spLocks noGrp="1"/>
          </p:cNvSpPr>
          <p:nvPr>
            <p:ph type="body" idx="5" hasCustomPrompt="1"/>
          </p:nvPr>
        </p:nvSpPr>
        <p:spPr>
          <a:xfrm>
            <a:off x="5429250" y="3878850"/>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Response E">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84699" y="4717905"/>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Response E Text">
            <a:extLst>
              <a:ext uri="{FF2B5EF4-FFF2-40B4-BE49-F238E27FC236}">
                <a16:creationId xmlns:a16="http://schemas.microsoft.com/office/drawing/2014/main" id="{B428E384-92E9-495A-9CAE-E33E3164F939}"/>
              </a:ext>
            </a:extLst>
          </p:cNvPr>
          <p:cNvSpPr>
            <a:spLocks noGrp="1"/>
          </p:cNvSpPr>
          <p:nvPr>
            <p:ph type="body" idx="6" hasCustomPrompt="1"/>
          </p:nvPr>
        </p:nvSpPr>
        <p:spPr>
          <a:xfrm>
            <a:off x="5429250" y="4717905"/>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Response F">
            <a:extLst>
              <a:ext uri="{FF2B5EF4-FFF2-40B4-BE49-F238E27FC236}">
                <a16:creationId xmlns:a16="http://schemas.microsoft.com/office/drawing/2014/main" id="{DC41B7B5-B438-4885-90AE-758ABF2CA9F9}"/>
              </a:ext>
            </a:extLst>
          </p:cNvPr>
          <p:cNvSpPr>
            <a:spLocks noGrp="1"/>
          </p:cNvSpPr>
          <p:nvPr>
            <p:ph type="body" idx="13" hasCustomPrompt="1"/>
          </p:nvPr>
        </p:nvSpPr>
        <p:spPr>
          <a:xfrm>
            <a:off x="4584699" y="5571303"/>
            <a:ext cx="822960" cy="841248"/>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Response F Text">
            <a:extLst>
              <a:ext uri="{FF2B5EF4-FFF2-40B4-BE49-F238E27FC236}">
                <a16:creationId xmlns:a16="http://schemas.microsoft.com/office/drawing/2014/main" id="{09F72B28-4CF6-4FD1-BA4A-5A98215324E2}"/>
              </a:ext>
            </a:extLst>
          </p:cNvPr>
          <p:cNvSpPr>
            <a:spLocks noGrp="1"/>
          </p:cNvSpPr>
          <p:nvPr>
            <p:ph type="body" idx="7" hasCustomPrompt="1"/>
          </p:nvPr>
        </p:nvSpPr>
        <p:spPr>
          <a:xfrm>
            <a:off x="5429250" y="5571303"/>
            <a:ext cx="6766560" cy="841248"/>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30568726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KC-Vertical-Answer">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BE45E85F-AC1E-48C6-9D1E-EE52A57E4949}"/>
              </a:ext>
              <a:ext uri="{C183D7F6-B498-43B3-948B-1728B52AA6E4}">
                <adec:decorative xmlns:adec="http://schemas.microsoft.com/office/drawing/2017/decorative" val="1"/>
              </a:ext>
            </a:extLst>
          </p:cNvPr>
          <p:cNvGrpSpPr/>
          <p:nvPr/>
        </p:nvGrpSpPr>
        <p:grpSpPr>
          <a:xfrm>
            <a:off x="0" y="1"/>
            <a:ext cx="12192000" cy="6858000"/>
            <a:chOff x="0" y="1"/>
            <a:chExt cx="12192000" cy="6858000"/>
          </a:xfrm>
        </p:grpSpPr>
        <p:sp>
          <p:nvSpPr>
            <p:cNvPr id="92" name="BKG-TP">
              <a:extLst>
                <a:ext uri="{FF2B5EF4-FFF2-40B4-BE49-F238E27FC236}">
                  <a16:creationId xmlns:a16="http://schemas.microsoft.com/office/drawing/2014/main" id="{EE0FEDDA-942B-48BE-AAB8-C426A48B446B}"/>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BKG-RT">
              <a:extLst>
                <a:ext uri="{FF2B5EF4-FFF2-40B4-BE49-F238E27FC236}">
                  <a16:creationId xmlns:a16="http://schemas.microsoft.com/office/drawing/2014/main" id="{8926E20E-BC19-41F8-A693-C36187128391}"/>
                </a:ext>
                <a:ext uri="{C183D7F6-B498-43B3-948B-1728B52AA6E4}">
                  <adec:decorative xmlns:adec="http://schemas.microsoft.com/office/drawing/2017/decorative" val="1"/>
                </a:ext>
              </a:extLst>
            </p:cNvPr>
            <p:cNvSpPr/>
            <p:nvPr/>
          </p:nvSpPr>
          <p:spPr>
            <a:xfrm>
              <a:off x="4584699" y="1005354"/>
              <a:ext cx="7607301" cy="54411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13179500-6F1A-4F08-95D3-20B705F0686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4ADB9219-F2B8-4503-92E5-3B4A6A10A1E8}"/>
              </a:ext>
            </a:extLst>
          </p:cNvPr>
          <p:cNvSpPr>
            <a:spLocks noGrp="1"/>
          </p:cNvSpPr>
          <p:nvPr>
            <p:ph type="sldNum" sz="quarter" idx="10"/>
          </p:nvPr>
        </p:nvSpPr>
        <p:spPr>
          <a:xfrm>
            <a:off x="11466576" y="6446520"/>
            <a:ext cx="484261" cy="289591"/>
          </a:xfrm>
          <a:prstGeom prst="rect">
            <a:avLst/>
          </a:prstGeom>
        </p:spPr>
        <p:txBody>
          <a:bodyPr/>
          <a:lstStyle>
            <a:lvl1pPr>
              <a:defRPr sz="1100">
                <a:solidFill>
                  <a:schemeClr val="bg2"/>
                </a:solidFill>
              </a:defRPr>
            </a:lvl1pPr>
          </a:lstStyle>
          <a:p>
            <a:fld id="{363DB862-5E2B-42BB-8337-D46E9881345F}" type="slidenum">
              <a:rPr lang="en-US" smtClean="0"/>
              <a:pPr/>
              <a:t>‹#›</a:t>
            </a:fld>
            <a:endParaRPr lang="en-US" dirty="0"/>
          </a:p>
        </p:txBody>
      </p:sp>
      <p:sp>
        <p:nvSpPr>
          <p:cNvPr id="2" name="Title">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6"/>
            <a:ext cx="4401650" cy="5441163"/>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3" name="AnswerHeader">
            <a:extLst>
              <a:ext uri="{FF2B5EF4-FFF2-40B4-BE49-F238E27FC236}">
                <a16:creationId xmlns:a16="http://schemas.microsoft.com/office/drawing/2014/main" id="{7C8472BF-3681-4E98-B87B-5FA7A5C19359}"/>
              </a:ext>
            </a:extLst>
          </p:cNvPr>
          <p:cNvSpPr>
            <a:spLocks noGrp="1"/>
          </p:cNvSpPr>
          <p:nvPr>
            <p:ph type="subTitle" idx="4" hasCustomPrompt="1"/>
          </p:nvPr>
        </p:nvSpPr>
        <p:spPr>
          <a:xfrm>
            <a:off x="4580888" y="1020685"/>
            <a:ext cx="7611111" cy="400050"/>
          </a:xfrm>
          <a:solidFill>
            <a:schemeClr val="accent2"/>
          </a:solidFill>
        </p:spPr>
        <p:txBody>
          <a:bodyPr lIns="9144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4886325" y="1420596"/>
            <a:ext cx="7309485" cy="5025923"/>
          </a:xfrm>
          <a:solidFill>
            <a:schemeClr val="bg1"/>
          </a:solidFill>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6630261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KC-Horizontal-Question">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6233"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5" name="Slide Number">
            <a:extLst>
              <a:ext uri="{FF2B5EF4-FFF2-40B4-BE49-F238E27FC236}">
                <a16:creationId xmlns:a16="http://schemas.microsoft.com/office/drawing/2014/main" id="{1384477F-E4BD-4991-B78C-EDBAD7FAF778}"/>
              </a:ext>
            </a:extLst>
          </p:cNvPr>
          <p:cNvSpPr>
            <a:spLocks noGrp="1" noSelect="1"/>
          </p:cNvSpPr>
          <p:nvPr>
            <p:ph type="sldNum" sz="quarter" idx="4"/>
          </p:nvPr>
        </p:nvSpPr>
        <p:spPr>
          <a:xfrm>
            <a:off x="11469389" y="6445721"/>
            <a:ext cx="484261" cy="289591"/>
          </a:xfrm>
          <a:prstGeom prst="rect">
            <a:avLst/>
          </a:prstGeom>
        </p:spPr>
        <p:txBody>
          <a:bodyPr/>
          <a:lstStyle>
            <a:lvl1pPr>
              <a:defRPr>
                <a:solidFill>
                  <a:schemeClr val="tx2"/>
                </a:solidFill>
              </a:defRPr>
            </a:lvl1p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Question and Responses</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Choice Header">
            <a:extLst>
              <a:ext uri="{FF2B5EF4-FFF2-40B4-BE49-F238E27FC236}">
                <a16:creationId xmlns:a16="http://schemas.microsoft.com/office/drawing/2014/main" id="{819C768D-12EC-41EC-9F85-ED13A7CA6D52}"/>
              </a:ext>
            </a:extLst>
          </p:cNvPr>
          <p:cNvSpPr>
            <a:spLocks noGrp="1"/>
          </p:cNvSpPr>
          <p:nvPr>
            <p:ph type="subTitle" idx="13" hasCustomPrompt="1"/>
          </p:nvPr>
        </p:nvSpPr>
        <p:spPr>
          <a:xfrm>
            <a:off x="0" y="2109788"/>
            <a:ext cx="887413" cy="317500"/>
          </a:xfrm>
          <a:solidFill>
            <a:schemeClr val="accent2"/>
          </a:solidFill>
          <a:ln>
            <a:noFill/>
          </a:ln>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AFAAB670-BBCA-4429-9F6C-C9ABD61E6B0C}"/>
              </a:ext>
            </a:extLst>
          </p:cNvPr>
          <p:cNvSpPr>
            <a:spLocks noGrp="1"/>
          </p:cNvSpPr>
          <p:nvPr>
            <p:ph type="subTitle" idx="14" hasCustomPrompt="1"/>
          </p:nvPr>
        </p:nvSpPr>
        <p:spPr>
          <a:xfrm>
            <a:off x="907950" y="2109788"/>
            <a:ext cx="11284050" cy="317500"/>
          </a:xfrm>
          <a:solidFill>
            <a:schemeClr val="accent2"/>
          </a:solidFill>
          <a:ln>
            <a:noFill/>
          </a:ln>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Response A">
            <a:extLst>
              <a:ext uri="{FF2B5EF4-FFF2-40B4-BE49-F238E27FC236}">
                <a16:creationId xmlns:a16="http://schemas.microsoft.com/office/drawing/2014/main" id="{B4EC449C-918E-4AF9-9E90-0E8D47CF3DD9}"/>
              </a:ext>
            </a:extLst>
          </p:cNvPr>
          <p:cNvSpPr>
            <a:spLocks noGrp="1"/>
          </p:cNvSpPr>
          <p:nvPr>
            <p:ph type="body" idx="8" hasCustomPrompt="1"/>
          </p:nvPr>
        </p:nvSpPr>
        <p:spPr>
          <a:xfrm>
            <a:off x="1" y="2427252"/>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Response A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427252"/>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Response B">
            <a:extLst>
              <a:ext uri="{FF2B5EF4-FFF2-40B4-BE49-F238E27FC236}">
                <a16:creationId xmlns:a16="http://schemas.microsoft.com/office/drawing/2014/main" id="{05FFB414-A546-4A6C-B7E8-B6D9C7AC88C9}"/>
              </a:ext>
            </a:extLst>
          </p:cNvPr>
          <p:cNvSpPr>
            <a:spLocks noGrp="1"/>
          </p:cNvSpPr>
          <p:nvPr>
            <p:ph type="body" idx="9" hasCustomPrompt="1"/>
          </p:nvPr>
        </p:nvSpPr>
        <p:spPr>
          <a:xfrm>
            <a:off x="1" y="3095161"/>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Response B Text">
            <a:extLst>
              <a:ext uri="{FF2B5EF4-FFF2-40B4-BE49-F238E27FC236}">
                <a16:creationId xmlns:a16="http://schemas.microsoft.com/office/drawing/2014/main" id="{840EA72F-053D-43C4-A0AA-4F71D345F1E1}"/>
              </a:ext>
            </a:extLst>
          </p:cNvPr>
          <p:cNvSpPr>
            <a:spLocks noGrp="1"/>
          </p:cNvSpPr>
          <p:nvPr>
            <p:ph type="body" hasCustomPrompt="1"/>
          </p:nvPr>
        </p:nvSpPr>
        <p:spPr>
          <a:xfrm>
            <a:off x="907950" y="3095161"/>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Response C">
            <a:extLst>
              <a:ext uri="{FF2B5EF4-FFF2-40B4-BE49-F238E27FC236}">
                <a16:creationId xmlns:a16="http://schemas.microsoft.com/office/drawing/2014/main" id="{F00955FE-A162-474C-BFF8-0AB0FBF10130}"/>
              </a:ext>
            </a:extLst>
          </p:cNvPr>
          <p:cNvSpPr>
            <a:spLocks noGrp="1"/>
          </p:cNvSpPr>
          <p:nvPr>
            <p:ph type="body" idx="10" hasCustomPrompt="1"/>
          </p:nvPr>
        </p:nvSpPr>
        <p:spPr>
          <a:xfrm>
            <a:off x="1" y="3765577"/>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Response C Text">
            <a:extLst>
              <a:ext uri="{FF2B5EF4-FFF2-40B4-BE49-F238E27FC236}">
                <a16:creationId xmlns:a16="http://schemas.microsoft.com/office/drawing/2014/main" id="{55974934-D7D0-4C4C-B76C-558C1028590E}"/>
              </a:ext>
            </a:extLst>
          </p:cNvPr>
          <p:cNvSpPr>
            <a:spLocks noGrp="1"/>
          </p:cNvSpPr>
          <p:nvPr>
            <p:ph type="body" idx="4" hasCustomPrompt="1"/>
          </p:nvPr>
        </p:nvSpPr>
        <p:spPr>
          <a:xfrm>
            <a:off x="907950" y="3765577"/>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Response D">
            <a:extLst>
              <a:ext uri="{FF2B5EF4-FFF2-40B4-BE49-F238E27FC236}">
                <a16:creationId xmlns:a16="http://schemas.microsoft.com/office/drawing/2014/main" id="{9A682F4A-836A-42BD-B18F-482CDD9FE392}"/>
              </a:ext>
            </a:extLst>
          </p:cNvPr>
          <p:cNvSpPr>
            <a:spLocks noGrp="1"/>
          </p:cNvSpPr>
          <p:nvPr>
            <p:ph type="body" idx="11" hasCustomPrompt="1"/>
          </p:nvPr>
        </p:nvSpPr>
        <p:spPr>
          <a:xfrm>
            <a:off x="1" y="4436721"/>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Response D Text">
            <a:extLst>
              <a:ext uri="{FF2B5EF4-FFF2-40B4-BE49-F238E27FC236}">
                <a16:creationId xmlns:a16="http://schemas.microsoft.com/office/drawing/2014/main" id="{2A075B8F-DFA0-46B1-A70C-B12937892D4B}"/>
              </a:ext>
            </a:extLst>
          </p:cNvPr>
          <p:cNvSpPr>
            <a:spLocks noGrp="1"/>
          </p:cNvSpPr>
          <p:nvPr>
            <p:ph type="body" idx="5" hasCustomPrompt="1"/>
          </p:nvPr>
        </p:nvSpPr>
        <p:spPr>
          <a:xfrm>
            <a:off x="907950" y="4436721"/>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Response E">
            <a:extLst>
              <a:ext uri="{FF2B5EF4-FFF2-40B4-BE49-F238E27FC236}">
                <a16:creationId xmlns:a16="http://schemas.microsoft.com/office/drawing/2014/main" id="{B3A4AC8A-DBAB-477E-8F79-6EFB6340CE48}"/>
              </a:ext>
            </a:extLst>
          </p:cNvPr>
          <p:cNvSpPr>
            <a:spLocks noGrp="1"/>
          </p:cNvSpPr>
          <p:nvPr>
            <p:ph type="body" idx="12" hasCustomPrompt="1"/>
          </p:nvPr>
        </p:nvSpPr>
        <p:spPr>
          <a:xfrm>
            <a:off x="1" y="5111626"/>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Response E Text">
            <a:extLst>
              <a:ext uri="{FF2B5EF4-FFF2-40B4-BE49-F238E27FC236}">
                <a16:creationId xmlns:a16="http://schemas.microsoft.com/office/drawing/2014/main" id="{0B4A450D-E822-44AA-8298-11D531D74483}"/>
              </a:ext>
            </a:extLst>
          </p:cNvPr>
          <p:cNvSpPr>
            <a:spLocks noGrp="1"/>
          </p:cNvSpPr>
          <p:nvPr>
            <p:ph type="body" idx="6" hasCustomPrompt="1"/>
          </p:nvPr>
        </p:nvSpPr>
        <p:spPr>
          <a:xfrm>
            <a:off x="907950" y="5111626"/>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Response F">
            <a:extLst>
              <a:ext uri="{FF2B5EF4-FFF2-40B4-BE49-F238E27FC236}">
                <a16:creationId xmlns:a16="http://schemas.microsoft.com/office/drawing/2014/main" id="{4075988B-8657-4CA4-A4CB-EAEA7B298681}"/>
              </a:ext>
            </a:extLst>
          </p:cNvPr>
          <p:cNvSpPr>
            <a:spLocks noGrp="1"/>
          </p:cNvSpPr>
          <p:nvPr>
            <p:ph type="body" idx="13" hasCustomPrompt="1"/>
          </p:nvPr>
        </p:nvSpPr>
        <p:spPr>
          <a:xfrm>
            <a:off x="1" y="5789014"/>
            <a:ext cx="888136" cy="66751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Response F Text">
            <a:extLst>
              <a:ext uri="{FF2B5EF4-FFF2-40B4-BE49-F238E27FC236}">
                <a16:creationId xmlns:a16="http://schemas.microsoft.com/office/drawing/2014/main" id="{327445DD-9D42-491C-969B-C7919BE2E3F0}"/>
              </a:ext>
            </a:extLst>
          </p:cNvPr>
          <p:cNvSpPr>
            <a:spLocks noGrp="1"/>
          </p:cNvSpPr>
          <p:nvPr>
            <p:ph type="body" idx="7" hasCustomPrompt="1"/>
          </p:nvPr>
        </p:nvSpPr>
        <p:spPr>
          <a:xfrm>
            <a:off x="907950" y="5789014"/>
            <a:ext cx="11284050" cy="667512"/>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7783900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KC-Horizontal-Answer">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2BC7B315-7F0D-4E47-99F5-36D169DF767E}"/>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7A68BE18-C9FD-4D64-BD55-20302868F06E}"/>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31622DCA-CB0C-4601-9C65-55CE8CDC7503}"/>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5F602DA0-A523-4504-8B32-D5AD20FED3AA}"/>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20950" y="257149"/>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1384477F-E4BD-4991-B78C-EDBAD7FAF778}"/>
              </a:ext>
            </a:extLst>
          </p:cNvPr>
          <p:cNvSpPr>
            <a:spLocks noGrp="1" noSelect="1"/>
          </p:cNvSpPr>
          <p:nvPr>
            <p:ph type="sldNum" sz="quarter" idx="4"/>
          </p:nvPr>
        </p:nvSpPr>
        <p:spPr>
          <a:xfrm>
            <a:off x="11469389" y="6445721"/>
            <a:ext cx="484261" cy="289591"/>
          </a:xfrm>
          <a:prstGeom prst="rect">
            <a:avLst/>
          </a:prstGeom>
        </p:spPr>
        <p:txBody>
          <a:bodyPr/>
          <a:lstStyle>
            <a:lvl1pPr>
              <a:defRPr>
                <a:solidFill>
                  <a:schemeClr val="tx2"/>
                </a:solidFill>
              </a:defRPr>
            </a:lvl1p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Answer Header">
            <a:extLst>
              <a:ext uri="{FF2B5EF4-FFF2-40B4-BE49-F238E27FC236}">
                <a16:creationId xmlns:a16="http://schemas.microsoft.com/office/drawing/2014/main" id="{4CF18732-63A0-43A6-B5E9-C4F74190ED76}"/>
              </a:ext>
            </a:extLst>
          </p:cNvPr>
          <p:cNvSpPr>
            <a:spLocks noGrp="1"/>
          </p:cNvSpPr>
          <p:nvPr>
            <p:ph type="subTitle" idx="4" hasCustomPrompt="1"/>
          </p:nvPr>
        </p:nvSpPr>
        <p:spPr>
          <a:xfrm>
            <a:off x="0" y="2114550"/>
            <a:ext cx="12192000" cy="400050"/>
          </a:xfrm>
          <a:solidFill>
            <a:schemeClr val="accent2"/>
          </a:solidFill>
        </p:spPr>
        <p:txBody>
          <a:bodyPr lIns="22860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514328"/>
            <a:ext cx="11284050" cy="3931393"/>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0265225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a:solidFill>
                  <a:schemeClr val="tx1"/>
                </a:solidFill>
              </a:defRPr>
            </a:lvl1p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solidFill>
                  <a:schemeClr val="tx1"/>
                </a:solidFill>
              </a:defRPr>
            </a:lvl1pPr>
          </a:lstStyle>
          <a:p>
            <a:r>
              <a:rPr lang="en-US" dirty="0"/>
              <a:t>Title only layout</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435716" y="1033070"/>
            <a:ext cx="11499253" cy="5389244"/>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7F823AF2-999D-4175-8C01-402CA4924585}"/>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pyright">
            <a:extLst>
              <a:ext uri="{FF2B5EF4-FFF2-40B4-BE49-F238E27FC236}">
                <a16:creationId xmlns:a16="http://schemas.microsoft.com/office/drawing/2014/main" id="{C7647A24-A423-4CD0-AC89-A092FB74F323}"/>
              </a:ext>
            </a:extLst>
          </p:cNvPr>
          <p:cNvSpPr txBox="1"/>
          <p:nvPr userDrawn="1"/>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5298670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Vertical Title and Content">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D8D55E07-9B6D-4BAF-87F6-80BC0ED1BB09}"/>
              </a:ext>
            </a:extLst>
          </p:cNvPr>
          <p:cNvSpPr>
            <a:spLocks noGrp="1"/>
          </p:cNvSpPr>
          <p:nvPr>
            <p:ph type="sldNum" sz="quarter" idx="10"/>
          </p:nvPr>
        </p:nvSpPr>
        <p:spPr>
          <a:xfrm>
            <a:off x="11469389" y="6445721"/>
            <a:ext cx="484261" cy="289591"/>
          </a:xfrm>
          <a:prstGeom prst="rect">
            <a:avLst/>
          </a:prstGeom>
        </p:spPr>
        <p:txBody>
          <a:bodyPr/>
          <a:lstStyle>
            <a:lvl1pPr>
              <a:defRPr>
                <a:solidFill>
                  <a:schemeClr val="tx1"/>
                </a:solidFill>
              </a:defRPr>
            </a:lvl1pPr>
          </a:lstStyle>
          <a:p>
            <a:fld id="{363DB862-5E2B-42BB-8337-D46E9881345F}" type="slidenum">
              <a:rPr lang="en-US" smtClean="0"/>
              <a:t>‹#›</a:t>
            </a:fld>
            <a:endParaRPr lang="en-US" dirty="0"/>
          </a:p>
        </p:txBody>
      </p:sp>
      <p:sp>
        <p:nvSpPr>
          <p:cNvPr id="2" name="Title">
            <a:extLst>
              <a:ext uri="{FF2B5EF4-FFF2-40B4-BE49-F238E27FC236}">
                <a16:creationId xmlns:a16="http://schemas.microsoft.com/office/drawing/2014/main" id="{1FDB7DAC-24E1-411C-8D5F-3A7FDF188C1D}"/>
              </a:ext>
            </a:extLst>
          </p:cNvPr>
          <p:cNvSpPr>
            <a:spLocks noGrp="1"/>
          </p:cNvSpPr>
          <p:nvPr>
            <p:ph type="title" hasCustomPrompt="1"/>
          </p:nvPr>
        </p:nvSpPr>
        <p:spPr>
          <a:xfrm rot="5400000">
            <a:off x="8349547" y="2779607"/>
            <a:ext cx="6076058" cy="1132145"/>
          </a:xfrm>
        </p:spPr>
        <p:txBody>
          <a:bodyPr/>
          <a:lstStyle>
            <a:lvl1pPr marL="0" marR="0" indent="0" algn="l" defTabSz="914400" rtl="0" eaLnBrk="1" fontAlgn="auto" latinLnBrk="0" hangingPunct="1">
              <a:lnSpc>
                <a:spcPct val="100000"/>
              </a:lnSpc>
              <a:spcBef>
                <a:spcPct val="0"/>
              </a:spcBef>
              <a:spcAft>
                <a:spcPts val="0"/>
              </a:spcAft>
              <a:buClrTx/>
              <a:buSzTx/>
              <a:buFontTx/>
              <a:buNone/>
              <a:tabLst/>
              <a:defRPr>
                <a:solidFill>
                  <a:schemeClr val="tx1"/>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365760" y="307649"/>
            <a:ext cx="10455743" cy="6076059"/>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A9006E65-0AC6-4AEC-9676-8B754EE037E9}"/>
              </a:ext>
              <a:ext uri="{C183D7F6-B498-43B3-948B-1728B52AA6E4}">
                <adec:decorative xmlns:adec="http://schemas.microsoft.com/office/drawing/2017/decorative" val="1"/>
              </a:ext>
            </a:extLst>
          </p:cNvPr>
          <p:cNvSpPr/>
          <p:nvPr/>
        </p:nvSpPr>
        <p:spPr>
          <a:xfrm rot="5400000">
            <a:off x="7803983" y="3325170"/>
            <a:ext cx="60807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Copyright">
            <a:extLst>
              <a:ext uri="{FF2B5EF4-FFF2-40B4-BE49-F238E27FC236}">
                <a16:creationId xmlns:a16="http://schemas.microsoft.com/office/drawing/2014/main" id="{F46B110E-7703-46F4-9D45-B44EB738E4E6}"/>
              </a:ext>
            </a:extLst>
          </p:cNvPr>
          <p:cNvSpPr txBox="1"/>
          <p:nvPr userDrawn="1"/>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1617906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KC-AcademyQuestion">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a:prstGeom prst="rect">
            <a:avLst/>
          </a:prstGeom>
        </p:spPr>
        <p:txBody>
          <a:bodyPr/>
          <a:lstStyle>
            <a:lvl1pPr>
              <a:defRPr sz="1100">
                <a:solidFill>
                  <a:schemeClr val="tx2"/>
                </a:solidFill>
                <a:latin typeface="+mn-lt"/>
              </a:defRPr>
            </a:lvl1pPr>
          </a:lstStyle>
          <a:p>
            <a:fld id="{B23121D6-781A-4B6C-8D9B-3A8188A614AE}" type="slidenum">
              <a:rPr lang="en-US" smtClean="0"/>
              <a:t>‹#›</a:t>
            </a:fld>
            <a:endParaRPr lang="en-US" dirty="0"/>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p:nvPr>
        </p:nvSpPr>
        <p:spPr>
          <a:xfrm>
            <a:off x="179239" y="179881"/>
            <a:ext cx="11771597" cy="498849"/>
          </a:xfrm>
        </p:spPr>
        <p:txBody>
          <a:bodyPr/>
          <a:lstStyle>
            <a:lvl1pPr>
              <a:defRPr>
                <a:solidFill>
                  <a:schemeClr val="tx2"/>
                </a:solidFill>
              </a:defRPr>
            </a:lvl1pPr>
          </a:lstStyle>
          <a:p>
            <a:endParaRPr lang="en-US" dirty="0"/>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18288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8" name="Copyright">
            <a:extLst>
              <a:ext uri="{FF2B5EF4-FFF2-40B4-BE49-F238E27FC236}">
                <a16:creationId xmlns:a16="http://schemas.microsoft.com/office/drawing/2014/main" id="{06187B9E-C23C-4145-AC3C-CB40D86E4F8D}"/>
              </a:ext>
            </a:extLst>
          </p:cNvPr>
          <p:cNvSpPr txBox="1"/>
          <p:nvPr userDrawn="1"/>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Tree>
    <p:custDataLst>
      <p:tags r:id="rId1"/>
    </p:custDataLst>
    <p:extLst>
      <p:ext uri="{BB962C8B-B14F-4D97-AF65-F5344CB8AC3E}">
        <p14:creationId xmlns:p14="http://schemas.microsoft.com/office/powerpoint/2010/main" val="2149045743"/>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6E65ACB-7BFD-4D12-ACB2-501576A6711D}"/>
              </a:ext>
            </a:extLst>
          </p:cNvPr>
          <p:cNvSpPr>
            <a:spLocks noGrp="1"/>
          </p:cNvSpPr>
          <p:nvPr>
            <p:ph type="title"/>
          </p:nvPr>
        </p:nvSpPr>
        <p:spPr>
          <a:xfrm>
            <a:off x="365760" y="299526"/>
            <a:ext cx="11569209" cy="7313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Content">
            <a:extLst>
              <a:ext uri="{FF2B5EF4-FFF2-40B4-BE49-F238E27FC236}">
                <a16:creationId xmlns:a16="http://schemas.microsoft.com/office/drawing/2014/main" id="{BD9FB2C3-6E12-492D-B6C4-46373C49E3FD}"/>
              </a:ext>
            </a:extLst>
          </p:cNvPr>
          <p:cNvSpPr>
            <a:spLocks noGrp="1"/>
          </p:cNvSpPr>
          <p:nvPr>
            <p:ph type="body" idx="1"/>
          </p:nvPr>
        </p:nvSpPr>
        <p:spPr>
          <a:xfrm>
            <a:off x="365760" y="1143000"/>
            <a:ext cx="11569209" cy="52578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a:extLst>
              <a:ext uri="{FF2B5EF4-FFF2-40B4-BE49-F238E27FC236}">
                <a16:creationId xmlns:a16="http://schemas.microsoft.com/office/drawing/2014/main" id="{740ACF5A-6DEA-4283-95F3-28BFCB00D1FE}"/>
              </a:ext>
            </a:extLst>
          </p:cNvPr>
          <p:cNvSpPr>
            <a:spLocks noGrp="1"/>
          </p:cNvSpPr>
          <p:nvPr>
            <p:ph type="sldNum" sz="quarter" idx="4"/>
          </p:nvPr>
        </p:nvSpPr>
        <p:spPr>
          <a:xfrm>
            <a:off x="11469389" y="6445721"/>
            <a:ext cx="484261" cy="289591"/>
          </a:xfrm>
          <a:prstGeom prst="rect">
            <a:avLst/>
          </a:prstGeom>
        </p:spPr>
        <p:txBody>
          <a:bodyPr vert="horz" lIns="91440" tIns="45720" rIns="91440" bIns="45720" rtlCol="0" anchor="ctr"/>
          <a:lstStyle>
            <a:lvl1pPr algn="r">
              <a:defRPr sz="11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stStyle>
          <a:p>
            <a:fld id="{363DB862-5E2B-42BB-8337-D46E9881345F}" type="slidenum">
              <a:rPr lang="en-US" smtClean="0"/>
              <a:pPr/>
              <a:t>‹#›</a:t>
            </a:fld>
            <a:endParaRPr lang="en-US" dirty="0"/>
          </a:p>
        </p:txBody>
      </p:sp>
      <p:pic>
        <p:nvPicPr>
          <p:cNvPr id="8" name="AWS Logo">
            <a:extLst>
              <a:ext uri="{FF2B5EF4-FFF2-40B4-BE49-F238E27FC236}">
                <a16:creationId xmlns:a16="http://schemas.microsoft.com/office/drawing/2014/main" id="{56ED120F-98B5-42C0-B16A-27FB0984653F}"/>
              </a:ext>
              <a:ext uri="{C183D7F6-B498-43B3-948B-1728B52AA6E4}">
                <adec:decorative xmlns:adec="http://schemas.microsoft.com/office/drawing/2017/decorative" val="1"/>
              </a:ext>
            </a:extLst>
          </p:cNvPr>
          <p:cNvPicPr>
            <a:picLocks noChangeAspect="1"/>
          </p:cNvPicPr>
          <p:nvPr/>
        </p:nvPicPr>
        <p:blipFill>
          <a:blip r:embed="rId43" cstate="screen">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243599" y="6452308"/>
            <a:ext cx="366979" cy="219456"/>
          </a:xfrm>
          <a:prstGeom prst="rect">
            <a:avLst/>
          </a:prstGeom>
        </p:spPr>
      </p:pic>
    </p:spTree>
    <p:custDataLst>
      <p:tags r:id="rId42"/>
    </p:custDataLst>
    <p:extLst>
      <p:ext uri="{BB962C8B-B14F-4D97-AF65-F5344CB8AC3E}">
        <p14:creationId xmlns:p14="http://schemas.microsoft.com/office/powerpoint/2010/main" val="1654468648"/>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 id="2147483807" r:id="rId23"/>
    <p:sldLayoutId id="2147483808" r:id="rId24"/>
    <p:sldLayoutId id="2147483809" r:id="rId25"/>
    <p:sldLayoutId id="2147483810" r:id="rId26"/>
    <p:sldLayoutId id="2147483811" r:id="rId27"/>
    <p:sldLayoutId id="2147483812" r:id="rId28"/>
    <p:sldLayoutId id="2147483813" r:id="rId29"/>
    <p:sldLayoutId id="2147483814" r:id="rId30"/>
    <p:sldLayoutId id="2147483815" r:id="rId31"/>
    <p:sldLayoutId id="2147483816" r:id="rId32"/>
    <p:sldLayoutId id="2147483817" r:id="rId33"/>
    <p:sldLayoutId id="2147483818" r:id="rId34"/>
    <p:sldLayoutId id="2147483819" r:id="rId35"/>
    <p:sldLayoutId id="2147483820" r:id="rId36"/>
    <p:sldLayoutId id="2147483821" r:id="rId37"/>
    <p:sldLayoutId id="2147483822" r:id="rId38"/>
    <p:sldLayoutId id="2147483823" r:id="rId39"/>
    <p:sldLayoutId id="2147483827" r:id="rId40"/>
  </p:sldLayoutIdLst>
  <p:hf hdr="0" dt="0"/>
  <p:txStyles>
    <p:titleStyle>
      <a:lvl1pPr algn="l" defTabSz="914400" rtl="0" eaLnBrk="1" latinLnBrk="0" hangingPunct="1">
        <a:lnSpc>
          <a:spcPct val="100000"/>
        </a:lnSpc>
        <a:spcBef>
          <a:spcPct val="0"/>
        </a:spcBef>
        <a:buNone/>
        <a:defRPr sz="3200" kern="1200">
          <a:solidFill>
            <a:schemeClr val="tx2"/>
          </a:solidFill>
          <a:latin typeface="Amazon Ember Heavy" panose="020B0803020204020204" pitchFamily="34" charset="0"/>
          <a:ea typeface="Amazon Ember Heavy" panose="020B0803020204020204" pitchFamily="34" charset="0"/>
          <a:cs typeface="Amazon Ember Heavy" panose="020B0803020204020204" pitchFamily="34" charset="0"/>
        </a:defRPr>
      </a:lvl1pPr>
    </p:titleStyle>
    <p:bodyStyle>
      <a:lvl1pPr marL="228600" indent="-228600" algn="l" defTabSz="914400" rtl="0" eaLnBrk="1" latinLnBrk="0" hangingPunct="1">
        <a:lnSpc>
          <a:spcPct val="100000"/>
        </a:lnSpc>
        <a:spcBef>
          <a:spcPts val="1000"/>
        </a:spcBef>
        <a:spcAft>
          <a:spcPts val="600"/>
        </a:spcAft>
        <a:buFont typeface="Amazon Ember" panose="020B0604020202020204" pitchFamily="34" charset="0"/>
        <a:buChar char="•"/>
        <a:defRPr sz="2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569913" indent="-228600" algn="l" defTabSz="914400" rtl="0" eaLnBrk="1" latinLnBrk="0" hangingPunct="1">
        <a:lnSpc>
          <a:spcPct val="100000"/>
        </a:lnSpc>
        <a:spcBef>
          <a:spcPts val="500"/>
        </a:spcBef>
        <a:spcAft>
          <a:spcPts val="600"/>
        </a:spcAft>
        <a:buFont typeface="Amazon Ember" panose="020B0604020202020204" pitchFamily="34" charset="0"/>
        <a:buChar char="•"/>
        <a:defRPr sz="24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2pPr>
      <a:lvl3pPr marL="854075" indent="-228600" algn="l" defTabSz="914400" rtl="0" eaLnBrk="1" latinLnBrk="0" hangingPunct="1">
        <a:lnSpc>
          <a:spcPct val="100000"/>
        </a:lnSpc>
        <a:spcBef>
          <a:spcPts val="500"/>
        </a:spcBef>
        <a:spcAft>
          <a:spcPts val="600"/>
        </a:spcAft>
        <a:buFont typeface="Amazon Ember" panose="020B0604020202020204" pitchFamily="34" charset="0"/>
        <a:buChar char="•"/>
        <a:defRPr sz="20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3pPr>
      <a:lvl4pPr marL="1139825" indent="-228600" algn="l" defTabSz="914400" rtl="0" eaLnBrk="1" latinLnBrk="0" hangingPunct="1">
        <a:lnSpc>
          <a:spcPct val="100000"/>
        </a:lnSpc>
        <a:spcBef>
          <a:spcPts val="500"/>
        </a:spcBef>
        <a:spcAft>
          <a:spcPts val="60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4pPr>
      <a:lvl5pPr marL="1484313" indent="-228600" algn="l" defTabSz="914400" rtl="0" eaLnBrk="1" latinLnBrk="0" hangingPunct="1">
        <a:lnSpc>
          <a:spcPct val="100000"/>
        </a:lnSpc>
        <a:spcBef>
          <a:spcPts val="500"/>
        </a:spcBef>
        <a:spcAft>
          <a:spcPts val="60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3.xml"/><Relationship Id="rId1" Type="http://schemas.openxmlformats.org/officeDocument/2006/relationships/tags" Target="../tags/tag46.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47.xml"/><Relationship Id="rId5" Type="http://schemas.openxmlformats.org/officeDocument/2006/relationships/image" Target="../media/image14.jpe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6.xml"/><Relationship Id="rId7" Type="http://schemas.openxmlformats.org/officeDocument/2006/relationships/image" Target="../media/image18.jpeg"/><Relationship Id="rId2" Type="http://schemas.openxmlformats.org/officeDocument/2006/relationships/slideLayout" Target="../slideLayouts/slideLayout29.xml"/><Relationship Id="rId1" Type="http://schemas.openxmlformats.org/officeDocument/2006/relationships/tags" Target="../tags/tag48.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9.xml"/><Relationship Id="rId1" Type="http://schemas.openxmlformats.org/officeDocument/2006/relationships/tags" Target="../tags/tag49.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9.xml"/><Relationship Id="rId1" Type="http://schemas.openxmlformats.org/officeDocument/2006/relationships/tags" Target="../tags/tag50.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9.xml"/><Relationship Id="rId7" Type="http://schemas.openxmlformats.org/officeDocument/2006/relationships/image" Target="../media/image24.png"/><Relationship Id="rId2" Type="http://schemas.openxmlformats.org/officeDocument/2006/relationships/slideLayout" Target="../slideLayouts/slideLayout23.xml"/><Relationship Id="rId1" Type="http://schemas.openxmlformats.org/officeDocument/2006/relationships/tags" Target="../tags/tag5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5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5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3.xml"/><Relationship Id="rId1" Type="http://schemas.openxmlformats.org/officeDocument/2006/relationships/tags" Target="../tags/tag54.xml"/><Relationship Id="rId6" Type="http://schemas.openxmlformats.org/officeDocument/2006/relationships/image" Target="../media/image26.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55.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3.xml"/><Relationship Id="rId1" Type="http://schemas.openxmlformats.org/officeDocument/2006/relationships/tags" Target="../tags/tag57.xml"/><Relationship Id="rId6" Type="http://schemas.openxmlformats.org/officeDocument/2006/relationships/image" Target="../media/image32.jpg"/><Relationship Id="rId5" Type="http://schemas.openxmlformats.org/officeDocument/2006/relationships/image" Target="../media/image31.jpg"/><Relationship Id="rId4" Type="http://schemas.openxmlformats.org/officeDocument/2006/relationships/image" Target="../media/image30.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tags" Target="../tags/tag58.xml"/><Relationship Id="rId4" Type="http://schemas.openxmlformats.org/officeDocument/2006/relationships/image" Target="../media/image30.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ags" Target="../tags/tag59.xml"/><Relationship Id="rId4" Type="http://schemas.openxmlformats.org/officeDocument/2006/relationships/image" Target="../media/image31.jp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tags" Target="../tags/tag60.xml"/><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1.xml"/><Relationship Id="rId1" Type="http://schemas.openxmlformats.org/officeDocument/2006/relationships/tags" Target="../tags/tag6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62.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6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6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65.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0.xml"/><Relationship Id="rId1" Type="http://schemas.openxmlformats.org/officeDocument/2006/relationships/tags" Target="../tags/tag6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0.xml"/><Relationship Id="rId1" Type="http://schemas.openxmlformats.org/officeDocument/2006/relationships/tags" Target="../tags/tag6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0.xml"/><Relationship Id="rId1" Type="http://schemas.openxmlformats.org/officeDocument/2006/relationships/tags" Target="../tags/tag6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6136A-8185-4CD0-98E4-74A9E9851BA4}"/>
              </a:ext>
            </a:extLst>
          </p:cNvPr>
          <p:cNvSpPr>
            <a:spLocks noGrp="1"/>
          </p:cNvSpPr>
          <p:nvPr>
            <p:ph type="title"/>
          </p:nvPr>
        </p:nvSpPr>
        <p:spPr/>
        <p:txBody>
          <a:bodyPr>
            <a:normAutofit/>
          </a:bodyPr>
          <a:lstStyle/>
          <a:p>
            <a:r>
              <a:rPr lang="en-US" dirty="0"/>
              <a:t>AWS Academy Data Engineering</a:t>
            </a:r>
          </a:p>
        </p:txBody>
      </p:sp>
    </p:spTree>
    <p:custDataLst>
      <p:tags r:id="rId1"/>
    </p:custDataLst>
    <p:extLst>
      <p:ext uri="{BB962C8B-B14F-4D97-AF65-F5344CB8AC3E}">
        <p14:creationId xmlns:p14="http://schemas.microsoft.com/office/powerpoint/2010/main" val="3318405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D68298-83FB-4DB4-B752-E91050F32637}"/>
              </a:ext>
            </a:extLst>
          </p:cNvPr>
          <p:cNvSpPr>
            <a:spLocks noGrp="1"/>
          </p:cNvSpPr>
          <p:nvPr>
            <p:ph type="title"/>
          </p:nvPr>
        </p:nvSpPr>
        <p:spPr/>
        <p:txBody>
          <a:bodyPr/>
          <a:lstStyle/>
          <a:p>
            <a:r>
              <a:rPr lang="en-US" dirty="0"/>
              <a:t>Data-Driven Organizations</a:t>
            </a:r>
          </a:p>
        </p:txBody>
      </p:sp>
      <p:sp>
        <p:nvSpPr>
          <p:cNvPr id="5" name="Text Placeholder 4">
            <a:extLst>
              <a:ext uri="{FF2B5EF4-FFF2-40B4-BE49-F238E27FC236}">
                <a16:creationId xmlns:a16="http://schemas.microsoft.com/office/drawing/2014/main" id="{0147941B-33D0-4B61-A152-6EB64B4ED08C}"/>
              </a:ext>
            </a:extLst>
          </p:cNvPr>
          <p:cNvSpPr>
            <a:spLocks noGrp="1"/>
          </p:cNvSpPr>
          <p:nvPr>
            <p:ph type="subTitle" idx="1"/>
          </p:nvPr>
        </p:nvSpPr>
        <p:spPr/>
        <p:txBody>
          <a:bodyPr/>
          <a:lstStyle/>
          <a:p>
            <a:r>
              <a:rPr lang="en-US" dirty="0"/>
              <a:t>AWS Academy Data Engineering</a:t>
            </a:r>
          </a:p>
        </p:txBody>
      </p:sp>
    </p:spTree>
    <p:custDataLst>
      <p:tags r:id="rId1"/>
    </p:custDataLst>
    <p:extLst>
      <p:ext uri="{BB962C8B-B14F-4D97-AF65-F5344CB8AC3E}">
        <p14:creationId xmlns:p14="http://schemas.microsoft.com/office/powerpoint/2010/main" val="1695471215"/>
      </p:ext>
    </p:extLst>
  </p:cSld>
  <p:clrMapOvr>
    <a:masterClrMapping/>
  </p:clrMapOvr>
  <mc:AlternateContent xmlns:mc="http://schemas.openxmlformats.org/markup-compatibility/2006" xmlns:p14="http://schemas.microsoft.com/office/powerpoint/2010/main">
    <mc:Choice Requires="p14">
      <p:transition spd="slow" p14:dur="2000" advTm="6770"/>
    </mc:Choice>
    <mc:Fallback xmlns="">
      <p:transition spd="slow" advTm="677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65C6E2-9E97-46E9-B36B-3818BD79DDA0}"/>
              </a:ext>
            </a:extLst>
          </p:cNvPr>
          <p:cNvSpPr>
            <a:spLocks noGrp="1"/>
          </p:cNvSpPr>
          <p:nvPr>
            <p:ph type="title"/>
          </p:nvPr>
        </p:nvSpPr>
        <p:spPr/>
        <p:txBody>
          <a:bodyPr>
            <a:normAutofit/>
          </a:bodyPr>
          <a:lstStyle/>
          <a:p>
            <a:r>
              <a:rPr lang="en-US" dirty="0"/>
              <a:t>The data pipeline – infrastructure for data-driven decisions</a:t>
            </a:r>
          </a:p>
        </p:txBody>
      </p:sp>
      <p:sp>
        <p:nvSpPr>
          <p:cNvPr id="2" name="Subtitle 1">
            <a:extLst>
              <a:ext uri="{FF2B5EF4-FFF2-40B4-BE49-F238E27FC236}">
                <a16:creationId xmlns:a16="http://schemas.microsoft.com/office/drawing/2014/main" id="{262A6CC8-AFFB-42F1-987C-DED6B008A29F}"/>
              </a:ext>
            </a:extLst>
          </p:cNvPr>
          <p:cNvSpPr>
            <a:spLocks noGrp="1"/>
          </p:cNvSpPr>
          <p:nvPr>
            <p:ph type="subTitle"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2259322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090681-CF86-4F73-9A5E-CA02690269C0}"/>
              </a:ext>
            </a:extLst>
          </p:cNvPr>
          <p:cNvSpPr>
            <a:spLocks noGrp="1"/>
          </p:cNvSpPr>
          <p:nvPr>
            <p:ph type="sldNum" sz="quarter" idx="12"/>
          </p:nvPr>
        </p:nvSpPr>
        <p:spPr/>
        <p:txBody>
          <a:bodyPr/>
          <a:lstStyle/>
          <a:p>
            <a:fld id="{363DB862-5E2B-42BB-8337-D46E9881345F}" type="slidenum">
              <a:rPr lang="en-US" smtClean="0"/>
              <a:t>4</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p:txBody>
          <a:bodyPr/>
          <a:lstStyle/>
          <a:p>
            <a:r>
              <a:rPr lang="en-US" dirty="0"/>
              <a:t>A data pipeline in its simplest terms</a:t>
            </a:r>
          </a:p>
        </p:txBody>
      </p:sp>
      <p:grpSp>
        <p:nvGrpSpPr>
          <p:cNvPr id="8" name="Group 7">
            <a:extLst>
              <a:ext uri="{FF2B5EF4-FFF2-40B4-BE49-F238E27FC236}">
                <a16:creationId xmlns:a16="http://schemas.microsoft.com/office/drawing/2014/main" id="{1A2C1B94-B87A-473B-8F6C-0348FB1AA40E}"/>
              </a:ext>
            </a:extLst>
          </p:cNvPr>
          <p:cNvGrpSpPr/>
          <p:nvPr/>
        </p:nvGrpSpPr>
        <p:grpSpPr>
          <a:xfrm>
            <a:off x="1144121" y="3941873"/>
            <a:ext cx="2831690" cy="1747020"/>
            <a:chOff x="1144121" y="2732505"/>
            <a:chExt cx="2831690" cy="1747020"/>
          </a:xfrm>
        </p:grpSpPr>
        <p:sp>
          <p:nvSpPr>
            <p:cNvPr id="2" name="TextBox 1">
              <a:extLst>
                <a:ext uri="{FF2B5EF4-FFF2-40B4-BE49-F238E27FC236}">
                  <a16:creationId xmlns:a16="http://schemas.microsoft.com/office/drawing/2014/main" id="{7146F4EA-C415-40B8-A8D3-3C1014C05374}"/>
                </a:ext>
              </a:extLst>
            </p:cNvPr>
            <p:cNvSpPr txBox="1"/>
            <p:nvPr/>
          </p:nvSpPr>
          <p:spPr>
            <a:xfrm>
              <a:off x="1144121" y="4017860"/>
              <a:ext cx="2831690" cy="461665"/>
            </a:xfrm>
            <a:prstGeom prst="rect">
              <a:avLst/>
            </a:prstGeom>
            <a:noFill/>
          </p:spPr>
          <p:txBody>
            <a:bodyPr wrap="square" rtlCol="0">
              <a:spAutoFit/>
            </a:bodyPr>
            <a:lstStyle/>
            <a:p>
              <a:pPr algn="ctr"/>
              <a:r>
                <a:rPr lang="en-US" sz="2400" dirty="0"/>
                <a:t>Collect data</a:t>
              </a:r>
            </a:p>
          </p:txBody>
        </p:sp>
        <p:pic>
          <p:nvPicPr>
            <p:cNvPr id="13" name="Picture 1" descr="Messy pile of randomly colored plastic building blocks.">
              <a:extLst>
                <a:ext uri="{FF2B5EF4-FFF2-40B4-BE49-F238E27FC236}">
                  <a16:creationId xmlns:a16="http://schemas.microsoft.com/office/drawing/2014/main" id="{2D0674B7-0551-4FEF-B06E-91002B391C8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416966" y="2732505"/>
              <a:ext cx="2286000" cy="1285355"/>
            </a:xfrm>
            <a:prstGeom prst="rect">
              <a:avLst/>
            </a:prstGeom>
          </p:spPr>
        </p:pic>
      </p:grpSp>
      <p:cxnSp>
        <p:nvCxnSpPr>
          <p:cNvPr id="17" name="Straight Arrow Connector 16">
            <a:extLst>
              <a:ext uri="{FF2B5EF4-FFF2-40B4-BE49-F238E27FC236}">
                <a16:creationId xmlns:a16="http://schemas.microsoft.com/office/drawing/2014/main" id="{38DB0129-EDF7-4231-B84A-B60CE02D9C5C}"/>
              </a:ext>
              <a:ext uri="{C183D7F6-B498-43B3-948B-1728B52AA6E4}">
                <adec:decorative xmlns:adec="http://schemas.microsoft.com/office/drawing/2017/decorative" val="1"/>
              </a:ext>
            </a:extLst>
          </p:cNvPr>
          <p:cNvCxnSpPr>
            <a:cxnSpLocks/>
          </p:cNvCxnSpPr>
          <p:nvPr/>
        </p:nvCxnSpPr>
        <p:spPr>
          <a:xfrm>
            <a:off x="3906620" y="4638368"/>
            <a:ext cx="701886" cy="0"/>
          </a:xfrm>
          <a:prstGeom prst="straightConnector1">
            <a:avLst/>
          </a:prstGeom>
          <a:ln w="44450">
            <a:solidFill>
              <a:schemeClr val="hlink"/>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5FF63A1D-4C79-4F60-AF0B-95664ACFEC06}"/>
              </a:ext>
            </a:extLst>
          </p:cNvPr>
          <p:cNvGrpSpPr/>
          <p:nvPr/>
        </p:nvGrpSpPr>
        <p:grpSpPr>
          <a:xfrm>
            <a:off x="4608506" y="3777789"/>
            <a:ext cx="2831690" cy="2280436"/>
            <a:chOff x="4608506" y="2568421"/>
            <a:chExt cx="2831690" cy="2280436"/>
          </a:xfrm>
        </p:grpSpPr>
        <p:sp>
          <p:nvSpPr>
            <p:cNvPr id="11" name="TextBox 10">
              <a:extLst>
                <a:ext uri="{FF2B5EF4-FFF2-40B4-BE49-F238E27FC236}">
                  <a16:creationId xmlns:a16="http://schemas.microsoft.com/office/drawing/2014/main" id="{5A68A65F-150C-42FB-9412-6D47A0E4BE11}"/>
                </a:ext>
              </a:extLst>
            </p:cNvPr>
            <p:cNvSpPr txBox="1"/>
            <p:nvPr/>
          </p:nvSpPr>
          <p:spPr>
            <a:xfrm>
              <a:off x="4608506" y="4017860"/>
              <a:ext cx="2831690" cy="830997"/>
            </a:xfrm>
            <a:prstGeom prst="rect">
              <a:avLst/>
            </a:prstGeom>
            <a:noFill/>
          </p:spPr>
          <p:txBody>
            <a:bodyPr wrap="square" rtlCol="0">
              <a:spAutoFit/>
            </a:bodyPr>
            <a:lstStyle/>
            <a:p>
              <a:pPr algn="ctr"/>
              <a:r>
                <a:rPr lang="en-US" sz="2400" dirty="0"/>
                <a:t>Store and process data</a:t>
              </a:r>
            </a:p>
          </p:txBody>
        </p:sp>
        <p:pic>
          <p:nvPicPr>
            <p:cNvPr id="14" name="Picture 2" descr="Set of stacked, well-organized plastic building blocks.">
              <a:extLst>
                <a:ext uri="{FF2B5EF4-FFF2-40B4-BE49-F238E27FC236}">
                  <a16:creationId xmlns:a16="http://schemas.microsoft.com/office/drawing/2014/main" id="{3AAA6926-9C0B-49E2-9D2A-30CE9EE84D2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37272" y="2568421"/>
              <a:ext cx="2174158" cy="1449439"/>
            </a:xfrm>
            <a:prstGeom prst="rect">
              <a:avLst/>
            </a:prstGeom>
          </p:spPr>
        </p:pic>
      </p:grpSp>
      <p:cxnSp>
        <p:nvCxnSpPr>
          <p:cNvPr id="23" name="Straight Arrow Connector 22">
            <a:extLst>
              <a:ext uri="{FF2B5EF4-FFF2-40B4-BE49-F238E27FC236}">
                <a16:creationId xmlns:a16="http://schemas.microsoft.com/office/drawing/2014/main" id="{7B7D31DE-D309-4C92-B405-C3CF3F0816E1}"/>
              </a:ext>
              <a:ext uri="{C183D7F6-B498-43B3-948B-1728B52AA6E4}">
                <adec:decorative xmlns:adec="http://schemas.microsoft.com/office/drawing/2017/decorative" val="1"/>
              </a:ext>
            </a:extLst>
          </p:cNvPr>
          <p:cNvCxnSpPr>
            <a:cxnSpLocks/>
          </p:cNvCxnSpPr>
          <p:nvPr/>
        </p:nvCxnSpPr>
        <p:spPr>
          <a:xfrm>
            <a:off x="7215175" y="4638368"/>
            <a:ext cx="701886" cy="0"/>
          </a:xfrm>
          <a:prstGeom prst="straightConnector1">
            <a:avLst/>
          </a:prstGeom>
          <a:ln w="44450">
            <a:solidFill>
              <a:srgbClr val="18AB4B"/>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E230549F-115F-4970-A786-9BFB9778C7E3}"/>
              </a:ext>
            </a:extLst>
          </p:cNvPr>
          <p:cNvGrpSpPr/>
          <p:nvPr/>
        </p:nvGrpSpPr>
        <p:grpSpPr>
          <a:xfrm>
            <a:off x="7754456" y="4045679"/>
            <a:ext cx="2831690" cy="2012546"/>
            <a:chOff x="7754456" y="2836311"/>
            <a:chExt cx="2831690" cy="2012546"/>
          </a:xfrm>
        </p:grpSpPr>
        <p:sp>
          <p:nvSpPr>
            <p:cNvPr id="12" name="TextBox 11">
              <a:extLst>
                <a:ext uri="{FF2B5EF4-FFF2-40B4-BE49-F238E27FC236}">
                  <a16:creationId xmlns:a16="http://schemas.microsoft.com/office/drawing/2014/main" id="{2B997231-B030-4602-8AD8-0D33A5F9DAD9}"/>
                </a:ext>
              </a:extLst>
            </p:cNvPr>
            <p:cNvSpPr txBox="1"/>
            <p:nvPr/>
          </p:nvSpPr>
          <p:spPr>
            <a:xfrm>
              <a:off x="7754456" y="4017860"/>
              <a:ext cx="2831690" cy="830997"/>
            </a:xfrm>
            <a:prstGeom prst="rect">
              <a:avLst/>
            </a:prstGeom>
            <a:noFill/>
          </p:spPr>
          <p:txBody>
            <a:bodyPr wrap="square" rtlCol="0">
              <a:spAutoFit/>
            </a:bodyPr>
            <a:lstStyle/>
            <a:p>
              <a:pPr algn="ctr"/>
              <a:r>
                <a:rPr lang="en-US" sz="2400" dirty="0"/>
                <a:t>Build something useful with data</a:t>
              </a:r>
            </a:p>
          </p:txBody>
        </p:sp>
        <p:pic>
          <p:nvPicPr>
            <p:cNvPr id="15" name="Picture 3" descr="Multi-story house and yard made out of plastic building blocks.">
              <a:extLst>
                <a:ext uri="{FF2B5EF4-FFF2-40B4-BE49-F238E27FC236}">
                  <a16:creationId xmlns:a16="http://schemas.microsoft.com/office/drawing/2014/main" id="{CFFF2A5A-AB33-4189-BC8F-2907813A280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449705" y="2836311"/>
              <a:ext cx="1649128" cy="1181549"/>
            </a:xfrm>
            <a:prstGeom prst="rect">
              <a:avLst/>
            </a:prstGeom>
          </p:spPr>
        </p:pic>
      </p:grpSp>
      <p:sp>
        <p:nvSpPr>
          <p:cNvPr id="5" name="TextBox 4">
            <a:extLst>
              <a:ext uri="{FF2B5EF4-FFF2-40B4-BE49-F238E27FC236}">
                <a16:creationId xmlns:a16="http://schemas.microsoft.com/office/drawing/2014/main" id="{8F945562-4D16-BB8D-9B37-64A611218A0B}"/>
              </a:ext>
            </a:extLst>
          </p:cNvPr>
          <p:cNvSpPr txBox="1"/>
          <p:nvPr/>
        </p:nvSpPr>
        <p:spPr>
          <a:xfrm>
            <a:off x="365760" y="1175036"/>
            <a:ext cx="11569208" cy="2246769"/>
          </a:xfrm>
          <a:prstGeom prst="rect">
            <a:avLst/>
          </a:prstGeom>
          <a:noFill/>
        </p:spPr>
        <p:txBody>
          <a:bodyPr wrap="square">
            <a:spAutoFit/>
          </a:bodyPr>
          <a:lstStyle/>
          <a:p>
            <a:pPr marL="342900" indent="-342900">
              <a:buFont typeface="Arial" panose="020B0604020202020204" pitchFamily="34" charset="0"/>
              <a:buChar char="•"/>
            </a:pPr>
            <a:r>
              <a:rPr lang="en-US" sz="2000" dirty="0">
                <a:solidFill>
                  <a:srgbClr val="FF0000"/>
                </a:solidFill>
              </a:rPr>
              <a:t>The data pipeline is the infrastructure that you build to support data-driven decision-making. </a:t>
            </a:r>
          </a:p>
          <a:p>
            <a:pPr marL="342900" indent="-342900">
              <a:buFont typeface="Arial" panose="020B0604020202020204" pitchFamily="34" charset="0"/>
              <a:buChar char="•"/>
            </a:pPr>
            <a:r>
              <a:rPr lang="en-US" sz="2000" dirty="0"/>
              <a:t>At the most basic level, any data pipeline infrastructure must be able to </a:t>
            </a:r>
            <a:r>
              <a:rPr lang="en-US" sz="2000" dirty="0">
                <a:solidFill>
                  <a:srgbClr val="FF0000"/>
                </a:solidFill>
              </a:rPr>
              <a:t>(1) bring data in, (2) store it, and (3) provide the means to work with the data to derive insights. </a:t>
            </a:r>
          </a:p>
          <a:p>
            <a:pPr marL="342900" indent="-342900">
              <a:buFont typeface="Arial" panose="020B0604020202020204" pitchFamily="34" charset="0"/>
              <a:buChar char="•"/>
            </a:pPr>
            <a:r>
              <a:rPr lang="en-US" sz="2000" dirty="0"/>
              <a:t>As the data engineer or data scientist, it's your job to build the pipeline to figure out what's appropriate and how you're going to do it. </a:t>
            </a:r>
          </a:p>
          <a:p>
            <a:pPr marL="342900" indent="-342900">
              <a:buFont typeface="Arial" panose="020B0604020202020204" pitchFamily="34" charset="0"/>
              <a:buChar char="•"/>
            </a:pPr>
            <a:r>
              <a:rPr lang="en-US" sz="2000" dirty="0"/>
              <a:t>Often this will include exploring and experimenting to get to know the data and the best way to derive value from it.</a:t>
            </a:r>
          </a:p>
        </p:txBody>
      </p:sp>
    </p:spTree>
    <p:custDataLst>
      <p:tags r:id="rId1"/>
    </p:custDataLst>
    <p:extLst>
      <p:ext uri="{BB962C8B-B14F-4D97-AF65-F5344CB8AC3E}">
        <p14:creationId xmlns:p14="http://schemas.microsoft.com/office/powerpoint/2010/main" val="1204046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3332B-BA83-450D-B9E4-902666554070}"/>
              </a:ext>
            </a:extLst>
          </p:cNvPr>
          <p:cNvSpPr>
            <a:spLocks noGrp="1"/>
          </p:cNvSpPr>
          <p:nvPr>
            <p:ph type="sldNum" sz="quarter" idx="12"/>
          </p:nvPr>
        </p:nvSpPr>
        <p:spPr/>
        <p:txBody>
          <a:bodyPr/>
          <a:lstStyle/>
          <a:p>
            <a:fld id="{363DB862-5E2B-42BB-8337-D46E9881345F}" type="slidenum">
              <a:rPr lang="en-US" smtClean="0"/>
              <a:t>5</a:t>
            </a:fld>
            <a:endParaRPr lang="en-US" dirty="0"/>
          </a:p>
        </p:txBody>
      </p:sp>
      <p:sp>
        <p:nvSpPr>
          <p:cNvPr id="12" name="Title 11">
            <a:extLst>
              <a:ext uri="{FF2B5EF4-FFF2-40B4-BE49-F238E27FC236}">
                <a16:creationId xmlns:a16="http://schemas.microsoft.com/office/drawing/2014/main" id="{8F6ECEF3-46E8-4198-A4B2-68BC1CC9C8C3}"/>
              </a:ext>
            </a:extLst>
          </p:cNvPr>
          <p:cNvSpPr>
            <a:spLocks noGrp="1"/>
          </p:cNvSpPr>
          <p:nvPr>
            <p:ph type="title"/>
          </p:nvPr>
        </p:nvSpPr>
        <p:spPr/>
        <p:txBody>
          <a:bodyPr/>
          <a:lstStyle/>
          <a:p>
            <a:r>
              <a:rPr lang="en-US" dirty="0">
                <a:solidFill>
                  <a:srgbClr val="FF0000"/>
                </a:solidFill>
              </a:rPr>
              <a:t>Work backwards </a:t>
            </a:r>
            <a:r>
              <a:rPr lang="en-US" dirty="0"/>
              <a:t>to design your infrastructure</a:t>
            </a:r>
          </a:p>
        </p:txBody>
      </p:sp>
      <p:pic>
        <p:nvPicPr>
          <p:cNvPr id="14" name="Picture 2 dec">
            <a:extLst>
              <a:ext uri="{FF2B5EF4-FFF2-40B4-BE49-F238E27FC236}">
                <a16:creationId xmlns:a16="http://schemas.microsoft.com/office/drawing/2014/main" id="{70A5A90A-C5B7-4759-AA35-F60860D4719F}"/>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082972" y="4188379"/>
            <a:ext cx="1649128" cy="1181549"/>
          </a:xfrm>
          <a:prstGeom prst="rect">
            <a:avLst/>
          </a:prstGeom>
        </p:spPr>
      </p:pic>
      <p:sp>
        <p:nvSpPr>
          <p:cNvPr id="8" name="Arrow: Chevron 7">
            <a:extLst>
              <a:ext uri="{FF2B5EF4-FFF2-40B4-BE49-F238E27FC236}">
                <a16:creationId xmlns:a16="http://schemas.microsoft.com/office/drawing/2014/main" id="{0F64DDC6-4F29-48A3-A1B4-D836858B1124}"/>
              </a:ext>
            </a:extLst>
          </p:cNvPr>
          <p:cNvSpPr/>
          <p:nvPr/>
        </p:nvSpPr>
        <p:spPr>
          <a:xfrm flipH="1">
            <a:off x="5946401" y="4554636"/>
            <a:ext cx="4136571" cy="567253"/>
          </a:xfrm>
          <a:prstGeom prst="chevron">
            <a:avLst/>
          </a:prstGeom>
          <a:solidFill>
            <a:srgbClr val="18AB4B"/>
          </a:solidFill>
          <a:ln>
            <a:solidFill>
              <a:srgbClr val="18AB4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1. What decision are you trying to make?</a:t>
            </a:r>
          </a:p>
        </p:txBody>
      </p:sp>
      <p:sp>
        <p:nvSpPr>
          <p:cNvPr id="10" name="Arrow: Chevron 9">
            <a:extLst>
              <a:ext uri="{FF2B5EF4-FFF2-40B4-BE49-F238E27FC236}">
                <a16:creationId xmlns:a16="http://schemas.microsoft.com/office/drawing/2014/main" id="{2FABC6D9-B466-4182-9202-CD25D3A77A48}"/>
              </a:ext>
            </a:extLst>
          </p:cNvPr>
          <p:cNvSpPr/>
          <p:nvPr/>
        </p:nvSpPr>
        <p:spPr>
          <a:xfrm flipH="1">
            <a:off x="2036252" y="4554637"/>
            <a:ext cx="3910148" cy="567253"/>
          </a:xfrm>
          <a:prstGeom prst="chevron">
            <a:avLst/>
          </a:prstGeom>
          <a:solidFill>
            <a:srgbClr val="26226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2. What data do you need to support this?</a:t>
            </a:r>
          </a:p>
        </p:txBody>
      </p:sp>
      <p:pic>
        <p:nvPicPr>
          <p:cNvPr id="6" name="Picture 1 dec">
            <a:extLst>
              <a:ext uri="{FF2B5EF4-FFF2-40B4-BE49-F238E27FC236}">
                <a16:creationId xmlns:a16="http://schemas.microsoft.com/office/drawing/2014/main" id="{EFE1BF5F-1CA1-4707-B413-26CAC63D94D1}"/>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5760" y="4375955"/>
            <a:ext cx="1670492" cy="939272"/>
          </a:xfrm>
          <a:prstGeom prst="rect">
            <a:avLst/>
          </a:prstGeom>
        </p:spPr>
      </p:pic>
      <p:sp>
        <p:nvSpPr>
          <p:cNvPr id="13" name="Text Placeholder 12">
            <a:extLst>
              <a:ext uri="{FF2B5EF4-FFF2-40B4-BE49-F238E27FC236}">
                <a16:creationId xmlns:a16="http://schemas.microsoft.com/office/drawing/2014/main" id="{82E4BA35-0AA1-43EC-AB32-7F9B1C4F5AB7}"/>
              </a:ext>
            </a:extLst>
          </p:cNvPr>
          <p:cNvSpPr>
            <a:spLocks noGrp="1"/>
          </p:cNvSpPr>
          <p:nvPr>
            <p:ph type="body" idx="1"/>
          </p:nvPr>
        </p:nvSpPr>
        <p:spPr>
          <a:xfrm>
            <a:off x="2036252" y="5488146"/>
            <a:ext cx="8303550" cy="731318"/>
          </a:xfrm>
        </p:spPr>
        <p:txBody>
          <a:bodyPr/>
          <a:lstStyle/>
          <a:p>
            <a:pPr marL="0" indent="0" algn="ctr">
              <a:buNone/>
            </a:pPr>
            <a:r>
              <a:rPr lang="en-US" dirty="0"/>
              <a:t>Weigh the trade-offs of cost, speed, and accuracy. </a:t>
            </a:r>
          </a:p>
        </p:txBody>
      </p:sp>
      <p:sp>
        <p:nvSpPr>
          <p:cNvPr id="7" name="TextBox 6">
            <a:extLst>
              <a:ext uri="{FF2B5EF4-FFF2-40B4-BE49-F238E27FC236}">
                <a16:creationId xmlns:a16="http://schemas.microsoft.com/office/drawing/2014/main" id="{E128074E-5727-876A-B1CD-299478261020}"/>
              </a:ext>
            </a:extLst>
          </p:cNvPr>
          <p:cNvSpPr txBox="1"/>
          <p:nvPr/>
        </p:nvSpPr>
        <p:spPr>
          <a:xfrm>
            <a:off x="365759" y="1451215"/>
            <a:ext cx="11569209" cy="255454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The number of variations and options to create a data pipeline are broad.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The key to designing an effective decision-making infrastructure </a:t>
            </a:r>
            <a:r>
              <a:rPr lang="en-US" sz="2000" dirty="0">
                <a:solidFill>
                  <a:srgbClr val="FF0000"/>
                </a:solidFill>
              </a:rPr>
              <a:t>is to start with the business problem </a:t>
            </a:r>
            <a:r>
              <a:rPr lang="en-US" sz="2000" dirty="0"/>
              <a:t>to be solved or decision to be made.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Then, build the pipeline that best suits that use case.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rgbClr val="00B050"/>
                </a:solidFill>
              </a:rPr>
              <a:t>The cloud makes it easier to start up different infrastructure to serve different use cases.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rgbClr val="0070C0"/>
                </a:solidFill>
              </a:rPr>
              <a:t>An organization doesn't need to invest in an infrastructure that tries to serve all business needs with a single database, server, or technology stack.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For each use case, start with the end in mind, and build the data pipeline that supports it.</a:t>
            </a:r>
          </a:p>
        </p:txBody>
      </p:sp>
    </p:spTree>
    <p:custDataLst>
      <p:tags r:id="rId1"/>
    </p:custDataLst>
    <p:extLst>
      <p:ext uri="{BB962C8B-B14F-4D97-AF65-F5344CB8AC3E}">
        <p14:creationId xmlns:p14="http://schemas.microsoft.com/office/powerpoint/2010/main" val="167753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6</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p:txBody>
          <a:bodyPr>
            <a:normAutofit/>
          </a:bodyPr>
          <a:lstStyle/>
          <a:p>
            <a:r>
              <a:rPr lang="en-US" dirty="0"/>
              <a:t>Layers of the pipeline infrastructure</a:t>
            </a:r>
          </a:p>
        </p:txBody>
      </p:sp>
      <p:grpSp>
        <p:nvGrpSpPr>
          <p:cNvPr id="4" name="Group Data">
            <a:extLst>
              <a:ext uri="{FF2B5EF4-FFF2-40B4-BE49-F238E27FC236}">
                <a16:creationId xmlns:a16="http://schemas.microsoft.com/office/drawing/2014/main" id="{224DFE29-D938-4EBA-B5F3-CFB6CD0688DB}"/>
              </a:ext>
            </a:extLst>
          </p:cNvPr>
          <p:cNvGrpSpPr/>
          <p:nvPr/>
        </p:nvGrpSpPr>
        <p:grpSpPr>
          <a:xfrm>
            <a:off x="1309382" y="3949792"/>
            <a:ext cx="1112094" cy="1273776"/>
            <a:chOff x="269744" y="3224620"/>
            <a:chExt cx="1112094" cy="1273776"/>
          </a:xfrm>
        </p:grpSpPr>
        <p:pic>
          <p:nvPicPr>
            <p:cNvPr id="93" name="Picture lego pile">
              <a:extLst>
                <a:ext uri="{FF2B5EF4-FFF2-40B4-BE49-F238E27FC236}">
                  <a16:creationId xmlns:a16="http://schemas.microsoft.com/office/drawing/2014/main" id="{E9EC6A61-5FE4-4D79-8921-4CAB8881BEFF}"/>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9744" y="3224620"/>
              <a:ext cx="1112094" cy="625300"/>
            </a:xfrm>
            <a:prstGeom prst="rect">
              <a:avLst/>
            </a:prstGeom>
          </p:spPr>
        </p:pic>
        <p:sp>
          <p:nvSpPr>
            <p:cNvPr id="89" name="TextBox 88">
              <a:extLst>
                <a:ext uri="{FF2B5EF4-FFF2-40B4-BE49-F238E27FC236}">
                  <a16:creationId xmlns:a16="http://schemas.microsoft.com/office/drawing/2014/main" id="{0707FA97-9A73-4AD2-8F3F-E085FF167B44}"/>
                </a:ext>
              </a:extLst>
            </p:cNvPr>
            <p:cNvSpPr txBox="1"/>
            <p:nvPr/>
          </p:nvSpPr>
          <p:spPr>
            <a:xfrm>
              <a:off x="289320" y="3852065"/>
              <a:ext cx="1038600" cy="646331"/>
            </a:xfrm>
            <a:prstGeom prst="rect">
              <a:avLst/>
            </a:prstGeom>
            <a:noFill/>
          </p:spPr>
          <p:txBody>
            <a:bodyPr wrap="square" rtlCol="0">
              <a:spAutoFit/>
            </a:bodyPr>
            <a:lstStyle/>
            <a:p>
              <a:pPr algn="ctr"/>
              <a:r>
                <a:rPr lang="en-US" dirty="0"/>
                <a:t>Data sources</a:t>
              </a:r>
            </a:p>
          </p:txBody>
        </p:sp>
      </p:grpSp>
      <p:grpSp>
        <p:nvGrpSpPr>
          <p:cNvPr id="7" name="Ingestion">
            <a:extLst>
              <a:ext uri="{FF2B5EF4-FFF2-40B4-BE49-F238E27FC236}">
                <a16:creationId xmlns:a16="http://schemas.microsoft.com/office/drawing/2014/main" id="{0C369501-AEEB-4D59-B40E-3D28C92F7AC3}"/>
              </a:ext>
            </a:extLst>
          </p:cNvPr>
          <p:cNvGrpSpPr/>
          <p:nvPr/>
        </p:nvGrpSpPr>
        <p:grpSpPr>
          <a:xfrm>
            <a:off x="2355313" y="3556927"/>
            <a:ext cx="2377440" cy="1627742"/>
            <a:chOff x="2355313" y="2681855"/>
            <a:chExt cx="2377440" cy="1627742"/>
          </a:xfrm>
        </p:grpSpPr>
        <p:sp>
          <p:nvSpPr>
            <p:cNvPr id="6" name="Arrow: Chevron ingest">
              <a:extLst>
                <a:ext uri="{FF2B5EF4-FFF2-40B4-BE49-F238E27FC236}">
                  <a16:creationId xmlns:a16="http://schemas.microsoft.com/office/drawing/2014/main" id="{219985F6-7E72-4B88-8A5C-356377ACF366}"/>
                </a:ext>
              </a:extLst>
            </p:cNvPr>
            <p:cNvSpPr/>
            <p:nvPr/>
          </p:nvSpPr>
          <p:spPr>
            <a:xfrm>
              <a:off x="2355313" y="3742344"/>
              <a:ext cx="2377440" cy="567253"/>
            </a:xfrm>
            <a:prstGeom prst="chevron">
              <a:avLst/>
            </a:prstGeom>
            <a:solidFill>
              <a:srgbClr val="262262"/>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Ingestion</a:t>
              </a:r>
            </a:p>
          </p:txBody>
        </p:sp>
        <p:pic>
          <p:nvPicPr>
            <p:cNvPr id="91" name="Picture truck">
              <a:extLst>
                <a:ext uri="{FF2B5EF4-FFF2-40B4-BE49-F238E27FC236}">
                  <a16:creationId xmlns:a16="http://schemas.microsoft.com/office/drawing/2014/main" id="{61964BEF-A1FD-4E64-83D6-DFD75BC63A24}"/>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flipH="1">
              <a:off x="2730733" y="2681855"/>
              <a:ext cx="1534452" cy="1022968"/>
            </a:xfrm>
            <a:prstGeom prst="rect">
              <a:avLst/>
            </a:prstGeom>
          </p:spPr>
        </p:pic>
      </p:grpSp>
      <p:grpSp>
        <p:nvGrpSpPr>
          <p:cNvPr id="8" name="StorageAndProcessing">
            <a:extLst>
              <a:ext uri="{FF2B5EF4-FFF2-40B4-BE49-F238E27FC236}">
                <a16:creationId xmlns:a16="http://schemas.microsoft.com/office/drawing/2014/main" id="{A08B9E8F-B9C1-451F-90E8-C135C769D143}"/>
              </a:ext>
            </a:extLst>
          </p:cNvPr>
          <p:cNvGrpSpPr/>
          <p:nvPr/>
        </p:nvGrpSpPr>
        <p:grpSpPr>
          <a:xfrm>
            <a:off x="4885496" y="2933790"/>
            <a:ext cx="2377440" cy="3520628"/>
            <a:chOff x="4885496" y="2058718"/>
            <a:chExt cx="2377440" cy="3520628"/>
          </a:xfrm>
        </p:grpSpPr>
        <p:pic>
          <p:nvPicPr>
            <p:cNvPr id="18" name="Picture storage">
              <a:extLst>
                <a:ext uri="{FF2B5EF4-FFF2-40B4-BE49-F238E27FC236}">
                  <a16:creationId xmlns:a16="http://schemas.microsoft.com/office/drawing/2014/main" id="{911A6928-AE24-440D-ACC2-DAAF961B3FCD}"/>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037920" y="2058718"/>
              <a:ext cx="2041650" cy="1361100"/>
            </a:xfrm>
            <a:prstGeom prst="rect">
              <a:avLst/>
            </a:prstGeom>
          </p:spPr>
        </p:pic>
        <p:sp>
          <p:nvSpPr>
            <p:cNvPr id="20" name="Arrow: Chevron storage">
              <a:extLst>
                <a:ext uri="{FF2B5EF4-FFF2-40B4-BE49-F238E27FC236}">
                  <a16:creationId xmlns:a16="http://schemas.microsoft.com/office/drawing/2014/main" id="{A15DFBD9-184A-4C48-8D25-64BE7322416F}"/>
                </a:ext>
              </a:extLst>
            </p:cNvPr>
            <p:cNvSpPr/>
            <p:nvPr/>
          </p:nvSpPr>
          <p:spPr>
            <a:xfrm>
              <a:off x="4885496" y="3419818"/>
              <a:ext cx="2377440" cy="567253"/>
            </a:xfrm>
            <a:prstGeom prst="chevron">
              <a:avLst/>
            </a:prstGeom>
            <a:solidFill>
              <a:srgbClr val="005276"/>
            </a:solidFill>
            <a:ln>
              <a:solidFill>
                <a:srgbClr val="00527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Storage</a:t>
              </a:r>
            </a:p>
          </p:txBody>
        </p:sp>
        <p:pic>
          <p:nvPicPr>
            <p:cNvPr id="26" name="Picture processing">
              <a:extLst>
                <a:ext uri="{FF2B5EF4-FFF2-40B4-BE49-F238E27FC236}">
                  <a16:creationId xmlns:a16="http://schemas.microsoft.com/office/drawing/2014/main" id="{EF357851-BD7E-47C2-9661-706E30DDB484}"/>
                </a:ext>
                <a:ext uri="{C183D7F6-B498-43B3-948B-1728B52AA6E4}">
                  <adec:decorative xmlns:adec="http://schemas.microsoft.com/office/drawing/2017/decorative" val="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43536" y="4319002"/>
              <a:ext cx="1680459" cy="1260344"/>
            </a:xfrm>
            <a:prstGeom prst="rect">
              <a:avLst/>
            </a:prstGeom>
          </p:spPr>
        </p:pic>
        <p:sp>
          <p:nvSpPr>
            <p:cNvPr id="21" name="Arrow: Chevron Process">
              <a:extLst>
                <a:ext uri="{FF2B5EF4-FFF2-40B4-BE49-F238E27FC236}">
                  <a16:creationId xmlns:a16="http://schemas.microsoft.com/office/drawing/2014/main" id="{269F68B3-A832-41A2-95F0-FF0346E1AE88}"/>
                </a:ext>
              </a:extLst>
            </p:cNvPr>
            <p:cNvSpPr/>
            <p:nvPr/>
          </p:nvSpPr>
          <p:spPr>
            <a:xfrm>
              <a:off x="4885496" y="4064870"/>
              <a:ext cx="2377440" cy="567253"/>
            </a:xfrm>
            <a:prstGeom prst="chevron">
              <a:avLst/>
            </a:prstGeom>
            <a:solidFill>
              <a:srgbClr val="9E1F63"/>
            </a:solidFill>
            <a:ln>
              <a:solidFill>
                <a:srgbClr val="9E1F6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Processing</a:t>
              </a:r>
            </a:p>
          </p:txBody>
        </p:sp>
      </p:grpSp>
      <p:grpSp>
        <p:nvGrpSpPr>
          <p:cNvPr id="9" name="AnalysisAndVisuazliation">
            <a:extLst>
              <a:ext uri="{FF2B5EF4-FFF2-40B4-BE49-F238E27FC236}">
                <a16:creationId xmlns:a16="http://schemas.microsoft.com/office/drawing/2014/main" id="{F0D73E77-6007-4E6E-82BB-D135998735BB}"/>
              </a:ext>
            </a:extLst>
          </p:cNvPr>
          <p:cNvGrpSpPr/>
          <p:nvPr/>
        </p:nvGrpSpPr>
        <p:grpSpPr>
          <a:xfrm>
            <a:off x="7418127" y="3359018"/>
            <a:ext cx="2377440" cy="1825651"/>
            <a:chOff x="7418127" y="2483946"/>
            <a:chExt cx="2377440" cy="1825651"/>
          </a:xfrm>
        </p:grpSpPr>
        <p:sp>
          <p:nvSpPr>
            <p:cNvPr id="22" name="Arrow: Chevron AandV">
              <a:extLst>
                <a:ext uri="{FF2B5EF4-FFF2-40B4-BE49-F238E27FC236}">
                  <a16:creationId xmlns:a16="http://schemas.microsoft.com/office/drawing/2014/main" id="{91519906-0FB6-4094-8F0B-3311B549DA6C}"/>
                </a:ext>
              </a:extLst>
            </p:cNvPr>
            <p:cNvSpPr/>
            <p:nvPr/>
          </p:nvSpPr>
          <p:spPr>
            <a:xfrm>
              <a:off x="7418127" y="3742344"/>
              <a:ext cx="2377440" cy="567253"/>
            </a:xfrm>
            <a:prstGeom prst="chevron">
              <a:avLst/>
            </a:prstGeom>
            <a:solidFill>
              <a:srgbClr val="18AB4B"/>
            </a:solidFill>
            <a:ln>
              <a:solidFill>
                <a:srgbClr val="18AB4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Analysis &amp; Visualization</a:t>
              </a:r>
            </a:p>
          </p:txBody>
        </p:sp>
        <p:pic>
          <p:nvPicPr>
            <p:cNvPr id="94" name="Picture house">
              <a:extLst>
                <a:ext uri="{FF2B5EF4-FFF2-40B4-BE49-F238E27FC236}">
                  <a16:creationId xmlns:a16="http://schemas.microsoft.com/office/drawing/2014/main" id="{CD1EF28B-519C-4BF2-A36A-39EE045DD752}"/>
                </a:ext>
                <a:ext uri="{C183D7F6-B498-43B3-948B-1728B52AA6E4}">
                  <adec:decorative xmlns:adec="http://schemas.microsoft.com/office/drawing/2017/decorative" val="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635229" y="2483946"/>
              <a:ext cx="1649128" cy="1181549"/>
            </a:xfrm>
            <a:prstGeom prst="rect">
              <a:avLst/>
            </a:prstGeom>
          </p:spPr>
        </p:pic>
      </p:grpSp>
      <p:sp>
        <p:nvSpPr>
          <p:cNvPr id="90" name="Predictions">
            <a:extLst>
              <a:ext uri="{FF2B5EF4-FFF2-40B4-BE49-F238E27FC236}">
                <a16:creationId xmlns:a16="http://schemas.microsoft.com/office/drawing/2014/main" id="{0FD12746-2EE9-435F-BAE1-0F21C4ECCFF8}"/>
              </a:ext>
            </a:extLst>
          </p:cNvPr>
          <p:cNvSpPr txBox="1"/>
          <p:nvPr/>
        </p:nvSpPr>
        <p:spPr>
          <a:xfrm>
            <a:off x="9729761" y="4446740"/>
            <a:ext cx="1513381" cy="646331"/>
          </a:xfrm>
          <a:prstGeom prst="rect">
            <a:avLst/>
          </a:prstGeom>
          <a:noFill/>
        </p:spPr>
        <p:txBody>
          <a:bodyPr wrap="square" rtlCol="0">
            <a:spAutoFit/>
          </a:bodyPr>
          <a:lstStyle/>
          <a:p>
            <a:pPr algn="ctr"/>
            <a:r>
              <a:rPr lang="en-US" dirty="0"/>
              <a:t>Predictions and decisions</a:t>
            </a:r>
          </a:p>
        </p:txBody>
      </p:sp>
      <p:sp>
        <p:nvSpPr>
          <p:cNvPr id="11" name="TextBox 10">
            <a:extLst>
              <a:ext uri="{FF2B5EF4-FFF2-40B4-BE49-F238E27FC236}">
                <a16:creationId xmlns:a16="http://schemas.microsoft.com/office/drawing/2014/main" id="{A5DBF89D-F4D5-91D6-3D8C-CF508A668F7B}"/>
              </a:ext>
            </a:extLst>
          </p:cNvPr>
          <p:cNvSpPr txBox="1"/>
          <p:nvPr/>
        </p:nvSpPr>
        <p:spPr>
          <a:xfrm>
            <a:off x="226141" y="1152959"/>
            <a:ext cx="11756899" cy="2031325"/>
          </a:xfrm>
          <a:prstGeom prst="rect">
            <a:avLst/>
          </a:prstGeom>
          <a:noFill/>
        </p:spPr>
        <p:txBody>
          <a:bodyPr wrap="square">
            <a:spAutoFit/>
          </a:bodyPr>
          <a:lstStyle/>
          <a:p>
            <a:pPr marL="285750" indent="-285750">
              <a:buFont typeface="Arial" panose="020B0604020202020204" pitchFamily="34" charset="0"/>
              <a:buChar char="•"/>
            </a:pPr>
            <a:r>
              <a:rPr lang="en-US" dirty="0"/>
              <a:t>The infrastructure layers that you need to build include methods to ingest and store data from the data sources that you have identified.</a:t>
            </a:r>
          </a:p>
          <a:p>
            <a:pPr marL="285750" indent="-285750">
              <a:buFont typeface="Arial" panose="020B0604020202020204" pitchFamily="34" charset="0"/>
              <a:buChar char="•"/>
            </a:pPr>
            <a:r>
              <a:rPr lang="en-US" dirty="0"/>
              <a:t>You need to make the stored data accessible for decision-making processes. </a:t>
            </a:r>
          </a:p>
          <a:p>
            <a:pPr marL="285750" indent="-285750">
              <a:buFont typeface="Arial" panose="020B0604020202020204" pitchFamily="34" charset="0"/>
              <a:buChar char="•"/>
            </a:pPr>
            <a:r>
              <a:rPr lang="en-US" dirty="0"/>
              <a:t>You must also create the infrastructure to process, analyze, and visualize data by using tools that are appropriate to the use case. </a:t>
            </a:r>
          </a:p>
          <a:p>
            <a:pPr marL="285750" indent="-285750">
              <a:buFont typeface="Arial" panose="020B0604020202020204" pitchFamily="34" charset="0"/>
              <a:buChar char="•"/>
            </a:pPr>
            <a:r>
              <a:rPr lang="en-US" dirty="0"/>
              <a:t>To build an appropriate infrastructure, you will need to understand the nature of the data and the intended type of processing and analysis to be performed.</a:t>
            </a:r>
          </a:p>
        </p:txBody>
      </p:sp>
    </p:spTree>
    <p:custDataLst>
      <p:tags r:id="rId1"/>
    </p:custDataLst>
    <p:extLst>
      <p:ext uri="{BB962C8B-B14F-4D97-AF65-F5344CB8AC3E}">
        <p14:creationId xmlns:p14="http://schemas.microsoft.com/office/powerpoint/2010/main" val="1814989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7</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p:txBody>
          <a:bodyPr>
            <a:normAutofit/>
          </a:bodyPr>
          <a:lstStyle/>
          <a:p>
            <a:r>
              <a:rPr lang="en-US" dirty="0"/>
              <a:t>Actions taken with data in the pipeline</a:t>
            </a:r>
          </a:p>
        </p:txBody>
      </p:sp>
      <p:pic>
        <p:nvPicPr>
          <p:cNvPr id="22" name="Picture 21" descr="Pipeline layers from ingestion through analysis &amp; visualization. ">
            <a:extLst>
              <a:ext uri="{FF2B5EF4-FFF2-40B4-BE49-F238E27FC236}">
                <a16:creationId xmlns:a16="http://schemas.microsoft.com/office/drawing/2014/main" id="{EAC7C814-32E3-4EB3-B9A1-36C9509038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3901" y="1320883"/>
            <a:ext cx="6734854" cy="2379676"/>
          </a:xfrm>
          <a:prstGeom prst="rect">
            <a:avLst/>
          </a:prstGeom>
        </p:spPr>
      </p:pic>
      <p:sp>
        <p:nvSpPr>
          <p:cNvPr id="57" name="TextBox 56">
            <a:extLst>
              <a:ext uri="{FF2B5EF4-FFF2-40B4-BE49-F238E27FC236}">
                <a16:creationId xmlns:a16="http://schemas.microsoft.com/office/drawing/2014/main" id="{8391ADAA-BBC8-4492-B148-6A6E1D1BED53}"/>
              </a:ext>
            </a:extLst>
          </p:cNvPr>
          <p:cNvSpPr txBox="1"/>
          <p:nvPr/>
        </p:nvSpPr>
        <p:spPr>
          <a:xfrm>
            <a:off x="7969274" y="4703808"/>
            <a:ext cx="1816523" cy="369332"/>
          </a:xfrm>
          <a:prstGeom prst="rect">
            <a:avLst/>
          </a:prstGeom>
          <a:noFill/>
        </p:spPr>
        <p:txBody>
          <a:bodyPr wrap="none" rtlCol="0">
            <a:spAutoFit/>
          </a:bodyPr>
          <a:lstStyle/>
          <a:p>
            <a:r>
              <a:rPr lang="en-US" dirty="0"/>
              <a:t>Transformation</a:t>
            </a:r>
          </a:p>
        </p:txBody>
      </p:sp>
      <p:cxnSp>
        <p:nvCxnSpPr>
          <p:cNvPr id="56" name="Straight Arrow Connector 55" descr="Transformation takes place across all layers.">
            <a:extLst>
              <a:ext uri="{FF2B5EF4-FFF2-40B4-BE49-F238E27FC236}">
                <a16:creationId xmlns:a16="http://schemas.microsoft.com/office/drawing/2014/main" id="{D83FB0E8-F322-491E-9BD8-0B8F4034C561}"/>
              </a:ext>
            </a:extLst>
          </p:cNvPr>
          <p:cNvCxnSpPr>
            <a:cxnSpLocks/>
            <a:stCxn id="55" idx="6"/>
          </p:cNvCxnSpPr>
          <p:nvPr/>
        </p:nvCxnSpPr>
        <p:spPr>
          <a:xfrm>
            <a:off x="7234553" y="3878769"/>
            <a:ext cx="3285966" cy="0"/>
          </a:xfrm>
          <a:prstGeom prst="straightConnector1">
            <a:avLst/>
          </a:prstGeom>
          <a:ln w="44450">
            <a:solidFill>
              <a:srgbClr val="504BAB"/>
            </a:solidFill>
            <a:tailEnd type="arrow" w="lg"/>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
        <p:nvSpPr>
          <p:cNvPr id="55" name="DataWrangling">
            <a:extLst>
              <a:ext uri="{FF2B5EF4-FFF2-40B4-BE49-F238E27FC236}">
                <a16:creationId xmlns:a16="http://schemas.microsoft.com/office/drawing/2014/main" id="{420E8634-B577-40C4-BC08-C6D293E4EC4A}"/>
              </a:ext>
            </a:extLst>
          </p:cNvPr>
          <p:cNvSpPr>
            <a:spLocks noChangeAspect="1"/>
          </p:cNvSpPr>
          <p:nvPr/>
        </p:nvSpPr>
        <p:spPr>
          <a:xfrm>
            <a:off x="6222034" y="3373447"/>
            <a:ext cx="1012519" cy="1010644"/>
          </a:xfrm>
          <a:prstGeom prst="ellipse">
            <a:avLst/>
          </a:prstGeom>
          <a:solidFill>
            <a:schemeClr val="bg2"/>
          </a:solidFill>
          <a:ln w="38100">
            <a:solidFill>
              <a:srgbClr val="504BA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50" b="1" dirty="0">
                <a:solidFill>
                  <a:schemeClr val="tx1"/>
                </a:solidFill>
              </a:rPr>
              <a:t>Data wrangling:</a:t>
            </a:r>
            <a:r>
              <a:rPr lang="en-US" sz="1050" dirty="0">
                <a:solidFill>
                  <a:schemeClr val="tx1"/>
                </a:solidFill>
              </a:rPr>
              <a:t> Discover</a:t>
            </a:r>
          </a:p>
          <a:p>
            <a:pPr algn="ctr"/>
            <a:r>
              <a:rPr lang="en-US" sz="1050" dirty="0">
                <a:solidFill>
                  <a:schemeClr val="tx1"/>
                </a:solidFill>
              </a:rPr>
              <a:t>Clean</a:t>
            </a:r>
          </a:p>
          <a:p>
            <a:pPr algn="ctr"/>
            <a:r>
              <a:rPr lang="en-US" sz="1050" dirty="0">
                <a:solidFill>
                  <a:schemeClr val="tx1"/>
                </a:solidFill>
              </a:rPr>
              <a:t>Normalize</a:t>
            </a:r>
          </a:p>
          <a:p>
            <a:pPr algn="ctr"/>
            <a:r>
              <a:rPr lang="en-US" sz="1050" dirty="0">
                <a:solidFill>
                  <a:schemeClr val="tx1"/>
                </a:solidFill>
              </a:rPr>
              <a:t>Enrich</a:t>
            </a:r>
          </a:p>
        </p:txBody>
      </p:sp>
      <p:sp>
        <p:nvSpPr>
          <p:cNvPr id="11" name="TextBox 10">
            <a:extLst>
              <a:ext uri="{FF2B5EF4-FFF2-40B4-BE49-F238E27FC236}">
                <a16:creationId xmlns:a16="http://schemas.microsoft.com/office/drawing/2014/main" id="{0160FC9C-19FE-1E68-2875-053C52B18B43}"/>
              </a:ext>
            </a:extLst>
          </p:cNvPr>
          <p:cNvSpPr txBox="1"/>
          <p:nvPr/>
        </p:nvSpPr>
        <p:spPr>
          <a:xfrm>
            <a:off x="365761" y="1336119"/>
            <a:ext cx="5061646" cy="4801314"/>
          </a:xfrm>
          <a:prstGeom prst="rect">
            <a:avLst/>
          </a:prstGeom>
          <a:noFill/>
        </p:spPr>
        <p:txBody>
          <a:bodyPr wrap="square">
            <a:spAutoFit/>
          </a:bodyPr>
          <a:lstStyle/>
          <a:p>
            <a:pPr marL="171450" indent="-171450">
              <a:buFont typeface="Arial" panose="020B0604020202020204" pitchFamily="34" charset="0"/>
              <a:buChar char="•"/>
            </a:pPr>
            <a:r>
              <a:rPr lang="en-US" dirty="0"/>
              <a:t>The pipeline must support the ability to discover details about the data and how it fits (or doesn't fit) your intended outcomes.</a:t>
            </a:r>
          </a:p>
          <a:p>
            <a:pPr marL="171450" indent="-171450">
              <a:buFont typeface="Arial" panose="020B0604020202020204" pitchFamily="34" charset="0"/>
              <a:buChar char="•"/>
            </a:pPr>
            <a:r>
              <a:rPr lang="en-US" dirty="0"/>
              <a:t>You might start with a hypothesis and use BI tools or other mechanisms to discover more information about the data, and then experiment and see where it takes you.</a:t>
            </a:r>
          </a:p>
          <a:p>
            <a:pPr marL="171450" indent="-171450">
              <a:buFont typeface="Arial" panose="020B0604020202020204" pitchFamily="34" charset="0"/>
              <a:buChar char="•"/>
            </a:pPr>
            <a:r>
              <a:rPr lang="en-US" dirty="0"/>
              <a:t>Data will almost always be transformed as it moves through the pipeline. This might include modifying the format to support a specific analysis tool or replacing values (for example, zeroes in place of nulls). </a:t>
            </a:r>
          </a:p>
          <a:p>
            <a:pPr marL="171450" indent="-171450">
              <a:buFont typeface="Arial" panose="020B0604020202020204" pitchFamily="34" charset="0"/>
              <a:buChar char="•"/>
            </a:pPr>
            <a:r>
              <a:rPr lang="en-US" i="1" dirty="0"/>
              <a:t>Data wrangling</a:t>
            </a:r>
            <a:r>
              <a:rPr lang="en-US" dirty="0"/>
              <a:t> is a term that is used to describe the ways in which data is manipulated and transformed from its raw state into more meaningful states that downstream processes or users can use.</a:t>
            </a:r>
          </a:p>
        </p:txBody>
      </p:sp>
    </p:spTree>
    <p:custDataLst>
      <p:tags r:id="rId1"/>
    </p:custDataLst>
    <p:extLst>
      <p:ext uri="{BB962C8B-B14F-4D97-AF65-F5344CB8AC3E}">
        <p14:creationId xmlns:p14="http://schemas.microsoft.com/office/powerpoint/2010/main" val="20904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afterEffect">
                                  <p:stCondLst>
                                    <p:cond delay="0"/>
                                  </p:stCondLst>
                                  <p:childTnLst>
                                    <p:animMotion origin="layout" path="M -2.91667E-6 7.40741E-7 L 0.36107 7.40741E-7 " pathEditMode="relative" rAng="0" ptsTypes="AA">
                                      <p:cBhvr>
                                        <p:cTn id="6" dur="1000" fill="hold"/>
                                        <p:tgtEl>
                                          <p:spTgt spid="55"/>
                                        </p:tgtEl>
                                        <p:attrNameLst>
                                          <p:attrName>ppt_x</p:attrName>
                                          <p:attrName>ppt_y</p:attrName>
                                        </p:attrNameLst>
                                      </p:cBhvr>
                                      <p:rCtr x="1804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7052F-73F4-4640-A7F5-2B00A5E0EB07}"/>
              </a:ext>
            </a:extLst>
          </p:cNvPr>
          <p:cNvSpPr>
            <a:spLocks noGrp="1"/>
          </p:cNvSpPr>
          <p:nvPr>
            <p:ph type="sldNum" sz="quarter" idx="10"/>
          </p:nvPr>
        </p:nvSpPr>
        <p:spPr/>
        <p:txBody>
          <a:bodyPr/>
          <a:lstStyle/>
          <a:p>
            <a:fld id="{363DB862-5E2B-42BB-8337-D46E9881345F}" type="slidenum">
              <a:rPr lang="en-US" smtClean="0"/>
              <a:t>8</a:t>
            </a:fld>
            <a:endParaRPr lang="en-US" dirty="0"/>
          </a:p>
        </p:txBody>
      </p:sp>
      <p:sp>
        <p:nvSpPr>
          <p:cNvPr id="13" name="Title 12">
            <a:extLst>
              <a:ext uri="{FF2B5EF4-FFF2-40B4-BE49-F238E27FC236}">
                <a16:creationId xmlns:a16="http://schemas.microsoft.com/office/drawing/2014/main" id="{A8FC0161-1EB3-49D6-823C-D7F27F2FB134}"/>
              </a:ext>
            </a:extLst>
          </p:cNvPr>
          <p:cNvSpPr>
            <a:spLocks noGrp="1"/>
          </p:cNvSpPr>
          <p:nvPr>
            <p:ph type="title"/>
          </p:nvPr>
        </p:nvSpPr>
        <p:spPr/>
        <p:txBody>
          <a:bodyPr>
            <a:normAutofit/>
          </a:bodyPr>
          <a:lstStyle/>
          <a:p>
            <a:r>
              <a:rPr lang="en-US" dirty="0"/>
              <a:t>Iterative processing through the pipeline</a:t>
            </a:r>
          </a:p>
        </p:txBody>
      </p:sp>
      <p:pic>
        <p:nvPicPr>
          <p:cNvPr id="7" name="Picture 6">
            <a:extLst>
              <a:ext uri="{FF2B5EF4-FFF2-40B4-BE49-F238E27FC236}">
                <a16:creationId xmlns:a16="http://schemas.microsoft.com/office/drawing/2014/main" id="{B1B42EDF-3405-B0BB-83AA-4F277C5E2DD1}"/>
              </a:ext>
            </a:extLst>
          </p:cNvPr>
          <p:cNvPicPr>
            <a:picLocks noChangeAspect="1"/>
          </p:cNvPicPr>
          <p:nvPr/>
        </p:nvPicPr>
        <p:blipFill>
          <a:blip r:embed="rId4"/>
          <a:stretch>
            <a:fillRect/>
          </a:stretch>
        </p:blipFill>
        <p:spPr>
          <a:xfrm>
            <a:off x="4929384" y="1310705"/>
            <a:ext cx="7094075" cy="3969218"/>
          </a:xfrm>
          <a:prstGeom prst="rect">
            <a:avLst/>
          </a:prstGeom>
        </p:spPr>
      </p:pic>
      <p:sp>
        <p:nvSpPr>
          <p:cNvPr id="9" name="TextBox 8">
            <a:extLst>
              <a:ext uri="{FF2B5EF4-FFF2-40B4-BE49-F238E27FC236}">
                <a16:creationId xmlns:a16="http://schemas.microsoft.com/office/drawing/2014/main" id="{7B3F274C-53DA-35ED-F5C1-3C320F340318}"/>
              </a:ext>
            </a:extLst>
          </p:cNvPr>
          <p:cNvSpPr txBox="1"/>
          <p:nvPr/>
        </p:nvSpPr>
        <p:spPr>
          <a:xfrm>
            <a:off x="365760" y="1312467"/>
            <a:ext cx="4658524" cy="42473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Another key characteristic of deriving insights by using your data pipeline is that the process will almost always be iterative.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example, in this illustration, the initial iteration (number 1) yielded a result that wasn't as defined as was desired. Therefore, the data scientist refined the model and reprocessed the data to get a better result (number 2).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After reviewing those results, they determined that additional data could improve the detail available in their result, so an additional data source was tapped and ingested through the pipeline to produce the desired result (number 3). </a:t>
            </a:r>
          </a:p>
        </p:txBody>
      </p:sp>
    </p:spTree>
    <p:custDataLst>
      <p:tags r:id="rId1"/>
    </p:custDataLst>
    <p:extLst>
      <p:ext uri="{BB962C8B-B14F-4D97-AF65-F5344CB8AC3E}">
        <p14:creationId xmlns:p14="http://schemas.microsoft.com/office/powerpoint/2010/main" val="2769057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090681-CF86-4F73-9A5E-CA02690269C0}"/>
              </a:ext>
            </a:extLst>
          </p:cNvPr>
          <p:cNvSpPr>
            <a:spLocks noGrp="1"/>
          </p:cNvSpPr>
          <p:nvPr>
            <p:ph type="sldNum" sz="quarter" idx="12"/>
          </p:nvPr>
        </p:nvSpPr>
        <p:spPr>
          <a:xfrm>
            <a:off x="11469390" y="6445722"/>
            <a:ext cx="418904" cy="186890"/>
          </a:xfrm>
        </p:spPr>
        <p:txBody>
          <a:bodyPr/>
          <a:lstStyle/>
          <a:p>
            <a:fld id="{363DB862-5E2B-42BB-8337-D46E9881345F}" type="slidenum">
              <a:rPr lang="en-US" smtClean="0"/>
              <a:t>9</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a:xfrm>
            <a:off x="365761" y="301752"/>
            <a:ext cx="10007808" cy="471961"/>
          </a:xfrm>
        </p:spPr>
        <p:txBody>
          <a:bodyPr>
            <a:normAutofit fontScale="90000"/>
          </a:bodyPr>
          <a:lstStyle/>
          <a:p>
            <a:r>
              <a:rPr lang="en-US" dirty="0"/>
              <a:t>Example: A simple pipeline</a:t>
            </a:r>
          </a:p>
        </p:txBody>
      </p:sp>
      <p:grpSp>
        <p:nvGrpSpPr>
          <p:cNvPr id="2" name="architecture">
            <a:extLst>
              <a:ext uri="{FF2B5EF4-FFF2-40B4-BE49-F238E27FC236}">
                <a16:creationId xmlns:a16="http://schemas.microsoft.com/office/drawing/2014/main" id="{092D1848-2CC8-4225-B4D6-571E587D7B71}"/>
              </a:ext>
            </a:extLst>
          </p:cNvPr>
          <p:cNvGrpSpPr/>
          <p:nvPr/>
        </p:nvGrpSpPr>
        <p:grpSpPr>
          <a:xfrm>
            <a:off x="2852234" y="1189339"/>
            <a:ext cx="6850026" cy="2180181"/>
            <a:chOff x="1353844" y="2474359"/>
            <a:chExt cx="9090984" cy="3747743"/>
          </a:xfrm>
        </p:grpSpPr>
        <p:grpSp>
          <p:nvGrpSpPr>
            <p:cNvPr id="17" name="DeveloperUploadsToS3" descr="Flatten: Developer uploads compressed .csv file to Amazon S3.">
              <a:extLst>
                <a:ext uri="{FF2B5EF4-FFF2-40B4-BE49-F238E27FC236}">
                  <a16:creationId xmlns:a16="http://schemas.microsoft.com/office/drawing/2014/main" id="{0953BFDB-B94E-41ED-A270-385F18B939EA}"/>
                </a:ext>
              </a:extLst>
            </p:cNvPr>
            <p:cNvGrpSpPr/>
            <p:nvPr/>
          </p:nvGrpSpPr>
          <p:grpSpPr>
            <a:xfrm>
              <a:off x="1353844" y="2846261"/>
              <a:ext cx="4422113" cy="3375841"/>
              <a:chOff x="354810" y="2416342"/>
              <a:chExt cx="4422113" cy="3375841"/>
            </a:xfrm>
          </p:grpSpPr>
          <p:sp>
            <p:nvSpPr>
              <p:cNvPr id="80" name="TextBox developer">
                <a:extLst>
                  <a:ext uri="{FF2B5EF4-FFF2-40B4-BE49-F238E27FC236}">
                    <a16:creationId xmlns:a16="http://schemas.microsoft.com/office/drawing/2014/main" id="{5E2519F1-FF4A-40CD-887C-9228492738A9}"/>
                  </a:ext>
                </a:extLst>
              </p:cNvPr>
              <p:cNvSpPr txBox="1">
                <a:spLocks noChangeArrowheads="1"/>
              </p:cNvSpPr>
              <p:nvPr/>
            </p:nvSpPr>
            <p:spPr bwMode="auto">
              <a:xfrm>
                <a:off x="413203" y="5366780"/>
                <a:ext cx="17120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Developer</a:t>
                </a:r>
              </a:p>
            </p:txBody>
          </p:sp>
          <p:pic>
            <p:nvPicPr>
              <p:cNvPr id="65" name="Picture Developer">
                <a:extLst>
                  <a:ext uri="{FF2B5EF4-FFF2-40B4-BE49-F238E27FC236}">
                    <a16:creationId xmlns:a16="http://schemas.microsoft.com/office/drawing/2014/main" id="{95337D23-FD00-47CA-B359-602183B4ACD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54810" y="3963383"/>
                <a:ext cx="1828801" cy="1828800"/>
              </a:xfrm>
              <a:prstGeom prst="rect">
                <a:avLst/>
              </a:prstGeom>
            </p:spPr>
          </p:pic>
          <p:cxnSp>
            <p:nvCxnSpPr>
              <p:cNvPr id="119" name="Connector: Elbow 118">
                <a:extLst>
                  <a:ext uri="{FF2B5EF4-FFF2-40B4-BE49-F238E27FC236}">
                    <a16:creationId xmlns:a16="http://schemas.microsoft.com/office/drawing/2014/main" id="{453A0D15-214F-49DF-9A75-4D51641C5925}"/>
                  </a:ext>
                  <a:ext uri="{C183D7F6-B498-43B3-948B-1728B52AA6E4}">
                    <adec:decorative xmlns:adec="http://schemas.microsoft.com/office/drawing/2017/decorative" val="1"/>
                  </a:ext>
                </a:extLst>
              </p:cNvPr>
              <p:cNvCxnSpPr>
                <a:cxnSpLocks/>
                <a:endCxn id="78" idx="1"/>
              </p:cNvCxnSpPr>
              <p:nvPr/>
            </p:nvCxnSpPr>
            <p:spPr>
              <a:xfrm flipV="1">
                <a:off x="1271581" y="3791102"/>
                <a:ext cx="3505342" cy="914406"/>
              </a:xfrm>
              <a:prstGeom prst="bentConnector3">
                <a:avLst>
                  <a:gd name="adj1" fmla="val -196"/>
                </a:avLst>
              </a:prstGeom>
              <a:ln w="12700">
                <a:solidFill>
                  <a:srgbClr val="232F3E"/>
                </a:solidFill>
                <a:tailEnd type="arrow" w="lg"/>
              </a:ln>
              <a:effectLst/>
            </p:spPr>
            <p:style>
              <a:lnRef idx="1">
                <a:schemeClr val="accent1"/>
              </a:lnRef>
              <a:fillRef idx="0">
                <a:schemeClr val="accent1"/>
              </a:fillRef>
              <a:effectRef idx="0">
                <a:schemeClr val="accent1"/>
              </a:effectRef>
              <a:fontRef idx="minor">
                <a:schemeClr val="tx1"/>
              </a:fontRef>
            </p:style>
          </p:cxnSp>
          <p:sp>
            <p:nvSpPr>
              <p:cNvPr id="82" name="TextBox zip label">
                <a:extLst>
                  <a:ext uri="{FF2B5EF4-FFF2-40B4-BE49-F238E27FC236}">
                    <a16:creationId xmlns:a16="http://schemas.microsoft.com/office/drawing/2014/main" id="{3129B8CB-8343-4148-862D-EE41DF7D8A41}"/>
                  </a:ext>
                </a:extLst>
              </p:cNvPr>
              <p:cNvSpPr txBox="1">
                <a:spLocks noChangeArrowheads="1"/>
              </p:cNvSpPr>
              <p:nvPr/>
            </p:nvSpPr>
            <p:spPr bwMode="auto">
              <a:xfrm>
                <a:off x="2533787" y="2416342"/>
                <a:ext cx="2243136"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Compressed .csv file</a:t>
                </a:r>
              </a:p>
            </p:txBody>
          </p:sp>
          <p:pic>
            <p:nvPicPr>
              <p:cNvPr id="1028" name="Picture zip" descr="Zip file being uploaded to Amazon S3. ">
                <a:extLst>
                  <a:ext uri="{FF2B5EF4-FFF2-40B4-BE49-F238E27FC236}">
                    <a16:creationId xmlns:a16="http://schemas.microsoft.com/office/drawing/2014/main" id="{22EB2D55-2ED5-4625-9845-7EAF3AD0088D}"/>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352981" y="2901404"/>
                <a:ext cx="685061" cy="79555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AnalystUsesS3Select" descr="Flatten: Analyst uses S3 Select statements to query data in Amazon S3. ">
              <a:extLst>
                <a:ext uri="{FF2B5EF4-FFF2-40B4-BE49-F238E27FC236}">
                  <a16:creationId xmlns:a16="http://schemas.microsoft.com/office/drawing/2014/main" id="{1DC8D17B-E065-4298-B4EF-4A907094D9A0}"/>
                </a:ext>
              </a:extLst>
            </p:cNvPr>
            <p:cNvGrpSpPr/>
            <p:nvPr/>
          </p:nvGrpSpPr>
          <p:grpSpPr>
            <a:xfrm>
              <a:off x="5036976" y="2474359"/>
              <a:ext cx="5407852" cy="2661062"/>
              <a:chOff x="4037942" y="2044440"/>
              <a:chExt cx="5407852" cy="2661062"/>
            </a:xfrm>
          </p:grpSpPr>
          <p:pic>
            <p:nvPicPr>
              <p:cNvPr id="78" name="Graphic S3">
                <a:extLst>
                  <a:ext uri="{FF2B5EF4-FFF2-40B4-BE49-F238E27FC236}">
                    <a16:creationId xmlns:a16="http://schemas.microsoft.com/office/drawing/2014/main" id="{024EC30A-A532-49AB-8095-31A091A737D3}"/>
                  </a:ext>
                  <a:ext uri="{C183D7F6-B498-43B3-948B-1728B52AA6E4}">
                    <adec:decorative xmlns:adec="http://schemas.microsoft.com/office/drawing/2017/decorative" val="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4776923" y="3410102"/>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TextBox S3">
                <a:extLst>
                  <a:ext uri="{FF2B5EF4-FFF2-40B4-BE49-F238E27FC236}">
                    <a16:creationId xmlns:a16="http://schemas.microsoft.com/office/drawing/2014/main" id="{7BF2B399-ECFB-4758-9A3E-206865C2B7D7}"/>
                  </a:ext>
                </a:extLst>
              </p:cNvPr>
              <p:cNvSpPr txBox="1">
                <a:spLocks noChangeArrowheads="1"/>
              </p:cNvSpPr>
              <p:nvPr/>
            </p:nvSpPr>
            <p:spPr bwMode="auto">
              <a:xfrm>
                <a:off x="4037942" y="4265570"/>
                <a:ext cx="22399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Amazon S3</a:t>
                </a:r>
              </a:p>
            </p:txBody>
          </p:sp>
          <p:sp>
            <p:nvSpPr>
              <p:cNvPr id="81" name="TextBox analyst">
                <a:extLst>
                  <a:ext uri="{FF2B5EF4-FFF2-40B4-BE49-F238E27FC236}">
                    <a16:creationId xmlns:a16="http://schemas.microsoft.com/office/drawing/2014/main" id="{D1233D43-F43C-4172-B995-992BB5566314}"/>
                  </a:ext>
                </a:extLst>
              </p:cNvPr>
              <p:cNvSpPr txBox="1">
                <a:spLocks noChangeArrowheads="1"/>
              </p:cNvSpPr>
              <p:nvPr/>
            </p:nvSpPr>
            <p:spPr bwMode="auto">
              <a:xfrm>
                <a:off x="7972845" y="4265570"/>
                <a:ext cx="129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Analyst</a:t>
                </a:r>
              </a:p>
            </p:txBody>
          </p:sp>
          <p:pic>
            <p:nvPicPr>
              <p:cNvPr id="110" name="Picture analyst">
                <a:extLst>
                  <a:ext uri="{FF2B5EF4-FFF2-40B4-BE49-F238E27FC236}">
                    <a16:creationId xmlns:a16="http://schemas.microsoft.com/office/drawing/2014/main" id="{32E882EB-C7C5-4D01-B1B6-F1B397AF5058}"/>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a:ext>
                </a:extLst>
              </a:blip>
              <a:srcRect/>
              <a:stretch/>
            </p:blipFill>
            <p:spPr>
              <a:xfrm flipH="1">
                <a:off x="7799874" y="2876702"/>
                <a:ext cx="1645920" cy="1828800"/>
              </a:xfrm>
              <a:prstGeom prst="rect">
                <a:avLst/>
              </a:prstGeom>
            </p:spPr>
          </p:pic>
          <p:pic>
            <p:nvPicPr>
              <p:cNvPr id="1026" name="Picture SQL statements">
                <a:extLst>
                  <a:ext uri="{FF2B5EF4-FFF2-40B4-BE49-F238E27FC236}">
                    <a16:creationId xmlns:a16="http://schemas.microsoft.com/office/drawing/2014/main" id="{F5977A99-8B85-4968-AEB2-4969642EA7D6}"/>
                  </a:ext>
                  <a:ext uri="{C183D7F6-B498-43B3-948B-1728B52AA6E4}">
                    <adec:decorative xmlns:adec="http://schemas.microsoft.com/office/drawing/2017/decorative" val="1"/>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tretch>
                <a:fillRect/>
              </a:stretch>
            </p:blipFill>
            <p:spPr bwMode="auto">
              <a:xfrm>
                <a:off x="6346353" y="2756545"/>
                <a:ext cx="1085273" cy="1085273"/>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S3 Select">
                <a:extLst>
                  <a:ext uri="{FF2B5EF4-FFF2-40B4-BE49-F238E27FC236}">
                    <a16:creationId xmlns:a16="http://schemas.microsoft.com/office/drawing/2014/main" id="{F7576507-3CF1-4813-86E2-F8D9AB36CA44}"/>
                  </a:ext>
                </a:extLst>
              </p:cNvPr>
              <p:cNvSpPr txBox="1">
                <a:spLocks noChangeArrowheads="1"/>
              </p:cNvSpPr>
              <p:nvPr/>
            </p:nvSpPr>
            <p:spPr bwMode="auto">
              <a:xfrm>
                <a:off x="5729708" y="2044440"/>
                <a:ext cx="2243137" cy="338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S3 Select statements</a:t>
                </a:r>
              </a:p>
            </p:txBody>
          </p:sp>
          <p:cxnSp>
            <p:nvCxnSpPr>
              <p:cNvPr id="100" name="Straight Arrow Connector 99">
                <a:extLst>
                  <a:ext uri="{FF2B5EF4-FFF2-40B4-BE49-F238E27FC236}">
                    <a16:creationId xmlns:a16="http://schemas.microsoft.com/office/drawing/2014/main" id="{47F2A917-0249-4D80-8891-EB7BE67FA000}"/>
                  </a:ext>
                  <a:ext uri="{C183D7F6-B498-43B3-948B-1728B52AA6E4}">
                    <adec:decorative xmlns:adec="http://schemas.microsoft.com/office/drawing/2017/decorative" val="1"/>
                  </a:ext>
                </a:extLst>
              </p:cNvPr>
              <p:cNvCxnSpPr>
                <a:cxnSpLocks/>
                <a:stCxn id="110" idx="3"/>
                <a:endCxn id="78" idx="3"/>
              </p:cNvCxnSpPr>
              <p:nvPr/>
            </p:nvCxnSpPr>
            <p:spPr>
              <a:xfrm flipH="1">
                <a:off x="5538923" y="3791102"/>
                <a:ext cx="2260951" cy="0"/>
              </a:xfrm>
              <a:prstGeom prst="straightConnector1">
                <a:avLst/>
              </a:prstGeom>
              <a:ln w="12700">
                <a:solidFill>
                  <a:srgbClr val="232F3E"/>
                </a:solidFill>
                <a:headEnd type="arrow" w="lg"/>
                <a:tailEnd type="arrow" w="lg"/>
              </a:ln>
            </p:spPr>
            <p:style>
              <a:lnRef idx="1">
                <a:schemeClr val="accent1"/>
              </a:lnRef>
              <a:fillRef idx="0">
                <a:schemeClr val="accent1"/>
              </a:fillRef>
              <a:effectRef idx="0">
                <a:schemeClr val="accent1"/>
              </a:effectRef>
              <a:fontRef idx="minor">
                <a:schemeClr val="tx1"/>
              </a:fontRef>
            </p:style>
          </p:cxnSp>
        </p:grpSp>
      </p:grpSp>
      <p:pic>
        <p:nvPicPr>
          <p:cNvPr id="25" name="pipeline">
            <a:extLst>
              <a:ext uri="{FF2B5EF4-FFF2-40B4-BE49-F238E27FC236}">
                <a16:creationId xmlns:a16="http://schemas.microsoft.com/office/drawing/2014/main" id="{26150402-E34C-4C26-BE2A-F4550F155B94}"/>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23701" y="3770219"/>
            <a:ext cx="5390300" cy="880049"/>
          </a:xfrm>
          <a:prstGeom prst="rect">
            <a:avLst/>
          </a:prstGeom>
        </p:spPr>
      </p:pic>
      <p:sp>
        <p:nvSpPr>
          <p:cNvPr id="5" name="TextBox 4">
            <a:extLst>
              <a:ext uri="{FF2B5EF4-FFF2-40B4-BE49-F238E27FC236}">
                <a16:creationId xmlns:a16="http://schemas.microsoft.com/office/drawing/2014/main" id="{E9D886DF-E407-31B6-254C-4D1924CB7C07}"/>
              </a:ext>
            </a:extLst>
          </p:cNvPr>
          <p:cNvSpPr txBox="1"/>
          <p:nvPr/>
        </p:nvSpPr>
        <p:spPr>
          <a:xfrm>
            <a:off x="423014" y="4901456"/>
            <a:ext cx="1152253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example is similar to the pipeline that you will work with in the lab titled Accessing and Analyzing Data by Using </a:t>
            </a:r>
            <a:r>
              <a:rPr lang="en-US" b="0" dirty="0"/>
              <a:t>Amazon S3.</a:t>
            </a:r>
            <a:r>
              <a:rPr lang="en-US" b="1" dirty="0"/>
              <a:t> </a:t>
            </a:r>
            <a:endParaRPr lang="en-US" dirty="0"/>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dataset to be ingested into the pipeline is a .csv file that contains structured data.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 developer uses a utility to compress the file, then uploads the file to an S3 bucket for storage.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data science team who will analyze the data can use S3 Select statements to directly query the data in Amazon S3.</a:t>
            </a:r>
          </a:p>
        </p:txBody>
      </p:sp>
    </p:spTree>
    <p:custDataLst>
      <p:tags r:id="rId1"/>
    </p:custDataLst>
    <p:extLst>
      <p:ext uri="{BB962C8B-B14F-4D97-AF65-F5344CB8AC3E}">
        <p14:creationId xmlns:p14="http://schemas.microsoft.com/office/powerpoint/2010/main" val="2281551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20"/>
          </p:nvPr>
        </p:nvSpPr>
        <p:spPr/>
        <p:txBody>
          <a:bodyPr/>
          <a:lstStyle/>
          <a:p>
            <a:fld id="{363DB862-5E2B-42BB-8337-D46E9881345F}" type="slidenum">
              <a:rPr lang="en-US" smtClean="0"/>
              <a:t>10</a:t>
            </a:fld>
            <a:endParaRPr lang="en-US" dirty="0"/>
          </a:p>
        </p:txBody>
      </p:sp>
      <p:sp>
        <p:nvSpPr>
          <p:cNvPr id="9" name="Title 8">
            <a:extLst>
              <a:ext uri="{FF2B5EF4-FFF2-40B4-BE49-F238E27FC236}">
                <a16:creationId xmlns:a16="http://schemas.microsoft.com/office/drawing/2014/main" id="{C4B450B2-E8A9-4F64-9A30-E7CA8A399F31}"/>
              </a:ext>
            </a:extLst>
          </p:cNvPr>
          <p:cNvSpPr>
            <a:spLocks noGrp="1"/>
          </p:cNvSpPr>
          <p:nvPr>
            <p:ph type="ctrTitle"/>
          </p:nvPr>
        </p:nvSpPr>
        <p:spPr/>
        <p:txBody>
          <a:bodyPr>
            <a:normAutofit fontScale="90000"/>
          </a:bodyPr>
          <a:lstStyle/>
          <a:p>
            <a:r>
              <a:rPr lang="en-US" dirty="0"/>
              <a:t>Key takeaways: The data pipeline – infrastructure for data-driven decisions</a:t>
            </a:r>
          </a:p>
        </p:txBody>
      </p:sp>
      <p:pic>
        <p:nvPicPr>
          <p:cNvPr id="14" name="Content Placeholder 13">
            <a:extLst>
              <a:ext uri="{FF2B5EF4-FFF2-40B4-BE49-F238E27FC236}">
                <a16:creationId xmlns:a16="http://schemas.microsoft.com/office/drawing/2014/main" id="{A61D6114-D209-4E27-AC9F-BA86AD61B907}"/>
              </a:ext>
              <a:ext uri="{C183D7F6-B498-43B3-948B-1728B52AA6E4}">
                <adec:decorative xmlns:adec="http://schemas.microsoft.com/office/drawing/2017/decorative" val="1"/>
              </a:ext>
            </a:extLst>
          </p:cNvPr>
          <p:cNvPicPr>
            <a:picLocks noGrp="1" noChangeAspect="1"/>
          </p:cNvPicPr>
          <p:nvPr>
            <p:ph idx="9"/>
          </p:nvPr>
        </p:nvPicPr>
        <p:blipFill>
          <a:blip r:embed="rId4" cstate="screen">
            <a:extLst>
              <a:ext uri="{28A0092B-C50C-407E-A947-70E740481C1C}">
                <a14:useLocalDpi xmlns:a14="http://schemas.microsoft.com/office/drawing/2010/main"/>
              </a:ext>
            </a:extLst>
          </a:blip>
          <a:stretch>
            <a:fillRect/>
          </a:stretch>
        </p:blipFill>
        <p:spPr>
          <a:xfrm>
            <a:off x="968565" y="2892425"/>
            <a:ext cx="2511045" cy="2743200"/>
          </a:xfrm>
        </p:spPr>
      </p:pic>
      <p:sp>
        <p:nvSpPr>
          <p:cNvPr id="10" name="Text Placeholder 9">
            <a:extLst>
              <a:ext uri="{FF2B5EF4-FFF2-40B4-BE49-F238E27FC236}">
                <a16:creationId xmlns:a16="http://schemas.microsoft.com/office/drawing/2014/main" id="{3132710A-30C4-475B-B36F-1B4EB123A729}"/>
              </a:ext>
            </a:extLst>
          </p:cNvPr>
          <p:cNvSpPr>
            <a:spLocks noGrp="1"/>
          </p:cNvSpPr>
          <p:nvPr>
            <p:ph type="body" idx="1"/>
          </p:nvPr>
        </p:nvSpPr>
        <p:spPr/>
        <p:txBody>
          <a:bodyPr/>
          <a:lstStyle/>
          <a:p>
            <a:r>
              <a:rPr lang="en-US" dirty="0"/>
              <a:t>A </a:t>
            </a:r>
            <a:r>
              <a:rPr lang="en-US" dirty="0">
                <a:solidFill>
                  <a:srgbClr val="FF0000"/>
                </a:solidFill>
              </a:rPr>
              <a:t>data pipeline </a:t>
            </a:r>
            <a:r>
              <a:rPr lang="en-US" dirty="0"/>
              <a:t>provides the </a:t>
            </a:r>
            <a:r>
              <a:rPr lang="en-US" dirty="0">
                <a:solidFill>
                  <a:srgbClr val="FF0000"/>
                </a:solidFill>
              </a:rPr>
              <a:t>infrastructure</a:t>
            </a:r>
            <a:r>
              <a:rPr lang="en-US" dirty="0"/>
              <a:t> for data-driven decision-making.</a:t>
            </a:r>
          </a:p>
          <a:p>
            <a:r>
              <a:rPr lang="en-US" dirty="0"/>
              <a:t>When designing a pipeline</a:t>
            </a:r>
            <a:r>
              <a:rPr lang="en-US" dirty="0">
                <a:solidFill>
                  <a:srgbClr val="FF0000"/>
                </a:solidFill>
              </a:rPr>
              <a:t>, start with the business problem</a:t>
            </a:r>
            <a:r>
              <a:rPr lang="en-US" dirty="0"/>
              <a:t> to be solved and work backwards to the data.</a:t>
            </a:r>
          </a:p>
          <a:p>
            <a:r>
              <a:rPr lang="en-US" dirty="0"/>
              <a:t>The pipeline includes </a:t>
            </a:r>
            <a:r>
              <a:rPr lang="en-US" dirty="0">
                <a:solidFill>
                  <a:srgbClr val="FF0000"/>
                </a:solidFill>
              </a:rPr>
              <a:t>layers to ingest, store, process, and analyze and visualize </a:t>
            </a:r>
            <a:r>
              <a:rPr lang="en-US" dirty="0"/>
              <a:t>data passing through it.</a:t>
            </a:r>
          </a:p>
          <a:p>
            <a:r>
              <a:rPr lang="en-US" dirty="0"/>
              <a:t>Data </a:t>
            </a:r>
            <a:r>
              <a:rPr lang="en-US" dirty="0">
                <a:solidFill>
                  <a:srgbClr val="FF0000"/>
                </a:solidFill>
              </a:rPr>
              <a:t>wrangling refers to how data is acted upon </a:t>
            </a:r>
            <a:r>
              <a:rPr lang="en-US" dirty="0"/>
              <a:t>as it passes through the pipeline. Tasks include discovery, cleaning, normalization, transformation, and augmentation.</a:t>
            </a:r>
          </a:p>
          <a:p>
            <a:r>
              <a:rPr lang="en-US" dirty="0"/>
              <a:t>Data is </a:t>
            </a:r>
            <a:r>
              <a:rPr lang="en-US" dirty="0">
                <a:solidFill>
                  <a:srgbClr val="FF0000"/>
                </a:solidFill>
              </a:rPr>
              <a:t>processed iteratively </a:t>
            </a:r>
            <a:r>
              <a:rPr lang="en-US" dirty="0"/>
              <a:t>to evaluate and improve upon results.</a:t>
            </a:r>
          </a:p>
        </p:txBody>
      </p:sp>
    </p:spTree>
    <p:custDataLst>
      <p:tags r:id="rId1"/>
    </p:custDataLst>
    <p:extLst>
      <p:ext uri="{BB962C8B-B14F-4D97-AF65-F5344CB8AC3E}">
        <p14:creationId xmlns:p14="http://schemas.microsoft.com/office/powerpoint/2010/main" val="301971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CF6708-D7FA-4C82-9935-7A2AE202C024}"/>
              </a:ext>
            </a:extLst>
          </p:cNvPr>
          <p:cNvSpPr>
            <a:spLocks noGrp="1"/>
          </p:cNvSpPr>
          <p:nvPr>
            <p:ph type="title"/>
          </p:nvPr>
        </p:nvSpPr>
        <p:spPr/>
        <p:txBody>
          <a:bodyPr>
            <a:normAutofit/>
          </a:bodyPr>
          <a:lstStyle/>
          <a:p>
            <a:r>
              <a:rPr lang="en-US" dirty="0"/>
              <a:t>The role of the data engineer </a:t>
            </a:r>
            <a:br>
              <a:rPr lang="en-US" dirty="0"/>
            </a:br>
            <a:r>
              <a:rPr lang="en-US" dirty="0"/>
              <a:t>in data-driven organizations</a:t>
            </a:r>
          </a:p>
        </p:txBody>
      </p:sp>
      <p:sp>
        <p:nvSpPr>
          <p:cNvPr id="2" name="Subtitle 1">
            <a:extLst>
              <a:ext uri="{FF2B5EF4-FFF2-40B4-BE49-F238E27FC236}">
                <a16:creationId xmlns:a16="http://schemas.microsoft.com/office/drawing/2014/main" id="{15B34B1B-567B-40FE-96D8-1729781A6869}"/>
              </a:ext>
            </a:extLst>
          </p:cNvPr>
          <p:cNvSpPr>
            <a:spLocks noGrp="1"/>
          </p:cNvSpPr>
          <p:nvPr>
            <p:ph type="subTitle"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264464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96A15D01-FB8D-4271-BC63-D0EC4B17EA76}"/>
              </a:ext>
            </a:extLst>
          </p:cNvPr>
          <p:cNvSpPr>
            <a:spLocks noGrp="1"/>
          </p:cNvSpPr>
          <p:nvPr>
            <p:ph type="sldNum" sz="quarter" idx="12"/>
          </p:nvPr>
        </p:nvSpPr>
        <p:spPr/>
        <p:txBody>
          <a:bodyPr/>
          <a:lstStyle/>
          <a:p>
            <a:fld id="{363DB862-5E2B-42BB-8337-D46E9881345F}" type="slidenum">
              <a:rPr lang="en-US" smtClean="0"/>
              <a:t>12</a:t>
            </a:fld>
            <a:endParaRPr lang="en-US" dirty="0"/>
          </a:p>
        </p:txBody>
      </p:sp>
      <p:sp>
        <p:nvSpPr>
          <p:cNvPr id="7" name="Title 6">
            <a:extLst>
              <a:ext uri="{FF2B5EF4-FFF2-40B4-BE49-F238E27FC236}">
                <a16:creationId xmlns:a16="http://schemas.microsoft.com/office/drawing/2014/main" id="{09E0906E-38CE-4D57-BC5A-6E4C1044DF88}"/>
              </a:ext>
            </a:extLst>
          </p:cNvPr>
          <p:cNvSpPr>
            <a:spLocks noGrp="1"/>
          </p:cNvSpPr>
          <p:nvPr>
            <p:ph type="title"/>
          </p:nvPr>
        </p:nvSpPr>
        <p:spPr/>
        <p:txBody>
          <a:bodyPr/>
          <a:lstStyle/>
          <a:p>
            <a:r>
              <a:rPr lang="en-US" dirty="0"/>
              <a:t>Common data pipeline questions</a:t>
            </a:r>
          </a:p>
        </p:txBody>
      </p:sp>
      <p:pic>
        <p:nvPicPr>
          <p:cNvPr id="29" name="DataEngeineerPic">
            <a:extLst>
              <a:ext uri="{FF2B5EF4-FFF2-40B4-BE49-F238E27FC236}">
                <a16:creationId xmlns:a16="http://schemas.microsoft.com/office/drawing/2014/main" id="{65AD2EF2-FF4F-42FC-A307-3E0CDBEEDDDA}"/>
              </a:ext>
              <a:ext uri="{C183D7F6-B498-43B3-948B-1728B52AA6E4}">
                <adec:decorative xmlns:adec="http://schemas.microsoft.com/office/drawing/2017/decorative" val="1"/>
              </a:ext>
            </a:extLst>
          </p:cNvPr>
          <p:cNvPicPr>
            <a:picLocks noGrp="1" noChangeAspect="1"/>
          </p:cNvPicPr>
          <p:nvPr>
            <p:ph idx="8"/>
          </p:nvPr>
        </p:nvPicPr>
        <p:blipFill>
          <a:blip r:embed="rId4">
            <a:extLst>
              <a:ext uri="{28A0092B-C50C-407E-A947-70E740481C1C}">
                <a14:useLocalDpi xmlns:a14="http://schemas.microsoft.com/office/drawing/2010/main"/>
              </a:ext>
            </a:extLst>
          </a:blip>
          <a:stretch>
            <a:fillRect/>
          </a:stretch>
        </p:blipFill>
        <p:spPr>
          <a:xfrm>
            <a:off x="204080" y="1080382"/>
            <a:ext cx="1266720" cy="1920240"/>
          </a:xfrm>
        </p:spPr>
      </p:pic>
      <p:sp>
        <p:nvSpPr>
          <p:cNvPr id="31" name="TextBox 30">
            <a:extLst>
              <a:ext uri="{FF2B5EF4-FFF2-40B4-BE49-F238E27FC236}">
                <a16:creationId xmlns:a16="http://schemas.microsoft.com/office/drawing/2014/main" id="{40F42A6F-A22C-48D7-A50C-B86E38345360}"/>
              </a:ext>
            </a:extLst>
          </p:cNvPr>
          <p:cNvSpPr txBox="1"/>
          <p:nvPr/>
        </p:nvSpPr>
        <p:spPr>
          <a:xfrm>
            <a:off x="203361" y="2855080"/>
            <a:ext cx="1266720" cy="646331"/>
          </a:xfrm>
          <a:prstGeom prst="rect">
            <a:avLst/>
          </a:prstGeom>
          <a:noFill/>
        </p:spPr>
        <p:txBody>
          <a:bodyPr wrap="square" rtlCol="0">
            <a:spAutoFit/>
          </a:bodyPr>
          <a:lstStyle/>
          <a:p>
            <a:pPr algn="ctr"/>
            <a:r>
              <a:rPr lang="en-US" dirty="0"/>
              <a:t>Data engineer</a:t>
            </a:r>
          </a:p>
        </p:txBody>
      </p:sp>
      <p:sp>
        <p:nvSpPr>
          <p:cNvPr id="24" name="Text Placeholder 25">
            <a:extLst>
              <a:ext uri="{FF2B5EF4-FFF2-40B4-BE49-F238E27FC236}">
                <a16:creationId xmlns:a16="http://schemas.microsoft.com/office/drawing/2014/main" id="{34F7996D-1DBB-42C0-887D-016D7E10AD95}"/>
              </a:ext>
            </a:extLst>
          </p:cNvPr>
          <p:cNvSpPr txBox="1">
            <a:spLocks/>
          </p:cNvSpPr>
          <p:nvPr/>
        </p:nvSpPr>
        <p:spPr>
          <a:xfrm>
            <a:off x="1470081" y="1210694"/>
            <a:ext cx="10464888" cy="2078606"/>
          </a:xfrm>
          <a:prstGeom prst="rect">
            <a:avLst/>
          </a:prstGeom>
        </p:spPr>
        <p:txBody>
          <a:bodyPr vert="horz" lIns="91440" tIns="45720" rIns="91440" bIns="45720" rtlCol="0" anchor="ctr">
            <a:noAutofit/>
          </a:bodyPr>
          <a:lstStyle>
            <a:lvl1pPr marL="228600" indent="-228600" algn="l" defTabSz="914400" rtl="0" eaLnBrk="1" latinLnBrk="0" hangingPunct="1">
              <a:lnSpc>
                <a:spcPct val="100000"/>
              </a:lnSpc>
              <a:spcBef>
                <a:spcPts val="1000"/>
              </a:spcBef>
              <a:spcAft>
                <a:spcPts val="0"/>
              </a:spcAft>
              <a:buFont typeface="Amazon Ember" panose="020B0604020202020204" pitchFamily="34" charset="0"/>
              <a:buChar char="•"/>
              <a:defRPr sz="24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61963" indent="-228600" algn="l" defTabSz="914400" rtl="0" eaLnBrk="1" latinLnBrk="0" hangingPunct="1">
              <a:lnSpc>
                <a:spcPct val="100000"/>
              </a:lnSpc>
              <a:spcBef>
                <a:spcPts val="500"/>
              </a:spcBef>
              <a:spcAft>
                <a:spcPts val="0"/>
              </a:spcAft>
              <a:buFont typeface="Amazon Ember" panose="020B0604020202020204" pitchFamily="34" charset="0"/>
              <a:buChar char="•"/>
              <a:defRPr sz="20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2pPr>
            <a:lvl3pPr marL="684213" indent="-228600" algn="l" defTabSz="914400" rtl="0" eaLnBrk="1" latinLnBrk="0" hangingPunct="1">
              <a:lnSpc>
                <a:spcPct val="100000"/>
              </a:lnSpc>
              <a:spcBef>
                <a:spcPts val="500"/>
              </a:spcBef>
              <a:spcAft>
                <a:spcPts val="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3pPr>
            <a:lvl4pPr marL="914400"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4pPr>
            <a:lvl5pPr marL="1144588"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9pPr>
          </a:lstStyle>
          <a:p>
            <a:pPr>
              <a:spcBef>
                <a:spcPts val="0"/>
              </a:spcBef>
            </a:pPr>
            <a:r>
              <a:rPr lang="en-US" sz="1600" dirty="0"/>
              <a:t>Does the organization have the data that addresses the need? Where is the data stored and in what format? </a:t>
            </a:r>
          </a:p>
          <a:p>
            <a:pPr>
              <a:spcBef>
                <a:spcPts val="0"/>
              </a:spcBef>
            </a:pPr>
            <a:r>
              <a:rPr lang="en-US" sz="1600" dirty="0"/>
              <a:t>Will I need to combine data from multiple sources?</a:t>
            </a:r>
          </a:p>
          <a:p>
            <a:pPr>
              <a:spcBef>
                <a:spcPts val="0"/>
              </a:spcBef>
            </a:pPr>
            <a:r>
              <a:rPr lang="en-US" sz="1600" dirty="0"/>
              <a:t>What is the type and quality of data? What will be the source of truth?</a:t>
            </a:r>
          </a:p>
          <a:p>
            <a:pPr>
              <a:spcBef>
                <a:spcPts val="0"/>
              </a:spcBef>
            </a:pPr>
            <a:r>
              <a:rPr lang="en-US" sz="1600" dirty="0"/>
              <a:t>What are the security requirements for this data? Who needs access to it and in what state?</a:t>
            </a:r>
          </a:p>
          <a:p>
            <a:pPr>
              <a:spcBef>
                <a:spcPts val="0"/>
              </a:spcBef>
            </a:pPr>
            <a:r>
              <a:rPr lang="en-US" sz="1600" dirty="0"/>
              <a:t>What types of mechanisms are needed to transfer the data from its locations into the pipeline?</a:t>
            </a:r>
          </a:p>
          <a:p>
            <a:pPr>
              <a:spcBef>
                <a:spcPts val="0"/>
              </a:spcBef>
            </a:pPr>
            <a:r>
              <a:rPr lang="en-US" sz="1600" dirty="0"/>
              <a:t>How much data is there, and how frequently is it updated or processed?</a:t>
            </a:r>
          </a:p>
          <a:p>
            <a:pPr>
              <a:spcBef>
                <a:spcPts val="0"/>
              </a:spcBef>
            </a:pPr>
            <a:r>
              <a:rPr lang="en-US" sz="1600" dirty="0"/>
              <a:t>How important is speed when data is requested?</a:t>
            </a:r>
            <a:endParaRPr lang="en-US" sz="1800" dirty="0"/>
          </a:p>
        </p:txBody>
      </p:sp>
      <p:pic>
        <p:nvPicPr>
          <p:cNvPr id="30" name="DataScientistPic">
            <a:extLst>
              <a:ext uri="{FF2B5EF4-FFF2-40B4-BE49-F238E27FC236}">
                <a16:creationId xmlns:a16="http://schemas.microsoft.com/office/drawing/2014/main" id="{51DC20CF-D836-484B-9512-996FFFC73D98}"/>
              </a:ext>
              <a:ext uri="{C183D7F6-B498-43B3-948B-1728B52AA6E4}">
                <adec:decorative xmlns:adec="http://schemas.microsoft.com/office/drawing/2017/decorative" val="1"/>
              </a:ext>
            </a:extLst>
          </p:cNvPr>
          <p:cNvPicPr>
            <a:picLocks noGrp="1" noChangeAspect="1"/>
          </p:cNvPicPr>
          <p:nvPr>
            <p:ph idx="7"/>
          </p:nvPr>
        </p:nvPicPr>
        <p:blipFill>
          <a:blip r:embed="rId5">
            <a:extLst>
              <a:ext uri="{28A0092B-C50C-407E-A947-70E740481C1C}">
                <a14:useLocalDpi xmlns:a14="http://schemas.microsoft.com/office/drawing/2010/main"/>
              </a:ext>
            </a:extLst>
          </a:blip>
          <a:stretch>
            <a:fillRect/>
          </a:stretch>
        </p:blipFill>
        <p:spPr>
          <a:xfrm>
            <a:off x="10557758" y="4135842"/>
            <a:ext cx="1153761" cy="1920240"/>
          </a:xfrm>
        </p:spPr>
      </p:pic>
      <p:sp>
        <p:nvSpPr>
          <p:cNvPr id="32" name="TextBox 31">
            <a:extLst>
              <a:ext uri="{FF2B5EF4-FFF2-40B4-BE49-F238E27FC236}">
                <a16:creationId xmlns:a16="http://schemas.microsoft.com/office/drawing/2014/main" id="{F17E3B1D-D0CF-4256-B7AB-7A781F51B3B6}"/>
              </a:ext>
            </a:extLst>
          </p:cNvPr>
          <p:cNvSpPr txBox="1"/>
          <p:nvPr/>
        </p:nvSpPr>
        <p:spPr>
          <a:xfrm>
            <a:off x="10501278" y="5867319"/>
            <a:ext cx="1266720" cy="646331"/>
          </a:xfrm>
          <a:prstGeom prst="rect">
            <a:avLst/>
          </a:prstGeom>
          <a:noFill/>
        </p:spPr>
        <p:txBody>
          <a:bodyPr wrap="square" rtlCol="0">
            <a:spAutoFit/>
          </a:bodyPr>
          <a:lstStyle/>
          <a:p>
            <a:pPr algn="ctr"/>
            <a:r>
              <a:rPr lang="en-US" dirty="0"/>
              <a:t>Data scientist</a:t>
            </a:r>
          </a:p>
        </p:txBody>
      </p:sp>
      <p:sp>
        <p:nvSpPr>
          <p:cNvPr id="28" name="Text Placeholder 25">
            <a:extLst>
              <a:ext uri="{FF2B5EF4-FFF2-40B4-BE49-F238E27FC236}">
                <a16:creationId xmlns:a16="http://schemas.microsoft.com/office/drawing/2014/main" id="{03CE40FE-D5FC-445B-938A-7D1B7E1CDDBB}"/>
              </a:ext>
            </a:extLst>
          </p:cNvPr>
          <p:cNvSpPr txBox="1">
            <a:spLocks/>
          </p:cNvSpPr>
          <p:nvPr/>
        </p:nvSpPr>
        <p:spPr>
          <a:xfrm>
            <a:off x="5004707" y="4437677"/>
            <a:ext cx="6397614" cy="1747499"/>
          </a:xfrm>
          <a:prstGeom prst="rect">
            <a:avLst/>
          </a:prstGeom>
        </p:spPr>
        <p:txBody>
          <a:bodyPr vert="horz" lIns="91440" tIns="45720" rIns="91440" bIns="45720" rtlCol="0" anchor="ctr">
            <a:noAutofit/>
          </a:bodyPr>
          <a:lstStyle>
            <a:lvl1pPr marL="228600" indent="-228600" algn="l" defTabSz="914400" rtl="0" eaLnBrk="1" latinLnBrk="0" hangingPunct="1">
              <a:lnSpc>
                <a:spcPct val="100000"/>
              </a:lnSpc>
              <a:spcBef>
                <a:spcPts val="1000"/>
              </a:spcBef>
              <a:spcAft>
                <a:spcPts val="0"/>
              </a:spcAft>
              <a:buFont typeface="Amazon Ember" panose="020B0604020202020204" pitchFamily="34" charset="0"/>
              <a:buChar char="•"/>
              <a:defRPr sz="24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61963" indent="-228600" algn="l" defTabSz="914400" rtl="0" eaLnBrk="1" latinLnBrk="0" hangingPunct="1">
              <a:lnSpc>
                <a:spcPct val="100000"/>
              </a:lnSpc>
              <a:spcBef>
                <a:spcPts val="500"/>
              </a:spcBef>
              <a:spcAft>
                <a:spcPts val="0"/>
              </a:spcAft>
              <a:buFont typeface="Amazon Ember" panose="020B0604020202020204" pitchFamily="34" charset="0"/>
              <a:buChar char="•"/>
              <a:defRPr sz="20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2pPr>
            <a:lvl3pPr marL="684213" indent="-228600" algn="l" defTabSz="914400" rtl="0" eaLnBrk="1" latinLnBrk="0" hangingPunct="1">
              <a:lnSpc>
                <a:spcPct val="100000"/>
              </a:lnSpc>
              <a:spcBef>
                <a:spcPts val="500"/>
              </a:spcBef>
              <a:spcAft>
                <a:spcPts val="0"/>
              </a:spcAft>
              <a:buFont typeface="Amazon Ember" panose="020B0604020202020204" pitchFamily="34" charset="0"/>
              <a:buChar char="•"/>
              <a:defRPr sz="18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3pPr>
            <a:lvl4pPr marL="914400"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4pPr>
            <a:lvl5pPr marL="1144588" indent="-228600" algn="l" defTabSz="914400" rtl="0" eaLnBrk="1" latinLnBrk="0" hangingPunct="1">
              <a:lnSpc>
                <a:spcPct val="100000"/>
              </a:lnSpc>
              <a:spcBef>
                <a:spcPts val="500"/>
              </a:spcBef>
              <a:spcAft>
                <a:spcPts val="0"/>
              </a:spcAft>
              <a:buFont typeface="Amazon Ember" panose="020B0604020202020204" pitchFamily="34" charset="0"/>
              <a:buChar char="•"/>
              <a:defRPr sz="1600" kern="12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4020202020204" pitchFamily="34" charset="0"/>
              <a:buChar char="•"/>
              <a:defRPr sz="1800" kern="1200">
                <a:solidFill>
                  <a:schemeClr val="tx1"/>
                </a:solidFill>
                <a:latin typeface="+mn-lt"/>
                <a:ea typeface="+mn-ea"/>
                <a:cs typeface="+mn-cs"/>
              </a:defRPr>
            </a:lvl9pPr>
          </a:lstStyle>
          <a:p>
            <a:pPr marL="285750" indent="-285750">
              <a:spcBef>
                <a:spcPts val="0"/>
              </a:spcBef>
              <a:buFont typeface="Arial" panose="020B0604020202020204" pitchFamily="34" charset="0"/>
              <a:buChar char="•"/>
            </a:pPr>
            <a:r>
              <a:rPr lang="en-US" sz="1600" dirty="0"/>
              <a:t>What can the data tell me? </a:t>
            </a:r>
          </a:p>
          <a:p>
            <a:pPr marL="285750" indent="-285750">
              <a:spcBef>
                <a:spcPts val="0"/>
              </a:spcBef>
              <a:buFont typeface="Arial" panose="020B0604020202020204" pitchFamily="34" charset="0"/>
              <a:buChar char="•"/>
            </a:pPr>
            <a:r>
              <a:rPr lang="en-US" sz="1600" dirty="0"/>
              <a:t>How will I evaluate the results? </a:t>
            </a:r>
          </a:p>
          <a:p>
            <a:pPr marL="285750" indent="-285750">
              <a:spcBef>
                <a:spcPts val="0"/>
              </a:spcBef>
              <a:buFont typeface="Arial" panose="020B0604020202020204" pitchFamily="34" charset="0"/>
              <a:buChar char="•"/>
            </a:pPr>
            <a:r>
              <a:rPr lang="en-US" sz="1600" dirty="0"/>
              <a:t>What kind of visualization do I need?</a:t>
            </a:r>
          </a:p>
          <a:p>
            <a:pPr marL="285750" indent="-285750">
              <a:spcBef>
                <a:spcPts val="0"/>
              </a:spcBef>
              <a:buFont typeface="Arial" panose="020B0604020202020204" pitchFamily="34" charset="0"/>
              <a:buChar char="•"/>
            </a:pPr>
            <a:r>
              <a:rPr lang="en-US" sz="1600" dirty="0"/>
              <a:t>Which formats and tools are the analysts familiar with?</a:t>
            </a:r>
          </a:p>
          <a:p>
            <a:pPr marL="285750" indent="-285750">
              <a:spcBef>
                <a:spcPts val="0"/>
              </a:spcBef>
              <a:buFont typeface="Arial" panose="020B0604020202020204" pitchFamily="34" charset="0"/>
              <a:buChar char="•"/>
            </a:pPr>
            <a:r>
              <a:rPr lang="en-US" sz="1600" dirty="0"/>
              <a:t>Do I need a big data framework?</a:t>
            </a:r>
          </a:p>
          <a:p>
            <a:pPr marL="285750" indent="-285750">
              <a:spcBef>
                <a:spcPts val="0"/>
              </a:spcBef>
              <a:buFont typeface="Arial" panose="020B0604020202020204" pitchFamily="34" charset="0"/>
              <a:buChar char="•"/>
            </a:pPr>
            <a:r>
              <a:rPr lang="en-US" sz="1600" dirty="0"/>
              <a:t>Which type of AI/ML models fit? </a:t>
            </a:r>
          </a:p>
          <a:p>
            <a:pPr marL="285750" indent="-285750">
              <a:spcBef>
                <a:spcPts val="0"/>
              </a:spcBef>
              <a:buFont typeface="Arial" panose="020B0604020202020204" pitchFamily="34" charset="0"/>
              <a:buChar char="•"/>
            </a:pPr>
            <a:r>
              <a:rPr lang="en-US" sz="1600" dirty="0"/>
              <a:t>What is the simplest way to implement AI/ML?</a:t>
            </a:r>
          </a:p>
        </p:txBody>
      </p:sp>
      <p:pic>
        <p:nvPicPr>
          <p:cNvPr id="14" name="Picture 13">
            <a:extLst>
              <a:ext uri="{FF2B5EF4-FFF2-40B4-BE49-F238E27FC236}">
                <a16:creationId xmlns:a16="http://schemas.microsoft.com/office/drawing/2014/main" id="{098F7E33-B004-44D0-936E-3357A63986D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5616" y="3289300"/>
            <a:ext cx="6160768" cy="1005840"/>
          </a:xfrm>
          <a:prstGeom prst="rect">
            <a:avLst/>
          </a:prstGeom>
        </p:spPr>
      </p:pic>
    </p:spTree>
    <p:custDataLst>
      <p:tags r:id="rId1"/>
    </p:custDataLst>
    <p:extLst>
      <p:ext uri="{BB962C8B-B14F-4D97-AF65-F5344CB8AC3E}">
        <p14:creationId xmlns:p14="http://schemas.microsoft.com/office/powerpoint/2010/main" val="298480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20"/>
          </p:nvPr>
        </p:nvSpPr>
        <p:spPr/>
        <p:txBody>
          <a:bodyPr/>
          <a:lstStyle/>
          <a:p>
            <a:fld id="{363DB862-5E2B-42BB-8337-D46E9881345F}" type="slidenum">
              <a:rPr lang="en-US" smtClean="0"/>
              <a:t>13</a:t>
            </a:fld>
            <a:endParaRPr lang="en-US" dirty="0"/>
          </a:p>
        </p:txBody>
      </p:sp>
      <p:sp>
        <p:nvSpPr>
          <p:cNvPr id="9" name="Title 8">
            <a:extLst>
              <a:ext uri="{FF2B5EF4-FFF2-40B4-BE49-F238E27FC236}">
                <a16:creationId xmlns:a16="http://schemas.microsoft.com/office/drawing/2014/main" id="{C4B450B2-E8A9-4F64-9A30-E7CA8A399F31}"/>
              </a:ext>
            </a:extLst>
          </p:cNvPr>
          <p:cNvSpPr>
            <a:spLocks noGrp="1"/>
          </p:cNvSpPr>
          <p:nvPr>
            <p:ph type="ctrTitle"/>
          </p:nvPr>
        </p:nvSpPr>
        <p:spPr/>
        <p:txBody>
          <a:bodyPr>
            <a:normAutofit fontScale="90000"/>
          </a:bodyPr>
          <a:lstStyle/>
          <a:p>
            <a:r>
              <a:rPr lang="en-US" dirty="0"/>
              <a:t>Key takeaways: The role of the data engineer in data-driven organizations</a:t>
            </a:r>
          </a:p>
        </p:txBody>
      </p:sp>
      <p:pic>
        <p:nvPicPr>
          <p:cNvPr id="14" name="Content Placeholder 13">
            <a:extLst>
              <a:ext uri="{FF2B5EF4-FFF2-40B4-BE49-F238E27FC236}">
                <a16:creationId xmlns:a16="http://schemas.microsoft.com/office/drawing/2014/main" id="{A61D6114-D209-4E27-AC9F-BA86AD61B907}"/>
              </a:ext>
              <a:ext uri="{C183D7F6-B498-43B3-948B-1728B52AA6E4}">
                <adec:decorative xmlns:adec="http://schemas.microsoft.com/office/drawing/2017/decorative" val="1"/>
              </a:ext>
            </a:extLst>
          </p:cNvPr>
          <p:cNvPicPr>
            <a:picLocks noGrp="1" noChangeAspect="1"/>
          </p:cNvPicPr>
          <p:nvPr>
            <p:ph idx="9"/>
          </p:nvPr>
        </p:nvPicPr>
        <p:blipFill>
          <a:blip r:embed="rId4" cstate="screen">
            <a:extLst>
              <a:ext uri="{28A0092B-C50C-407E-A947-70E740481C1C}">
                <a14:useLocalDpi xmlns:a14="http://schemas.microsoft.com/office/drawing/2010/main"/>
              </a:ext>
            </a:extLst>
          </a:blip>
          <a:stretch>
            <a:fillRect/>
          </a:stretch>
        </p:blipFill>
        <p:spPr>
          <a:xfrm>
            <a:off x="968565" y="2892425"/>
            <a:ext cx="2511045" cy="2743200"/>
          </a:xfrm>
        </p:spPr>
      </p:pic>
      <p:sp>
        <p:nvSpPr>
          <p:cNvPr id="10" name="Text Placeholder 9">
            <a:extLst>
              <a:ext uri="{FF2B5EF4-FFF2-40B4-BE49-F238E27FC236}">
                <a16:creationId xmlns:a16="http://schemas.microsoft.com/office/drawing/2014/main" id="{3132710A-30C4-475B-B36F-1B4EB123A729}"/>
              </a:ext>
            </a:extLst>
          </p:cNvPr>
          <p:cNvSpPr>
            <a:spLocks noGrp="1"/>
          </p:cNvSpPr>
          <p:nvPr>
            <p:ph type="body" idx="1"/>
          </p:nvPr>
        </p:nvSpPr>
        <p:spPr/>
        <p:txBody>
          <a:bodyPr/>
          <a:lstStyle/>
          <a:p>
            <a:r>
              <a:rPr lang="en-US" dirty="0"/>
              <a:t>Both </a:t>
            </a:r>
            <a:r>
              <a:rPr lang="en-US" dirty="0">
                <a:solidFill>
                  <a:srgbClr val="FF0000"/>
                </a:solidFill>
              </a:rPr>
              <a:t>data scientist </a:t>
            </a:r>
            <a:r>
              <a:rPr lang="en-US" dirty="0"/>
              <a:t>roles and </a:t>
            </a:r>
            <a:r>
              <a:rPr lang="en-US" dirty="0">
                <a:solidFill>
                  <a:srgbClr val="FF0000"/>
                </a:solidFill>
              </a:rPr>
              <a:t>data engineering </a:t>
            </a:r>
            <a:r>
              <a:rPr lang="en-US" dirty="0"/>
              <a:t>roles work with the data pipeline, and tasks might be performed by someone in either role.</a:t>
            </a:r>
          </a:p>
          <a:p>
            <a:r>
              <a:rPr lang="en-US" dirty="0">
                <a:solidFill>
                  <a:srgbClr val="FF0000"/>
                </a:solidFill>
              </a:rPr>
              <a:t>Data engineering is primarily focused on the infrastructure that the data passes through while the data scientist works with the data in the pipeline.</a:t>
            </a:r>
          </a:p>
          <a:p>
            <a:r>
              <a:rPr lang="en-US" dirty="0"/>
              <a:t>To build the right pipeline, you need to ask questions about the desired outcomes and the data and then iterate on your answers as you learn more.</a:t>
            </a:r>
          </a:p>
        </p:txBody>
      </p:sp>
    </p:spTree>
    <p:custDataLst>
      <p:tags r:id="rId1"/>
    </p:custDataLst>
    <p:extLst>
      <p:ext uri="{BB962C8B-B14F-4D97-AF65-F5344CB8AC3E}">
        <p14:creationId xmlns:p14="http://schemas.microsoft.com/office/powerpoint/2010/main" val="4291193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CF6708-D7FA-4C82-9935-7A2AE202C024}"/>
              </a:ext>
            </a:extLst>
          </p:cNvPr>
          <p:cNvSpPr>
            <a:spLocks noGrp="1"/>
          </p:cNvSpPr>
          <p:nvPr>
            <p:ph type="title"/>
          </p:nvPr>
        </p:nvSpPr>
        <p:spPr/>
        <p:txBody>
          <a:bodyPr/>
          <a:lstStyle/>
          <a:p>
            <a:r>
              <a:rPr lang="en-US" dirty="0"/>
              <a:t>Modern data strategies</a:t>
            </a:r>
          </a:p>
        </p:txBody>
      </p:sp>
      <p:sp>
        <p:nvSpPr>
          <p:cNvPr id="2" name="Subtitle 1">
            <a:extLst>
              <a:ext uri="{FF2B5EF4-FFF2-40B4-BE49-F238E27FC236}">
                <a16:creationId xmlns:a16="http://schemas.microsoft.com/office/drawing/2014/main" id="{FCE771CF-14A4-4A6A-B35C-2E9410529AF1}"/>
              </a:ext>
            </a:extLst>
          </p:cNvPr>
          <p:cNvSpPr>
            <a:spLocks noGrp="1"/>
          </p:cNvSpPr>
          <p:nvPr>
            <p:ph type="subTitle"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1943459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41">
            <a:extLst>
              <a:ext uri="{FF2B5EF4-FFF2-40B4-BE49-F238E27FC236}">
                <a16:creationId xmlns:a16="http://schemas.microsoft.com/office/drawing/2014/main" id="{A3BC2A3F-B4B8-4CC6-9FFA-16A76F8DC330}"/>
              </a:ext>
            </a:extLst>
          </p:cNvPr>
          <p:cNvSpPr>
            <a:spLocks noGrp="1"/>
          </p:cNvSpPr>
          <p:nvPr>
            <p:ph type="sldNum" sz="quarter" idx="12"/>
          </p:nvPr>
        </p:nvSpPr>
        <p:spPr/>
        <p:txBody>
          <a:bodyPr/>
          <a:lstStyle/>
          <a:p>
            <a:fld id="{363DB862-5E2B-42BB-8337-D46E9881345F}" type="slidenum">
              <a:rPr lang="en-US" smtClean="0"/>
              <a:t>15</a:t>
            </a:fld>
            <a:endParaRPr lang="en-US" dirty="0"/>
          </a:p>
        </p:txBody>
      </p:sp>
      <p:sp>
        <p:nvSpPr>
          <p:cNvPr id="7" name="Title 6">
            <a:extLst>
              <a:ext uri="{FF2B5EF4-FFF2-40B4-BE49-F238E27FC236}">
                <a16:creationId xmlns:a16="http://schemas.microsoft.com/office/drawing/2014/main" id="{481510EC-FA1B-46A2-945D-7017D76AB480}"/>
              </a:ext>
            </a:extLst>
          </p:cNvPr>
          <p:cNvSpPr>
            <a:spLocks noGrp="1"/>
          </p:cNvSpPr>
          <p:nvPr>
            <p:ph type="title"/>
          </p:nvPr>
        </p:nvSpPr>
        <p:spPr/>
        <p:txBody>
          <a:bodyPr>
            <a:normAutofit/>
          </a:bodyPr>
          <a:lstStyle/>
          <a:p>
            <a:r>
              <a:rPr lang="en-US" dirty="0"/>
              <a:t>Three-pronged strategy to build data infrastructure</a:t>
            </a:r>
          </a:p>
        </p:txBody>
      </p:sp>
      <p:pic>
        <p:nvPicPr>
          <p:cNvPr id="3" name="Content Placeholder 2">
            <a:extLst>
              <a:ext uri="{FF2B5EF4-FFF2-40B4-BE49-F238E27FC236}">
                <a16:creationId xmlns:a16="http://schemas.microsoft.com/office/drawing/2014/main" id="{E4AC3C10-DCFE-457F-A7C2-E3F880F9E83D}"/>
              </a:ext>
              <a:ext uri="{C183D7F6-B498-43B3-948B-1728B52AA6E4}">
                <adec:decorative xmlns:adec="http://schemas.microsoft.com/office/drawing/2017/decorative" val="1"/>
              </a:ext>
            </a:extLst>
          </p:cNvPr>
          <p:cNvPicPr>
            <a:picLocks noGrp="1" noChangeAspect="1"/>
          </p:cNvPicPr>
          <p:nvPr>
            <p:ph idx="7"/>
          </p:nvPr>
        </p:nvPicPr>
        <p:blipFill>
          <a:blip r:embed="rId4">
            <a:extLst>
              <a:ext uri="{28A0092B-C50C-407E-A947-70E740481C1C}">
                <a14:useLocalDpi xmlns:a14="http://schemas.microsoft.com/office/drawing/2010/main"/>
              </a:ext>
            </a:extLst>
          </a:blip>
          <a:stretch>
            <a:fillRect/>
          </a:stretch>
        </p:blipFill>
        <p:spPr>
          <a:xfrm>
            <a:off x="1430655" y="1531778"/>
            <a:ext cx="1619250" cy="1619250"/>
          </a:xfrm>
        </p:spPr>
      </p:pic>
      <p:sp>
        <p:nvSpPr>
          <p:cNvPr id="11" name="Subtitle 10">
            <a:extLst>
              <a:ext uri="{FF2B5EF4-FFF2-40B4-BE49-F238E27FC236}">
                <a16:creationId xmlns:a16="http://schemas.microsoft.com/office/drawing/2014/main" id="{4BD760BA-256E-4B9A-A55B-8BBAAE520481}"/>
              </a:ext>
            </a:extLst>
          </p:cNvPr>
          <p:cNvSpPr>
            <a:spLocks noGrp="1"/>
          </p:cNvSpPr>
          <p:nvPr>
            <p:ph type="subTitle" idx="4"/>
          </p:nvPr>
        </p:nvSpPr>
        <p:spPr>
          <a:xfrm>
            <a:off x="365760" y="3596451"/>
            <a:ext cx="3749040" cy="440329"/>
          </a:xfrm>
          <a:solidFill>
            <a:schemeClr val="accent6"/>
          </a:solidFill>
        </p:spPr>
        <p:style>
          <a:lnRef idx="3">
            <a:schemeClr val="lt1"/>
          </a:lnRef>
          <a:fillRef idx="1">
            <a:schemeClr val="accent5"/>
          </a:fillRef>
          <a:effectRef idx="1">
            <a:schemeClr val="accent5"/>
          </a:effectRef>
          <a:fontRef idx="minor">
            <a:schemeClr val="lt1"/>
          </a:fontRef>
        </p:style>
        <p:txBody>
          <a:bodyPr/>
          <a:lstStyle/>
          <a:p>
            <a:pPr algn="ctr"/>
            <a:r>
              <a:rPr lang="en-US" dirty="0"/>
              <a:t>Modernize</a:t>
            </a:r>
          </a:p>
        </p:txBody>
      </p:sp>
      <p:pic>
        <p:nvPicPr>
          <p:cNvPr id="5" name="Content Placeholder 4">
            <a:extLst>
              <a:ext uri="{FF2B5EF4-FFF2-40B4-BE49-F238E27FC236}">
                <a16:creationId xmlns:a16="http://schemas.microsoft.com/office/drawing/2014/main" id="{EEB724C2-2807-4E81-8B53-5676A8F9B004}"/>
              </a:ext>
              <a:ext uri="{C183D7F6-B498-43B3-948B-1728B52AA6E4}">
                <adec:decorative xmlns:adec="http://schemas.microsoft.com/office/drawing/2017/decorative" val="1"/>
              </a:ext>
            </a:extLst>
          </p:cNvPr>
          <p:cNvPicPr>
            <a:picLocks noGrp="1" noChangeAspect="1"/>
          </p:cNvPicPr>
          <p:nvPr>
            <p:ph idx="8"/>
          </p:nvPr>
        </p:nvPicPr>
        <p:blipFill>
          <a:blip r:embed="rId5">
            <a:extLst>
              <a:ext uri="{28A0092B-C50C-407E-A947-70E740481C1C}">
                <a14:useLocalDpi xmlns:a14="http://schemas.microsoft.com/office/drawing/2010/main"/>
              </a:ext>
            </a:extLst>
          </a:blip>
          <a:stretch>
            <a:fillRect/>
          </a:stretch>
        </p:blipFill>
        <p:spPr>
          <a:xfrm>
            <a:off x="5316855" y="1531778"/>
            <a:ext cx="1619250" cy="1619250"/>
          </a:xfrm>
        </p:spPr>
      </p:pic>
      <p:sp>
        <p:nvSpPr>
          <p:cNvPr id="12" name="Subtitle 11">
            <a:extLst>
              <a:ext uri="{FF2B5EF4-FFF2-40B4-BE49-F238E27FC236}">
                <a16:creationId xmlns:a16="http://schemas.microsoft.com/office/drawing/2014/main" id="{665A89B7-CFDB-4007-A7EF-8CE15DA0CD27}"/>
              </a:ext>
            </a:extLst>
          </p:cNvPr>
          <p:cNvSpPr>
            <a:spLocks noGrp="1"/>
          </p:cNvSpPr>
          <p:nvPr>
            <p:ph type="subTitle" idx="5"/>
          </p:nvPr>
        </p:nvSpPr>
        <p:spPr>
          <a:xfrm>
            <a:off x="4251960" y="3596451"/>
            <a:ext cx="3749040" cy="440329"/>
          </a:xfrm>
          <a:solidFill>
            <a:srgbClr val="9E1F63"/>
          </a:solidFill>
          <a:ln>
            <a:solidFill>
              <a:schemeClr val="accent5"/>
            </a:solidFill>
          </a:ln>
        </p:spPr>
        <p:txBody>
          <a:bodyPr/>
          <a:lstStyle/>
          <a:p>
            <a:pPr algn="ctr"/>
            <a:r>
              <a:rPr lang="en-US" dirty="0"/>
              <a:t>Unify</a:t>
            </a:r>
          </a:p>
        </p:txBody>
      </p:sp>
      <p:pic>
        <p:nvPicPr>
          <p:cNvPr id="37" name="Content Placeholder 36">
            <a:extLst>
              <a:ext uri="{FF2B5EF4-FFF2-40B4-BE49-F238E27FC236}">
                <a16:creationId xmlns:a16="http://schemas.microsoft.com/office/drawing/2014/main" id="{212A5FCB-086E-4904-9259-97DD0393289C}"/>
              </a:ext>
              <a:ext uri="{C183D7F6-B498-43B3-948B-1728B52AA6E4}">
                <adec:decorative xmlns:adec="http://schemas.microsoft.com/office/drawing/2017/decorative" val="1"/>
              </a:ext>
            </a:extLst>
          </p:cNvPr>
          <p:cNvPicPr>
            <a:picLocks noGrp="1" noChangeAspect="1"/>
          </p:cNvPicPr>
          <p:nvPr>
            <p:ph idx="9"/>
          </p:nvPr>
        </p:nvPicPr>
        <p:blipFill>
          <a:blip r:embed="rId6">
            <a:extLst>
              <a:ext uri="{28A0092B-C50C-407E-A947-70E740481C1C}">
                <a14:useLocalDpi xmlns:a14="http://schemas.microsoft.com/office/drawing/2010/main"/>
              </a:ext>
            </a:extLst>
          </a:blip>
          <a:stretch>
            <a:fillRect/>
          </a:stretch>
        </p:blipFill>
        <p:spPr>
          <a:xfrm>
            <a:off x="9203055" y="1531778"/>
            <a:ext cx="1619250" cy="1619250"/>
          </a:xfrm>
        </p:spPr>
      </p:pic>
      <p:sp>
        <p:nvSpPr>
          <p:cNvPr id="13" name="Subtitle 12">
            <a:extLst>
              <a:ext uri="{FF2B5EF4-FFF2-40B4-BE49-F238E27FC236}">
                <a16:creationId xmlns:a16="http://schemas.microsoft.com/office/drawing/2014/main" id="{0EDE8FAC-181C-439A-9E79-32E8C81CFD81}"/>
              </a:ext>
            </a:extLst>
          </p:cNvPr>
          <p:cNvSpPr>
            <a:spLocks noGrp="1"/>
          </p:cNvSpPr>
          <p:nvPr>
            <p:ph type="subTitle" idx="6"/>
          </p:nvPr>
        </p:nvSpPr>
        <p:spPr>
          <a:xfrm>
            <a:off x="8138160" y="3596451"/>
            <a:ext cx="3749040" cy="440329"/>
          </a:xfrm>
          <a:solidFill>
            <a:schemeClr val="accent1"/>
          </a:solidFill>
          <a:ln>
            <a:solidFill>
              <a:schemeClr val="accent1"/>
            </a:solidFill>
          </a:ln>
        </p:spPr>
        <p:txBody>
          <a:bodyPr/>
          <a:lstStyle/>
          <a:p>
            <a:pPr algn="ctr"/>
            <a:r>
              <a:rPr lang="en-US" dirty="0"/>
              <a:t>Innovate</a:t>
            </a:r>
          </a:p>
        </p:txBody>
      </p:sp>
      <p:sp>
        <p:nvSpPr>
          <p:cNvPr id="4" name="TextBox 3">
            <a:extLst>
              <a:ext uri="{FF2B5EF4-FFF2-40B4-BE49-F238E27FC236}">
                <a16:creationId xmlns:a16="http://schemas.microsoft.com/office/drawing/2014/main" id="{BDE4644F-9F2C-AFF7-9388-49372B15B141}"/>
              </a:ext>
            </a:extLst>
          </p:cNvPr>
          <p:cNvSpPr txBox="1"/>
          <p:nvPr/>
        </p:nvSpPr>
        <p:spPr>
          <a:xfrm>
            <a:off x="365760" y="4583533"/>
            <a:ext cx="11521440" cy="1477328"/>
          </a:xfrm>
          <a:prstGeom prst="rect">
            <a:avLst/>
          </a:prstGeom>
          <a:noFill/>
        </p:spPr>
        <p:txBody>
          <a:bodyPr wrap="square">
            <a:spAutoFit/>
          </a:bodyPr>
          <a:lstStyle/>
          <a:p>
            <a:pPr marL="285750" indent="-285750">
              <a:buFont typeface="Arial" panose="020B0604020202020204" pitchFamily="34" charset="0"/>
              <a:buChar char="•"/>
            </a:pPr>
            <a:r>
              <a:rPr lang="en-US" dirty="0"/>
              <a:t>If you go to work for an organization that aspires to use its data as a </a:t>
            </a:r>
            <a:r>
              <a:rPr lang="en-US" dirty="0">
                <a:solidFill>
                  <a:srgbClr val="FF0000"/>
                </a:solidFill>
              </a:rPr>
              <a:t>strategic asset</a:t>
            </a:r>
            <a:r>
              <a:rPr lang="en-US" dirty="0"/>
              <a:t>, you will likely spend time helping the organization to </a:t>
            </a:r>
            <a:r>
              <a:rPr lang="en-US" dirty="0">
                <a:solidFill>
                  <a:srgbClr val="FF0000"/>
                </a:solidFill>
              </a:rPr>
              <a:t>adapt</a:t>
            </a:r>
            <a:r>
              <a:rPr lang="en-US" dirty="0"/>
              <a:t> more traditional infrastructures </a:t>
            </a:r>
            <a:r>
              <a:rPr lang="en-US" dirty="0">
                <a:solidFill>
                  <a:srgbClr val="FF0000"/>
                </a:solidFill>
              </a:rPr>
              <a:t>toward those that are designed to better support data analytics and AI/ML.</a:t>
            </a:r>
            <a:r>
              <a:rPr lang="en-US" dirty="0"/>
              <a:t> </a:t>
            </a:r>
          </a:p>
          <a:p>
            <a:pPr marL="285750" indent="-285750">
              <a:buFont typeface="Arial" panose="020B0604020202020204" pitchFamily="34" charset="0"/>
              <a:buChar char="•"/>
            </a:pPr>
            <a:r>
              <a:rPr lang="en-US" dirty="0"/>
              <a:t>Amazon Web Services (AWS) advises its customers to approach this type of data infrastructure along three strategies: </a:t>
            </a:r>
            <a:r>
              <a:rPr lang="en-US" dirty="0">
                <a:solidFill>
                  <a:srgbClr val="FF0000"/>
                </a:solidFill>
              </a:rPr>
              <a:t>modernize, unify, and innovate</a:t>
            </a:r>
            <a:r>
              <a:rPr lang="en-US" dirty="0"/>
              <a:t>.</a:t>
            </a:r>
          </a:p>
        </p:txBody>
      </p:sp>
    </p:spTree>
    <p:custDataLst>
      <p:tags r:id="rId1"/>
    </p:custDataLst>
    <p:extLst>
      <p:ext uri="{BB962C8B-B14F-4D97-AF65-F5344CB8AC3E}">
        <p14:creationId xmlns:p14="http://schemas.microsoft.com/office/powerpoint/2010/main" val="262209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2BE6C776-CCC0-4E8D-8894-B57DB22F8601}"/>
              </a:ext>
            </a:extLst>
          </p:cNvPr>
          <p:cNvSpPr>
            <a:spLocks noGrp="1"/>
          </p:cNvSpPr>
          <p:nvPr>
            <p:ph type="sldNum" sz="quarter" idx="12"/>
          </p:nvPr>
        </p:nvSpPr>
        <p:spPr/>
        <p:txBody>
          <a:bodyPr/>
          <a:lstStyle/>
          <a:p>
            <a:fld id="{363DB862-5E2B-42BB-8337-D46E9881345F}" type="slidenum">
              <a:rPr lang="en-US" smtClean="0"/>
              <a:t>16</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p:txBody>
          <a:bodyPr/>
          <a:lstStyle/>
          <a:p>
            <a:r>
              <a:rPr lang="en-US" dirty="0"/>
              <a:t>Modernize</a:t>
            </a:r>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solidFill>
            <a:schemeClr val="accent6"/>
          </a:solidFill>
        </p:spPr>
        <p:txBody>
          <a:bodyPr/>
          <a:lstStyle/>
          <a:p>
            <a:r>
              <a:rPr lang="en-US" dirty="0"/>
              <a:t>Increase agility and reduce undifferentiated lifting</a:t>
            </a:r>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10334400" y="2929771"/>
            <a:ext cx="1619250" cy="1619250"/>
          </a:xfrm>
        </p:spPr>
      </p:pic>
      <p:sp>
        <p:nvSpPr>
          <p:cNvPr id="3" name="TextBox 2">
            <a:extLst>
              <a:ext uri="{FF2B5EF4-FFF2-40B4-BE49-F238E27FC236}">
                <a16:creationId xmlns:a16="http://schemas.microsoft.com/office/drawing/2014/main" id="{FC0899D3-F4B6-7EC9-F4BF-66AC4A5481FD}"/>
              </a:ext>
            </a:extLst>
          </p:cNvPr>
          <p:cNvSpPr txBox="1"/>
          <p:nvPr/>
        </p:nvSpPr>
        <p:spPr>
          <a:xfrm>
            <a:off x="365759" y="1629697"/>
            <a:ext cx="9879453" cy="443198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Modernizing the infrastructure gives an organization the agility it needs to respond quickly to changes in the business landscape and incorporate new features.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solidFill>
                  <a:srgbClr val="18AB4B"/>
                </a:solidFill>
              </a:rPr>
              <a:t>AWS use the term undifferentiated heavy lifting to refer to the IT tasks that don't really help a business focus on their core value to customers, but take a lot of their time and resources. For example, managing data centers and hardware, or patching operating systems and databases.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By </a:t>
            </a:r>
            <a:r>
              <a:rPr lang="en-US" dirty="0">
                <a:solidFill>
                  <a:srgbClr val="FF0000"/>
                </a:solidFill>
              </a:rPr>
              <a:t>migrating applications and databases to the cloud</a:t>
            </a:r>
            <a:r>
              <a:rPr lang="en-US" dirty="0"/>
              <a:t>, an organization can </a:t>
            </a:r>
            <a:r>
              <a:rPr lang="en-US" dirty="0">
                <a:solidFill>
                  <a:srgbClr val="FF0000"/>
                </a:solidFill>
              </a:rPr>
              <a:t>reduce</a:t>
            </a:r>
            <a:r>
              <a:rPr lang="en-US" dirty="0"/>
              <a:t> its </a:t>
            </a:r>
            <a:r>
              <a:rPr lang="en-US" dirty="0">
                <a:solidFill>
                  <a:srgbClr val="FF0000"/>
                </a:solidFill>
              </a:rPr>
              <a:t>focus on administrative activities </a:t>
            </a:r>
            <a:r>
              <a:rPr lang="en-US" dirty="0"/>
              <a:t>and instead focus development resources on business functionality.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cloud also makes it easier to start up different infrastructure to serve different use cases.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They can also experiment with new environment types or services without committing to resources long term.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Another advantage of using cloud services is the ability to use purpose-built data stores rather than trying to use a single type of database to serve all needs. Choose a data store that matches the data structure and scalability that are required for each use case.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Together with purpose-built data stores, use loosely coupled components so that you can use services that are designed for a targeted purpose and modify or scale them independently from each other. This greatly increases the flexibility of the infrastructure.</a:t>
            </a:r>
          </a:p>
        </p:txBody>
      </p:sp>
    </p:spTree>
    <p:custDataLst>
      <p:tags r:id="rId1"/>
    </p:custDataLst>
    <p:extLst>
      <p:ext uri="{BB962C8B-B14F-4D97-AF65-F5344CB8AC3E}">
        <p14:creationId xmlns:p14="http://schemas.microsoft.com/office/powerpoint/2010/main" val="1278595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68EC5A-6517-4CAF-BD53-D85C475D63F7}"/>
              </a:ext>
            </a:extLst>
          </p:cNvPr>
          <p:cNvSpPr>
            <a:spLocks noGrp="1"/>
          </p:cNvSpPr>
          <p:nvPr>
            <p:ph type="sldNum" sz="quarter" idx="12"/>
          </p:nvPr>
        </p:nvSpPr>
        <p:spPr/>
        <p:txBody>
          <a:bodyPr/>
          <a:lstStyle/>
          <a:p>
            <a:fld id="{363DB862-5E2B-42BB-8337-D46E9881345F}" type="slidenum">
              <a:rPr lang="en-US" smtClean="0"/>
              <a:t>17</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p:txBody>
          <a:bodyPr/>
          <a:lstStyle/>
          <a:p>
            <a:r>
              <a:rPr lang="en-US" dirty="0"/>
              <a:t>Unify</a:t>
            </a:r>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solidFill>
            <a:srgbClr val="9E1F63"/>
          </a:solidFill>
          <a:ln>
            <a:solidFill>
              <a:schemeClr val="accent5"/>
            </a:solidFill>
          </a:ln>
        </p:spPr>
        <p:txBody>
          <a:bodyPr/>
          <a:lstStyle/>
          <a:p>
            <a:r>
              <a:rPr lang="en-US" dirty="0"/>
              <a:t>Create a single source of truth</a:t>
            </a:r>
          </a:p>
        </p:txBody>
      </p:sp>
      <p:sp>
        <p:nvSpPr>
          <p:cNvPr id="17" name="Text Placeholder 16">
            <a:extLst>
              <a:ext uri="{FF2B5EF4-FFF2-40B4-BE49-F238E27FC236}">
                <a16:creationId xmlns:a16="http://schemas.microsoft.com/office/drawing/2014/main" id="{3CBF192A-4448-490D-9346-82CC4798794D}"/>
              </a:ext>
            </a:extLst>
          </p:cNvPr>
          <p:cNvSpPr>
            <a:spLocks noGrp="1"/>
          </p:cNvSpPr>
          <p:nvPr>
            <p:ph type="body" idx="1"/>
          </p:nvPr>
        </p:nvSpPr>
        <p:spPr>
          <a:xfrm>
            <a:off x="365759" y="1591056"/>
            <a:ext cx="9810627" cy="4854665"/>
          </a:xfrm>
        </p:spPr>
        <p:txBody>
          <a:bodyPr/>
          <a:lstStyle/>
          <a:p>
            <a:r>
              <a:rPr lang="en-US" dirty="0"/>
              <a:t>Break down data silos, unify data to create a single source of truth.</a:t>
            </a:r>
          </a:p>
          <a:p>
            <a:r>
              <a:rPr lang="en-US" dirty="0"/>
              <a:t>Democratize access, less depending on IT staff.</a:t>
            </a:r>
          </a:p>
          <a:p>
            <a:r>
              <a:rPr lang="en-US" dirty="0"/>
              <a:t>Equip users with tools to visualize their own insights.</a:t>
            </a:r>
          </a:p>
          <a:p>
            <a:r>
              <a:rPr lang="en-US" dirty="0"/>
              <a:t>Use a data lake and run queries directly on data.</a:t>
            </a:r>
          </a:p>
          <a:p>
            <a:r>
              <a:rPr lang="en-US" dirty="0"/>
              <a:t>Support simplified governance and movement between the data lake and purpose-built stores.</a:t>
            </a:r>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10206991" y="3160055"/>
            <a:ext cx="1619250" cy="1619250"/>
          </a:xfrm>
        </p:spPr>
      </p:pic>
    </p:spTree>
    <p:custDataLst>
      <p:tags r:id="rId1"/>
    </p:custDataLst>
    <p:extLst>
      <p:ext uri="{BB962C8B-B14F-4D97-AF65-F5344CB8AC3E}">
        <p14:creationId xmlns:p14="http://schemas.microsoft.com/office/powerpoint/2010/main" val="1405370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A6648B-F724-4110-A634-34D997274DB9}"/>
              </a:ext>
            </a:extLst>
          </p:cNvPr>
          <p:cNvSpPr>
            <a:spLocks noGrp="1"/>
          </p:cNvSpPr>
          <p:nvPr>
            <p:ph type="sldNum" sz="quarter" idx="12"/>
          </p:nvPr>
        </p:nvSpPr>
        <p:spPr/>
        <p:txBody>
          <a:bodyPr/>
          <a:lstStyle/>
          <a:p>
            <a:fld id="{363DB862-5E2B-42BB-8337-D46E9881345F}" type="slidenum">
              <a:rPr lang="en-US" smtClean="0"/>
              <a:t>18</a:t>
            </a:fld>
            <a:endParaRPr lang="en-US" dirty="0"/>
          </a:p>
        </p:txBody>
      </p:sp>
      <p:sp>
        <p:nvSpPr>
          <p:cNvPr id="16" name="Title 15">
            <a:extLst>
              <a:ext uri="{FF2B5EF4-FFF2-40B4-BE49-F238E27FC236}">
                <a16:creationId xmlns:a16="http://schemas.microsoft.com/office/drawing/2014/main" id="{93A6E5B1-BD43-404F-8E59-4114336D9301}"/>
              </a:ext>
            </a:extLst>
          </p:cNvPr>
          <p:cNvSpPr>
            <a:spLocks noGrp="1"/>
          </p:cNvSpPr>
          <p:nvPr>
            <p:ph type="title"/>
          </p:nvPr>
        </p:nvSpPr>
        <p:spPr/>
        <p:txBody>
          <a:bodyPr/>
          <a:lstStyle/>
          <a:p>
            <a:r>
              <a:rPr lang="en-US" dirty="0"/>
              <a:t>Innovate</a:t>
            </a:r>
          </a:p>
        </p:txBody>
      </p:sp>
      <p:sp>
        <p:nvSpPr>
          <p:cNvPr id="18" name="Subtitle 17">
            <a:extLst>
              <a:ext uri="{FF2B5EF4-FFF2-40B4-BE49-F238E27FC236}">
                <a16:creationId xmlns:a16="http://schemas.microsoft.com/office/drawing/2014/main" id="{641FCE16-B09D-4022-90E9-3560F4A4B9F1}"/>
              </a:ext>
            </a:extLst>
          </p:cNvPr>
          <p:cNvSpPr>
            <a:spLocks noGrp="1"/>
          </p:cNvSpPr>
          <p:nvPr>
            <p:ph type="subTitle" idx="2"/>
          </p:nvPr>
        </p:nvSpPr>
        <p:spPr>
          <a:solidFill>
            <a:schemeClr val="accent1"/>
          </a:solidFill>
          <a:ln>
            <a:solidFill>
              <a:schemeClr val="accent1"/>
            </a:solidFill>
          </a:ln>
        </p:spPr>
        <p:txBody>
          <a:bodyPr/>
          <a:lstStyle/>
          <a:p>
            <a:r>
              <a:rPr lang="en-US" dirty="0"/>
              <a:t>Use AI and ML to discover new insights faster</a:t>
            </a:r>
          </a:p>
        </p:txBody>
      </p:sp>
      <p:sp>
        <p:nvSpPr>
          <p:cNvPr id="17" name="Text Placeholder 16">
            <a:extLst>
              <a:ext uri="{FF2B5EF4-FFF2-40B4-BE49-F238E27FC236}">
                <a16:creationId xmlns:a16="http://schemas.microsoft.com/office/drawing/2014/main" id="{3CBF192A-4448-490D-9346-82CC4798794D}"/>
              </a:ext>
            </a:extLst>
          </p:cNvPr>
          <p:cNvSpPr>
            <a:spLocks noGrp="1"/>
          </p:cNvSpPr>
          <p:nvPr>
            <p:ph type="body" idx="1"/>
          </p:nvPr>
        </p:nvSpPr>
        <p:spPr/>
        <p:txBody>
          <a:bodyPr/>
          <a:lstStyle/>
          <a:p>
            <a:r>
              <a:rPr lang="en-US" dirty="0"/>
              <a:t>Incorporate AI/ML into decision-making, and tap into new insights in vast amounts of unstructured data. Move from reactive to proactive decision-making.</a:t>
            </a:r>
          </a:p>
          <a:p>
            <a:pPr lvl="1"/>
            <a:r>
              <a:rPr lang="en-US" sz="1600" dirty="0"/>
              <a:t>The exploding availability of data and the lower costs of applying AI make it possible to incorporate AI and ML into more decision-making. Organizations that take advantage of this can drive value in new ways and adapt to changing business needs more proactively.</a:t>
            </a:r>
            <a:endParaRPr lang="en-US" dirty="0"/>
          </a:p>
          <a:p>
            <a:r>
              <a:rPr lang="en-US" dirty="0"/>
              <a:t>Take advantage of cloud services with AI/ML features that democratize who can use ML.</a:t>
            </a:r>
          </a:p>
          <a:p>
            <a:pPr lvl="1"/>
            <a:r>
              <a:rPr lang="en-US" sz="1600" dirty="0"/>
              <a:t>One trend in AWS service features is an increasing ability to apply an AI/ML type of functionality, without as much overhead or required experience as more traditional ML infrastructures. For example, Amazon </a:t>
            </a:r>
            <a:r>
              <a:rPr lang="en-US" sz="1600" dirty="0" err="1"/>
              <a:t>SageMaker</a:t>
            </a:r>
            <a:r>
              <a:rPr lang="en-US" sz="1600" dirty="0"/>
              <a:t> Studio provides fully managed ML infrastructure and a no-code visual interface for business analysts. Amazon Redshift is a data warehouse service, and one of its features, Redshift ML, helps users to create, train, and deploy </a:t>
            </a:r>
            <a:r>
              <a:rPr lang="en-US" sz="1600" dirty="0" err="1"/>
              <a:t>SageMaker</a:t>
            </a:r>
            <a:r>
              <a:rPr lang="en-US" sz="1600" dirty="0"/>
              <a:t> models by using familiar SQL syntax.</a:t>
            </a:r>
            <a:endParaRPr lang="en-US" dirty="0"/>
          </a:p>
          <a:p>
            <a:endParaRPr lang="en-US" dirty="0"/>
          </a:p>
        </p:txBody>
      </p:sp>
      <p:pic>
        <p:nvPicPr>
          <p:cNvPr id="15" name="Content Placeholder 2">
            <a:extLst>
              <a:ext uri="{FF2B5EF4-FFF2-40B4-BE49-F238E27FC236}">
                <a16:creationId xmlns:a16="http://schemas.microsoft.com/office/drawing/2014/main" id="{BC044561-3066-4A72-AF5E-A98B1DCC7D41}"/>
              </a:ext>
              <a:ext uri="{C183D7F6-B498-43B3-948B-1728B52AA6E4}">
                <adec:decorative xmlns:adec="http://schemas.microsoft.com/office/drawing/2017/decorative" val="1"/>
              </a:ext>
            </a:extLst>
          </p:cNvPr>
          <p:cNvPicPr>
            <a:picLocks noGrp="1" noChangeAspect="1"/>
          </p:cNvPicPr>
          <p:nvPr>
            <p:ph idx="9"/>
          </p:nvPr>
        </p:nvPicPr>
        <p:blipFill>
          <a:blip r:embed="rId4">
            <a:extLst>
              <a:ext uri="{28A0092B-C50C-407E-A947-70E740481C1C}">
                <a14:useLocalDpi xmlns:a14="http://schemas.microsoft.com/office/drawing/2010/main"/>
              </a:ext>
            </a:extLst>
          </a:blip>
          <a:stretch>
            <a:fillRect/>
          </a:stretch>
        </p:blipFill>
        <p:spPr>
          <a:xfrm>
            <a:off x="9451975" y="3192463"/>
            <a:ext cx="1619250" cy="1619250"/>
          </a:xfrm>
        </p:spPr>
      </p:pic>
    </p:spTree>
    <p:custDataLst>
      <p:tags r:id="rId1"/>
    </p:custDataLst>
    <p:extLst>
      <p:ext uri="{BB962C8B-B14F-4D97-AF65-F5344CB8AC3E}">
        <p14:creationId xmlns:p14="http://schemas.microsoft.com/office/powerpoint/2010/main" val="2068767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BC16DC-14BF-4819-8314-8A20786C849C}"/>
              </a:ext>
            </a:extLst>
          </p:cNvPr>
          <p:cNvSpPr>
            <a:spLocks noGrp="1"/>
          </p:cNvSpPr>
          <p:nvPr>
            <p:ph type="title"/>
          </p:nvPr>
        </p:nvSpPr>
        <p:spPr>
          <a:xfrm>
            <a:off x="667750" y="1787236"/>
            <a:ext cx="9774108" cy="2121448"/>
          </a:xfrm>
        </p:spPr>
        <p:txBody>
          <a:bodyPr>
            <a:noAutofit/>
          </a:bodyPr>
          <a:lstStyle/>
          <a:p>
            <a:r>
              <a:rPr lang="en-US" sz="3200" dirty="0"/>
              <a:t>"Being a data-driven organization means culturally treating data as a </a:t>
            </a:r>
            <a:r>
              <a:rPr lang="en-US" sz="3200" dirty="0">
                <a:solidFill>
                  <a:srgbClr val="FF0000"/>
                </a:solidFill>
              </a:rPr>
              <a:t>strategic asset </a:t>
            </a:r>
            <a:r>
              <a:rPr lang="en-US" sz="3200" dirty="0"/>
              <a:t>and then building capabilities to put that asset to use – </a:t>
            </a:r>
            <a:r>
              <a:rPr lang="en-US" sz="3200" dirty="0">
                <a:solidFill>
                  <a:srgbClr val="F3E502"/>
                </a:solidFill>
              </a:rPr>
              <a:t>not just for big decisions but also for everyday action on the front line</a:t>
            </a:r>
            <a:r>
              <a:rPr lang="en-US" sz="3200" dirty="0"/>
              <a:t>."</a:t>
            </a:r>
          </a:p>
        </p:txBody>
      </p:sp>
      <p:sp>
        <p:nvSpPr>
          <p:cNvPr id="5" name="Text Placeholder 4">
            <a:extLst>
              <a:ext uri="{FF2B5EF4-FFF2-40B4-BE49-F238E27FC236}">
                <a16:creationId xmlns:a16="http://schemas.microsoft.com/office/drawing/2014/main" id="{B3E4A8F9-FDD4-41AE-AADD-0140B0C7F605}"/>
              </a:ext>
            </a:extLst>
          </p:cNvPr>
          <p:cNvSpPr>
            <a:spLocks noGrp="1"/>
          </p:cNvSpPr>
          <p:nvPr>
            <p:ph type="subTitle" idx="14"/>
          </p:nvPr>
        </p:nvSpPr>
        <p:spPr>
          <a:xfrm>
            <a:off x="666271" y="4738255"/>
            <a:ext cx="9340846" cy="1355841"/>
          </a:xfrm>
        </p:spPr>
        <p:txBody>
          <a:bodyPr/>
          <a:lstStyle/>
          <a:p>
            <a:r>
              <a:rPr lang="en-US" dirty="0"/>
              <a:t>Ishit Vachhrajani, AWS Enterprise Strategist</a:t>
            </a:r>
          </a:p>
        </p:txBody>
      </p:sp>
      <p:sp>
        <p:nvSpPr>
          <p:cNvPr id="3" name="Slide Number Placeholder 2">
            <a:extLst>
              <a:ext uri="{FF2B5EF4-FFF2-40B4-BE49-F238E27FC236}">
                <a16:creationId xmlns:a16="http://schemas.microsoft.com/office/drawing/2014/main" id="{E58F7309-D3C3-4A7B-8C1C-20D5A125CEBF}"/>
              </a:ext>
            </a:extLst>
          </p:cNvPr>
          <p:cNvSpPr>
            <a:spLocks noGrp="1"/>
          </p:cNvSpPr>
          <p:nvPr>
            <p:ph type="sldNum" sz="quarter" idx="10"/>
          </p:nvPr>
        </p:nvSpPr>
        <p:spPr/>
        <p:txBody>
          <a:bodyPr/>
          <a:lstStyle/>
          <a:p>
            <a:fld id="{363DB862-5E2B-42BB-8337-D46E9881345F}" type="slidenum">
              <a:rPr lang="en-US" smtClean="0"/>
              <a:pPr/>
              <a:t>19</a:t>
            </a:fld>
            <a:endParaRPr lang="en-US" dirty="0"/>
          </a:p>
        </p:txBody>
      </p:sp>
    </p:spTree>
    <p:custDataLst>
      <p:tags r:id="rId1"/>
    </p:custDataLst>
    <p:extLst>
      <p:ext uri="{BB962C8B-B14F-4D97-AF65-F5344CB8AC3E}">
        <p14:creationId xmlns:p14="http://schemas.microsoft.com/office/powerpoint/2010/main" val="3318095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D1E767F3-2387-4D45-8440-62E78B886E95}"/>
              </a:ext>
            </a:extLst>
          </p:cNvPr>
          <p:cNvSpPr>
            <a:spLocks noGrp="1"/>
          </p:cNvSpPr>
          <p:nvPr>
            <p:ph type="sldNum" sz="quarter" idx="20"/>
          </p:nvPr>
        </p:nvSpPr>
        <p:spPr/>
        <p:txBody>
          <a:bodyPr/>
          <a:lstStyle/>
          <a:p>
            <a:fld id="{363DB862-5E2B-42BB-8337-D46E9881345F}" type="slidenum">
              <a:rPr lang="en-US" smtClean="0"/>
              <a:t>20</a:t>
            </a:fld>
            <a:endParaRPr lang="en-US" dirty="0"/>
          </a:p>
        </p:txBody>
      </p:sp>
      <p:sp>
        <p:nvSpPr>
          <p:cNvPr id="9" name="Title 8">
            <a:extLst>
              <a:ext uri="{FF2B5EF4-FFF2-40B4-BE49-F238E27FC236}">
                <a16:creationId xmlns:a16="http://schemas.microsoft.com/office/drawing/2014/main" id="{C4B450B2-E8A9-4F64-9A30-E7CA8A399F31}"/>
              </a:ext>
            </a:extLst>
          </p:cNvPr>
          <p:cNvSpPr>
            <a:spLocks noGrp="1"/>
          </p:cNvSpPr>
          <p:nvPr>
            <p:ph type="ctrTitle"/>
          </p:nvPr>
        </p:nvSpPr>
        <p:spPr/>
        <p:txBody>
          <a:bodyPr/>
          <a:lstStyle/>
          <a:p>
            <a:r>
              <a:rPr lang="en-US" dirty="0"/>
              <a:t>Key takeaways: Modern data strategies</a:t>
            </a:r>
          </a:p>
        </p:txBody>
      </p:sp>
      <p:sp>
        <p:nvSpPr>
          <p:cNvPr id="10" name="Text Placeholder 9">
            <a:extLst>
              <a:ext uri="{FF2B5EF4-FFF2-40B4-BE49-F238E27FC236}">
                <a16:creationId xmlns:a16="http://schemas.microsoft.com/office/drawing/2014/main" id="{3132710A-30C4-475B-B36F-1B4EB123A729}"/>
              </a:ext>
            </a:extLst>
          </p:cNvPr>
          <p:cNvSpPr>
            <a:spLocks noGrp="1"/>
          </p:cNvSpPr>
          <p:nvPr>
            <p:ph type="body" idx="1"/>
          </p:nvPr>
        </p:nvSpPr>
        <p:spPr/>
        <p:txBody>
          <a:bodyPr/>
          <a:lstStyle/>
          <a:p>
            <a:r>
              <a:rPr lang="en-US" dirty="0"/>
              <a:t>Organizations that want to become data driven should </a:t>
            </a:r>
            <a:r>
              <a:rPr lang="en-US" dirty="0">
                <a:solidFill>
                  <a:srgbClr val="FF0000"/>
                </a:solidFill>
              </a:rPr>
              <a:t>modernize, unify, and innovate </a:t>
            </a:r>
            <a:r>
              <a:rPr lang="en-US" dirty="0"/>
              <a:t>with their data infrastructures.</a:t>
            </a:r>
          </a:p>
          <a:p>
            <a:r>
              <a:rPr lang="en-US" dirty="0">
                <a:solidFill>
                  <a:srgbClr val="FF0000"/>
                </a:solidFill>
              </a:rPr>
              <a:t>Modernizing is about moving to cloud-based infrastructures and purpose-built services to reduce administrative and operational effort.</a:t>
            </a:r>
          </a:p>
          <a:p>
            <a:r>
              <a:rPr lang="en-US" dirty="0">
                <a:solidFill>
                  <a:srgbClr val="FF0000"/>
                </a:solidFill>
              </a:rPr>
              <a:t>Unifying is about creating a single source of truth for data and making the data available across the organization.</a:t>
            </a:r>
          </a:p>
          <a:p>
            <a:r>
              <a:rPr lang="en-US" dirty="0"/>
              <a:t>Innovating is about looking for new ways to find value in the data—specifically, applying AI and ML to find new insights.</a:t>
            </a:r>
          </a:p>
        </p:txBody>
      </p:sp>
      <p:pic>
        <p:nvPicPr>
          <p:cNvPr id="8" name="Content Placeholder 13">
            <a:extLst>
              <a:ext uri="{FF2B5EF4-FFF2-40B4-BE49-F238E27FC236}">
                <a16:creationId xmlns:a16="http://schemas.microsoft.com/office/drawing/2014/main" id="{0F7BD07C-1009-459B-8905-05F647FD5A5C}"/>
              </a:ext>
              <a:ext uri="{C183D7F6-B498-43B3-948B-1728B52AA6E4}">
                <adec:decorative xmlns:adec="http://schemas.microsoft.com/office/drawing/2017/decorative" val="1"/>
              </a:ext>
            </a:extLst>
          </p:cNvPr>
          <p:cNvPicPr>
            <a:picLocks noGrp="1" noChangeAspect="1"/>
          </p:cNvPicPr>
          <p:nvPr>
            <p:ph idx="9"/>
          </p:nvPr>
        </p:nvPicPr>
        <p:blipFill>
          <a:blip r:embed="rId4" cstate="screen">
            <a:extLst>
              <a:ext uri="{28A0092B-C50C-407E-A947-70E740481C1C}">
                <a14:useLocalDpi xmlns:a14="http://schemas.microsoft.com/office/drawing/2010/main"/>
              </a:ext>
            </a:extLst>
          </a:blip>
          <a:stretch>
            <a:fillRect/>
          </a:stretch>
        </p:blipFill>
        <p:spPr>
          <a:xfrm>
            <a:off x="549783" y="2435225"/>
            <a:ext cx="3348610" cy="3657600"/>
          </a:xfrm>
        </p:spPr>
      </p:pic>
    </p:spTree>
    <p:custDataLst>
      <p:tags r:id="rId1"/>
    </p:custDataLst>
    <p:extLst>
      <p:ext uri="{BB962C8B-B14F-4D97-AF65-F5344CB8AC3E}">
        <p14:creationId xmlns:p14="http://schemas.microsoft.com/office/powerpoint/2010/main" val="3980944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474184-7142-4729-BCE5-A7B82CFF49A3}"/>
              </a:ext>
            </a:extLst>
          </p:cNvPr>
          <p:cNvSpPr>
            <a:spLocks noGrp="1"/>
          </p:cNvSpPr>
          <p:nvPr>
            <p:ph type="title"/>
          </p:nvPr>
        </p:nvSpPr>
        <p:spPr/>
        <p:txBody>
          <a:bodyPr/>
          <a:lstStyle/>
          <a:p>
            <a:r>
              <a:rPr lang="en-US" dirty="0"/>
              <a:t>Module wrap-up</a:t>
            </a:r>
          </a:p>
        </p:txBody>
      </p:sp>
      <p:sp>
        <p:nvSpPr>
          <p:cNvPr id="7" name="Subtitle 6">
            <a:extLst>
              <a:ext uri="{FF2B5EF4-FFF2-40B4-BE49-F238E27FC236}">
                <a16:creationId xmlns:a16="http://schemas.microsoft.com/office/drawing/2014/main" id="{975628F3-D2E2-470F-A74D-05AF9321A222}"/>
              </a:ext>
            </a:extLst>
          </p:cNvPr>
          <p:cNvSpPr>
            <a:spLocks noGrp="1"/>
          </p:cNvSpPr>
          <p:nvPr>
            <p:ph type="subTitle" idx="1"/>
          </p:nvPr>
        </p:nvSpPr>
        <p:spPr/>
        <p:txBody>
          <a:bodyPr/>
          <a:lstStyle/>
          <a:p>
            <a:r>
              <a:rPr lang="en-US" dirty="0"/>
              <a:t>Data-Driven Organizations</a:t>
            </a:r>
          </a:p>
          <a:p>
            <a:endParaRPr lang="en-US" dirty="0"/>
          </a:p>
        </p:txBody>
      </p:sp>
    </p:spTree>
    <p:custDataLst>
      <p:tags r:id="rId1"/>
    </p:custDataLst>
    <p:extLst>
      <p:ext uri="{BB962C8B-B14F-4D97-AF65-F5344CB8AC3E}">
        <p14:creationId xmlns:p14="http://schemas.microsoft.com/office/powerpoint/2010/main" val="3270937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4A1B25-3EEB-4F55-8AAF-C003F7769E50}"/>
              </a:ext>
            </a:extLst>
          </p:cNvPr>
          <p:cNvSpPr>
            <a:spLocks noGrp="1"/>
          </p:cNvSpPr>
          <p:nvPr>
            <p:ph type="sldNum" sz="quarter" idx="10"/>
          </p:nvPr>
        </p:nvSpPr>
        <p:spPr/>
        <p:txBody>
          <a:bodyPr/>
          <a:lstStyle/>
          <a:p>
            <a:fld id="{363DB862-5E2B-42BB-8337-D46E9881345F}" type="slidenum">
              <a:rPr lang="en-US" smtClean="0"/>
              <a:t>22</a:t>
            </a:fld>
            <a:endParaRPr lang="en-US" dirty="0"/>
          </a:p>
        </p:txBody>
      </p:sp>
      <p:sp>
        <p:nvSpPr>
          <p:cNvPr id="3" name="Title 2">
            <a:extLst>
              <a:ext uri="{FF2B5EF4-FFF2-40B4-BE49-F238E27FC236}">
                <a16:creationId xmlns:a16="http://schemas.microsoft.com/office/drawing/2014/main" id="{60D3CFE4-3665-4747-9810-A852E9A9624C}"/>
              </a:ext>
            </a:extLst>
          </p:cNvPr>
          <p:cNvSpPr>
            <a:spLocks noGrp="1"/>
          </p:cNvSpPr>
          <p:nvPr>
            <p:ph type="title"/>
          </p:nvPr>
        </p:nvSpPr>
        <p:spPr/>
        <p:txBody>
          <a:bodyPr/>
          <a:lstStyle/>
          <a:p>
            <a:r>
              <a:rPr lang="en-US" dirty="0"/>
              <a:t>Module summary</a:t>
            </a:r>
          </a:p>
        </p:txBody>
      </p:sp>
      <p:sp>
        <p:nvSpPr>
          <p:cNvPr id="6" name="Text Placeholder 5">
            <a:extLst>
              <a:ext uri="{FF2B5EF4-FFF2-40B4-BE49-F238E27FC236}">
                <a16:creationId xmlns:a16="http://schemas.microsoft.com/office/drawing/2014/main" id="{0B8E4784-7CEA-4846-AE67-E276715926FA}"/>
              </a:ext>
            </a:extLst>
          </p:cNvPr>
          <p:cNvSpPr>
            <a:spLocks noGrp="1"/>
          </p:cNvSpPr>
          <p:nvPr>
            <p:ph type="body" idx="1"/>
          </p:nvPr>
        </p:nvSpPr>
        <p:spPr/>
        <p:txBody>
          <a:bodyPr/>
          <a:lstStyle/>
          <a:p>
            <a:pPr marL="0" indent="0">
              <a:spcAft>
                <a:spcPts val="1200"/>
              </a:spcAft>
              <a:buNone/>
            </a:pPr>
            <a:r>
              <a:rPr lang="en-US" dirty="0"/>
              <a:t>This module prepared you to do the following:</a:t>
            </a:r>
          </a:p>
          <a:p>
            <a:r>
              <a:rPr lang="en-US" dirty="0"/>
              <a:t>Compare and contrast how data analytics and AI/ML are applied to data-driven decision-making.</a:t>
            </a:r>
          </a:p>
          <a:p>
            <a:r>
              <a:rPr lang="en-US" dirty="0"/>
              <a:t>Name and describe each layer in a data pipeline.</a:t>
            </a:r>
          </a:p>
          <a:p>
            <a:r>
              <a:rPr lang="en-US" dirty="0"/>
              <a:t>List ways in which data is acted upon as it passes through a pipeline.</a:t>
            </a:r>
          </a:p>
          <a:p>
            <a:r>
              <a:rPr lang="en-US" dirty="0"/>
              <a:t>List responsibilities for data engineer roles and data scientist roles in processing data through a pipeline.</a:t>
            </a:r>
          </a:p>
          <a:p>
            <a:r>
              <a:rPr lang="en-US" dirty="0"/>
              <a:t>Define three modern data strategies that influence how you build your data infrastructure.</a:t>
            </a:r>
          </a:p>
        </p:txBody>
      </p:sp>
    </p:spTree>
    <p:custDataLst>
      <p:tags r:id="rId1"/>
    </p:custDataLst>
    <p:extLst>
      <p:ext uri="{BB962C8B-B14F-4D97-AF65-F5344CB8AC3E}">
        <p14:creationId xmlns:p14="http://schemas.microsoft.com/office/powerpoint/2010/main" val="2508318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048BAD-8E95-4C2F-817A-40E752258665}"/>
              </a:ext>
            </a:extLst>
          </p:cNvPr>
          <p:cNvSpPr>
            <a:spLocks noGrp="1"/>
          </p:cNvSpPr>
          <p:nvPr>
            <p:ph type="sldNum" sz="quarter" idx="20"/>
          </p:nvPr>
        </p:nvSpPr>
        <p:spPr/>
        <p:txBody>
          <a:bodyPr/>
          <a:lstStyle/>
          <a:p>
            <a:fld id="{363DB862-5E2B-42BB-8337-D46E9881345F}" type="slidenum">
              <a:rPr lang="en-US" smtClean="0"/>
              <a:t>23</a:t>
            </a:fld>
            <a:endParaRPr lang="en-US" dirty="0"/>
          </a:p>
        </p:txBody>
      </p:sp>
      <p:sp>
        <p:nvSpPr>
          <p:cNvPr id="5" name="Title 4">
            <a:extLst>
              <a:ext uri="{FF2B5EF4-FFF2-40B4-BE49-F238E27FC236}">
                <a16:creationId xmlns:a16="http://schemas.microsoft.com/office/drawing/2014/main" id="{30E2ADCF-E553-4066-968B-56D52C65E43A}"/>
              </a:ext>
            </a:extLst>
          </p:cNvPr>
          <p:cNvSpPr>
            <a:spLocks noGrp="1"/>
          </p:cNvSpPr>
          <p:nvPr>
            <p:ph type="ctrTitle"/>
          </p:nvPr>
        </p:nvSpPr>
        <p:spPr/>
        <p:txBody>
          <a:bodyPr/>
          <a:lstStyle/>
          <a:p>
            <a:r>
              <a:rPr lang="en-US" dirty="0"/>
              <a:t>Module knowledge check</a:t>
            </a:r>
          </a:p>
        </p:txBody>
      </p:sp>
      <p:pic>
        <p:nvPicPr>
          <p:cNvPr id="10" name="Content Placeholder 9">
            <a:extLst>
              <a:ext uri="{FF2B5EF4-FFF2-40B4-BE49-F238E27FC236}">
                <a16:creationId xmlns:a16="http://schemas.microsoft.com/office/drawing/2014/main" id="{01BCCE43-A6A8-49B9-BC4D-16C17AD67AE3}"/>
              </a:ext>
              <a:ext uri="{C183D7F6-B498-43B3-948B-1728B52AA6E4}">
                <adec:decorative xmlns:adec="http://schemas.microsoft.com/office/drawing/2017/decorative" val="1"/>
              </a:ext>
            </a:extLst>
          </p:cNvPr>
          <p:cNvPicPr>
            <a:picLocks noGrp="1" noChangeAspect="1"/>
          </p:cNvPicPr>
          <p:nvPr>
            <p:ph idx="9"/>
          </p:nvPr>
        </p:nvPicPr>
        <p:blipFill>
          <a:blip r:embed="rId4" cstate="screen">
            <a:extLst>
              <a:ext uri="{28A0092B-C50C-407E-A947-70E740481C1C}">
                <a14:useLocalDpi xmlns:a14="http://schemas.microsoft.com/office/drawing/2010/main"/>
              </a:ext>
            </a:extLst>
          </a:blip>
          <a:stretch>
            <a:fillRect/>
          </a:stretch>
        </p:blipFill>
        <p:spPr>
          <a:xfrm>
            <a:off x="1411658" y="3044661"/>
            <a:ext cx="1624858" cy="2438728"/>
          </a:xfrm>
        </p:spPr>
      </p:pic>
      <p:sp>
        <p:nvSpPr>
          <p:cNvPr id="7" name="Text Placeholder 6">
            <a:extLst>
              <a:ext uri="{FF2B5EF4-FFF2-40B4-BE49-F238E27FC236}">
                <a16:creationId xmlns:a16="http://schemas.microsoft.com/office/drawing/2014/main" id="{FA143EC0-8A7F-4DD3-8445-CB0F5138A5C5}"/>
              </a:ext>
            </a:extLst>
          </p:cNvPr>
          <p:cNvSpPr>
            <a:spLocks noGrp="1"/>
          </p:cNvSpPr>
          <p:nvPr>
            <p:ph type="body" idx="1"/>
          </p:nvPr>
        </p:nvSpPr>
        <p:spPr/>
        <p:txBody>
          <a:bodyPr/>
          <a:lstStyle/>
          <a:p>
            <a:r>
              <a:rPr lang="en-US" dirty="0"/>
              <a:t>The knowledge check is delivered online within your course.</a:t>
            </a:r>
          </a:p>
          <a:p>
            <a:r>
              <a:rPr lang="en-US" dirty="0"/>
              <a:t>The knowledge check includes 10 questions that are based on material from the slides and slide notes.</a:t>
            </a:r>
          </a:p>
          <a:p>
            <a:r>
              <a:rPr lang="en-US" dirty="0"/>
              <a:t>You can retake the knowledge check as many times as you would like.</a:t>
            </a:r>
          </a:p>
        </p:txBody>
      </p:sp>
    </p:spTree>
    <p:custDataLst>
      <p:tags r:id="rId1"/>
    </p:custDataLst>
    <p:extLst>
      <p:ext uri="{BB962C8B-B14F-4D97-AF65-F5344CB8AC3E}">
        <p14:creationId xmlns:p14="http://schemas.microsoft.com/office/powerpoint/2010/main" val="1818896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AB12282-FDF0-4AA8-9BB0-321EA315B189}"/>
              </a:ext>
            </a:extLst>
          </p:cNvPr>
          <p:cNvSpPr>
            <a:spLocks noGrp="1"/>
          </p:cNvSpPr>
          <p:nvPr>
            <p:ph type="sldNum" sz="quarter" idx="20"/>
          </p:nvPr>
        </p:nvSpPr>
        <p:spPr>
          <a:xfrm>
            <a:off x="11469389" y="6446520"/>
            <a:ext cx="484261" cy="265176"/>
          </a:xfrm>
        </p:spPr>
        <p:txBody>
          <a:bodyPr/>
          <a:lstStyle/>
          <a:p>
            <a:fld id="{B23121D6-781A-4B6C-8D9B-3A8188A614AE}" type="slidenum">
              <a:rPr lang="en-US" smtClean="0"/>
              <a:t>24</a:t>
            </a:fld>
            <a:endParaRPr lang="en-US" dirty="0"/>
          </a:p>
        </p:txBody>
      </p:sp>
      <p:sp>
        <p:nvSpPr>
          <p:cNvPr id="3" name="Title 2">
            <a:extLst>
              <a:ext uri="{FF2B5EF4-FFF2-40B4-BE49-F238E27FC236}">
                <a16:creationId xmlns:a16="http://schemas.microsoft.com/office/drawing/2014/main" id="{A6BFFA0E-AF42-4BF5-A28B-5A1FA222B902}"/>
              </a:ext>
            </a:extLst>
          </p:cNvPr>
          <p:cNvSpPr>
            <a:spLocks noGrp="1"/>
          </p:cNvSpPr>
          <p:nvPr>
            <p:ph type="title"/>
          </p:nvPr>
        </p:nvSpPr>
        <p:spPr/>
        <p:txBody>
          <a:bodyPr>
            <a:normAutofit fontScale="90000"/>
          </a:bodyPr>
          <a:lstStyle/>
          <a:p>
            <a:r>
              <a:rPr lang="en-US" dirty="0"/>
              <a:t>Sample exam question</a:t>
            </a:r>
          </a:p>
        </p:txBody>
      </p:sp>
      <p:sp>
        <p:nvSpPr>
          <p:cNvPr id="4" name="Text Placeholder 3">
            <a:extLst>
              <a:ext uri="{FF2B5EF4-FFF2-40B4-BE49-F238E27FC236}">
                <a16:creationId xmlns:a16="http://schemas.microsoft.com/office/drawing/2014/main" id="{2D1032F5-5931-4A8E-B1A1-5F924A4E986A}"/>
              </a:ext>
            </a:extLst>
          </p:cNvPr>
          <p:cNvSpPr>
            <a:spLocks noGrp="1"/>
          </p:cNvSpPr>
          <p:nvPr>
            <p:ph type="body" idx="1"/>
          </p:nvPr>
        </p:nvSpPr>
        <p:spPr>
          <a:xfrm>
            <a:off x="1" y="697780"/>
            <a:ext cx="12161520" cy="1705178"/>
          </a:xfrm>
        </p:spPr>
        <p:txBody>
          <a:bodyPr>
            <a:noAutofit/>
          </a:bodyPr>
          <a:lstStyle/>
          <a:p>
            <a:r>
              <a:rPr lang="en-US" sz="1600" dirty="0"/>
              <a:t>A traditional retailer with a relatively small online presence recently decided that they need to expand their online presence to increase sales. After a major marketing push and investing in IT infrastructure to support increased online transactions, quarterly results show that online sales results are far below expectations. The business wants to find ways to improve the poor online sales performance.</a:t>
            </a:r>
          </a:p>
          <a:p>
            <a:r>
              <a:rPr lang="en-US" sz="1600" dirty="0"/>
              <a:t>Which action represents an appropriate first step to address the request in a data-driven way?</a:t>
            </a:r>
          </a:p>
        </p:txBody>
      </p:sp>
      <p:sp>
        <p:nvSpPr>
          <p:cNvPr id="22" name="Text Placeholder 3">
            <a:extLst>
              <a:ext uri="{FF2B5EF4-FFF2-40B4-BE49-F238E27FC236}">
                <a16:creationId xmlns:a16="http://schemas.microsoft.com/office/drawing/2014/main" id="{1BED0184-30B4-4AF4-B65A-3D9EF7132106}"/>
              </a:ext>
            </a:extLst>
          </p:cNvPr>
          <p:cNvSpPr txBox="1">
            <a:spLocks/>
          </p:cNvSpPr>
          <p:nvPr/>
        </p:nvSpPr>
        <p:spPr>
          <a:xfrm>
            <a:off x="1" y="2394128"/>
            <a:ext cx="12161520" cy="558729"/>
          </a:xfrm>
          <a:prstGeom prst="rect">
            <a:avLst/>
          </a:prstGeom>
          <a:noFill/>
        </p:spPr>
        <p:txBody>
          <a:bodyPr vert="horz" lIns="228600" tIns="182880" rIns="182880" bIns="0" rtlCol="0">
            <a:normAutofit/>
          </a:bodyPr>
          <a:lstStyle>
            <a:defPPr>
              <a:defRPr lang="en-US"/>
            </a:defPPr>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kern="1200">
                <a:solidFill>
                  <a:schemeClr val="bg1"/>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solidFill>
                  <a:schemeClr val="tx2"/>
                </a:solidFill>
              </a:rPr>
              <a:t>Identify the key words and phrases before continuing.</a:t>
            </a:r>
          </a:p>
        </p:txBody>
      </p:sp>
      <p:sp>
        <p:nvSpPr>
          <p:cNvPr id="23" name="Text Placeholder 3">
            <a:extLst>
              <a:ext uri="{FF2B5EF4-FFF2-40B4-BE49-F238E27FC236}">
                <a16:creationId xmlns:a16="http://schemas.microsoft.com/office/drawing/2014/main" id="{E79CAD48-6194-4ACE-BB60-4D876274A1D3}"/>
              </a:ext>
            </a:extLst>
          </p:cNvPr>
          <p:cNvSpPr txBox="1">
            <a:spLocks/>
          </p:cNvSpPr>
          <p:nvPr/>
        </p:nvSpPr>
        <p:spPr>
          <a:xfrm>
            <a:off x="1" y="2952857"/>
            <a:ext cx="12161520" cy="2405743"/>
          </a:xfrm>
          <a:prstGeom prst="rect">
            <a:avLst/>
          </a:prstGeom>
          <a:noFill/>
        </p:spPr>
        <p:txBody>
          <a:bodyPr vert="horz" lIns="228600" tIns="182880" rIns="182880" bIns="0" rtlCol="0">
            <a:normAutofit/>
          </a:bodyPr>
          <a:lstStyle>
            <a:defPPr>
              <a:defRPr lang="en-US"/>
            </a:defPPr>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kern="1200">
                <a:solidFill>
                  <a:schemeClr val="bg1"/>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b="1" dirty="0">
                <a:solidFill>
                  <a:schemeClr val="tx2"/>
                </a:solidFill>
                <a:latin typeface="+mn-lt"/>
                <a:ea typeface="Amazon Ember Heavy" panose="020B0803020204020204" pitchFamily="34" charset="0"/>
                <a:cs typeface="Amazon Ember Heavy" panose="020B0803020204020204" pitchFamily="34" charset="0"/>
              </a:rPr>
              <a:t>The following are the key words and phrases:</a:t>
            </a:r>
          </a:p>
          <a:p>
            <a:pPr marL="285750" indent="-285750">
              <a:buFont typeface="Arial" panose="020B0604020202020204" pitchFamily="34" charset="0"/>
              <a:buChar char="•"/>
            </a:pPr>
            <a:r>
              <a:rPr lang="en-US" b="1" dirty="0">
                <a:solidFill>
                  <a:schemeClr val="tx2"/>
                </a:solidFill>
                <a:latin typeface="+mn-lt"/>
              </a:rPr>
              <a:t>Improve online sales</a:t>
            </a:r>
            <a:endParaRPr lang="en-US" dirty="0">
              <a:solidFill>
                <a:schemeClr val="tx2"/>
              </a:solidFill>
              <a:latin typeface="+mn-lt"/>
              <a:ea typeface="Amazon Ember Heavy" panose="020B0803020204020204" pitchFamily="34" charset="0"/>
              <a:cs typeface="Amazon Ember Heavy" panose="020B0803020204020204" pitchFamily="34" charset="0"/>
            </a:endParaRPr>
          </a:p>
          <a:p>
            <a:pPr marL="285750" indent="-285750">
              <a:buFont typeface="Arial" panose="020B0604020202020204" pitchFamily="34" charset="0"/>
              <a:buChar char="•"/>
            </a:pPr>
            <a:r>
              <a:rPr lang="en-US" dirty="0">
                <a:solidFill>
                  <a:schemeClr val="tx2"/>
                </a:solidFill>
                <a:latin typeface="+mn-lt"/>
                <a:ea typeface="Amazon Ember Heavy" panose="020B0803020204020204" pitchFamily="34" charset="0"/>
                <a:cs typeface="Amazon Ember Heavy" panose="020B0803020204020204" pitchFamily="34" charset="0"/>
              </a:rPr>
              <a:t>Appropriate </a:t>
            </a:r>
            <a:r>
              <a:rPr lang="en-US" b="1" dirty="0">
                <a:solidFill>
                  <a:schemeClr val="tx2"/>
                </a:solidFill>
                <a:latin typeface="+mn-lt"/>
                <a:ea typeface="Amazon Ember Heavy" panose="020B0803020204020204" pitchFamily="34" charset="0"/>
                <a:cs typeface="Amazon Ember Heavy" panose="020B0803020204020204" pitchFamily="34" charset="0"/>
              </a:rPr>
              <a:t>first step</a:t>
            </a:r>
          </a:p>
          <a:p>
            <a:pPr marL="285750" indent="-285750">
              <a:buFont typeface="Arial" panose="020B0604020202020204" pitchFamily="34" charset="0"/>
              <a:buChar char="•"/>
            </a:pPr>
            <a:r>
              <a:rPr lang="en-US" b="1" dirty="0">
                <a:solidFill>
                  <a:schemeClr val="tx2"/>
                </a:solidFill>
                <a:latin typeface="+mn-lt"/>
                <a:ea typeface="Amazon Ember Heavy" panose="020B0803020204020204" pitchFamily="34" charset="0"/>
                <a:cs typeface="Amazon Ember Heavy" panose="020B0803020204020204" pitchFamily="34" charset="0"/>
              </a:rPr>
              <a:t>Data-driven </a:t>
            </a:r>
            <a:r>
              <a:rPr lang="en-US" dirty="0">
                <a:solidFill>
                  <a:schemeClr val="tx2"/>
                </a:solidFill>
                <a:latin typeface="+mn-lt"/>
                <a:ea typeface="Amazon Ember Heavy" panose="020B0803020204020204" pitchFamily="34" charset="0"/>
                <a:cs typeface="Amazon Ember Heavy" panose="020B0803020204020204" pitchFamily="34" charset="0"/>
              </a:rPr>
              <a:t>way</a:t>
            </a:r>
          </a:p>
        </p:txBody>
      </p:sp>
    </p:spTree>
    <p:custDataLst>
      <p:tags r:id="rId1"/>
    </p:custDataLst>
    <p:extLst>
      <p:ext uri="{BB962C8B-B14F-4D97-AF65-F5344CB8AC3E}">
        <p14:creationId xmlns:p14="http://schemas.microsoft.com/office/powerpoint/2010/main" val="90479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24973A-0B31-42C9-9441-0999C712AE77}"/>
              </a:ext>
            </a:extLst>
          </p:cNvPr>
          <p:cNvSpPr>
            <a:spLocks noGrp="1"/>
          </p:cNvSpPr>
          <p:nvPr>
            <p:ph type="sldNum" sz="quarter" idx="20"/>
          </p:nvPr>
        </p:nvSpPr>
        <p:spPr>
          <a:xfrm>
            <a:off x="11469389" y="6446520"/>
            <a:ext cx="484261" cy="265176"/>
          </a:xfrm>
        </p:spPr>
        <p:txBody>
          <a:bodyPr/>
          <a:lstStyle/>
          <a:p>
            <a:fld id="{B23121D6-781A-4B6C-8D9B-3A8188A614AE}" type="slidenum">
              <a:rPr lang="en-US" smtClean="0"/>
              <a:t>25</a:t>
            </a:fld>
            <a:endParaRPr lang="en-US" dirty="0"/>
          </a:p>
        </p:txBody>
      </p:sp>
      <p:sp>
        <p:nvSpPr>
          <p:cNvPr id="3" name="Title 2">
            <a:extLst>
              <a:ext uri="{FF2B5EF4-FFF2-40B4-BE49-F238E27FC236}">
                <a16:creationId xmlns:a16="http://schemas.microsoft.com/office/drawing/2014/main" id="{A6BFFA0E-AF42-4BF5-A28B-5A1FA222B902}"/>
              </a:ext>
            </a:extLst>
          </p:cNvPr>
          <p:cNvSpPr>
            <a:spLocks noGrp="1"/>
          </p:cNvSpPr>
          <p:nvPr>
            <p:ph type="title"/>
          </p:nvPr>
        </p:nvSpPr>
        <p:spPr/>
        <p:txBody>
          <a:bodyPr>
            <a:normAutofit fontScale="90000"/>
          </a:bodyPr>
          <a:lstStyle/>
          <a:p>
            <a:r>
              <a:rPr lang="en-US" dirty="0"/>
              <a:t>Sample exam question: Response choices</a:t>
            </a:r>
          </a:p>
        </p:txBody>
      </p:sp>
      <p:sp>
        <p:nvSpPr>
          <p:cNvPr id="4" name="Text Placeholder 3">
            <a:extLst>
              <a:ext uri="{FF2B5EF4-FFF2-40B4-BE49-F238E27FC236}">
                <a16:creationId xmlns:a16="http://schemas.microsoft.com/office/drawing/2014/main" id="{2D1032F5-5931-4A8E-B1A1-5F924A4E986A}"/>
              </a:ext>
            </a:extLst>
          </p:cNvPr>
          <p:cNvSpPr>
            <a:spLocks noGrp="1"/>
          </p:cNvSpPr>
          <p:nvPr>
            <p:ph type="body" idx="1"/>
          </p:nvPr>
        </p:nvSpPr>
        <p:spPr>
          <a:xfrm>
            <a:off x="1" y="697780"/>
            <a:ext cx="12191998" cy="1729472"/>
          </a:xfrm>
        </p:spPr>
        <p:txBody>
          <a:bodyPr>
            <a:noAutofit/>
          </a:bodyPr>
          <a:lstStyle/>
          <a:p>
            <a:r>
              <a:rPr lang="en-US" sz="1600" dirty="0"/>
              <a:t>A traditional retailer with a relatively small online presence recently decided that they need to expand their online presence to increase sales. After a major marketing push and investing in IT infrastructure to support increased online transactions, quarterly results show that online sales results are far below expectations. The business wants to find ways to </a:t>
            </a:r>
            <a:r>
              <a:rPr lang="en-US" sz="1600" b="1" dirty="0"/>
              <a:t>improve the poor online sales </a:t>
            </a:r>
            <a:r>
              <a:rPr lang="en-US" sz="1600" dirty="0"/>
              <a:t>performance.</a:t>
            </a:r>
          </a:p>
          <a:p>
            <a:r>
              <a:rPr lang="en-US" sz="1600" dirty="0"/>
              <a:t>Which action represents an appropriate </a:t>
            </a:r>
            <a:r>
              <a:rPr lang="en-US" sz="1600" b="1" dirty="0"/>
              <a:t>first step</a:t>
            </a:r>
            <a:r>
              <a:rPr lang="en-US" sz="1600" dirty="0"/>
              <a:t> to address the request in a </a:t>
            </a:r>
            <a:r>
              <a:rPr lang="en-US" sz="1600" b="1" dirty="0"/>
              <a:t>data-driven way</a:t>
            </a:r>
            <a:r>
              <a:rPr lang="en-US" sz="1600" dirty="0"/>
              <a:t>?</a:t>
            </a:r>
          </a:p>
        </p:txBody>
      </p:sp>
      <p:grpSp>
        <p:nvGrpSpPr>
          <p:cNvPr id="6" name="Group choices and responses">
            <a:extLst>
              <a:ext uri="{FF2B5EF4-FFF2-40B4-BE49-F238E27FC236}">
                <a16:creationId xmlns:a16="http://schemas.microsoft.com/office/drawing/2014/main" id="{8B9194E8-1E8C-4845-A5AA-0A0C648DD869}"/>
              </a:ext>
            </a:extLst>
          </p:cNvPr>
          <p:cNvGrpSpPr/>
          <p:nvPr/>
        </p:nvGrpSpPr>
        <p:grpSpPr>
          <a:xfrm>
            <a:off x="0" y="2492562"/>
            <a:ext cx="12192000" cy="2977990"/>
            <a:chOff x="0" y="2492562"/>
            <a:chExt cx="12192000" cy="2977990"/>
          </a:xfrm>
        </p:grpSpPr>
        <p:sp>
          <p:nvSpPr>
            <p:cNvPr id="7" name="Choice Header">
              <a:extLst>
                <a:ext uri="{FF2B5EF4-FFF2-40B4-BE49-F238E27FC236}">
                  <a16:creationId xmlns:a16="http://schemas.microsoft.com/office/drawing/2014/main" id="{3E3755FE-66B5-49CC-855D-2AFAAF8A73A6}"/>
                </a:ext>
              </a:extLst>
            </p:cNvPr>
            <p:cNvSpPr txBox="1">
              <a:spLocks/>
            </p:cNvSpPr>
            <p:nvPr/>
          </p:nvSpPr>
          <p:spPr>
            <a:xfrm>
              <a:off x="0" y="2492562"/>
              <a:ext cx="887413" cy="317500"/>
            </a:xfrm>
            <a:prstGeom prst="rect">
              <a:avLst/>
            </a:prstGeom>
            <a:solidFill>
              <a:schemeClr val="accent2"/>
            </a:solidFill>
            <a:ln>
              <a:noFill/>
            </a:ln>
          </p:spPr>
          <p:txBody>
            <a:bodyPr lIns="0" rIns="0">
              <a:noAutofit/>
            </a:bodyPr>
            <a:lstStyle>
              <a:defPPr>
                <a:defRPr lang="en-US"/>
              </a:defPPr>
              <a:lvl1pPr marL="0" indent="0" algn="ctr"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t>Choice</a:t>
              </a:r>
            </a:p>
          </p:txBody>
        </p:sp>
        <p:sp>
          <p:nvSpPr>
            <p:cNvPr id="8" name="Response Header">
              <a:extLst>
                <a:ext uri="{FF2B5EF4-FFF2-40B4-BE49-F238E27FC236}">
                  <a16:creationId xmlns:a16="http://schemas.microsoft.com/office/drawing/2014/main" id="{60558D72-BD1A-4B7D-9939-2FCA132FBF6D}"/>
                </a:ext>
              </a:extLst>
            </p:cNvPr>
            <p:cNvSpPr txBox="1">
              <a:spLocks/>
            </p:cNvSpPr>
            <p:nvPr/>
          </p:nvSpPr>
          <p:spPr>
            <a:xfrm>
              <a:off x="907950" y="2492562"/>
              <a:ext cx="11284050" cy="317500"/>
            </a:xfrm>
            <a:prstGeom prst="rect">
              <a:avLst/>
            </a:prstGeom>
            <a:solidFill>
              <a:schemeClr val="accent2"/>
            </a:solidFill>
            <a:ln>
              <a:noFill/>
            </a:ln>
          </p:spPr>
          <p:txBody>
            <a:bodyPr lIns="91440" rIns="0">
              <a:noAutofit/>
            </a:bodyPr>
            <a:lstStyle>
              <a:defPPr>
                <a:defRPr lang="en-US"/>
              </a:defPPr>
              <a:lvl1pPr marL="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t>Response</a:t>
              </a:r>
            </a:p>
          </p:txBody>
        </p:sp>
        <p:sp>
          <p:nvSpPr>
            <p:cNvPr id="9" name="First Resp #">
              <a:extLst>
                <a:ext uri="{FF2B5EF4-FFF2-40B4-BE49-F238E27FC236}">
                  <a16:creationId xmlns:a16="http://schemas.microsoft.com/office/drawing/2014/main" id="{65A4A2A3-944B-4A39-AAC8-A3FA4ACE17D0}"/>
                </a:ext>
              </a:extLst>
            </p:cNvPr>
            <p:cNvSpPr txBox="1">
              <a:spLocks/>
            </p:cNvSpPr>
            <p:nvPr/>
          </p:nvSpPr>
          <p:spPr>
            <a:xfrm>
              <a:off x="1" y="2810026"/>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A</a:t>
              </a:r>
            </a:p>
          </p:txBody>
        </p:sp>
        <p:sp>
          <p:nvSpPr>
            <p:cNvPr id="10" name="First Resp Text">
              <a:extLst>
                <a:ext uri="{FF2B5EF4-FFF2-40B4-BE49-F238E27FC236}">
                  <a16:creationId xmlns:a16="http://schemas.microsoft.com/office/drawing/2014/main" id="{8EE2B018-D421-43B3-B700-1A833B27E6DF}"/>
                </a:ext>
              </a:extLst>
            </p:cNvPr>
            <p:cNvSpPr txBox="1">
              <a:spLocks/>
            </p:cNvSpPr>
            <p:nvPr/>
          </p:nvSpPr>
          <p:spPr>
            <a:xfrm>
              <a:off x="907950" y="2810026"/>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Develop an ML model that analyzes customer comments to determine where customers are unsatisfied.</a:t>
              </a:r>
            </a:p>
          </p:txBody>
        </p:sp>
        <p:sp>
          <p:nvSpPr>
            <p:cNvPr id="11" name="Second Resp #">
              <a:extLst>
                <a:ext uri="{FF2B5EF4-FFF2-40B4-BE49-F238E27FC236}">
                  <a16:creationId xmlns:a16="http://schemas.microsoft.com/office/drawing/2014/main" id="{0BCD2BF9-FDB8-4214-922C-6D75F9BC5A8D}"/>
                </a:ext>
              </a:extLst>
            </p:cNvPr>
            <p:cNvSpPr txBox="1">
              <a:spLocks/>
            </p:cNvSpPr>
            <p:nvPr/>
          </p:nvSpPr>
          <p:spPr>
            <a:xfrm>
              <a:off x="1" y="3483508"/>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B</a:t>
              </a:r>
            </a:p>
          </p:txBody>
        </p:sp>
        <p:sp>
          <p:nvSpPr>
            <p:cNvPr id="12" name="Second Resp Text">
              <a:extLst>
                <a:ext uri="{FF2B5EF4-FFF2-40B4-BE49-F238E27FC236}">
                  <a16:creationId xmlns:a16="http://schemas.microsoft.com/office/drawing/2014/main" id="{F41F4413-7F37-426A-8D49-D62F69440F7B}"/>
                </a:ext>
              </a:extLst>
            </p:cNvPr>
            <p:cNvSpPr txBox="1">
              <a:spLocks/>
            </p:cNvSpPr>
            <p:nvPr/>
          </p:nvSpPr>
          <p:spPr>
            <a:xfrm>
              <a:off x="907950" y="3483508"/>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Use A/B testing to provide some customers with a new UI that is designed to simplify the purchasing process. Then, compare sales results from the old and new UIs.</a:t>
              </a:r>
            </a:p>
          </p:txBody>
        </p:sp>
        <p:sp>
          <p:nvSpPr>
            <p:cNvPr id="13" name="Third Resp #">
              <a:extLst>
                <a:ext uri="{FF2B5EF4-FFF2-40B4-BE49-F238E27FC236}">
                  <a16:creationId xmlns:a16="http://schemas.microsoft.com/office/drawing/2014/main" id="{D3D9828D-2026-4471-8E3E-251D638B962F}"/>
                </a:ext>
              </a:extLst>
            </p:cNvPr>
            <p:cNvSpPr txBox="1">
              <a:spLocks/>
            </p:cNvSpPr>
            <p:nvPr/>
          </p:nvSpPr>
          <p:spPr>
            <a:xfrm>
              <a:off x="1" y="4156990"/>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C</a:t>
              </a:r>
            </a:p>
          </p:txBody>
        </p:sp>
        <p:sp>
          <p:nvSpPr>
            <p:cNvPr id="14" name="Third Resp Text">
              <a:extLst>
                <a:ext uri="{FF2B5EF4-FFF2-40B4-BE49-F238E27FC236}">
                  <a16:creationId xmlns:a16="http://schemas.microsoft.com/office/drawing/2014/main" id="{C77A67E1-7AFF-48EB-A76D-E090A7C28BB9}"/>
                </a:ext>
              </a:extLst>
            </p:cNvPr>
            <p:cNvSpPr txBox="1">
              <a:spLocks/>
            </p:cNvSpPr>
            <p:nvPr/>
          </p:nvSpPr>
          <p:spPr>
            <a:xfrm>
              <a:off x="907950" y="4156990"/>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Use a business intelligence (BI) tool to analyze sales data for the previous two quarters. Then, generate a hypothesis as to why the online sales are not in line with expectations.</a:t>
              </a:r>
            </a:p>
          </p:txBody>
        </p:sp>
        <p:sp>
          <p:nvSpPr>
            <p:cNvPr id="15" name="Fourth Resp #">
              <a:extLst>
                <a:ext uri="{FF2B5EF4-FFF2-40B4-BE49-F238E27FC236}">
                  <a16:creationId xmlns:a16="http://schemas.microsoft.com/office/drawing/2014/main" id="{4450AE74-48CE-4056-9DF0-FCAD15DA0510}"/>
                </a:ext>
              </a:extLst>
            </p:cNvPr>
            <p:cNvSpPr txBox="1">
              <a:spLocks/>
            </p:cNvSpPr>
            <p:nvPr/>
          </p:nvSpPr>
          <p:spPr>
            <a:xfrm>
              <a:off x="1" y="4830472"/>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D</a:t>
              </a:r>
            </a:p>
          </p:txBody>
        </p:sp>
        <p:sp>
          <p:nvSpPr>
            <p:cNvPr id="16" name="Fourth Resp Text">
              <a:extLst>
                <a:ext uri="{FF2B5EF4-FFF2-40B4-BE49-F238E27FC236}">
                  <a16:creationId xmlns:a16="http://schemas.microsoft.com/office/drawing/2014/main" id="{27F046F0-2E53-4A9E-8143-0C3117088354}"/>
                </a:ext>
              </a:extLst>
            </p:cNvPr>
            <p:cNvSpPr txBox="1">
              <a:spLocks/>
            </p:cNvSpPr>
            <p:nvPr/>
          </p:nvSpPr>
          <p:spPr>
            <a:xfrm>
              <a:off x="907950" y="4830472"/>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Analyze the total revenue per customer, and create customer segments that receive different types of offers based on their segment.</a:t>
              </a:r>
            </a:p>
          </p:txBody>
        </p:sp>
      </p:grpSp>
    </p:spTree>
    <p:custDataLst>
      <p:tags r:id="rId1"/>
    </p:custDataLst>
    <p:extLst>
      <p:ext uri="{BB962C8B-B14F-4D97-AF65-F5344CB8AC3E}">
        <p14:creationId xmlns:p14="http://schemas.microsoft.com/office/powerpoint/2010/main" val="2725213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21C522-C212-427C-9881-AC675D2F5697}"/>
              </a:ext>
            </a:extLst>
          </p:cNvPr>
          <p:cNvSpPr>
            <a:spLocks noGrp="1"/>
          </p:cNvSpPr>
          <p:nvPr>
            <p:ph type="sldNum" sz="quarter" idx="20"/>
          </p:nvPr>
        </p:nvSpPr>
        <p:spPr>
          <a:xfrm>
            <a:off x="11469389" y="6446520"/>
            <a:ext cx="484261" cy="265176"/>
          </a:xfrm>
        </p:spPr>
        <p:txBody>
          <a:bodyPr/>
          <a:lstStyle/>
          <a:p>
            <a:fld id="{B23121D6-781A-4B6C-8D9B-3A8188A614AE}" type="slidenum">
              <a:rPr lang="en-US" smtClean="0"/>
              <a:t>26</a:t>
            </a:fld>
            <a:endParaRPr lang="en-US" dirty="0"/>
          </a:p>
        </p:txBody>
      </p:sp>
      <p:sp>
        <p:nvSpPr>
          <p:cNvPr id="3" name="Title 2">
            <a:extLst>
              <a:ext uri="{FF2B5EF4-FFF2-40B4-BE49-F238E27FC236}">
                <a16:creationId xmlns:a16="http://schemas.microsoft.com/office/drawing/2014/main" id="{A6BFFA0E-AF42-4BF5-A28B-5A1FA222B902}"/>
              </a:ext>
            </a:extLst>
          </p:cNvPr>
          <p:cNvSpPr>
            <a:spLocks noGrp="1"/>
          </p:cNvSpPr>
          <p:nvPr>
            <p:ph type="title"/>
          </p:nvPr>
        </p:nvSpPr>
        <p:spPr/>
        <p:txBody>
          <a:bodyPr>
            <a:normAutofit fontScale="90000"/>
          </a:bodyPr>
          <a:lstStyle/>
          <a:p>
            <a:r>
              <a:rPr lang="en-US" dirty="0"/>
              <a:t>Sample exam question: Answer</a:t>
            </a:r>
          </a:p>
        </p:txBody>
      </p:sp>
      <p:sp>
        <p:nvSpPr>
          <p:cNvPr id="4" name="Text Placeholder 3">
            <a:extLst>
              <a:ext uri="{FF2B5EF4-FFF2-40B4-BE49-F238E27FC236}">
                <a16:creationId xmlns:a16="http://schemas.microsoft.com/office/drawing/2014/main" id="{2D1032F5-5931-4A8E-B1A1-5F924A4E986A}"/>
              </a:ext>
            </a:extLst>
          </p:cNvPr>
          <p:cNvSpPr>
            <a:spLocks noGrp="1"/>
          </p:cNvSpPr>
          <p:nvPr>
            <p:ph type="body" idx="1"/>
          </p:nvPr>
        </p:nvSpPr>
        <p:spPr>
          <a:xfrm>
            <a:off x="1" y="697780"/>
            <a:ext cx="12191998" cy="1729472"/>
          </a:xfrm>
        </p:spPr>
        <p:txBody>
          <a:bodyPr>
            <a:noAutofit/>
          </a:bodyPr>
          <a:lstStyle/>
          <a:p>
            <a:r>
              <a:rPr lang="en-US" sz="1600" dirty="0"/>
              <a:t>The correct answer is C. </a:t>
            </a:r>
          </a:p>
        </p:txBody>
      </p:sp>
      <p:grpSp>
        <p:nvGrpSpPr>
          <p:cNvPr id="6" name="Group choices and responses">
            <a:extLst>
              <a:ext uri="{FF2B5EF4-FFF2-40B4-BE49-F238E27FC236}">
                <a16:creationId xmlns:a16="http://schemas.microsoft.com/office/drawing/2014/main" id="{8B9194E8-1E8C-4845-A5AA-0A0C648DD869}"/>
              </a:ext>
            </a:extLst>
          </p:cNvPr>
          <p:cNvGrpSpPr/>
          <p:nvPr/>
        </p:nvGrpSpPr>
        <p:grpSpPr>
          <a:xfrm>
            <a:off x="0" y="2492562"/>
            <a:ext cx="12192000" cy="2304508"/>
            <a:chOff x="0" y="2492562"/>
            <a:chExt cx="12192000" cy="2304508"/>
          </a:xfrm>
        </p:grpSpPr>
        <p:sp>
          <p:nvSpPr>
            <p:cNvPr id="7" name="Choice Header">
              <a:extLst>
                <a:ext uri="{FF2B5EF4-FFF2-40B4-BE49-F238E27FC236}">
                  <a16:creationId xmlns:a16="http://schemas.microsoft.com/office/drawing/2014/main" id="{3E3755FE-66B5-49CC-855D-2AFAAF8A73A6}"/>
                </a:ext>
              </a:extLst>
            </p:cNvPr>
            <p:cNvSpPr txBox="1">
              <a:spLocks/>
            </p:cNvSpPr>
            <p:nvPr/>
          </p:nvSpPr>
          <p:spPr>
            <a:xfrm>
              <a:off x="0" y="2492562"/>
              <a:ext cx="887413" cy="317500"/>
            </a:xfrm>
            <a:prstGeom prst="rect">
              <a:avLst/>
            </a:prstGeom>
            <a:solidFill>
              <a:schemeClr val="accent2"/>
            </a:solidFill>
            <a:ln>
              <a:noFill/>
            </a:ln>
          </p:spPr>
          <p:txBody>
            <a:bodyPr lIns="0" rIns="0">
              <a:noAutofit/>
            </a:bodyPr>
            <a:lstStyle>
              <a:defPPr>
                <a:defRPr lang="en-US"/>
              </a:defPPr>
              <a:lvl1pPr marL="0" indent="0" algn="ctr"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t>Choice</a:t>
              </a:r>
            </a:p>
          </p:txBody>
        </p:sp>
        <p:sp>
          <p:nvSpPr>
            <p:cNvPr id="8" name="Response Header">
              <a:extLst>
                <a:ext uri="{FF2B5EF4-FFF2-40B4-BE49-F238E27FC236}">
                  <a16:creationId xmlns:a16="http://schemas.microsoft.com/office/drawing/2014/main" id="{60558D72-BD1A-4B7D-9939-2FCA132FBF6D}"/>
                </a:ext>
              </a:extLst>
            </p:cNvPr>
            <p:cNvSpPr txBox="1">
              <a:spLocks/>
            </p:cNvSpPr>
            <p:nvPr/>
          </p:nvSpPr>
          <p:spPr>
            <a:xfrm>
              <a:off x="907950" y="2492562"/>
              <a:ext cx="11284050" cy="317500"/>
            </a:xfrm>
            <a:prstGeom prst="rect">
              <a:avLst/>
            </a:prstGeom>
            <a:solidFill>
              <a:schemeClr val="accent2"/>
            </a:solidFill>
            <a:ln>
              <a:noFill/>
            </a:ln>
          </p:spPr>
          <p:txBody>
            <a:bodyPr lIns="91440" rIns="0">
              <a:noAutofit/>
            </a:bodyPr>
            <a:lstStyle>
              <a:defPPr>
                <a:defRPr lang="en-US"/>
              </a:defPPr>
              <a:lvl1pPr marL="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dirty="0"/>
                <a:t>Response</a:t>
              </a:r>
            </a:p>
          </p:txBody>
        </p:sp>
        <p:sp>
          <p:nvSpPr>
            <p:cNvPr id="13" name="Third Resp #">
              <a:extLst>
                <a:ext uri="{FF2B5EF4-FFF2-40B4-BE49-F238E27FC236}">
                  <a16:creationId xmlns:a16="http://schemas.microsoft.com/office/drawing/2014/main" id="{D3D9828D-2026-4471-8E3E-251D638B962F}"/>
                </a:ext>
              </a:extLst>
            </p:cNvPr>
            <p:cNvSpPr txBox="1">
              <a:spLocks/>
            </p:cNvSpPr>
            <p:nvPr/>
          </p:nvSpPr>
          <p:spPr>
            <a:xfrm>
              <a:off x="1" y="4156990"/>
              <a:ext cx="888136"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800" dirty="0"/>
                <a:t>C</a:t>
              </a:r>
            </a:p>
          </p:txBody>
        </p:sp>
        <p:sp>
          <p:nvSpPr>
            <p:cNvPr id="14" name="Third Resp Text">
              <a:extLst>
                <a:ext uri="{FF2B5EF4-FFF2-40B4-BE49-F238E27FC236}">
                  <a16:creationId xmlns:a16="http://schemas.microsoft.com/office/drawing/2014/main" id="{C77A67E1-7AFF-48EB-A76D-E090A7C28BB9}"/>
                </a:ext>
              </a:extLst>
            </p:cNvPr>
            <p:cNvSpPr txBox="1">
              <a:spLocks/>
            </p:cNvSpPr>
            <p:nvPr/>
          </p:nvSpPr>
          <p:spPr>
            <a:xfrm>
              <a:off x="907950" y="4156990"/>
              <a:ext cx="10972800" cy="640080"/>
            </a:xfrm>
            <a:prstGeom prst="rect">
              <a:avLst/>
            </a:prstGeom>
            <a:solidFill>
              <a:schemeClr val="bg1"/>
            </a:solidFill>
            <a:ln>
              <a:solidFill>
                <a:schemeClr val="bg1"/>
              </a:solidFill>
            </a:ln>
          </p:spPr>
          <p:txBody>
            <a:bodyPr lIns="91440" tIns="91440" rIns="0" bIns="9144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r>
                <a:rPr lang="en-US" sz="1600" dirty="0"/>
                <a:t>Use a business intelligence (BI) tool to analyze sales data for the previous two quarters. Then, generate a hypothesis as to why the online sales are not in line with expectations.</a:t>
              </a:r>
            </a:p>
          </p:txBody>
        </p:sp>
      </p:grpSp>
    </p:spTree>
    <p:custDataLst>
      <p:tags r:id="rId1"/>
    </p:custDataLst>
    <p:extLst>
      <p:ext uri="{BB962C8B-B14F-4D97-AF65-F5344CB8AC3E}">
        <p14:creationId xmlns:p14="http://schemas.microsoft.com/office/powerpoint/2010/main" val="226555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5DAE2A-A21B-6A10-041E-C57E66546AE9}"/>
              </a:ext>
            </a:extLst>
          </p:cNvPr>
          <p:cNvSpPr>
            <a:spLocks noGrp="1"/>
          </p:cNvSpPr>
          <p:nvPr>
            <p:ph type="title"/>
          </p:nvPr>
        </p:nvSpPr>
        <p:spPr/>
        <p:txBody>
          <a:bodyPr>
            <a:normAutofit/>
          </a:bodyPr>
          <a:lstStyle/>
          <a:p>
            <a:r>
              <a:rPr lang="en-US" sz="4800" dirty="0"/>
              <a:t>Ingesting Data by Batch or Stream</a:t>
            </a:r>
          </a:p>
        </p:txBody>
      </p:sp>
      <p:sp>
        <p:nvSpPr>
          <p:cNvPr id="5" name="Text Placeholder 4">
            <a:extLst>
              <a:ext uri="{FF2B5EF4-FFF2-40B4-BE49-F238E27FC236}">
                <a16:creationId xmlns:a16="http://schemas.microsoft.com/office/drawing/2014/main" id="{289F26BB-0036-88DE-2065-CC18B917A9A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42003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41056-3CCF-726C-9331-F91DE2941576}"/>
              </a:ext>
            </a:extLst>
          </p:cNvPr>
          <p:cNvSpPr>
            <a:spLocks noGrp="1"/>
          </p:cNvSpPr>
          <p:nvPr>
            <p:ph type="title"/>
          </p:nvPr>
        </p:nvSpPr>
        <p:spPr/>
        <p:txBody>
          <a:bodyPr/>
          <a:lstStyle/>
          <a:p>
            <a:r>
              <a:rPr lang="en-US" dirty="0"/>
              <a:t>Ingesting by Batch or Stream</a:t>
            </a:r>
          </a:p>
        </p:txBody>
      </p:sp>
      <p:sp>
        <p:nvSpPr>
          <p:cNvPr id="3" name="Content Placeholder 2">
            <a:extLst>
              <a:ext uri="{FF2B5EF4-FFF2-40B4-BE49-F238E27FC236}">
                <a16:creationId xmlns:a16="http://schemas.microsoft.com/office/drawing/2014/main" id="{72049CBB-D1A2-1818-AE17-B2EAAB6FA189}"/>
              </a:ext>
            </a:extLst>
          </p:cNvPr>
          <p:cNvSpPr>
            <a:spLocks noGrp="1"/>
          </p:cNvSpPr>
          <p:nvPr>
            <p:ph idx="1"/>
          </p:nvPr>
        </p:nvSpPr>
        <p:spPr/>
        <p:txBody>
          <a:bodyPr/>
          <a:lstStyle/>
          <a:p>
            <a:pPr marL="0" indent="0">
              <a:buNone/>
            </a:pPr>
            <a:r>
              <a:rPr lang="en-US" b="1" dirty="0"/>
              <a:t>Objective:</a:t>
            </a:r>
            <a:r>
              <a:rPr lang="en-US" dirty="0"/>
              <a:t> Understand how to design, build, and scale data ingestion pipelines using AWS services.</a:t>
            </a:r>
          </a:p>
          <a:p>
            <a:pPr>
              <a:buNone/>
            </a:pPr>
            <a:r>
              <a:rPr lang="en-US" b="1" dirty="0"/>
              <a:t>You will learn to:</a:t>
            </a:r>
            <a:endParaRPr lang="en-US" dirty="0"/>
          </a:p>
          <a:p>
            <a:pPr>
              <a:buFont typeface="Arial" panose="020B0604020202020204" pitchFamily="34" charset="0"/>
              <a:buChar char="•"/>
            </a:pPr>
            <a:r>
              <a:rPr lang="en-US" dirty="0"/>
              <a:t>Identify the tasks involved in building an ingestion layer.</a:t>
            </a:r>
          </a:p>
          <a:p>
            <a:pPr>
              <a:buFont typeface="Arial" panose="020B0604020202020204" pitchFamily="34" charset="0"/>
              <a:buChar char="•"/>
            </a:pPr>
            <a:r>
              <a:rPr lang="en-US" dirty="0"/>
              <a:t>Compare batch and stream ingestion strategies.</a:t>
            </a:r>
          </a:p>
          <a:p>
            <a:pPr>
              <a:buFont typeface="Arial" panose="020B0604020202020204" pitchFamily="34" charset="0"/>
              <a:buChar char="•"/>
            </a:pPr>
            <a:r>
              <a:rPr lang="en-US" dirty="0"/>
              <a:t>Understand AWS Glue for batch ingestion.</a:t>
            </a:r>
          </a:p>
          <a:p>
            <a:pPr>
              <a:buFont typeface="Arial" panose="020B0604020202020204" pitchFamily="34" charset="0"/>
              <a:buChar char="•"/>
            </a:pPr>
            <a:r>
              <a:rPr lang="en-US" dirty="0"/>
              <a:t>Learn about Amazon Kinesis for stream ingestion.</a:t>
            </a:r>
          </a:p>
          <a:p>
            <a:pPr>
              <a:buFont typeface="Arial" panose="020B0604020202020204" pitchFamily="34" charset="0"/>
              <a:buChar char="•"/>
            </a:pPr>
            <a:r>
              <a:rPr lang="en-US" dirty="0"/>
              <a:t>Explore ingestion for IoT data using AWS IoT Core and AWS IoT Analytics.</a:t>
            </a:r>
          </a:p>
          <a:p>
            <a:pPr>
              <a:buFont typeface="Arial" panose="020B0604020202020204" pitchFamily="34" charset="0"/>
              <a:buChar char="•"/>
            </a:pPr>
            <a:r>
              <a:rPr lang="en-US" dirty="0"/>
              <a:t>Address performance and scaling considerations in ingestion pipelines.</a:t>
            </a:r>
          </a:p>
          <a:p>
            <a:endParaRPr lang="en-US" dirty="0"/>
          </a:p>
        </p:txBody>
      </p:sp>
    </p:spTree>
    <p:extLst>
      <p:ext uri="{BB962C8B-B14F-4D97-AF65-F5344CB8AC3E}">
        <p14:creationId xmlns:p14="http://schemas.microsoft.com/office/powerpoint/2010/main" val="3095191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32ACF-2BBE-4D3E-BAFD-94E514F1D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460CD4-C9D4-7D81-592B-82AE9017297D}"/>
              </a:ext>
            </a:extLst>
          </p:cNvPr>
          <p:cNvSpPr>
            <a:spLocks noGrp="1"/>
          </p:cNvSpPr>
          <p:nvPr>
            <p:ph type="title"/>
          </p:nvPr>
        </p:nvSpPr>
        <p:spPr/>
        <p:txBody>
          <a:bodyPr>
            <a:normAutofit/>
          </a:bodyPr>
          <a:lstStyle/>
          <a:p>
            <a:r>
              <a:rPr lang="en-US" dirty="0"/>
              <a:t>Comparing Batch and Stream Ingestion</a:t>
            </a:r>
          </a:p>
        </p:txBody>
      </p:sp>
      <p:sp>
        <p:nvSpPr>
          <p:cNvPr id="3" name="Content Placeholder 2">
            <a:extLst>
              <a:ext uri="{FF2B5EF4-FFF2-40B4-BE49-F238E27FC236}">
                <a16:creationId xmlns:a16="http://schemas.microsoft.com/office/drawing/2014/main" id="{0F678EF9-E764-A624-249B-012102585840}"/>
              </a:ext>
            </a:extLst>
          </p:cNvPr>
          <p:cNvSpPr>
            <a:spLocks noGrp="1"/>
          </p:cNvSpPr>
          <p:nvPr>
            <p:ph idx="1"/>
          </p:nvPr>
        </p:nvSpPr>
        <p:spPr/>
        <p:txBody>
          <a:bodyPr>
            <a:normAutofit fontScale="85000" lnSpcReduction="20000"/>
          </a:bodyPr>
          <a:lstStyle/>
          <a:p>
            <a:pPr>
              <a:buNone/>
            </a:pPr>
            <a:r>
              <a:rPr lang="en-US" b="1" dirty="0"/>
              <a:t>Batch Ingestion:</a:t>
            </a:r>
            <a:endParaRPr lang="en-US" dirty="0"/>
          </a:p>
          <a:p>
            <a:pPr>
              <a:buFont typeface="Arial" panose="020B0604020202020204" pitchFamily="34" charset="0"/>
              <a:buChar char="•"/>
            </a:pPr>
            <a:r>
              <a:rPr lang="en-US" dirty="0"/>
              <a:t>Collects and processes data in fixed-size datasets.</a:t>
            </a:r>
          </a:p>
          <a:p>
            <a:pPr>
              <a:buFont typeface="Arial" panose="020B0604020202020204" pitchFamily="34" charset="0"/>
              <a:buChar char="•"/>
            </a:pPr>
            <a:r>
              <a:rPr lang="en-US" dirty="0"/>
              <a:t>Triggered on demand, by schedule, or events.</a:t>
            </a:r>
          </a:p>
          <a:p>
            <a:pPr>
              <a:buFont typeface="Arial" panose="020B0604020202020204" pitchFamily="34" charset="0"/>
              <a:buChar char="•"/>
            </a:pPr>
            <a:r>
              <a:rPr lang="en-US" dirty="0"/>
              <a:t>Ideal for periodic reporting and aggregated analytics.</a:t>
            </a:r>
          </a:p>
          <a:p>
            <a:pPr>
              <a:buNone/>
            </a:pPr>
            <a:r>
              <a:rPr lang="en-US" b="1" dirty="0"/>
              <a:t>Streaming Ingestion:</a:t>
            </a:r>
            <a:endParaRPr lang="en-US" dirty="0"/>
          </a:p>
          <a:p>
            <a:pPr>
              <a:buFont typeface="Arial" panose="020B0604020202020204" pitchFamily="34" charset="0"/>
              <a:buChar char="•"/>
            </a:pPr>
            <a:r>
              <a:rPr lang="en-US" dirty="0"/>
              <a:t>Continuously collects data in near real-time.</a:t>
            </a:r>
          </a:p>
          <a:p>
            <a:pPr>
              <a:buFont typeface="Arial" panose="020B0604020202020204" pitchFamily="34" charset="0"/>
              <a:buChar char="•"/>
            </a:pPr>
            <a:r>
              <a:rPr lang="en-US" dirty="0"/>
              <a:t>Processes data immediately upon arrival.</a:t>
            </a:r>
          </a:p>
          <a:p>
            <a:pPr>
              <a:buFont typeface="Arial" panose="020B0604020202020204" pitchFamily="34" charset="0"/>
              <a:buChar char="•"/>
            </a:pPr>
            <a:r>
              <a:rPr lang="en-US" dirty="0"/>
              <a:t>Suitable for real-time dashboards, recommendations, and alerts.</a:t>
            </a:r>
          </a:p>
          <a:p>
            <a:pPr>
              <a:buNone/>
            </a:pPr>
            <a:r>
              <a:rPr lang="en-US" b="1" dirty="0"/>
              <a:t>Key Decision Factors:</a:t>
            </a:r>
            <a:endParaRPr lang="en-US" dirty="0"/>
          </a:p>
          <a:p>
            <a:pPr>
              <a:buFont typeface="Arial" panose="020B0604020202020204" pitchFamily="34" charset="0"/>
              <a:buChar char="•"/>
            </a:pPr>
            <a:r>
              <a:rPr lang="en-US" b="1" dirty="0"/>
              <a:t>Volume:</a:t>
            </a:r>
            <a:r>
              <a:rPr lang="en-US" dirty="0"/>
              <a:t> Total amount of data to ingest.</a:t>
            </a:r>
          </a:p>
          <a:p>
            <a:pPr>
              <a:buFont typeface="Arial" panose="020B0604020202020204" pitchFamily="34" charset="0"/>
              <a:buChar char="•"/>
            </a:pPr>
            <a:r>
              <a:rPr lang="en-US" b="1" dirty="0"/>
              <a:t>Velocity:</a:t>
            </a:r>
            <a:r>
              <a:rPr lang="en-US" dirty="0"/>
              <a:t> Frequency at which data arrives.</a:t>
            </a:r>
          </a:p>
          <a:p>
            <a:pPr>
              <a:buFont typeface="Arial" panose="020B0604020202020204" pitchFamily="34" charset="0"/>
              <a:buChar char="•"/>
            </a:pPr>
            <a:r>
              <a:rPr lang="en-US" b="1" dirty="0"/>
              <a:t>Use Case Examples:</a:t>
            </a:r>
            <a:endParaRPr lang="en-US" dirty="0"/>
          </a:p>
          <a:p>
            <a:pPr marL="742950" lvl="1" indent="-285750">
              <a:buFont typeface="Arial" panose="020B0604020202020204" pitchFamily="34" charset="0"/>
              <a:buChar char="•"/>
            </a:pPr>
            <a:r>
              <a:rPr lang="en-US" dirty="0"/>
              <a:t>Batch: Retail sales aggregated daily.</a:t>
            </a:r>
          </a:p>
          <a:p>
            <a:pPr marL="742950" lvl="1" indent="-285750">
              <a:buFont typeface="Arial" panose="020B0604020202020204" pitchFamily="34" charset="0"/>
              <a:buChar char="•"/>
            </a:pPr>
            <a:r>
              <a:rPr lang="en-US" dirty="0"/>
              <a:t>Stream: Website clickstream analysis.</a:t>
            </a:r>
          </a:p>
          <a:p>
            <a:endParaRPr lang="en-US" dirty="0"/>
          </a:p>
        </p:txBody>
      </p:sp>
    </p:spTree>
    <p:extLst>
      <p:ext uri="{BB962C8B-B14F-4D97-AF65-F5344CB8AC3E}">
        <p14:creationId xmlns:p14="http://schemas.microsoft.com/office/powerpoint/2010/main" val="2291173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9D728-667F-C7CC-B25C-F42E6FD0E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1DA89E-8F6E-164D-E8EE-A45616CF6FE7}"/>
              </a:ext>
            </a:extLst>
          </p:cNvPr>
          <p:cNvSpPr>
            <a:spLocks noGrp="1"/>
          </p:cNvSpPr>
          <p:nvPr>
            <p:ph type="title"/>
          </p:nvPr>
        </p:nvSpPr>
        <p:spPr/>
        <p:txBody>
          <a:bodyPr>
            <a:normAutofit/>
          </a:bodyPr>
          <a:lstStyle/>
          <a:p>
            <a:r>
              <a:rPr lang="en-US" dirty="0"/>
              <a:t>Batch Ingestion Pipeline – Tasks and Considerations</a:t>
            </a:r>
          </a:p>
        </p:txBody>
      </p:sp>
      <p:sp>
        <p:nvSpPr>
          <p:cNvPr id="3" name="Content Placeholder 2">
            <a:extLst>
              <a:ext uri="{FF2B5EF4-FFF2-40B4-BE49-F238E27FC236}">
                <a16:creationId xmlns:a16="http://schemas.microsoft.com/office/drawing/2014/main" id="{9452B6AF-0CC1-F2E4-6AD4-B0D6024CD4BD}"/>
              </a:ext>
            </a:extLst>
          </p:cNvPr>
          <p:cNvSpPr>
            <a:spLocks noGrp="1"/>
          </p:cNvSpPr>
          <p:nvPr>
            <p:ph idx="1"/>
          </p:nvPr>
        </p:nvSpPr>
        <p:spPr/>
        <p:txBody>
          <a:bodyPr/>
          <a:lstStyle/>
          <a:p>
            <a:pPr>
              <a:buNone/>
            </a:pPr>
            <a:r>
              <a:rPr lang="en-US" b="1" dirty="0"/>
              <a:t>Common Steps:</a:t>
            </a:r>
            <a:endParaRPr lang="en-US" dirty="0"/>
          </a:p>
          <a:p>
            <a:pPr>
              <a:buFont typeface="Arial" panose="020B0604020202020204" pitchFamily="34" charset="0"/>
              <a:buChar char="•"/>
            </a:pPr>
            <a:r>
              <a:rPr lang="en-US" b="1" dirty="0"/>
              <a:t>Extract:</a:t>
            </a:r>
            <a:r>
              <a:rPr lang="en-US" dirty="0"/>
              <a:t> Read from source systems.</a:t>
            </a:r>
          </a:p>
          <a:p>
            <a:pPr>
              <a:buFont typeface="Arial" panose="020B0604020202020204" pitchFamily="34" charset="0"/>
              <a:buChar char="•"/>
            </a:pPr>
            <a:r>
              <a:rPr lang="en-US" b="1" dirty="0"/>
              <a:t>Transform/Load:</a:t>
            </a:r>
            <a:r>
              <a:rPr lang="en-US" dirty="0"/>
              <a:t> Clean and modify data.</a:t>
            </a:r>
          </a:p>
          <a:p>
            <a:pPr>
              <a:buFont typeface="Arial" panose="020B0604020202020204" pitchFamily="34" charset="0"/>
              <a:buChar char="•"/>
            </a:pPr>
            <a:r>
              <a:rPr lang="en-US" b="1" dirty="0"/>
              <a:t>Load/Transform:</a:t>
            </a:r>
            <a:r>
              <a:rPr lang="en-US" dirty="0"/>
              <a:t> Load into target system and transform in place.</a:t>
            </a:r>
          </a:p>
          <a:p>
            <a:pPr>
              <a:buNone/>
            </a:pPr>
            <a:r>
              <a:rPr lang="en-US" b="1" dirty="0"/>
              <a:t>Design Requirements:</a:t>
            </a:r>
            <a:endParaRPr lang="en-US" dirty="0"/>
          </a:p>
          <a:p>
            <a:pPr>
              <a:buFont typeface="Arial" panose="020B0604020202020204" pitchFamily="34" charset="0"/>
              <a:buChar char="•"/>
            </a:pPr>
            <a:r>
              <a:rPr lang="en-US" b="1" dirty="0"/>
              <a:t>Ease of Use:</a:t>
            </a:r>
            <a:r>
              <a:rPr lang="en-US" dirty="0"/>
              <a:t> Low-code or no-code tools; serverless options.</a:t>
            </a:r>
          </a:p>
          <a:p>
            <a:pPr>
              <a:buFont typeface="Arial" panose="020B0604020202020204" pitchFamily="34" charset="0"/>
              <a:buChar char="•"/>
            </a:pPr>
            <a:r>
              <a:rPr lang="en-US" b="1" dirty="0"/>
              <a:t>Scalability:</a:t>
            </a:r>
            <a:r>
              <a:rPr lang="en-US" dirty="0"/>
              <a:t> Ability to handle large, diverse data volumes.</a:t>
            </a:r>
          </a:p>
          <a:p>
            <a:pPr>
              <a:buFont typeface="Arial" panose="020B0604020202020204" pitchFamily="34" charset="0"/>
              <a:buChar char="•"/>
            </a:pPr>
            <a:r>
              <a:rPr lang="en-US" b="1" dirty="0"/>
              <a:t>Monitoring:</a:t>
            </a:r>
            <a:r>
              <a:rPr lang="en-US" dirty="0"/>
              <a:t> Workflow orchestration, logging, alerting.</a:t>
            </a:r>
          </a:p>
          <a:p>
            <a:pPr>
              <a:buFont typeface="Arial" panose="020B0604020202020204" pitchFamily="34" charset="0"/>
              <a:buChar char="•"/>
            </a:pPr>
            <a:r>
              <a:rPr lang="en-US" b="1" dirty="0"/>
              <a:t>Cost Optimization:</a:t>
            </a:r>
            <a:r>
              <a:rPr lang="en-US" dirty="0"/>
              <a:t> Pay-as-you-go models and auto-scaling.</a:t>
            </a:r>
          </a:p>
          <a:p>
            <a:endParaRPr lang="en-US" dirty="0"/>
          </a:p>
        </p:txBody>
      </p:sp>
    </p:spTree>
    <p:extLst>
      <p:ext uri="{BB962C8B-B14F-4D97-AF65-F5344CB8AC3E}">
        <p14:creationId xmlns:p14="http://schemas.microsoft.com/office/powerpoint/2010/main" val="659999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92FBE-2658-AA94-A2F6-07A411E98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98531-D82A-4787-B364-9F4E9573AAD5}"/>
              </a:ext>
            </a:extLst>
          </p:cNvPr>
          <p:cNvSpPr>
            <a:spLocks noGrp="1"/>
          </p:cNvSpPr>
          <p:nvPr>
            <p:ph type="title"/>
          </p:nvPr>
        </p:nvSpPr>
        <p:spPr/>
        <p:txBody>
          <a:bodyPr/>
          <a:lstStyle/>
          <a:p>
            <a:r>
              <a:rPr lang="en-US" dirty="0"/>
              <a:t>Purpose-Built AWS Tools for Batch Ingestion</a:t>
            </a:r>
          </a:p>
        </p:txBody>
      </p:sp>
      <p:graphicFrame>
        <p:nvGraphicFramePr>
          <p:cNvPr id="5" name="Content Placeholder 4">
            <a:extLst>
              <a:ext uri="{FF2B5EF4-FFF2-40B4-BE49-F238E27FC236}">
                <a16:creationId xmlns:a16="http://schemas.microsoft.com/office/drawing/2014/main" id="{BA33975F-AFC3-C6A6-C4D3-8E90C74CCECB}"/>
              </a:ext>
            </a:extLst>
          </p:cNvPr>
          <p:cNvGraphicFramePr>
            <a:graphicFrameLocks noGrp="1"/>
          </p:cNvGraphicFramePr>
          <p:nvPr>
            <p:ph idx="1"/>
          </p:nvPr>
        </p:nvGraphicFramePr>
        <p:xfrm>
          <a:off x="838200" y="1776481"/>
          <a:ext cx="10515600" cy="265176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3002831535"/>
                    </a:ext>
                  </a:extLst>
                </a:gridCol>
                <a:gridCol w="3505200">
                  <a:extLst>
                    <a:ext uri="{9D8B030D-6E8A-4147-A177-3AD203B41FA5}">
                      <a16:colId xmlns:a16="http://schemas.microsoft.com/office/drawing/2014/main" val="1854493357"/>
                    </a:ext>
                  </a:extLst>
                </a:gridCol>
                <a:gridCol w="3505200">
                  <a:extLst>
                    <a:ext uri="{9D8B030D-6E8A-4147-A177-3AD203B41FA5}">
                      <a16:colId xmlns:a16="http://schemas.microsoft.com/office/drawing/2014/main" val="1996871427"/>
                    </a:ext>
                  </a:extLst>
                </a:gridCol>
              </a:tblGrid>
              <a:tr h="0">
                <a:tc>
                  <a:txBody>
                    <a:bodyPr/>
                    <a:lstStyle/>
                    <a:p>
                      <a:pPr algn="ctr"/>
                      <a:r>
                        <a:rPr lang="en-US" b="1" dirty="0"/>
                        <a:t>Tool</a:t>
                      </a:r>
                      <a:endParaRPr lang="en-US" dirty="0"/>
                    </a:p>
                  </a:txBody>
                  <a:tcPr anchor="ctr">
                    <a:solidFill>
                      <a:schemeClr val="bg1">
                        <a:lumMod val="85000"/>
                      </a:schemeClr>
                    </a:solidFill>
                  </a:tcPr>
                </a:tc>
                <a:tc>
                  <a:txBody>
                    <a:bodyPr/>
                    <a:lstStyle/>
                    <a:p>
                      <a:pPr algn="ctr"/>
                      <a:r>
                        <a:rPr lang="en-US" b="1" dirty="0"/>
                        <a:t>Best For</a:t>
                      </a:r>
                      <a:endParaRPr lang="en-US" dirty="0"/>
                    </a:p>
                  </a:txBody>
                  <a:tcPr anchor="ctr">
                    <a:solidFill>
                      <a:schemeClr val="bg1">
                        <a:lumMod val="85000"/>
                      </a:schemeClr>
                    </a:solidFill>
                  </a:tcPr>
                </a:tc>
                <a:tc>
                  <a:txBody>
                    <a:bodyPr/>
                    <a:lstStyle/>
                    <a:p>
                      <a:pPr algn="ctr"/>
                      <a:r>
                        <a:rPr lang="en-US" b="1" dirty="0"/>
                        <a:t>Example Use Case</a:t>
                      </a:r>
                      <a:endParaRPr lang="en-US" dirty="0"/>
                    </a:p>
                  </a:txBody>
                  <a:tcPr anchor="ctr">
                    <a:solidFill>
                      <a:schemeClr val="bg1">
                        <a:lumMod val="85000"/>
                      </a:schemeClr>
                    </a:solidFill>
                  </a:tcPr>
                </a:tc>
                <a:extLst>
                  <a:ext uri="{0D108BD9-81ED-4DB2-BD59-A6C34878D82A}">
                    <a16:rowId xmlns:a16="http://schemas.microsoft.com/office/drawing/2014/main" val="2013738536"/>
                  </a:ext>
                </a:extLst>
              </a:tr>
              <a:tr h="0">
                <a:tc>
                  <a:txBody>
                    <a:bodyPr/>
                    <a:lstStyle/>
                    <a:p>
                      <a:r>
                        <a:rPr lang="en-US" b="1"/>
                        <a:t>Amazon AppFlow</a:t>
                      </a:r>
                      <a:endParaRPr lang="en-US"/>
                    </a:p>
                  </a:txBody>
                  <a:tcPr anchor="ctr"/>
                </a:tc>
                <a:tc>
                  <a:txBody>
                    <a:bodyPr/>
                    <a:lstStyle/>
                    <a:p>
                      <a:r>
                        <a:rPr lang="en-US"/>
                        <a:t>SaaS data integration</a:t>
                      </a:r>
                    </a:p>
                  </a:txBody>
                  <a:tcPr anchor="ctr"/>
                </a:tc>
                <a:tc>
                  <a:txBody>
                    <a:bodyPr/>
                    <a:lstStyle/>
                    <a:p>
                      <a:r>
                        <a:rPr lang="en-US"/>
                        <a:t>Ingesting support tickets from Zendesk</a:t>
                      </a:r>
                    </a:p>
                  </a:txBody>
                  <a:tcPr anchor="ctr"/>
                </a:tc>
                <a:extLst>
                  <a:ext uri="{0D108BD9-81ED-4DB2-BD59-A6C34878D82A}">
                    <a16:rowId xmlns:a16="http://schemas.microsoft.com/office/drawing/2014/main" val="3296264271"/>
                  </a:ext>
                </a:extLst>
              </a:tr>
              <a:tr h="0">
                <a:tc>
                  <a:txBody>
                    <a:bodyPr/>
                    <a:lstStyle/>
                    <a:p>
                      <a:r>
                        <a:rPr lang="en-US" b="1"/>
                        <a:t>AWS DMS</a:t>
                      </a:r>
                      <a:endParaRPr lang="en-US"/>
                    </a:p>
                  </a:txBody>
                  <a:tcPr anchor="ctr"/>
                </a:tc>
                <a:tc>
                  <a:txBody>
                    <a:bodyPr/>
                    <a:lstStyle/>
                    <a:p>
                      <a:r>
                        <a:rPr lang="en-US"/>
                        <a:t>Relational database migration</a:t>
                      </a:r>
                    </a:p>
                  </a:txBody>
                  <a:tcPr anchor="ctr"/>
                </a:tc>
                <a:tc>
                  <a:txBody>
                    <a:bodyPr/>
                    <a:lstStyle/>
                    <a:p>
                      <a:r>
                        <a:rPr lang="en-US"/>
                        <a:t>Oracle to Amazon Redshift data migration</a:t>
                      </a:r>
                    </a:p>
                  </a:txBody>
                  <a:tcPr anchor="ctr"/>
                </a:tc>
                <a:extLst>
                  <a:ext uri="{0D108BD9-81ED-4DB2-BD59-A6C34878D82A}">
                    <a16:rowId xmlns:a16="http://schemas.microsoft.com/office/drawing/2014/main" val="1541124128"/>
                  </a:ext>
                </a:extLst>
              </a:tr>
              <a:tr h="0">
                <a:tc>
                  <a:txBody>
                    <a:bodyPr/>
                    <a:lstStyle/>
                    <a:p>
                      <a:r>
                        <a:rPr lang="en-US" b="1"/>
                        <a:t>AWS DataSync</a:t>
                      </a:r>
                      <a:endParaRPr lang="en-US"/>
                    </a:p>
                  </a:txBody>
                  <a:tcPr anchor="ctr"/>
                </a:tc>
                <a:tc>
                  <a:txBody>
                    <a:bodyPr/>
                    <a:lstStyle/>
                    <a:p>
                      <a:r>
                        <a:rPr lang="en-US"/>
                        <a:t>File system data transfer</a:t>
                      </a:r>
                    </a:p>
                  </a:txBody>
                  <a:tcPr anchor="ctr"/>
                </a:tc>
                <a:tc>
                  <a:txBody>
                    <a:bodyPr/>
                    <a:lstStyle/>
                    <a:p>
                      <a:r>
                        <a:rPr lang="en-US"/>
                        <a:t>Genome files to Amazon S3</a:t>
                      </a:r>
                    </a:p>
                  </a:txBody>
                  <a:tcPr anchor="ctr"/>
                </a:tc>
                <a:extLst>
                  <a:ext uri="{0D108BD9-81ED-4DB2-BD59-A6C34878D82A}">
                    <a16:rowId xmlns:a16="http://schemas.microsoft.com/office/drawing/2014/main" val="230199619"/>
                  </a:ext>
                </a:extLst>
              </a:tr>
              <a:tr h="0">
                <a:tc>
                  <a:txBody>
                    <a:bodyPr/>
                    <a:lstStyle/>
                    <a:p>
                      <a:r>
                        <a:rPr lang="en-US" b="1" dirty="0"/>
                        <a:t>AWS Data Exchange</a:t>
                      </a:r>
                      <a:endParaRPr lang="en-US" dirty="0"/>
                    </a:p>
                  </a:txBody>
                  <a:tcPr anchor="ctr"/>
                </a:tc>
                <a:tc>
                  <a:txBody>
                    <a:bodyPr/>
                    <a:lstStyle/>
                    <a:p>
                      <a:r>
                        <a:rPr lang="en-US"/>
                        <a:t>Ingesting third-party datasets</a:t>
                      </a:r>
                    </a:p>
                  </a:txBody>
                  <a:tcPr anchor="ctr"/>
                </a:tc>
                <a:tc>
                  <a:txBody>
                    <a:bodyPr/>
                    <a:lstStyle/>
                    <a:p>
                      <a:r>
                        <a:rPr lang="en-US" dirty="0"/>
                        <a:t>Clinical health data from data providers</a:t>
                      </a:r>
                    </a:p>
                  </a:txBody>
                  <a:tcPr anchor="ctr"/>
                </a:tc>
                <a:extLst>
                  <a:ext uri="{0D108BD9-81ED-4DB2-BD59-A6C34878D82A}">
                    <a16:rowId xmlns:a16="http://schemas.microsoft.com/office/drawing/2014/main" val="2829418319"/>
                  </a:ext>
                </a:extLst>
              </a:tr>
            </a:tbl>
          </a:graphicData>
        </a:graphic>
      </p:graphicFrame>
    </p:spTree>
    <p:extLst>
      <p:ext uri="{BB962C8B-B14F-4D97-AF65-F5344CB8AC3E}">
        <p14:creationId xmlns:p14="http://schemas.microsoft.com/office/powerpoint/2010/main" val="1338099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E69E5-379B-35B8-EA82-20D242F39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3E392-75F2-5612-F4EE-5F4BB316B5FF}"/>
              </a:ext>
            </a:extLst>
          </p:cNvPr>
          <p:cNvSpPr>
            <a:spLocks noGrp="1"/>
          </p:cNvSpPr>
          <p:nvPr>
            <p:ph type="title"/>
          </p:nvPr>
        </p:nvSpPr>
        <p:spPr/>
        <p:txBody>
          <a:bodyPr>
            <a:normAutofit/>
          </a:bodyPr>
          <a:lstStyle/>
          <a:p>
            <a:r>
              <a:rPr lang="en-US" dirty="0"/>
              <a:t>AWS Glue – Simplifying Batch Ingestion</a:t>
            </a:r>
          </a:p>
        </p:txBody>
      </p:sp>
      <p:sp>
        <p:nvSpPr>
          <p:cNvPr id="3" name="Content Placeholder 2">
            <a:extLst>
              <a:ext uri="{FF2B5EF4-FFF2-40B4-BE49-F238E27FC236}">
                <a16:creationId xmlns:a16="http://schemas.microsoft.com/office/drawing/2014/main" id="{F6809E26-CE1C-1D45-4BE3-DED2F60E1DA6}"/>
              </a:ext>
            </a:extLst>
          </p:cNvPr>
          <p:cNvSpPr>
            <a:spLocks noGrp="1"/>
          </p:cNvSpPr>
          <p:nvPr>
            <p:ph idx="1"/>
          </p:nvPr>
        </p:nvSpPr>
        <p:spPr/>
        <p:txBody>
          <a:bodyPr/>
          <a:lstStyle/>
          <a:p>
            <a:pPr>
              <a:buNone/>
            </a:pPr>
            <a:r>
              <a:rPr lang="en-US" b="1" dirty="0"/>
              <a:t>What it Offers:</a:t>
            </a:r>
            <a:endParaRPr lang="en-US" dirty="0"/>
          </a:p>
          <a:p>
            <a:pPr>
              <a:buFont typeface="Arial" panose="020B0604020202020204" pitchFamily="34" charset="0"/>
              <a:buChar char="•"/>
            </a:pPr>
            <a:r>
              <a:rPr lang="en-US" b="1" dirty="0"/>
              <a:t>Schema Detection:</a:t>
            </a:r>
            <a:r>
              <a:rPr lang="en-US" dirty="0"/>
              <a:t> Crawlers infer schema from raw data.</a:t>
            </a:r>
          </a:p>
          <a:p>
            <a:pPr>
              <a:buFont typeface="Arial" panose="020B0604020202020204" pitchFamily="34" charset="0"/>
              <a:buChar char="•"/>
            </a:pPr>
            <a:r>
              <a:rPr lang="en-US" b="1" dirty="0"/>
              <a:t>Central Catalog:</a:t>
            </a:r>
            <a:r>
              <a:rPr lang="en-US" dirty="0"/>
              <a:t> AWS Glue Data Catalog stores metadata.</a:t>
            </a:r>
          </a:p>
          <a:p>
            <a:pPr>
              <a:buFont typeface="Arial" panose="020B0604020202020204" pitchFamily="34" charset="0"/>
              <a:buChar char="•"/>
            </a:pPr>
            <a:r>
              <a:rPr lang="en-US" b="1" dirty="0"/>
              <a:t>Job Authoring:</a:t>
            </a:r>
            <a:r>
              <a:rPr lang="en-US" dirty="0"/>
              <a:t> Visual ETL development with Glue Studio.</a:t>
            </a:r>
          </a:p>
          <a:p>
            <a:pPr>
              <a:buFont typeface="Arial" panose="020B0604020202020204" pitchFamily="34" charset="0"/>
              <a:buChar char="•"/>
            </a:pPr>
            <a:r>
              <a:rPr lang="en-US" b="1" dirty="0"/>
              <a:t>Serverless ETL:</a:t>
            </a:r>
            <a:r>
              <a:rPr lang="en-US" dirty="0"/>
              <a:t> Spark-based jobs without managing servers.</a:t>
            </a:r>
          </a:p>
          <a:p>
            <a:pPr>
              <a:buFont typeface="Arial" panose="020B0604020202020204" pitchFamily="34" charset="0"/>
              <a:buChar char="•"/>
            </a:pPr>
            <a:r>
              <a:rPr lang="en-US" b="1" dirty="0"/>
              <a:t>Orchestration:</a:t>
            </a:r>
            <a:r>
              <a:rPr lang="en-US" dirty="0"/>
              <a:t> Workflows with triggers, dependencies, retries.</a:t>
            </a:r>
          </a:p>
          <a:p>
            <a:pPr>
              <a:buFont typeface="Arial" panose="020B0604020202020204" pitchFamily="34" charset="0"/>
              <a:buChar char="•"/>
            </a:pPr>
            <a:r>
              <a:rPr lang="en-US" b="1" dirty="0"/>
              <a:t>Monitoring:</a:t>
            </a:r>
            <a:r>
              <a:rPr lang="en-US" dirty="0"/>
              <a:t> CloudWatch insights, Spark UI, job logs.</a:t>
            </a:r>
          </a:p>
          <a:p>
            <a:endParaRPr lang="en-US" dirty="0"/>
          </a:p>
        </p:txBody>
      </p:sp>
    </p:spTree>
    <p:extLst>
      <p:ext uri="{BB962C8B-B14F-4D97-AF65-F5344CB8AC3E}">
        <p14:creationId xmlns:p14="http://schemas.microsoft.com/office/powerpoint/2010/main" val="2070932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73861-1BD4-7740-1607-4AB783DAE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89B40-D5AD-03DA-0672-F995FC07932A}"/>
              </a:ext>
            </a:extLst>
          </p:cNvPr>
          <p:cNvSpPr>
            <a:spLocks noGrp="1"/>
          </p:cNvSpPr>
          <p:nvPr>
            <p:ph type="title"/>
          </p:nvPr>
        </p:nvSpPr>
        <p:spPr/>
        <p:txBody>
          <a:bodyPr>
            <a:normAutofit/>
          </a:bodyPr>
          <a:lstStyle/>
          <a:p>
            <a:r>
              <a:rPr lang="en-US" dirty="0"/>
              <a:t>Scaling Batch Processing with AWS Glue</a:t>
            </a:r>
          </a:p>
        </p:txBody>
      </p:sp>
      <p:sp>
        <p:nvSpPr>
          <p:cNvPr id="3" name="Content Placeholder 2">
            <a:extLst>
              <a:ext uri="{FF2B5EF4-FFF2-40B4-BE49-F238E27FC236}">
                <a16:creationId xmlns:a16="http://schemas.microsoft.com/office/drawing/2014/main" id="{A199211E-2B07-8ACA-B364-C04594F6E31B}"/>
              </a:ext>
            </a:extLst>
          </p:cNvPr>
          <p:cNvSpPr>
            <a:spLocks noGrp="1"/>
          </p:cNvSpPr>
          <p:nvPr>
            <p:ph idx="1"/>
          </p:nvPr>
        </p:nvSpPr>
        <p:spPr/>
        <p:txBody>
          <a:bodyPr/>
          <a:lstStyle/>
          <a:p>
            <a:pPr>
              <a:buNone/>
            </a:pPr>
            <a:r>
              <a:rPr lang="en-US" b="1" dirty="0"/>
              <a:t>Performance Goals:</a:t>
            </a:r>
            <a:endParaRPr lang="en-US" dirty="0"/>
          </a:p>
          <a:p>
            <a:pPr>
              <a:buFont typeface="Arial" panose="020B0604020202020204" pitchFamily="34" charset="0"/>
              <a:buChar char="•"/>
            </a:pPr>
            <a:r>
              <a:rPr lang="en-US" dirty="0"/>
              <a:t>Complete within time limits, stay within budget, and reduce failures.</a:t>
            </a:r>
          </a:p>
          <a:p>
            <a:pPr>
              <a:buNone/>
            </a:pPr>
            <a:r>
              <a:rPr lang="en-US" b="1" dirty="0"/>
              <a:t>Scaling Options:</a:t>
            </a:r>
            <a:endParaRPr lang="en-US" dirty="0"/>
          </a:p>
          <a:p>
            <a:pPr>
              <a:buFont typeface="Arial" panose="020B0604020202020204" pitchFamily="34" charset="0"/>
              <a:buChar char="•"/>
            </a:pPr>
            <a:r>
              <a:rPr lang="en-US" b="1" dirty="0"/>
              <a:t>Horizontal Scaling:</a:t>
            </a:r>
            <a:r>
              <a:rPr lang="en-US" dirty="0"/>
              <a:t> Add more Glue workers. Best for large datasets.</a:t>
            </a:r>
          </a:p>
          <a:p>
            <a:pPr>
              <a:buFont typeface="Arial" panose="020B0604020202020204" pitchFamily="34" charset="0"/>
              <a:buChar char="•"/>
            </a:pPr>
            <a:r>
              <a:rPr lang="en-US" b="1" dirty="0"/>
              <a:t>Vertical Scaling:</a:t>
            </a:r>
            <a:r>
              <a:rPr lang="en-US" dirty="0"/>
              <a:t> Use more powerful workers. Ideal for memory-heavy tasks.</a:t>
            </a:r>
          </a:p>
          <a:p>
            <a:pPr>
              <a:buNone/>
            </a:pPr>
            <a:r>
              <a:rPr lang="en-US" b="1" dirty="0"/>
              <a:t>Optimization Tip:</a:t>
            </a:r>
            <a:endParaRPr lang="en-US" dirty="0"/>
          </a:p>
          <a:p>
            <a:pPr>
              <a:buFont typeface="Arial" panose="020B0604020202020204" pitchFamily="34" charset="0"/>
              <a:buChar char="•"/>
            </a:pPr>
            <a:r>
              <a:rPr lang="en-US" dirty="0"/>
              <a:t>Use fewer large files (</a:t>
            </a:r>
            <a:r>
              <a:rPr lang="en-US" dirty="0" err="1"/>
              <a:t>splittable</a:t>
            </a:r>
            <a:r>
              <a:rPr lang="en-US" dirty="0"/>
              <a:t>) over many small files to reduce overhead.</a:t>
            </a:r>
          </a:p>
          <a:p>
            <a:endParaRPr lang="en-US" dirty="0"/>
          </a:p>
        </p:txBody>
      </p:sp>
    </p:spTree>
    <p:extLst>
      <p:ext uri="{BB962C8B-B14F-4D97-AF65-F5344CB8AC3E}">
        <p14:creationId xmlns:p14="http://schemas.microsoft.com/office/powerpoint/2010/main" val="1997852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C667D-D38E-BC19-84C3-1171D9A2F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FA1556-6A50-A8B7-966D-7B71FDDA5544}"/>
              </a:ext>
            </a:extLst>
          </p:cNvPr>
          <p:cNvSpPr>
            <a:spLocks noGrp="1"/>
          </p:cNvSpPr>
          <p:nvPr>
            <p:ph type="title"/>
          </p:nvPr>
        </p:nvSpPr>
        <p:spPr/>
        <p:txBody>
          <a:bodyPr>
            <a:normAutofit/>
          </a:bodyPr>
          <a:lstStyle/>
          <a:p>
            <a:r>
              <a:rPr lang="en-US" dirty="0"/>
              <a:t>Streaming Ingestion with Kinesis</a:t>
            </a:r>
          </a:p>
        </p:txBody>
      </p:sp>
      <p:sp>
        <p:nvSpPr>
          <p:cNvPr id="3" name="Content Placeholder 2">
            <a:extLst>
              <a:ext uri="{FF2B5EF4-FFF2-40B4-BE49-F238E27FC236}">
                <a16:creationId xmlns:a16="http://schemas.microsoft.com/office/drawing/2014/main" id="{F15E9C68-557E-5436-63E6-9AA3787D6864}"/>
              </a:ext>
            </a:extLst>
          </p:cNvPr>
          <p:cNvSpPr>
            <a:spLocks noGrp="1"/>
          </p:cNvSpPr>
          <p:nvPr>
            <p:ph idx="1"/>
          </p:nvPr>
        </p:nvSpPr>
        <p:spPr/>
        <p:txBody>
          <a:bodyPr/>
          <a:lstStyle/>
          <a:p>
            <a:pPr>
              <a:buNone/>
            </a:pPr>
            <a:r>
              <a:rPr lang="en-US" b="1" dirty="0"/>
              <a:t>Tasks in a Streaming Pipeline:</a:t>
            </a:r>
            <a:endParaRPr lang="en-US" dirty="0"/>
          </a:p>
          <a:p>
            <a:pPr>
              <a:buFont typeface="Arial" panose="020B0604020202020204" pitchFamily="34" charset="0"/>
              <a:buChar char="•"/>
            </a:pPr>
            <a:r>
              <a:rPr lang="en-US" b="1" dirty="0"/>
              <a:t>Extract:</a:t>
            </a:r>
            <a:r>
              <a:rPr lang="en-US" dirty="0"/>
              <a:t> Producers push events to stream.</a:t>
            </a:r>
          </a:p>
          <a:p>
            <a:pPr>
              <a:buFont typeface="Arial" panose="020B0604020202020204" pitchFamily="34" charset="0"/>
              <a:buChar char="•"/>
            </a:pPr>
            <a:r>
              <a:rPr lang="en-US" b="1" dirty="0"/>
              <a:t>Transform/Load:</a:t>
            </a:r>
            <a:r>
              <a:rPr lang="en-US" dirty="0"/>
              <a:t> Consumers process and store data.</a:t>
            </a:r>
          </a:p>
          <a:p>
            <a:pPr>
              <a:buNone/>
            </a:pPr>
            <a:r>
              <a:rPr lang="en-US" b="1" dirty="0"/>
              <a:t>Design Features:</a:t>
            </a:r>
            <a:endParaRPr lang="en-US" dirty="0"/>
          </a:p>
          <a:p>
            <a:pPr>
              <a:buFont typeface="Arial" panose="020B0604020202020204" pitchFamily="34" charset="0"/>
              <a:buChar char="•"/>
            </a:pPr>
            <a:r>
              <a:rPr lang="en-US" b="1" dirty="0"/>
              <a:t>High Throughput:</a:t>
            </a:r>
            <a:r>
              <a:rPr lang="en-US" dirty="0"/>
              <a:t> Handle large-scale, fast-moving data.</a:t>
            </a:r>
          </a:p>
          <a:p>
            <a:pPr>
              <a:buFont typeface="Arial" panose="020B0604020202020204" pitchFamily="34" charset="0"/>
              <a:buChar char="•"/>
            </a:pPr>
            <a:r>
              <a:rPr lang="en-US" b="1" dirty="0"/>
              <a:t>Loose Coupling:</a:t>
            </a:r>
            <a:r>
              <a:rPr lang="en-US" dirty="0"/>
              <a:t> Producers and consumers work independently.</a:t>
            </a:r>
          </a:p>
          <a:p>
            <a:pPr>
              <a:buFont typeface="Arial" panose="020B0604020202020204" pitchFamily="34" charset="0"/>
              <a:buChar char="•"/>
            </a:pPr>
            <a:r>
              <a:rPr lang="en-US" b="1" dirty="0"/>
              <a:t>Parallelism:</a:t>
            </a:r>
            <a:r>
              <a:rPr lang="en-US" dirty="0"/>
              <a:t> Multiple consumers can process the same stream.</a:t>
            </a:r>
          </a:p>
          <a:p>
            <a:pPr>
              <a:buFont typeface="Arial" panose="020B0604020202020204" pitchFamily="34" charset="0"/>
              <a:buChar char="•"/>
            </a:pPr>
            <a:r>
              <a:rPr lang="en-US" b="1" dirty="0"/>
              <a:t>Fault Tolerance:</a:t>
            </a:r>
            <a:r>
              <a:rPr lang="en-US" dirty="0"/>
              <a:t> Replay events and checkpoint processing progress.</a:t>
            </a:r>
          </a:p>
          <a:p>
            <a:endParaRPr lang="en-US" dirty="0"/>
          </a:p>
        </p:txBody>
      </p:sp>
    </p:spTree>
    <p:extLst>
      <p:ext uri="{BB962C8B-B14F-4D97-AF65-F5344CB8AC3E}">
        <p14:creationId xmlns:p14="http://schemas.microsoft.com/office/powerpoint/2010/main" val="2993562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988B2-B048-908D-5D24-949295FDE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98BB-D673-73AF-5265-07A86C1EB975}"/>
              </a:ext>
            </a:extLst>
          </p:cNvPr>
          <p:cNvSpPr>
            <a:spLocks noGrp="1"/>
          </p:cNvSpPr>
          <p:nvPr>
            <p:ph type="title"/>
          </p:nvPr>
        </p:nvSpPr>
        <p:spPr/>
        <p:txBody>
          <a:bodyPr/>
          <a:lstStyle/>
          <a:p>
            <a:r>
              <a:rPr lang="en-US" dirty="0"/>
              <a:t>Purpose-Built Kinesis Services</a:t>
            </a:r>
          </a:p>
        </p:txBody>
      </p:sp>
      <p:sp>
        <p:nvSpPr>
          <p:cNvPr id="3" name="Content Placeholder 2">
            <a:extLst>
              <a:ext uri="{FF2B5EF4-FFF2-40B4-BE49-F238E27FC236}">
                <a16:creationId xmlns:a16="http://schemas.microsoft.com/office/drawing/2014/main" id="{C6CD9B5C-72CB-E5FC-801B-48A23EB45CDD}"/>
              </a:ext>
            </a:extLst>
          </p:cNvPr>
          <p:cNvSpPr>
            <a:spLocks noGrp="1"/>
          </p:cNvSpPr>
          <p:nvPr>
            <p:ph idx="1"/>
          </p:nvPr>
        </p:nvSpPr>
        <p:spPr>
          <a:xfrm>
            <a:off x="838200" y="6060477"/>
            <a:ext cx="10515600" cy="636569"/>
          </a:xfrm>
        </p:spPr>
        <p:txBody>
          <a:bodyPr/>
          <a:lstStyle/>
          <a:p>
            <a:pPr marL="0" indent="0">
              <a:buNone/>
            </a:pPr>
            <a:r>
              <a:rPr lang="en-US" b="1" dirty="0"/>
              <a:t>Integration:</a:t>
            </a:r>
            <a:r>
              <a:rPr lang="en-US" dirty="0"/>
              <a:t> Ingests from IoT devices, web sources, apps, or other AWS services.</a:t>
            </a:r>
          </a:p>
          <a:p>
            <a:endParaRPr lang="en-US" dirty="0"/>
          </a:p>
        </p:txBody>
      </p:sp>
      <p:graphicFrame>
        <p:nvGraphicFramePr>
          <p:cNvPr id="4" name="Table 3">
            <a:extLst>
              <a:ext uri="{FF2B5EF4-FFF2-40B4-BE49-F238E27FC236}">
                <a16:creationId xmlns:a16="http://schemas.microsoft.com/office/drawing/2014/main" id="{7D6A2CBB-0546-70D0-7668-1B3DD0C72C42}"/>
              </a:ext>
            </a:extLst>
          </p:cNvPr>
          <p:cNvGraphicFramePr>
            <a:graphicFrameLocks noGrp="1"/>
          </p:cNvGraphicFramePr>
          <p:nvPr/>
        </p:nvGraphicFramePr>
        <p:xfrm>
          <a:off x="733168" y="1824034"/>
          <a:ext cx="10515600" cy="1463040"/>
        </p:xfrm>
        <a:graphic>
          <a:graphicData uri="http://schemas.openxmlformats.org/drawingml/2006/table">
            <a:tbl>
              <a:tblPr>
                <a:tableStyleId>{616DA210-FB5B-4158-B5E0-FEB733F419BA}</a:tableStyleId>
              </a:tblPr>
              <a:tblGrid>
                <a:gridCol w="5257800">
                  <a:extLst>
                    <a:ext uri="{9D8B030D-6E8A-4147-A177-3AD203B41FA5}">
                      <a16:colId xmlns:a16="http://schemas.microsoft.com/office/drawing/2014/main" val="1965831150"/>
                    </a:ext>
                  </a:extLst>
                </a:gridCol>
                <a:gridCol w="5257800">
                  <a:extLst>
                    <a:ext uri="{9D8B030D-6E8A-4147-A177-3AD203B41FA5}">
                      <a16:colId xmlns:a16="http://schemas.microsoft.com/office/drawing/2014/main" val="319118548"/>
                    </a:ext>
                  </a:extLst>
                </a:gridCol>
              </a:tblGrid>
              <a:tr h="0">
                <a:tc>
                  <a:txBody>
                    <a:bodyPr/>
                    <a:lstStyle/>
                    <a:p>
                      <a:pPr algn="ctr"/>
                      <a:r>
                        <a:rPr lang="en-US" b="1"/>
                        <a:t>Service</a:t>
                      </a:r>
                      <a:endParaRPr lang="en-US"/>
                    </a:p>
                  </a:txBody>
                  <a:tcPr anchor="ctr">
                    <a:solidFill>
                      <a:schemeClr val="bg1">
                        <a:lumMod val="85000"/>
                      </a:schemeClr>
                    </a:solidFill>
                  </a:tcPr>
                </a:tc>
                <a:tc>
                  <a:txBody>
                    <a:bodyPr/>
                    <a:lstStyle/>
                    <a:p>
                      <a:pPr algn="ctr"/>
                      <a:r>
                        <a:rPr lang="en-US" b="1" dirty="0"/>
                        <a:t>Role in Pipeline</a:t>
                      </a:r>
                      <a:endParaRPr lang="en-US" dirty="0"/>
                    </a:p>
                  </a:txBody>
                  <a:tcPr anchor="ctr">
                    <a:solidFill>
                      <a:schemeClr val="bg1">
                        <a:lumMod val="85000"/>
                      </a:schemeClr>
                    </a:solidFill>
                  </a:tcPr>
                </a:tc>
                <a:extLst>
                  <a:ext uri="{0D108BD9-81ED-4DB2-BD59-A6C34878D82A}">
                    <a16:rowId xmlns:a16="http://schemas.microsoft.com/office/drawing/2014/main" val="4133014860"/>
                  </a:ext>
                </a:extLst>
              </a:tr>
              <a:tr h="0">
                <a:tc>
                  <a:txBody>
                    <a:bodyPr/>
                    <a:lstStyle/>
                    <a:p>
                      <a:r>
                        <a:rPr lang="en-US" b="1"/>
                        <a:t>Kinesis Data Streams</a:t>
                      </a:r>
                      <a:endParaRPr lang="en-US"/>
                    </a:p>
                  </a:txBody>
                  <a:tcPr anchor="ctr"/>
                </a:tc>
                <a:tc>
                  <a:txBody>
                    <a:bodyPr/>
                    <a:lstStyle/>
                    <a:p>
                      <a:r>
                        <a:rPr lang="en-US"/>
                        <a:t>Store and transport data in real-time shards</a:t>
                      </a:r>
                    </a:p>
                  </a:txBody>
                  <a:tcPr anchor="ctr"/>
                </a:tc>
                <a:extLst>
                  <a:ext uri="{0D108BD9-81ED-4DB2-BD59-A6C34878D82A}">
                    <a16:rowId xmlns:a16="http://schemas.microsoft.com/office/drawing/2014/main" val="2870573009"/>
                  </a:ext>
                </a:extLst>
              </a:tr>
              <a:tr h="0">
                <a:tc>
                  <a:txBody>
                    <a:bodyPr/>
                    <a:lstStyle/>
                    <a:p>
                      <a:r>
                        <a:rPr lang="en-US" b="1"/>
                        <a:t>Kinesis Firehose</a:t>
                      </a:r>
                      <a:endParaRPr lang="en-US"/>
                    </a:p>
                  </a:txBody>
                  <a:tcPr anchor="ctr"/>
                </a:tc>
                <a:tc>
                  <a:txBody>
                    <a:bodyPr/>
                    <a:lstStyle/>
                    <a:p>
                      <a:r>
                        <a:rPr lang="en-US"/>
                        <a:t>Apply transformations and load into storage (e.g., S3)</a:t>
                      </a:r>
                    </a:p>
                  </a:txBody>
                  <a:tcPr anchor="ctr"/>
                </a:tc>
                <a:extLst>
                  <a:ext uri="{0D108BD9-81ED-4DB2-BD59-A6C34878D82A}">
                    <a16:rowId xmlns:a16="http://schemas.microsoft.com/office/drawing/2014/main" val="3913301508"/>
                  </a:ext>
                </a:extLst>
              </a:tr>
              <a:tr h="0">
                <a:tc>
                  <a:txBody>
                    <a:bodyPr/>
                    <a:lstStyle/>
                    <a:p>
                      <a:r>
                        <a:rPr lang="en-US" b="1"/>
                        <a:t>Kinesis Data Analytics</a:t>
                      </a:r>
                      <a:endParaRPr lang="en-US"/>
                    </a:p>
                  </a:txBody>
                  <a:tcPr anchor="ctr"/>
                </a:tc>
                <a:tc>
                  <a:txBody>
                    <a:bodyPr/>
                    <a:lstStyle/>
                    <a:p>
                      <a:r>
                        <a:rPr lang="en-US" dirty="0"/>
                        <a:t>Run SQL/Java/Python/Scala analytics in real time</a:t>
                      </a:r>
                    </a:p>
                  </a:txBody>
                  <a:tcPr anchor="ctr"/>
                </a:tc>
                <a:extLst>
                  <a:ext uri="{0D108BD9-81ED-4DB2-BD59-A6C34878D82A}">
                    <a16:rowId xmlns:a16="http://schemas.microsoft.com/office/drawing/2014/main" val="177878760"/>
                  </a:ext>
                </a:extLst>
              </a:tr>
            </a:tbl>
          </a:graphicData>
        </a:graphic>
      </p:graphicFrame>
    </p:spTree>
    <p:extLst>
      <p:ext uri="{BB962C8B-B14F-4D97-AF65-F5344CB8AC3E}">
        <p14:creationId xmlns:p14="http://schemas.microsoft.com/office/powerpoint/2010/main" val="403864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916F-7762-C1D3-2462-BF8C9DB921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ACBB4-F8FA-40A2-E250-9E99DCA8B700}"/>
              </a:ext>
            </a:extLst>
          </p:cNvPr>
          <p:cNvSpPr>
            <a:spLocks noGrp="1"/>
          </p:cNvSpPr>
          <p:nvPr>
            <p:ph type="title"/>
          </p:nvPr>
        </p:nvSpPr>
        <p:spPr/>
        <p:txBody>
          <a:bodyPr/>
          <a:lstStyle/>
          <a:p>
            <a:r>
              <a:rPr lang="en-US" dirty="0"/>
              <a:t>Scaling Stream Processing</a:t>
            </a:r>
          </a:p>
        </p:txBody>
      </p:sp>
      <p:sp>
        <p:nvSpPr>
          <p:cNvPr id="3" name="Content Placeholder 2">
            <a:extLst>
              <a:ext uri="{FF2B5EF4-FFF2-40B4-BE49-F238E27FC236}">
                <a16:creationId xmlns:a16="http://schemas.microsoft.com/office/drawing/2014/main" id="{FA1D95ED-3A52-8312-DB42-32D7D7460ADE}"/>
              </a:ext>
            </a:extLst>
          </p:cNvPr>
          <p:cNvSpPr>
            <a:spLocks noGrp="1"/>
          </p:cNvSpPr>
          <p:nvPr>
            <p:ph idx="1"/>
          </p:nvPr>
        </p:nvSpPr>
        <p:spPr/>
        <p:txBody>
          <a:bodyPr/>
          <a:lstStyle/>
          <a:p>
            <a:pPr>
              <a:buNone/>
            </a:pPr>
            <a:r>
              <a:rPr lang="en-US" b="1" dirty="0"/>
              <a:t>Key Configurations:</a:t>
            </a:r>
            <a:endParaRPr lang="en-US" dirty="0"/>
          </a:p>
          <a:p>
            <a:pPr>
              <a:buFont typeface="Arial" panose="020B0604020202020204" pitchFamily="34" charset="0"/>
              <a:buChar char="•"/>
            </a:pPr>
            <a:r>
              <a:rPr lang="en-US" b="1" dirty="0"/>
              <a:t>Retention:</a:t>
            </a:r>
            <a:r>
              <a:rPr lang="en-US" dirty="0"/>
              <a:t> Define how long data stays on stream.</a:t>
            </a:r>
          </a:p>
          <a:p>
            <a:pPr>
              <a:buFont typeface="Arial" panose="020B0604020202020204" pitchFamily="34" charset="0"/>
              <a:buChar char="•"/>
            </a:pPr>
            <a:r>
              <a:rPr lang="en-US" b="1" dirty="0"/>
              <a:t>Write Capacity:</a:t>
            </a:r>
            <a:r>
              <a:rPr lang="en-US" dirty="0"/>
              <a:t> Set throughput for producers.</a:t>
            </a:r>
          </a:p>
          <a:p>
            <a:pPr>
              <a:buFont typeface="Arial" panose="020B0604020202020204" pitchFamily="34" charset="0"/>
              <a:buChar char="•"/>
            </a:pPr>
            <a:r>
              <a:rPr lang="en-US" b="1" dirty="0"/>
              <a:t>Read Capacity:</a:t>
            </a:r>
            <a:r>
              <a:rPr lang="en-US" dirty="0"/>
              <a:t> Optimize for consumer performance.</a:t>
            </a:r>
          </a:p>
          <a:p>
            <a:pPr>
              <a:buNone/>
            </a:pPr>
            <a:r>
              <a:rPr lang="en-US" b="1" dirty="0"/>
              <a:t>Monitoring Tools:</a:t>
            </a:r>
            <a:endParaRPr lang="en-US" dirty="0"/>
          </a:p>
          <a:p>
            <a:pPr>
              <a:buFont typeface="Arial" panose="020B0604020202020204" pitchFamily="34" charset="0"/>
              <a:buChar char="•"/>
            </a:pPr>
            <a:r>
              <a:rPr lang="en-US" b="1" dirty="0"/>
              <a:t>CloudWatch:</a:t>
            </a:r>
            <a:r>
              <a:rPr lang="en-US" dirty="0"/>
              <a:t> Track latency, failures, throttling.</a:t>
            </a:r>
          </a:p>
          <a:p>
            <a:pPr>
              <a:buFont typeface="Arial" panose="020B0604020202020204" pitchFamily="34" charset="0"/>
              <a:buChar char="•"/>
            </a:pPr>
            <a:r>
              <a:rPr lang="en-US" b="1" dirty="0"/>
              <a:t>CloudTrail:</a:t>
            </a:r>
            <a:r>
              <a:rPr lang="en-US" dirty="0"/>
              <a:t> Audit configuration changes and data access.</a:t>
            </a:r>
          </a:p>
          <a:p>
            <a:endParaRPr lang="en-US" dirty="0"/>
          </a:p>
        </p:txBody>
      </p:sp>
    </p:spTree>
    <p:extLst>
      <p:ext uri="{BB962C8B-B14F-4D97-AF65-F5344CB8AC3E}">
        <p14:creationId xmlns:p14="http://schemas.microsoft.com/office/powerpoint/2010/main" val="1009916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60F77-FB82-0BEB-DAF9-DE81CA60E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179C6-7A36-7A66-DFDF-6E71926F7CB8}"/>
              </a:ext>
            </a:extLst>
          </p:cNvPr>
          <p:cNvSpPr>
            <a:spLocks noGrp="1"/>
          </p:cNvSpPr>
          <p:nvPr>
            <p:ph type="title"/>
          </p:nvPr>
        </p:nvSpPr>
        <p:spPr/>
        <p:txBody>
          <a:bodyPr/>
          <a:lstStyle/>
          <a:p>
            <a:r>
              <a:rPr lang="en-US" dirty="0"/>
              <a:t>IoT Data Ingestion – AWS Services</a:t>
            </a:r>
          </a:p>
        </p:txBody>
      </p:sp>
      <p:sp>
        <p:nvSpPr>
          <p:cNvPr id="3" name="Content Placeholder 2">
            <a:extLst>
              <a:ext uri="{FF2B5EF4-FFF2-40B4-BE49-F238E27FC236}">
                <a16:creationId xmlns:a16="http://schemas.microsoft.com/office/drawing/2014/main" id="{7275390B-F6FD-07E9-80A1-5AEA88C56822}"/>
              </a:ext>
            </a:extLst>
          </p:cNvPr>
          <p:cNvSpPr>
            <a:spLocks noGrp="1"/>
          </p:cNvSpPr>
          <p:nvPr>
            <p:ph idx="1"/>
          </p:nvPr>
        </p:nvSpPr>
        <p:spPr/>
        <p:txBody>
          <a:bodyPr/>
          <a:lstStyle/>
          <a:p>
            <a:pPr>
              <a:buNone/>
            </a:pPr>
            <a:r>
              <a:rPr lang="en-US" b="1" dirty="0"/>
              <a:t>AWS IoT Core:</a:t>
            </a:r>
            <a:endParaRPr lang="en-US" dirty="0"/>
          </a:p>
          <a:p>
            <a:pPr>
              <a:buFont typeface="Arial" panose="020B0604020202020204" pitchFamily="34" charset="0"/>
              <a:buChar char="•"/>
            </a:pPr>
            <a:r>
              <a:rPr lang="en-US" dirty="0"/>
              <a:t>Connect, authenticate, and route data from IoT devices.</a:t>
            </a:r>
          </a:p>
          <a:p>
            <a:pPr>
              <a:buFont typeface="Arial" panose="020B0604020202020204" pitchFamily="34" charset="0"/>
              <a:buChar char="•"/>
            </a:pPr>
            <a:r>
              <a:rPr lang="en-US" dirty="0"/>
              <a:t>Supports MQTT protocol and publish/subscribe model.</a:t>
            </a:r>
          </a:p>
          <a:p>
            <a:pPr>
              <a:buFont typeface="Arial" panose="020B0604020202020204" pitchFamily="34" charset="0"/>
              <a:buChar char="•"/>
            </a:pPr>
            <a:r>
              <a:rPr lang="en-US" dirty="0"/>
              <a:t>Routes data via rules engine to S3, Kinesis, Lambda, etc.</a:t>
            </a:r>
          </a:p>
          <a:p>
            <a:pPr>
              <a:buNone/>
            </a:pPr>
            <a:r>
              <a:rPr lang="en-US" b="1" dirty="0"/>
              <a:t>AWS IoT Analytics:</a:t>
            </a:r>
            <a:endParaRPr lang="en-US" dirty="0"/>
          </a:p>
          <a:p>
            <a:pPr>
              <a:buFont typeface="Arial" panose="020B0604020202020204" pitchFamily="34" charset="0"/>
              <a:buChar char="•"/>
            </a:pPr>
            <a:r>
              <a:rPr lang="en-US" dirty="0"/>
              <a:t>Ingests unstructured IoT data.</a:t>
            </a:r>
          </a:p>
          <a:p>
            <a:pPr>
              <a:buFont typeface="Arial" panose="020B0604020202020204" pitchFamily="34" charset="0"/>
              <a:buChar char="•"/>
            </a:pPr>
            <a:r>
              <a:rPr lang="en-US" dirty="0"/>
              <a:t>Transforms and stores time-series data.</a:t>
            </a:r>
          </a:p>
          <a:p>
            <a:pPr>
              <a:buFont typeface="Arial" panose="020B0604020202020204" pitchFamily="34" charset="0"/>
              <a:buChar char="•"/>
            </a:pPr>
            <a:r>
              <a:rPr lang="en-US" dirty="0"/>
              <a:t>Enables visualization and analysis.</a:t>
            </a:r>
          </a:p>
          <a:p>
            <a:r>
              <a:rPr lang="en-US" b="1" dirty="0"/>
              <a:t>Architecture Tip:</a:t>
            </a:r>
            <a:r>
              <a:rPr lang="en-US" dirty="0"/>
              <a:t> Use IoT Core for ingestion, and IoT Analytics for transformation and storage.</a:t>
            </a:r>
          </a:p>
          <a:p>
            <a:endParaRPr lang="en-US" dirty="0"/>
          </a:p>
        </p:txBody>
      </p:sp>
    </p:spTree>
    <p:extLst>
      <p:ext uri="{BB962C8B-B14F-4D97-AF65-F5344CB8AC3E}">
        <p14:creationId xmlns:p14="http://schemas.microsoft.com/office/powerpoint/2010/main" val="29050723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DF2DF9-F23E-D01B-3488-2220940C4DB8}"/>
              </a:ext>
            </a:extLst>
          </p:cNvPr>
          <p:cNvSpPr>
            <a:spLocks noGrp="1"/>
          </p:cNvSpPr>
          <p:nvPr>
            <p:ph type="title"/>
          </p:nvPr>
        </p:nvSpPr>
        <p:spPr/>
        <p:txBody>
          <a:bodyPr>
            <a:normAutofit/>
          </a:bodyPr>
          <a:lstStyle/>
          <a:p>
            <a:r>
              <a:rPr lang="en-US" sz="4800" dirty="0"/>
              <a:t>Storing and Organizing Data</a:t>
            </a:r>
          </a:p>
        </p:txBody>
      </p:sp>
      <p:sp>
        <p:nvSpPr>
          <p:cNvPr id="5" name="Text Placeholder 4">
            <a:extLst>
              <a:ext uri="{FF2B5EF4-FFF2-40B4-BE49-F238E27FC236}">
                <a16:creationId xmlns:a16="http://schemas.microsoft.com/office/drawing/2014/main" id="{73E09212-E8F6-4810-738E-D891FBFDC2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58470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0CBD5-5CAC-3949-33FD-557A0FD73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63238-F3D6-19CC-FF6F-AE744639F72E}"/>
              </a:ext>
            </a:extLst>
          </p:cNvPr>
          <p:cNvSpPr>
            <a:spLocks noGrp="1"/>
          </p:cNvSpPr>
          <p:nvPr>
            <p:ph type="title"/>
          </p:nvPr>
        </p:nvSpPr>
        <p:spPr/>
        <p:txBody>
          <a:bodyPr/>
          <a:lstStyle/>
          <a:p>
            <a:r>
              <a:rPr lang="en-US" dirty="0"/>
              <a:t>Storing and Organizing Data</a:t>
            </a:r>
          </a:p>
        </p:txBody>
      </p:sp>
      <p:sp>
        <p:nvSpPr>
          <p:cNvPr id="3" name="Content Placeholder 2">
            <a:extLst>
              <a:ext uri="{FF2B5EF4-FFF2-40B4-BE49-F238E27FC236}">
                <a16:creationId xmlns:a16="http://schemas.microsoft.com/office/drawing/2014/main" id="{AC6F4B7C-5CEB-7662-7DB9-BCA30A1B9027}"/>
              </a:ext>
            </a:extLst>
          </p:cNvPr>
          <p:cNvSpPr>
            <a:spLocks noGrp="1"/>
          </p:cNvSpPr>
          <p:nvPr>
            <p:ph idx="1"/>
          </p:nvPr>
        </p:nvSpPr>
        <p:spPr/>
        <p:txBody>
          <a:bodyPr/>
          <a:lstStyle/>
          <a:p>
            <a:pPr>
              <a:buNone/>
            </a:pPr>
            <a:r>
              <a:rPr lang="en-US" b="1" dirty="0"/>
              <a:t>Objective:</a:t>
            </a:r>
            <a:r>
              <a:rPr lang="en-US" dirty="0"/>
              <a:t> Learn how to select, use, and secure cloud-based storage solutions in a modern data architecture.</a:t>
            </a:r>
          </a:p>
          <a:p>
            <a:pPr>
              <a:buNone/>
            </a:pPr>
            <a:r>
              <a:rPr lang="en-US" b="1" dirty="0"/>
              <a:t>By the end of this module, you will be able to:</a:t>
            </a:r>
            <a:endParaRPr lang="en-US" dirty="0"/>
          </a:p>
          <a:p>
            <a:pPr>
              <a:buFont typeface="Arial" panose="020B0604020202020204" pitchFamily="34" charset="0"/>
              <a:buChar char="•"/>
            </a:pPr>
            <a:r>
              <a:rPr lang="en-US" dirty="0"/>
              <a:t>Define key storage types used in cloud data architectures.</a:t>
            </a:r>
          </a:p>
          <a:p>
            <a:pPr>
              <a:buFont typeface="Arial" panose="020B0604020202020204" pitchFamily="34" charset="0"/>
              <a:buChar char="•"/>
            </a:pPr>
            <a:r>
              <a:rPr lang="en-US" dirty="0"/>
              <a:t>Differentiate between data lakes, data warehouses, and purpose-built databases.</a:t>
            </a:r>
          </a:p>
          <a:p>
            <a:pPr>
              <a:buFont typeface="Arial" panose="020B0604020202020204" pitchFamily="34" charset="0"/>
              <a:buChar char="•"/>
            </a:pPr>
            <a:r>
              <a:rPr lang="en-US" dirty="0"/>
              <a:t>Match storage types with data processing needs.</a:t>
            </a:r>
          </a:p>
          <a:p>
            <a:pPr>
              <a:buFont typeface="Arial" panose="020B0604020202020204" pitchFamily="34" charset="0"/>
              <a:buChar char="•"/>
            </a:pPr>
            <a:r>
              <a:rPr lang="en-US" dirty="0"/>
              <a:t>Implement security best practices for cloud-based storage.</a:t>
            </a:r>
          </a:p>
          <a:p>
            <a:endParaRPr lang="en-US" dirty="0"/>
          </a:p>
        </p:txBody>
      </p:sp>
    </p:spTree>
    <p:extLst>
      <p:ext uri="{BB962C8B-B14F-4D97-AF65-F5344CB8AC3E}">
        <p14:creationId xmlns:p14="http://schemas.microsoft.com/office/powerpoint/2010/main" val="1131128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6FA0A-8C5C-2EC0-8BA3-F659608605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6BF23-C77A-C8CC-25B0-BAD20BC3B0A3}"/>
              </a:ext>
            </a:extLst>
          </p:cNvPr>
          <p:cNvSpPr>
            <a:spLocks noGrp="1"/>
          </p:cNvSpPr>
          <p:nvPr>
            <p:ph type="title"/>
          </p:nvPr>
        </p:nvSpPr>
        <p:spPr/>
        <p:txBody>
          <a:bodyPr/>
          <a:lstStyle/>
          <a:p>
            <a:r>
              <a:rPr lang="en-US" dirty="0"/>
              <a:t>Types of Storage in Cloud Data Architectures</a:t>
            </a:r>
          </a:p>
        </p:txBody>
      </p:sp>
      <p:sp>
        <p:nvSpPr>
          <p:cNvPr id="3" name="Content Placeholder 2">
            <a:extLst>
              <a:ext uri="{FF2B5EF4-FFF2-40B4-BE49-F238E27FC236}">
                <a16:creationId xmlns:a16="http://schemas.microsoft.com/office/drawing/2014/main" id="{0BA1BCF8-0011-BD9F-46DD-40AEB9A36796}"/>
              </a:ext>
            </a:extLst>
          </p:cNvPr>
          <p:cNvSpPr>
            <a:spLocks noGrp="1"/>
          </p:cNvSpPr>
          <p:nvPr>
            <p:ph idx="1"/>
          </p:nvPr>
        </p:nvSpPr>
        <p:spPr/>
        <p:txBody>
          <a:bodyPr>
            <a:normAutofit fontScale="92500" lnSpcReduction="10000"/>
          </a:bodyPr>
          <a:lstStyle/>
          <a:p>
            <a:pPr>
              <a:buNone/>
            </a:pPr>
            <a:r>
              <a:rPr lang="en-US" b="1" dirty="0"/>
              <a:t>Block Storage:</a:t>
            </a:r>
            <a:endParaRPr lang="en-US" dirty="0"/>
          </a:p>
          <a:p>
            <a:pPr>
              <a:buFont typeface="Arial" panose="020B0604020202020204" pitchFamily="34" charset="0"/>
              <a:buChar char="•"/>
            </a:pPr>
            <a:r>
              <a:rPr lang="en-US" dirty="0"/>
              <a:t>Provides low-latency, high-performance storage blocks.</a:t>
            </a:r>
          </a:p>
          <a:p>
            <a:pPr>
              <a:buFont typeface="Arial" panose="020B0604020202020204" pitchFamily="34" charset="0"/>
              <a:buChar char="•"/>
            </a:pPr>
            <a:r>
              <a:rPr lang="en-US" dirty="0"/>
              <a:t>Suitable for databases and boot volumes.</a:t>
            </a:r>
          </a:p>
          <a:p>
            <a:pPr>
              <a:buFont typeface="Arial" panose="020B0604020202020204" pitchFamily="34" charset="0"/>
              <a:buChar char="•"/>
            </a:pPr>
            <a:r>
              <a:rPr lang="en-US" dirty="0"/>
              <a:t>Example: </a:t>
            </a:r>
            <a:r>
              <a:rPr lang="en-US" b="1" dirty="0"/>
              <a:t>Amazon Elastic Block Store (EBS).</a:t>
            </a:r>
            <a:endParaRPr lang="en-US" dirty="0"/>
          </a:p>
          <a:p>
            <a:pPr>
              <a:buNone/>
            </a:pPr>
            <a:r>
              <a:rPr lang="en-US" b="1" dirty="0"/>
              <a:t>File Storage:</a:t>
            </a:r>
            <a:endParaRPr lang="en-US" dirty="0"/>
          </a:p>
          <a:p>
            <a:pPr>
              <a:buFont typeface="Arial" panose="020B0604020202020204" pitchFamily="34" charset="0"/>
              <a:buChar char="•"/>
            </a:pPr>
            <a:r>
              <a:rPr lang="en-US" dirty="0"/>
              <a:t>Organizes data in a hierarchical file system.</a:t>
            </a:r>
          </a:p>
          <a:p>
            <a:pPr>
              <a:buFont typeface="Arial" panose="020B0604020202020204" pitchFamily="34" charset="0"/>
              <a:buChar char="•"/>
            </a:pPr>
            <a:r>
              <a:rPr lang="en-US" dirty="0"/>
              <a:t>Ideal for shared access to media, content, and backups.</a:t>
            </a:r>
          </a:p>
          <a:p>
            <a:pPr>
              <a:buFont typeface="Arial" panose="020B0604020202020204" pitchFamily="34" charset="0"/>
              <a:buChar char="•"/>
            </a:pPr>
            <a:r>
              <a:rPr lang="en-US" dirty="0"/>
              <a:t>Example: </a:t>
            </a:r>
            <a:r>
              <a:rPr lang="en-US" b="1" dirty="0"/>
              <a:t>Amazon Elastic File System (EFS).</a:t>
            </a:r>
            <a:endParaRPr lang="en-US" dirty="0"/>
          </a:p>
          <a:p>
            <a:pPr>
              <a:buNone/>
            </a:pPr>
            <a:r>
              <a:rPr lang="en-US" b="1" dirty="0"/>
              <a:t>Object Storage:</a:t>
            </a:r>
            <a:endParaRPr lang="en-US" dirty="0"/>
          </a:p>
          <a:p>
            <a:pPr>
              <a:buFont typeface="Arial" panose="020B0604020202020204" pitchFamily="34" charset="0"/>
              <a:buChar char="•"/>
            </a:pPr>
            <a:r>
              <a:rPr lang="en-US" dirty="0"/>
              <a:t>Stores data as individual objects with metadata and unique identifiers.</a:t>
            </a:r>
          </a:p>
          <a:p>
            <a:pPr>
              <a:buFont typeface="Arial" panose="020B0604020202020204" pitchFamily="34" charset="0"/>
              <a:buChar char="•"/>
            </a:pPr>
            <a:r>
              <a:rPr lang="en-US" dirty="0"/>
              <a:t>Supports massive scalability and cost efficiency.</a:t>
            </a:r>
          </a:p>
          <a:p>
            <a:pPr>
              <a:buFont typeface="Arial" panose="020B0604020202020204" pitchFamily="34" charset="0"/>
              <a:buChar char="•"/>
            </a:pPr>
            <a:r>
              <a:rPr lang="en-US" dirty="0"/>
              <a:t>Example: </a:t>
            </a:r>
            <a:r>
              <a:rPr lang="en-US" b="1" dirty="0"/>
              <a:t>Amazon Simple Storage Service (S3).</a:t>
            </a:r>
            <a:endParaRPr lang="en-US" dirty="0"/>
          </a:p>
          <a:p>
            <a:endParaRPr lang="en-US" dirty="0"/>
          </a:p>
        </p:txBody>
      </p:sp>
    </p:spTree>
    <p:extLst>
      <p:ext uri="{BB962C8B-B14F-4D97-AF65-F5344CB8AC3E}">
        <p14:creationId xmlns:p14="http://schemas.microsoft.com/office/powerpoint/2010/main" val="10437577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2F841-EC2A-DC4E-739F-2BDDE7CD16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7A372-5DF8-4A43-F835-9E625B0BBA43}"/>
              </a:ext>
            </a:extLst>
          </p:cNvPr>
          <p:cNvSpPr>
            <a:spLocks noGrp="1"/>
          </p:cNvSpPr>
          <p:nvPr>
            <p:ph type="title"/>
          </p:nvPr>
        </p:nvSpPr>
        <p:spPr/>
        <p:txBody>
          <a:bodyPr/>
          <a:lstStyle/>
          <a:p>
            <a:r>
              <a:rPr lang="en-US" dirty="0"/>
              <a:t>Understanding the Storage Layer</a:t>
            </a:r>
          </a:p>
        </p:txBody>
      </p:sp>
      <p:sp>
        <p:nvSpPr>
          <p:cNvPr id="3" name="Content Placeholder 2">
            <a:extLst>
              <a:ext uri="{FF2B5EF4-FFF2-40B4-BE49-F238E27FC236}">
                <a16:creationId xmlns:a16="http://schemas.microsoft.com/office/drawing/2014/main" id="{7F82813C-AC3A-98E7-23A1-882384E2F7D9}"/>
              </a:ext>
            </a:extLst>
          </p:cNvPr>
          <p:cNvSpPr>
            <a:spLocks noGrp="1"/>
          </p:cNvSpPr>
          <p:nvPr>
            <p:ph idx="1"/>
          </p:nvPr>
        </p:nvSpPr>
        <p:spPr/>
        <p:txBody>
          <a:bodyPr/>
          <a:lstStyle/>
          <a:p>
            <a:pPr>
              <a:buFont typeface="Arial" panose="020B0604020202020204" pitchFamily="34" charset="0"/>
              <a:buChar char="•"/>
            </a:pPr>
            <a:r>
              <a:rPr lang="en-US" dirty="0"/>
              <a:t>The </a:t>
            </a:r>
            <a:r>
              <a:rPr lang="en-US" b="1" dirty="0"/>
              <a:t>storage layer</a:t>
            </a:r>
            <a:r>
              <a:rPr lang="en-US" dirty="0"/>
              <a:t> is the foundation of any data pipeline.</a:t>
            </a:r>
          </a:p>
          <a:p>
            <a:pPr>
              <a:buFont typeface="Arial" panose="020B0604020202020204" pitchFamily="34" charset="0"/>
              <a:buChar char="•"/>
            </a:pPr>
            <a:r>
              <a:rPr lang="en-US" dirty="0"/>
              <a:t>It integrates natively with AWS services and enables scalable storage for various data types.</a:t>
            </a:r>
          </a:p>
          <a:p>
            <a:pPr>
              <a:buFont typeface="Arial" panose="020B0604020202020204" pitchFamily="34" charset="0"/>
              <a:buChar char="•"/>
            </a:pPr>
            <a:r>
              <a:rPr lang="en-US" dirty="0"/>
              <a:t>Choosing the right storage type ensures performance, cost-effectiveness, and reliability.</a:t>
            </a:r>
          </a:p>
          <a:p>
            <a:endParaRPr lang="en-US" dirty="0"/>
          </a:p>
        </p:txBody>
      </p:sp>
    </p:spTree>
    <p:extLst>
      <p:ext uri="{BB962C8B-B14F-4D97-AF65-F5344CB8AC3E}">
        <p14:creationId xmlns:p14="http://schemas.microsoft.com/office/powerpoint/2010/main" val="3632187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35906-EF1A-C1A3-793B-15D41A447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2C27C-A4E3-DF5A-2C0A-F409DE80B03E}"/>
              </a:ext>
            </a:extLst>
          </p:cNvPr>
          <p:cNvSpPr>
            <a:spLocks noGrp="1"/>
          </p:cNvSpPr>
          <p:nvPr>
            <p:ph type="title"/>
          </p:nvPr>
        </p:nvSpPr>
        <p:spPr/>
        <p:txBody>
          <a:bodyPr>
            <a:normAutofit/>
          </a:bodyPr>
          <a:lstStyle/>
          <a:p>
            <a:r>
              <a:rPr lang="en-US" dirty="0"/>
              <a:t>Data Lake Storage</a:t>
            </a:r>
          </a:p>
        </p:txBody>
      </p:sp>
      <p:sp>
        <p:nvSpPr>
          <p:cNvPr id="3" name="Content Placeholder 2">
            <a:extLst>
              <a:ext uri="{FF2B5EF4-FFF2-40B4-BE49-F238E27FC236}">
                <a16:creationId xmlns:a16="http://schemas.microsoft.com/office/drawing/2014/main" id="{08C68F4A-3750-3B29-BC87-EB539F390639}"/>
              </a:ext>
            </a:extLst>
          </p:cNvPr>
          <p:cNvSpPr>
            <a:spLocks noGrp="1"/>
          </p:cNvSpPr>
          <p:nvPr>
            <p:ph idx="1"/>
          </p:nvPr>
        </p:nvSpPr>
        <p:spPr/>
        <p:txBody>
          <a:bodyPr/>
          <a:lstStyle/>
          <a:p>
            <a:pPr>
              <a:buNone/>
            </a:pPr>
            <a:r>
              <a:rPr lang="en-US" b="1" dirty="0"/>
              <a:t>What is a Data Lake?</a:t>
            </a:r>
            <a:endParaRPr lang="en-US" dirty="0"/>
          </a:p>
          <a:p>
            <a:pPr>
              <a:buFont typeface="Arial" panose="020B0604020202020204" pitchFamily="34" charset="0"/>
              <a:buChar char="•"/>
            </a:pPr>
            <a:r>
              <a:rPr lang="en-US" dirty="0"/>
              <a:t>A centralized repository for storing structured, semi-structured, and unstructured data.</a:t>
            </a:r>
          </a:p>
          <a:p>
            <a:pPr>
              <a:buFont typeface="Arial" panose="020B0604020202020204" pitchFamily="34" charset="0"/>
              <a:buChar char="•"/>
            </a:pPr>
            <a:r>
              <a:rPr lang="en-US" dirty="0"/>
              <a:t>Allows you to store data in its raw form without requiring a predefined schema.</a:t>
            </a:r>
          </a:p>
          <a:p>
            <a:pPr>
              <a:buFont typeface="Arial" panose="020B0604020202020204" pitchFamily="34" charset="0"/>
              <a:buChar char="•"/>
            </a:pPr>
            <a:r>
              <a:rPr lang="en-US" dirty="0"/>
              <a:t>Built using </a:t>
            </a:r>
            <a:r>
              <a:rPr lang="en-US" b="1" dirty="0"/>
              <a:t>Amazon S3</a:t>
            </a:r>
            <a:r>
              <a:rPr lang="en-US" dirty="0"/>
              <a:t> as the foundational storage layer.</a:t>
            </a:r>
          </a:p>
          <a:p>
            <a:pPr>
              <a:buNone/>
            </a:pPr>
            <a:r>
              <a:rPr lang="en-US" b="1" dirty="0"/>
              <a:t>Core Features:</a:t>
            </a:r>
            <a:endParaRPr lang="en-US" dirty="0"/>
          </a:p>
          <a:p>
            <a:pPr>
              <a:buFont typeface="Arial" panose="020B0604020202020204" pitchFamily="34" charset="0"/>
              <a:buChar char="•"/>
            </a:pPr>
            <a:r>
              <a:rPr lang="en-US" dirty="0"/>
              <a:t>Unlimited scale and low-cost storage.</a:t>
            </a:r>
          </a:p>
          <a:p>
            <a:pPr>
              <a:buFont typeface="Arial" panose="020B0604020202020204" pitchFamily="34" charset="0"/>
              <a:buChar char="•"/>
            </a:pPr>
            <a:r>
              <a:rPr lang="en-US" dirty="0"/>
              <a:t>In-place querying using services like Athena or Redshift Spectrum.</a:t>
            </a:r>
          </a:p>
          <a:p>
            <a:pPr>
              <a:buFont typeface="Arial" panose="020B0604020202020204" pitchFamily="34" charset="0"/>
              <a:buChar char="•"/>
            </a:pPr>
            <a:r>
              <a:rPr lang="en-US" dirty="0"/>
              <a:t>Integration with analytics and ML tools.</a:t>
            </a:r>
          </a:p>
          <a:p>
            <a:pPr>
              <a:buFont typeface="Arial" panose="020B0604020202020204" pitchFamily="34" charset="0"/>
              <a:buChar char="•"/>
            </a:pPr>
            <a:r>
              <a:rPr lang="en-US" dirty="0"/>
              <a:t>Secure data access using </a:t>
            </a:r>
            <a:r>
              <a:rPr lang="en-US" b="1" dirty="0"/>
              <a:t>Lake Formation</a:t>
            </a:r>
            <a:r>
              <a:rPr lang="en-US" dirty="0"/>
              <a:t>.</a:t>
            </a:r>
          </a:p>
          <a:p>
            <a:endParaRPr lang="en-US" dirty="0"/>
          </a:p>
        </p:txBody>
      </p:sp>
    </p:spTree>
    <p:extLst>
      <p:ext uri="{BB962C8B-B14F-4D97-AF65-F5344CB8AC3E}">
        <p14:creationId xmlns:p14="http://schemas.microsoft.com/office/powerpoint/2010/main" val="1955568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0183E-8DE4-7474-B655-DFB7583E4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464DD-6BF2-A5E3-4DD8-510940621026}"/>
              </a:ext>
            </a:extLst>
          </p:cNvPr>
          <p:cNvSpPr>
            <a:spLocks noGrp="1"/>
          </p:cNvSpPr>
          <p:nvPr>
            <p:ph type="title"/>
          </p:nvPr>
        </p:nvSpPr>
        <p:spPr/>
        <p:txBody>
          <a:bodyPr>
            <a:normAutofit/>
          </a:bodyPr>
          <a:lstStyle/>
          <a:p>
            <a:r>
              <a:rPr lang="en-US" dirty="0"/>
              <a:t>Amazon S3 – Data Lake Backbone</a:t>
            </a:r>
          </a:p>
        </p:txBody>
      </p:sp>
      <p:sp>
        <p:nvSpPr>
          <p:cNvPr id="3" name="Content Placeholder 2">
            <a:extLst>
              <a:ext uri="{FF2B5EF4-FFF2-40B4-BE49-F238E27FC236}">
                <a16:creationId xmlns:a16="http://schemas.microsoft.com/office/drawing/2014/main" id="{B43160A9-C438-3E46-C63E-4E56F4495785}"/>
              </a:ext>
            </a:extLst>
          </p:cNvPr>
          <p:cNvSpPr>
            <a:spLocks noGrp="1"/>
          </p:cNvSpPr>
          <p:nvPr>
            <p:ph idx="1"/>
          </p:nvPr>
        </p:nvSpPr>
        <p:spPr/>
        <p:txBody>
          <a:bodyPr/>
          <a:lstStyle/>
          <a:p>
            <a:pPr>
              <a:buFont typeface="Arial" panose="020B0604020202020204" pitchFamily="34" charset="0"/>
              <a:buChar char="•"/>
            </a:pPr>
            <a:r>
              <a:rPr lang="en-US" dirty="0"/>
              <a:t>Highly durable, cost-effective, and secure.</a:t>
            </a:r>
          </a:p>
          <a:p>
            <a:pPr>
              <a:buFont typeface="Arial" panose="020B0604020202020204" pitchFamily="34" charset="0"/>
              <a:buChar char="•"/>
            </a:pPr>
            <a:r>
              <a:rPr lang="en-US" dirty="0"/>
              <a:t>Offers </a:t>
            </a:r>
            <a:r>
              <a:rPr lang="en-US" b="1" dirty="0"/>
              <a:t>storage classes</a:t>
            </a:r>
            <a:r>
              <a:rPr lang="en-US" dirty="0"/>
              <a:t> (e.g., Standard, Glacier) for cost optimization based on access frequency.</a:t>
            </a:r>
          </a:p>
          <a:p>
            <a:pPr>
              <a:buFont typeface="Arial" panose="020B0604020202020204" pitchFamily="34" charset="0"/>
              <a:buChar char="•"/>
            </a:pPr>
            <a:r>
              <a:rPr lang="en-US" dirty="0"/>
              <a:t>Supports </a:t>
            </a:r>
            <a:r>
              <a:rPr lang="en-US" b="1" dirty="0"/>
              <a:t>multipart uploads</a:t>
            </a:r>
            <a:r>
              <a:rPr lang="en-US" dirty="0"/>
              <a:t> and </a:t>
            </a:r>
            <a:r>
              <a:rPr lang="en-US" b="1" dirty="0"/>
              <a:t>strong consistency</a:t>
            </a:r>
            <a:r>
              <a:rPr lang="en-US" dirty="0"/>
              <a:t>.</a:t>
            </a:r>
          </a:p>
          <a:p>
            <a:pPr>
              <a:buFont typeface="Arial" panose="020B0604020202020204" pitchFamily="34" charset="0"/>
              <a:buChar char="•"/>
            </a:pPr>
            <a:r>
              <a:rPr lang="en-US" dirty="0"/>
              <a:t>Can serve as both active storage and archival.</a:t>
            </a:r>
          </a:p>
          <a:p>
            <a:pPr>
              <a:buNone/>
            </a:pPr>
            <a:r>
              <a:rPr lang="en-US" b="1" dirty="0"/>
              <a:t>Amazon Lake Formation:</a:t>
            </a:r>
            <a:endParaRPr lang="en-US" dirty="0"/>
          </a:p>
          <a:p>
            <a:pPr>
              <a:buFont typeface="Arial" panose="020B0604020202020204" pitchFamily="34" charset="0"/>
              <a:buChar char="•"/>
            </a:pPr>
            <a:r>
              <a:rPr lang="en-US" dirty="0"/>
              <a:t>Simplifies creation and management of secure data lakes.</a:t>
            </a:r>
          </a:p>
          <a:p>
            <a:pPr>
              <a:buFont typeface="Arial" panose="020B0604020202020204" pitchFamily="34" charset="0"/>
              <a:buChar char="•"/>
            </a:pPr>
            <a:r>
              <a:rPr lang="en-US" dirty="0"/>
              <a:t>Adds support for ACID transactions using governed tables.</a:t>
            </a:r>
          </a:p>
          <a:p>
            <a:pPr>
              <a:buFont typeface="Arial" panose="020B0604020202020204" pitchFamily="34" charset="0"/>
              <a:buChar char="•"/>
            </a:pPr>
            <a:r>
              <a:rPr lang="en-US" dirty="0"/>
              <a:t>Extends IAM with fine-grained access control.</a:t>
            </a:r>
          </a:p>
          <a:p>
            <a:endParaRPr lang="en-US" dirty="0"/>
          </a:p>
        </p:txBody>
      </p:sp>
    </p:spTree>
    <p:extLst>
      <p:ext uri="{BB962C8B-B14F-4D97-AF65-F5344CB8AC3E}">
        <p14:creationId xmlns:p14="http://schemas.microsoft.com/office/powerpoint/2010/main" val="2557989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64CB-2C6A-3C08-A198-273E48AD4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D3EBB-961B-BA69-9080-790C5A91B0D3}"/>
              </a:ext>
            </a:extLst>
          </p:cNvPr>
          <p:cNvSpPr>
            <a:spLocks noGrp="1"/>
          </p:cNvSpPr>
          <p:nvPr>
            <p:ph type="title"/>
          </p:nvPr>
        </p:nvSpPr>
        <p:spPr/>
        <p:txBody>
          <a:bodyPr>
            <a:normAutofit/>
          </a:bodyPr>
          <a:lstStyle/>
          <a:p>
            <a:r>
              <a:rPr lang="en-US" dirty="0"/>
              <a:t>Data Warehouse Storage</a:t>
            </a:r>
          </a:p>
        </p:txBody>
      </p:sp>
      <p:sp>
        <p:nvSpPr>
          <p:cNvPr id="3" name="Content Placeholder 2">
            <a:extLst>
              <a:ext uri="{FF2B5EF4-FFF2-40B4-BE49-F238E27FC236}">
                <a16:creationId xmlns:a16="http://schemas.microsoft.com/office/drawing/2014/main" id="{5AF1B748-EFFF-0EF8-5459-CE29294EEE7C}"/>
              </a:ext>
            </a:extLst>
          </p:cNvPr>
          <p:cNvSpPr>
            <a:spLocks noGrp="1"/>
          </p:cNvSpPr>
          <p:nvPr>
            <p:ph idx="1"/>
          </p:nvPr>
        </p:nvSpPr>
        <p:spPr/>
        <p:txBody>
          <a:bodyPr/>
          <a:lstStyle/>
          <a:p>
            <a:pPr>
              <a:buNone/>
            </a:pPr>
            <a:r>
              <a:rPr lang="en-US" b="1" dirty="0"/>
              <a:t>What is a Data Warehouse?</a:t>
            </a:r>
            <a:endParaRPr lang="en-US" dirty="0"/>
          </a:p>
          <a:p>
            <a:pPr>
              <a:buFont typeface="Arial" panose="020B0604020202020204" pitchFamily="34" charset="0"/>
              <a:buChar char="•"/>
            </a:pPr>
            <a:r>
              <a:rPr lang="en-US" dirty="0"/>
              <a:t>A centralized system for storing structured and semi-structured data optimized for analytics.</a:t>
            </a:r>
          </a:p>
          <a:p>
            <a:pPr>
              <a:buFont typeface="Arial" panose="020B0604020202020204" pitchFamily="34" charset="0"/>
              <a:buChar char="•"/>
            </a:pPr>
            <a:r>
              <a:rPr lang="en-US" dirty="0"/>
              <a:t>Separates storage from transactional systems to focus on querying and reporting.</a:t>
            </a:r>
          </a:p>
          <a:p>
            <a:pPr>
              <a:buNone/>
            </a:pPr>
            <a:r>
              <a:rPr lang="en-US" b="1" dirty="0"/>
              <a:t>Amazon Redshift:</a:t>
            </a:r>
            <a:endParaRPr lang="en-US" dirty="0"/>
          </a:p>
          <a:p>
            <a:pPr>
              <a:buFont typeface="Arial" panose="020B0604020202020204" pitchFamily="34" charset="0"/>
              <a:buChar char="•"/>
            </a:pPr>
            <a:r>
              <a:rPr lang="en-US" dirty="0"/>
              <a:t>Fully managed, cloud-native data warehouse.</a:t>
            </a:r>
          </a:p>
          <a:p>
            <a:pPr>
              <a:buFont typeface="Arial" panose="020B0604020202020204" pitchFamily="34" charset="0"/>
              <a:buChar char="•"/>
            </a:pPr>
            <a:r>
              <a:rPr lang="en-US" dirty="0"/>
              <a:t>Uses </a:t>
            </a:r>
            <a:r>
              <a:rPr lang="en-US" b="1" dirty="0"/>
              <a:t>columnar storage</a:t>
            </a:r>
            <a:r>
              <a:rPr lang="en-US" dirty="0"/>
              <a:t> for high-speed queries.</a:t>
            </a:r>
          </a:p>
          <a:p>
            <a:pPr>
              <a:buFont typeface="Arial" panose="020B0604020202020204" pitchFamily="34" charset="0"/>
              <a:buChar char="•"/>
            </a:pPr>
            <a:r>
              <a:rPr lang="en-US" dirty="0"/>
              <a:t>Supports </a:t>
            </a:r>
            <a:r>
              <a:rPr lang="en-US" b="1" dirty="0"/>
              <a:t>Redshift Spectrum</a:t>
            </a:r>
            <a:r>
              <a:rPr lang="en-US" dirty="0"/>
              <a:t> to query S3 data directly.</a:t>
            </a:r>
          </a:p>
          <a:p>
            <a:endParaRPr lang="en-US" dirty="0"/>
          </a:p>
        </p:txBody>
      </p:sp>
    </p:spTree>
    <p:extLst>
      <p:ext uri="{BB962C8B-B14F-4D97-AF65-F5344CB8AC3E}">
        <p14:creationId xmlns:p14="http://schemas.microsoft.com/office/powerpoint/2010/main" val="16714222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FA921-B71C-DECD-3C30-A8D46B7B4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C829C-88BE-0F00-51A2-308418E6E71F}"/>
              </a:ext>
            </a:extLst>
          </p:cNvPr>
          <p:cNvSpPr>
            <a:spLocks noGrp="1"/>
          </p:cNvSpPr>
          <p:nvPr>
            <p:ph type="title"/>
          </p:nvPr>
        </p:nvSpPr>
        <p:spPr/>
        <p:txBody>
          <a:bodyPr/>
          <a:lstStyle/>
          <a:p>
            <a:r>
              <a:rPr lang="en-US" dirty="0"/>
              <a:t>Data Lakes vs. Data Warehouses</a:t>
            </a:r>
          </a:p>
        </p:txBody>
      </p:sp>
      <p:graphicFrame>
        <p:nvGraphicFramePr>
          <p:cNvPr id="4" name="Content Placeholder 3">
            <a:extLst>
              <a:ext uri="{FF2B5EF4-FFF2-40B4-BE49-F238E27FC236}">
                <a16:creationId xmlns:a16="http://schemas.microsoft.com/office/drawing/2014/main" id="{7935372F-0C1D-EE12-4CFF-C1CE5C5E0769}"/>
              </a:ext>
            </a:extLst>
          </p:cNvPr>
          <p:cNvGraphicFramePr>
            <a:graphicFrameLocks noGrp="1"/>
          </p:cNvGraphicFramePr>
          <p:nvPr>
            <p:ph idx="1"/>
          </p:nvPr>
        </p:nvGraphicFramePr>
        <p:xfrm>
          <a:off x="838200" y="1806138"/>
          <a:ext cx="10515600" cy="246888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1366612356"/>
                    </a:ext>
                  </a:extLst>
                </a:gridCol>
                <a:gridCol w="3505200">
                  <a:extLst>
                    <a:ext uri="{9D8B030D-6E8A-4147-A177-3AD203B41FA5}">
                      <a16:colId xmlns:a16="http://schemas.microsoft.com/office/drawing/2014/main" val="241554697"/>
                    </a:ext>
                  </a:extLst>
                </a:gridCol>
                <a:gridCol w="3505200">
                  <a:extLst>
                    <a:ext uri="{9D8B030D-6E8A-4147-A177-3AD203B41FA5}">
                      <a16:colId xmlns:a16="http://schemas.microsoft.com/office/drawing/2014/main" val="1251719496"/>
                    </a:ext>
                  </a:extLst>
                </a:gridCol>
              </a:tblGrid>
              <a:tr h="0">
                <a:tc>
                  <a:txBody>
                    <a:bodyPr/>
                    <a:lstStyle/>
                    <a:p>
                      <a:pPr algn="ctr"/>
                      <a:r>
                        <a:rPr lang="en-US" b="1" dirty="0"/>
                        <a:t>Feature</a:t>
                      </a:r>
                    </a:p>
                  </a:txBody>
                  <a:tcPr anchor="ctr">
                    <a:solidFill>
                      <a:schemeClr val="bg1">
                        <a:lumMod val="85000"/>
                      </a:schemeClr>
                    </a:solidFill>
                  </a:tcPr>
                </a:tc>
                <a:tc>
                  <a:txBody>
                    <a:bodyPr/>
                    <a:lstStyle/>
                    <a:p>
                      <a:pPr algn="ctr"/>
                      <a:r>
                        <a:rPr lang="en-US" b="1" dirty="0"/>
                        <a:t>Data Lake (S3)</a:t>
                      </a:r>
                    </a:p>
                  </a:txBody>
                  <a:tcPr anchor="ctr">
                    <a:solidFill>
                      <a:schemeClr val="bg1">
                        <a:lumMod val="85000"/>
                      </a:schemeClr>
                    </a:solidFill>
                  </a:tcPr>
                </a:tc>
                <a:tc>
                  <a:txBody>
                    <a:bodyPr/>
                    <a:lstStyle/>
                    <a:p>
                      <a:pPr algn="ctr"/>
                      <a:r>
                        <a:rPr lang="en-US" b="1" dirty="0"/>
                        <a:t>Data Warehouse (Redshift)</a:t>
                      </a:r>
                    </a:p>
                  </a:txBody>
                  <a:tcPr anchor="ctr">
                    <a:solidFill>
                      <a:schemeClr val="bg1">
                        <a:lumMod val="85000"/>
                      </a:schemeClr>
                    </a:solidFill>
                  </a:tcPr>
                </a:tc>
                <a:extLst>
                  <a:ext uri="{0D108BD9-81ED-4DB2-BD59-A6C34878D82A}">
                    <a16:rowId xmlns:a16="http://schemas.microsoft.com/office/drawing/2014/main" val="1647304460"/>
                  </a:ext>
                </a:extLst>
              </a:tr>
              <a:tr h="0">
                <a:tc>
                  <a:txBody>
                    <a:bodyPr/>
                    <a:lstStyle/>
                    <a:p>
                      <a:r>
                        <a:rPr lang="en-US" b="1"/>
                        <a:t>Data Type</a:t>
                      </a:r>
                      <a:endParaRPr lang="en-US"/>
                    </a:p>
                  </a:txBody>
                  <a:tcPr anchor="ctr"/>
                </a:tc>
                <a:tc>
                  <a:txBody>
                    <a:bodyPr/>
                    <a:lstStyle/>
                    <a:p>
                      <a:r>
                        <a:rPr lang="en-US"/>
                        <a:t>Structured, semi-structured, unstructured</a:t>
                      </a:r>
                    </a:p>
                  </a:txBody>
                  <a:tcPr anchor="ctr"/>
                </a:tc>
                <a:tc>
                  <a:txBody>
                    <a:bodyPr/>
                    <a:lstStyle/>
                    <a:p>
                      <a:r>
                        <a:rPr lang="en-US"/>
                        <a:t>Structured, semi-structured</a:t>
                      </a:r>
                    </a:p>
                  </a:txBody>
                  <a:tcPr anchor="ctr"/>
                </a:tc>
                <a:extLst>
                  <a:ext uri="{0D108BD9-81ED-4DB2-BD59-A6C34878D82A}">
                    <a16:rowId xmlns:a16="http://schemas.microsoft.com/office/drawing/2014/main" val="1203953063"/>
                  </a:ext>
                </a:extLst>
              </a:tr>
              <a:tr h="0">
                <a:tc>
                  <a:txBody>
                    <a:bodyPr/>
                    <a:lstStyle/>
                    <a:p>
                      <a:r>
                        <a:rPr lang="en-US" b="1"/>
                        <a:t>Schema</a:t>
                      </a:r>
                      <a:endParaRPr lang="en-US"/>
                    </a:p>
                  </a:txBody>
                  <a:tcPr anchor="ctr"/>
                </a:tc>
                <a:tc>
                  <a:txBody>
                    <a:bodyPr/>
                    <a:lstStyle/>
                    <a:p>
                      <a:r>
                        <a:rPr lang="en-US"/>
                        <a:t>Schema-on-read</a:t>
                      </a:r>
                    </a:p>
                  </a:txBody>
                  <a:tcPr anchor="ctr"/>
                </a:tc>
                <a:tc>
                  <a:txBody>
                    <a:bodyPr/>
                    <a:lstStyle/>
                    <a:p>
                      <a:r>
                        <a:rPr lang="en-US"/>
                        <a:t>Schema-on-write</a:t>
                      </a:r>
                    </a:p>
                  </a:txBody>
                  <a:tcPr anchor="ctr"/>
                </a:tc>
                <a:extLst>
                  <a:ext uri="{0D108BD9-81ED-4DB2-BD59-A6C34878D82A}">
                    <a16:rowId xmlns:a16="http://schemas.microsoft.com/office/drawing/2014/main" val="4078407561"/>
                  </a:ext>
                </a:extLst>
              </a:tr>
              <a:tr h="0">
                <a:tc>
                  <a:txBody>
                    <a:bodyPr/>
                    <a:lstStyle/>
                    <a:p>
                      <a:r>
                        <a:rPr lang="en-US" b="1"/>
                        <a:t>Storage Cost</a:t>
                      </a:r>
                      <a:endParaRPr lang="en-US"/>
                    </a:p>
                  </a:txBody>
                  <a:tcPr anchor="ctr"/>
                </a:tc>
                <a:tc>
                  <a:txBody>
                    <a:bodyPr/>
                    <a:lstStyle/>
                    <a:p>
                      <a:r>
                        <a:rPr lang="en-US"/>
                        <a:t>Lower</a:t>
                      </a:r>
                    </a:p>
                  </a:txBody>
                  <a:tcPr anchor="ctr"/>
                </a:tc>
                <a:tc>
                  <a:txBody>
                    <a:bodyPr/>
                    <a:lstStyle/>
                    <a:p>
                      <a:r>
                        <a:rPr lang="en-US"/>
                        <a:t>Higher</a:t>
                      </a:r>
                    </a:p>
                  </a:txBody>
                  <a:tcPr anchor="ctr"/>
                </a:tc>
                <a:extLst>
                  <a:ext uri="{0D108BD9-81ED-4DB2-BD59-A6C34878D82A}">
                    <a16:rowId xmlns:a16="http://schemas.microsoft.com/office/drawing/2014/main" val="1727555288"/>
                  </a:ext>
                </a:extLst>
              </a:tr>
              <a:tr h="0">
                <a:tc>
                  <a:txBody>
                    <a:bodyPr/>
                    <a:lstStyle/>
                    <a:p>
                      <a:r>
                        <a:rPr lang="en-US" b="1"/>
                        <a:t>Use Case</a:t>
                      </a:r>
                      <a:endParaRPr lang="en-US"/>
                    </a:p>
                  </a:txBody>
                  <a:tcPr anchor="ctr"/>
                </a:tc>
                <a:tc>
                  <a:txBody>
                    <a:bodyPr/>
                    <a:lstStyle/>
                    <a:p>
                      <a:r>
                        <a:rPr lang="en-US"/>
                        <a:t>ML, raw data, flexible exploration</a:t>
                      </a:r>
                    </a:p>
                  </a:txBody>
                  <a:tcPr anchor="ctr"/>
                </a:tc>
                <a:tc>
                  <a:txBody>
                    <a:bodyPr/>
                    <a:lstStyle/>
                    <a:p>
                      <a:r>
                        <a:rPr lang="en-US"/>
                        <a:t>BI, dashboards, structured analytics</a:t>
                      </a:r>
                    </a:p>
                  </a:txBody>
                  <a:tcPr anchor="ctr"/>
                </a:tc>
                <a:extLst>
                  <a:ext uri="{0D108BD9-81ED-4DB2-BD59-A6C34878D82A}">
                    <a16:rowId xmlns:a16="http://schemas.microsoft.com/office/drawing/2014/main" val="3210784179"/>
                  </a:ext>
                </a:extLst>
              </a:tr>
              <a:tr h="0">
                <a:tc>
                  <a:txBody>
                    <a:bodyPr/>
                    <a:lstStyle/>
                    <a:p>
                      <a:r>
                        <a:rPr lang="en-US" b="1"/>
                        <a:t>Query Engines</a:t>
                      </a:r>
                      <a:endParaRPr lang="en-US"/>
                    </a:p>
                  </a:txBody>
                  <a:tcPr anchor="ctr"/>
                </a:tc>
                <a:tc>
                  <a:txBody>
                    <a:bodyPr/>
                    <a:lstStyle/>
                    <a:p>
                      <a:r>
                        <a:rPr lang="en-US"/>
                        <a:t>Athena, EMR, Redshift Spectrum</a:t>
                      </a:r>
                    </a:p>
                  </a:txBody>
                  <a:tcPr anchor="ctr"/>
                </a:tc>
                <a:tc>
                  <a:txBody>
                    <a:bodyPr/>
                    <a:lstStyle/>
                    <a:p>
                      <a:r>
                        <a:rPr lang="en-US" dirty="0"/>
                        <a:t>Redshift</a:t>
                      </a:r>
                    </a:p>
                  </a:txBody>
                  <a:tcPr anchor="ctr"/>
                </a:tc>
                <a:extLst>
                  <a:ext uri="{0D108BD9-81ED-4DB2-BD59-A6C34878D82A}">
                    <a16:rowId xmlns:a16="http://schemas.microsoft.com/office/drawing/2014/main" val="671614280"/>
                  </a:ext>
                </a:extLst>
              </a:tr>
            </a:tbl>
          </a:graphicData>
        </a:graphic>
      </p:graphicFrame>
    </p:spTree>
    <p:extLst>
      <p:ext uri="{BB962C8B-B14F-4D97-AF65-F5344CB8AC3E}">
        <p14:creationId xmlns:p14="http://schemas.microsoft.com/office/powerpoint/2010/main" val="31303378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49E-4960-E30B-0C3D-B9F34519C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09C68-B75A-B064-732F-6393AB232A41}"/>
              </a:ext>
            </a:extLst>
          </p:cNvPr>
          <p:cNvSpPr>
            <a:spLocks noGrp="1"/>
          </p:cNvSpPr>
          <p:nvPr>
            <p:ph type="title"/>
          </p:nvPr>
        </p:nvSpPr>
        <p:spPr/>
        <p:txBody>
          <a:bodyPr>
            <a:normAutofit/>
          </a:bodyPr>
          <a:lstStyle/>
          <a:p>
            <a:r>
              <a:rPr lang="en-US" dirty="0"/>
              <a:t>Purpose-Built Databases</a:t>
            </a:r>
          </a:p>
        </p:txBody>
      </p:sp>
      <p:sp>
        <p:nvSpPr>
          <p:cNvPr id="3" name="Content Placeholder 2">
            <a:extLst>
              <a:ext uri="{FF2B5EF4-FFF2-40B4-BE49-F238E27FC236}">
                <a16:creationId xmlns:a16="http://schemas.microsoft.com/office/drawing/2014/main" id="{E55B8019-46D5-A8DC-D2C3-D7A02282E5CA}"/>
              </a:ext>
            </a:extLst>
          </p:cNvPr>
          <p:cNvSpPr>
            <a:spLocks noGrp="1"/>
          </p:cNvSpPr>
          <p:nvPr>
            <p:ph idx="1"/>
          </p:nvPr>
        </p:nvSpPr>
        <p:spPr/>
        <p:txBody>
          <a:bodyPr/>
          <a:lstStyle/>
          <a:p>
            <a:pPr>
              <a:buNone/>
            </a:pPr>
            <a:r>
              <a:rPr lang="en-US" b="1" dirty="0"/>
              <a:t>Choosing a Purpose-Built Database Depends on:</a:t>
            </a:r>
            <a:endParaRPr lang="en-US" dirty="0"/>
          </a:p>
          <a:p>
            <a:pPr>
              <a:buFont typeface="Arial" panose="020B0604020202020204" pitchFamily="34" charset="0"/>
              <a:buChar char="•"/>
            </a:pPr>
            <a:r>
              <a:rPr lang="en-US" b="1" dirty="0"/>
              <a:t>Application Workload:</a:t>
            </a:r>
            <a:r>
              <a:rPr lang="en-US" dirty="0"/>
              <a:t> OLTP, caching, analytics, etc.</a:t>
            </a:r>
          </a:p>
          <a:p>
            <a:pPr>
              <a:buFont typeface="Arial" panose="020B0604020202020204" pitchFamily="34" charset="0"/>
              <a:buChar char="•"/>
            </a:pPr>
            <a:r>
              <a:rPr lang="en-US" b="1" dirty="0"/>
              <a:t>Data Shape:</a:t>
            </a:r>
            <a:r>
              <a:rPr lang="en-US" dirty="0"/>
              <a:t> Tabular, document, graph, key-value, etc.</a:t>
            </a:r>
          </a:p>
          <a:p>
            <a:pPr>
              <a:buFont typeface="Arial" panose="020B0604020202020204" pitchFamily="34" charset="0"/>
              <a:buChar char="•"/>
            </a:pPr>
            <a:r>
              <a:rPr lang="en-US" b="1" dirty="0"/>
              <a:t>Performance Requirements:</a:t>
            </a:r>
            <a:r>
              <a:rPr lang="en-US" dirty="0"/>
              <a:t> Query latency, data volume.</a:t>
            </a:r>
          </a:p>
          <a:p>
            <a:pPr>
              <a:buFont typeface="Arial" panose="020B0604020202020204" pitchFamily="34" charset="0"/>
              <a:buChar char="•"/>
            </a:pPr>
            <a:r>
              <a:rPr lang="en-US" b="1" dirty="0"/>
              <a:t>Operations Burden:</a:t>
            </a:r>
            <a:r>
              <a:rPr lang="en-US" dirty="0"/>
              <a:t> Backup, scaling, recovery, failover.</a:t>
            </a:r>
          </a:p>
          <a:p>
            <a:pPr>
              <a:buNone/>
            </a:pPr>
            <a:r>
              <a:rPr lang="en-US" b="1" dirty="0"/>
              <a:t>Examples of AWS Purpose-Built Databases:</a:t>
            </a:r>
            <a:endParaRPr lang="en-US" dirty="0"/>
          </a:p>
          <a:p>
            <a:pPr>
              <a:buFont typeface="Arial" panose="020B0604020202020204" pitchFamily="34" charset="0"/>
              <a:buChar char="•"/>
            </a:pPr>
            <a:r>
              <a:rPr lang="en-US" b="1" dirty="0"/>
              <a:t>RDS:</a:t>
            </a:r>
            <a:r>
              <a:rPr lang="en-US" dirty="0"/>
              <a:t> Relational data (MySQL, PostgreSQL, etc.)</a:t>
            </a:r>
          </a:p>
          <a:p>
            <a:pPr>
              <a:buFont typeface="Arial" panose="020B0604020202020204" pitchFamily="34" charset="0"/>
              <a:buChar char="•"/>
            </a:pPr>
            <a:r>
              <a:rPr lang="en-US" b="1" dirty="0"/>
              <a:t>DynamoDB:</a:t>
            </a:r>
            <a:r>
              <a:rPr lang="en-US" dirty="0"/>
              <a:t> NoSQL key-value and document.</a:t>
            </a:r>
          </a:p>
          <a:p>
            <a:pPr>
              <a:buFont typeface="Arial" panose="020B0604020202020204" pitchFamily="34" charset="0"/>
              <a:buChar char="•"/>
            </a:pPr>
            <a:r>
              <a:rPr lang="en-US" b="1" dirty="0"/>
              <a:t>Aurora:</a:t>
            </a:r>
            <a:r>
              <a:rPr lang="en-US" dirty="0"/>
              <a:t> High-performance relational DB.</a:t>
            </a:r>
          </a:p>
          <a:p>
            <a:pPr>
              <a:buFont typeface="Arial" panose="020B0604020202020204" pitchFamily="34" charset="0"/>
              <a:buChar char="•"/>
            </a:pPr>
            <a:r>
              <a:rPr lang="en-US" b="1" dirty="0"/>
              <a:t>Neptune:</a:t>
            </a:r>
            <a:r>
              <a:rPr lang="en-US" dirty="0"/>
              <a:t> Graph databases.</a:t>
            </a:r>
          </a:p>
          <a:p>
            <a:endParaRPr lang="en-US" dirty="0"/>
          </a:p>
        </p:txBody>
      </p:sp>
    </p:spTree>
    <p:extLst>
      <p:ext uri="{BB962C8B-B14F-4D97-AF65-F5344CB8AC3E}">
        <p14:creationId xmlns:p14="http://schemas.microsoft.com/office/powerpoint/2010/main" val="2910462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9F1F1-F8CA-10F2-ED8A-75F9053AA7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7B0CC-9EA3-2089-260A-8AA680969E61}"/>
              </a:ext>
            </a:extLst>
          </p:cNvPr>
          <p:cNvSpPr>
            <a:spLocks noGrp="1"/>
          </p:cNvSpPr>
          <p:nvPr>
            <p:ph type="title"/>
          </p:nvPr>
        </p:nvSpPr>
        <p:spPr>
          <a:xfrm>
            <a:off x="838200" y="797523"/>
            <a:ext cx="11020539" cy="748208"/>
          </a:xfrm>
        </p:spPr>
        <p:txBody>
          <a:bodyPr>
            <a:normAutofit/>
          </a:bodyPr>
          <a:lstStyle/>
          <a:p>
            <a:r>
              <a:rPr lang="en-US" dirty="0"/>
              <a:t>Storage in Support of ETL vs. ELT Pipelines</a:t>
            </a:r>
          </a:p>
        </p:txBody>
      </p:sp>
      <p:sp>
        <p:nvSpPr>
          <p:cNvPr id="3" name="Content Placeholder 2">
            <a:extLst>
              <a:ext uri="{FF2B5EF4-FFF2-40B4-BE49-F238E27FC236}">
                <a16:creationId xmlns:a16="http://schemas.microsoft.com/office/drawing/2014/main" id="{D4E8A736-63FA-4968-09E9-B91E06081D58}"/>
              </a:ext>
            </a:extLst>
          </p:cNvPr>
          <p:cNvSpPr>
            <a:spLocks noGrp="1"/>
          </p:cNvSpPr>
          <p:nvPr>
            <p:ph idx="1"/>
          </p:nvPr>
        </p:nvSpPr>
        <p:spPr>
          <a:xfrm>
            <a:off x="838200" y="1715187"/>
            <a:ext cx="4171721" cy="4981859"/>
          </a:xfrm>
        </p:spPr>
        <p:txBody>
          <a:bodyPr vert="horz" lIns="91440" tIns="45720" rIns="91440" bIns="45720" rtlCol="0" anchor="t">
            <a:normAutofit lnSpcReduction="10000"/>
          </a:bodyPr>
          <a:lstStyle/>
          <a:p>
            <a:pPr>
              <a:buNone/>
            </a:pPr>
            <a:r>
              <a:rPr lang="en-US" sz="1800" b="1" dirty="0"/>
              <a:t>ETL (Extract, Transform, Load):</a:t>
            </a:r>
            <a:endParaRPr lang="en-US" sz="1800" dirty="0"/>
          </a:p>
          <a:p>
            <a:pPr>
              <a:buFont typeface="Arial" panose="020B0604020202020204" pitchFamily="34" charset="0"/>
              <a:buChar char="•"/>
            </a:pPr>
            <a:r>
              <a:rPr lang="en-US" sz="1800" dirty="0"/>
              <a:t>Data is transformed before being stored.</a:t>
            </a:r>
          </a:p>
          <a:p>
            <a:pPr>
              <a:buFont typeface="Arial" panose="020B0604020202020204" pitchFamily="34" charset="0"/>
              <a:buChar char="•"/>
            </a:pPr>
            <a:r>
              <a:rPr lang="en-US" sz="1800" dirty="0"/>
              <a:t>Typically uses intermediate storage during processing.</a:t>
            </a:r>
          </a:p>
          <a:p>
            <a:pPr>
              <a:buNone/>
            </a:pPr>
            <a:r>
              <a:rPr lang="en-US" sz="1800" b="1" dirty="0"/>
              <a:t>ELT (Extract, Load, Transform):</a:t>
            </a:r>
            <a:endParaRPr lang="en-US" sz="1800" dirty="0"/>
          </a:p>
          <a:p>
            <a:pPr>
              <a:buFont typeface="Arial" panose="020B0604020202020204" pitchFamily="34" charset="0"/>
              <a:buChar char="•"/>
            </a:pPr>
            <a:r>
              <a:rPr lang="en-US" sz="1800" dirty="0"/>
              <a:t>Data is loaded into the storage first.</a:t>
            </a:r>
            <a:endParaRPr lang="en-US" sz="1800" dirty="0">
              <a:ea typeface="Calibri"/>
              <a:cs typeface="Calibri"/>
            </a:endParaRPr>
          </a:p>
          <a:p>
            <a:pPr>
              <a:buFont typeface="Arial" panose="020B0604020202020204" pitchFamily="34" charset="0"/>
              <a:buChar char="•"/>
            </a:pPr>
            <a:r>
              <a:rPr lang="en-US" sz="1800" dirty="0"/>
              <a:t>Transformation is done after storage, enabling full flexibility and reusability.</a:t>
            </a:r>
          </a:p>
          <a:p>
            <a:pPr>
              <a:buNone/>
            </a:pPr>
            <a:r>
              <a:rPr lang="en-US" sz="1800" b="1" dirty="0"/>
              <a:t>Storage Types in Pipelines:</a:t>
            </a:r>
            <a:endParaRPr lang="en-US" sz="1800" dirty="0"/>
          </a:p>
          <a:p>
            <a:pPr>
              <a:buFont typeface="Arial" panose="020B0604020202020204" pitchFamily="34" charset="0"/>
              <a:buChar char="•"/>
            </a:pPr>
            <a:r>
              <a:rPr lang="en-US" sz="1800" b="1" dirty="0"/>
              <a:t>ETL:</a:t>
            </a:r>
            <a:r>
              <a:rPr lang="en-US" sz="1800" dirty="0"/>
              <a:t> Uses temp storage and targets like S3 or Redshift.</a:t>
            </a:r>
          </a:p>
          <a:p>
            <a:pPr>
              <a:buFont typeface="Arial" panose="020B0604020202020204" pitchFamily="34" charset="0"/>
              <a:buChar char="•"/>
            </a:pPr>
            <a:r>
              <a:rPr lang="en-US" sz="1800" b="1" dirty="0"/>
              <a:t>ELT:</a:t>
            </a:r>
            <a:r>
              <a:rPr lang="en-US" sz="1800" dirty="0"/>
              <a:t> Loads raw data directly into S3 or Redshift and transforms it using SQL or Glue.</a:t>
            </a:r>
          </a:p>
          <a:p>
            <a:endParaRPr lang="en-US" sz="1800" dirty="0"/>
          </a:p>
        </p:txBody>
      </p:sp>
      <p:pic>
        <p:nvPicPr>
          <p:cNvPr id="4" name="Picture 3" descr="A diagram of data storage&#10;&#10;AI-generated content may be incorrect.">
            <a:extLst>
              <a:ext uri="{FF2B5EF4-FFF2-40B4-BE49-F238E27FC236}">
                <a16:creationId xmlns:a16="http://schemas.microsoft.com/office/drawing/2014/main" id="{ABF1C8B3-4D7C-C7D7-7802-D4820D91011C}"/>
              </a:ext>
            </a:extLst>
          </p:cNvPr>
          <p:cNvPicPr>
            <a:picLocks noChangeAspect="1"/>
          </p:cNvPicPr>
          <p:nvPr/>
        </p:nvPicPr>
        <p:blipFill>
          <a:blip r:embed="rId2"/>
          <a:stretch>
            <a:fillRect/>
          </a:stretch>
        </p:blipFill>
        <p:spPr>
          <a:xfrm>
            <a:off x="5311622" y="1713812"/>
            <a:ext cx="6563069" cy="3705799"/>
          </a:xfrm>
          <a:prstGeom prst="rect">
            <a:avLst/>
          </a:prstGeom>
        </p:spPr>
      </p:pic>
    </p:spTree>
    <p:extLst>
      <p:ext uri="{BB962C8B-B14F-4D97-AF65-F5344CB8AC3E}">
        <p14:creationId xmlns:p14="http://schemas.microsoft.com/office/powerpoint/2010/main" val="2307385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FB8B4-70CB-8125-1689-1E1607FD7F7A}"/>
              </a:ext>
            </a:extLst>
          </p:cNvPr>
          <p:cNvSpPr>
            <a:spLocks noGrp="1"/>
          </p:cNvSpPr>
          <p:nvPr>
            <p:ph type="title"/>
          </p:nvPr>
        </p:nvSpPr>
        <p:spPr/>
        <p:txBody>
          <a:bodyPr/>
          <a:lstStyle/>
          <a:p>
            <a:r>
              <a:rPr lang="en-US" dirty="0">
                <a:ea typeface="Calibri Light"/>
                <a:cs typeface="Calibri Light"/>
              </a:rPr>
              <a:t>Example: Storage in support of an ETL pipeline</a:t>
            </a:r>
            <a:endParaRPr lang="en-US" dirty="0" err="1"/>
          </a:p>
        </p:txBody>
      </p:sp>
      <p:pic>
        <p:nvPicPr>
          <p:cNvPr id="4" name="Content Placeholder 3" descr="A diagram of a process&#10;&#10;AI-generated content may be incorrect.">
            <a:extLst>
              <a:ext uri="{FF2B5EF4-FFF2-40B4-BE49-F238E27FC236}">
                <a16:creationId xmlns:a16="http://schemas.microsoft.com/office/drawing/2014/main" id="{827CD31D-C6C7-1DE4-5D88-E0AE685D1381}"/>
              </a:ext>
            </a:extLst>
          </p:cNvPr>
          <p:cNvPicPr>
            <a:picLocks noGrp="1" noChangeAspect="1"/>
          </p:cNvPicPr>
          <p:nvPr>
            <p:ph idx="1"/>
          </p:nvPr>
        </p:nvPicPr>
        <p:blipFill>
          <a:blip r:embed="rId2"/>
          <a:stretch>
            <a:fillRect/>
          </a:stretch>
        </p:blipFill>
        <p:spPr>
          <a:xfrm>
            <a:off x="1352320" y="1714775"/>
            <a:ext cx="9487359" cy="4257407"/>
          </a:xfrm>
        </p:spPr>
      </p:pic>
      <p:sp>
        <p:nvSpPr>
          <p:cNvPr id="6" name="Content Placeholder 2">
            <a:extLst>
              <a:ext uri="{FF2B5EF4-FFF2-40B4-BE49-F238E27FC236}">
                <a16:creationId xmlns:a16="http://schemas.microsoft.com/office/drawing/2014/main" id="{8BDF8AF1-B687-ADE9-CBCC-8B0BCF71A5FA}"/>
              </a:ext>
            </a:extLst>
          </p:cNvPr>
          <p:cNvSpPr txBox="1">
            <a:spLocks/>
          </p:cNvSpPr>
          <p:nvPr/>
        </p:nvSpPr>
        <p:spPr>
          <a:xfrm>
            <a:off x="1352320" y="6241283"/>
            <a:ext cx="4171721" cy="44658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800" dirty="0"/>
              <a:t>Kinesis is an ETL service by AWS</a:t>
            </a:r>
            <a:endParaRPr lang="en-US" dirty="0"/>
          </a:p>
        </p:txBody>
      </p:sp>
    </p:spTree>
    <p:extLst>
      <p:ext uri="{BB962C8B-B14F-4D97-AF65-F5344CB8AC3E}">
        <p14:creationId xmlns:p14="http://schemas.microsoft.com/office/powerpoint/2010/main" val="4697752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87A0-7F47-9E11-C00B-439F14391D1E}"/>
              </a:ext>
            </a:extLst>
          </p:cNvPr>
          <p:cNvSpPr>
            <a:spLocks noGrp="1"/>
          </p:cNvSpPr>
          <p:nvPr>
            <p:ph type="title"/>
          </p:nvPr>
        </p:nvSpPr>
        <p:spPr/>
        <p:txBody>
          <a:bodyPr/>
          <a:lstStyle/>
          <a:p>
            <a:r>
              <a:rPr lang="en-US">
                <a:ea typeface="Calibri Light"/>
                <a:cs typeface="Calibri Light"/>
              </a:rPr>
              <a:t>Example: Storage in support of an ELT pipeline</a:t>
            </a:r>
            <a:endParaRPr lang="en-US"/>
          </a:p>
        </p:txBody>
      </p:sp>
      <p:pic>
        <p:nvPicPr>
          <p:cNvPr id="4" name="Content Placeholder 3" descr="A diagram of data processing&#10;&#10;AI-generated content may be incorrect.">
            <a:extLst>
              <a:ext uri="{FF2B5EF4-FFF2-40B4-BE49-F238E27FC236}">
                <a16:creationId xmlns:a16="http://schemas.microsoft.com/office/drawing/2014/main" id="{8787013F-16E2-6B06-DE90-0B4585215B76}"/>
              </a:ext>
            </a:extLst>
          </p:cNvPr>
          <p:cNvPicPr>
            <a:picLocks noGrp="1" noChangeAspect="1"/>
          </p:cNvPicPr>
          <p:nvPr>
            <p:ph idx="1"/>
          </p:nvPr>
        </p:nvPicPr>
        <p:blipFill>
          <a:blip r:embed="rId2"/>
          <a:stretch>
            <a:fillRect/>
          </a:stretch>
        </p:blipFill>
        <p:spPr>
          <a:xfrm>
            <a:off x="838200" y="1904180"/>
            <a:ext cx="10515600" cy="4594693"/>
          </a:xfrm>
        </p:spPr>
      </p:pic>
    </p:spTree>
    <p:extLst>
      <p:ext uri="{BB962C8B-B14F-4D97-AF65-F5344CB8AC3E}">
        <p14:creationId xmlns:p14="http://schemas.microsoft.com/office/powerpoint/2010/main" val="35601877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0368B-110D-0903-FAE4-0D10A74CC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72513-A7D3-8A7B-35B8-19354FBC723B}"/>
              </a:ext>
            </a:extLst>
          </p:cNvPr>
          <p:cNvSpPr>
            <a:spLocks noGrp="1"/>
          </p:cNvSpPr>
          <p:nvPr>
            <p:ph type="title"/>
          </p:nvPr>
        </p:nvSpPr>
        <p:spPr/>
        <p:txBody>
          <a:bodyPr>
            <a:normAutofit/>
          </a:bodyPr>
          <a:lstStyle/>
          <a:p>
            <a:r>
              <a:rPr lang="en-US" dirty="0"/>
              <a:t>Securing Cloud Storage</a:t>
            </a:r>
          </a:p>
        </p:txBody>
      </p:sp>
      <p:sp>
        <p:nvSpPr>
          <p:cNvPr id="3" name="Content Placeholder 2">
            <a:extLst>
              <a:ext uri="{FF2B5EF4-FFF2-40B4-BE49-F238E27FC236}">
                <a16:creationId xmlns:a16="http://schemas.microsoft.com/office/drawing/2014/main" id="{ABBFDA7F-9483-2571-A7BE-CB1F316E0B68}"/>
              </a:ext>
            </a:extLst>
          </p:cNvPr>
          <p:cNvSpPr>
            <a:spLocks noGrp="1"/>
          </p:cNvSpPr>
          <p:nvPr>
            <p:ph idx="1"/>
          </p:nvPr>
        </p:nvSpPr>
        <p:spPr/>
        <p:txBody>
          <a:bodyPr/>
          <a:lstStyle/>
          <a:p>
            <a:pPr>
              <a:buNone/>
            </a:pPr>
            <a:r>
              <a:rPr lang="en-US" b="1" dirty="0"/>
              <a:t>Amazon S3 Security Features:</a:t>
            </a:r>
            <a:endParaRPr lang="en-US" dirty="0"/>
          </a:p>
          <a:p>
            <a:pPr>
              <a:buFont typeface="Arial" panose="020B0604020202020204" pitchFamily="34" charset="0"/>
              <a:buChar char="•"/>
            </a:pPr>
            <a:r>
              <a:rPr lang="en-US" dirty="0"/>
              <a:t>Resource-based and user IAM policies.</a:t>
            </a:r>
          </a:p>
          <a:p>
            <a:pPr>
              <a:buFont typeface="Arial" panose="020B0604020202020204" pitchFamily="34" charset="0"/>
              <a:buChar char="•"/>
            </a:pPr>
            <a:r>
              <a:rPr lang="en-US" dirty="0"/>
              <a:t>Encryption options: SSE-S3, SSE-KMS, client-side encryption.</a:t>
            </a:r>
          </a:p>
          <a:p>
            <a:pPr>
              <a:buFont typeface="Arial" panose="020B0604020202020204" pitchFamily="34" charset="0"/>
              <a:buChar char="•"/>
            </a:pPr>
            <a:r>
              <a:rPr lang="en-US" dirty="0"/>
              <a:t>Fine-grained access using S3 Access Points and tags.</a:t>
            </a:r>
          </a:p>
          <a:p>
            <a:pPr>
              <a:buFont typeface="Arial" panose="020B0604020202020204" pitchFamily="34" charset="0"/>
              <a:buChar char="•"/>
            </a:pPr>
            <a:r>
              <a:rPr lang="en-US" dirty="0"/>
              <a:t>Governed access via Lake Formation.</a:t>
            </a:r>
          </a:p>
          <a:p>
            <a:pPr>
              <a:buNone/>
            </a:pPr>
            <a:r>
              <a:rPr lang="en-US" b="1" dirty="0"/>
              <a:t>Amazon Redshift Security:</a:t>
            </a:r>
            <a:endParaRPr lang="en-US" dirty="0"/>
          </a:p>
          <a:p>
            <a:pPr>
              <a:buFont typeface="Arial" panose="020B0604020202020204" pitchFamily="34" charset="0"/>
              <a:buChar char="•"/>
            </a:pPr>
            <a:r>
              <a:rPr lang="en-US" dirty="0"/>
              <a:t>Handles </a:t>
            </a:r>
            <a:r>
              <a:rPr lang="en-US" b="1" dirty="0"/>
              <a:t>service-level</a:t>
            </a:r>
            <a:r>
              <a:rPr lang="en-US" dirty="0"/>
              <a:t> and </a:t>
            </a:r>
            <a:r>
              <a:rPr lang="en-US" b="1" dirty="0"/>
              <a:t>database-level</a:t>
            </a:r>
            <a:r>
              <a:rPr lang="en-US" dirty="0"/>
              <a:t> security separately.</a:t>
            </a:r>
          </a:p>
          <a:p>
            <a:pPr>
              <a:buFont typeface="Arial" panose="020B0604020202020204" pitchFamily="34" charset="0"/>
              <a:buChar char="•"/>
            </a:pPr>
            <a:r>
              <a:rPr lang="en-US" dirty="0"/>
              <a:t>Integrates with </a:t>
            </a:r>
            <a:r>
              <a:rPr lang="en-US" b="1" dirty="0"/>
              <a:t>CloudWatch, CloudTrail</a:t>
            </a:r>
            <a:r>
              <a:rPr lang="en-US" dirty="0"/>
              <a:t>, and </a:t>
            </a:r>
            <a:r>
              <a:rPr lang="en-US" b="1" dirty="0"/>
              <a:t>Security Hub</a:t>
            </a:r>
            <a:r>
              <a:rPr lang="en-US" dirty="0"/>
              <a:t> for auditing.</a:t>
            </a:r>
          </a:p>
          <a:p>
            <a:pPr>
              <a:buFont typeface="Arial" panose="020B0604020202020204" pitchFamily="34" charset="0"/>
              <a:buChar char="•"/>
            </a:pPr>
            <a:r>
              <a:rPr lang="en-US" dirty="0"/>
              <a:t>Supports compliance and governance requirements for regulated workloads.</a:t>
            </a:r>
          </a:p>
          <a:p>
            <a:endParaRPr lang="en-US" dirty="0"/>
          </a:p>
        </p:txBody>
      </p:sp>
    </p:spTree>
    <p:extLst>
      <p:ext uri="{BB962C8B-B14F-4D97-AF65-F5344CB8AC3E}">
        <p14:creationId xmlns:p14="http://schemas.microsoft.com/office/powerpoint/2010/main" val="20943502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9A107-E323-F06D-7CAA-51A99518CECA}"/>
              </a:ext>
            </a:extLst>
          </p:cNvPr>
          <p:cNvSpPr>
            <a:spLocks noGrp="1"/>
          </p:cNvSpPr>
          <p:nvPr>
            <p:ph type="title"/>
          </p:nvPr>
        </p:nvSpPr>
        <p:spPr/>
        <p:txBody>
          <a:bodyPr/>
          <a:lstStyle/>
          <a:p>
            <a:r>
              <a:rPr lang="en-US" dirty="0">
                <a:ea typeface="Calibri Light"/>
                <a:cs typeface="Calibri Light"/>
              </a:rPr>
              <a:t>File Formats</a:t>
            </a:r>
            <a:endParaRPr lang="en-US" dirty="0"/>
          </a:p>
        </p:txBody>
      </p:sp>
      <p:graphicFrame>
        <p:nvGraphicFramePr>
          <p:cNvPr id="5" name="Content Placeholder 4">
            <a:extLst>
              <a:ext uri="{FF2B5EF4-FFF2-40B4-BE49-F238E27FC236}">
                <a16:creationId xmlns:a16="http://schemas.microsoft.com/office/drawing/2014/main" id="{66A08B83-29CD-8491-74E0-5E9794D55CA8}"/>
              </a:ext>
            </a:extLst>
          </p:cNvPr>
          <p:cNvGraphicFramePr>
            <a:graphicFrameLocks noGrp="1"/>
          </p:cNvGraphicFramePr>
          <p:nvPr>
            <p:ph idx="1"/>
          </p:nvPr>
        </p:nvGraphicFramePr>
        <p:xfrm>
          <a:off x="838200" y="1706563"/>
          <a:ext cx="10515600" cy="4297680"/>
        </p:xfrm>
        <a:graphic>
          <a:graphicData uri="http://schemas.openxmlformats.org/drawingml/2006/table">
            <a:tbl>
              <a:tblPr bandRow="1">
                <a:tableStyleId>{5940675A-B579-460E-94D1-54222C63F5DA}</a:tableStyleId>
              </a:tblPr>
              <a:tblGrid>
                <a:gridCol w="5257800">
                  <a:extLst>
                    <a:ext uri="{9D8B030D-6E8A-4147-A177-3AD203B41FA5}">
                      <a16:colId xmlns:a16="http://schemas.microsoft.com/office/drawing/2014/main" val="123145558"/>
                    </a:ext>
                  </a:extLst>
                </a:gridCol>
                <a:gridCol w="5257800">
                  <a:extLst>
                    <a:ext uri="{9D8B030D-6E8A-4147-A177-3AD203B41FA5}">
                      <a16:colId xmlns:a16="http://schemas.microsoft.com/office/drawing/2014/main" val="2501183849"/>
                    </a:ext>
                  </a:extLst>
                </a:gridCol>
              </a:tblGrid>
              <a:tr h="0">
                <a:tc>
                  <a:txBody>
                    <a:bodyPr/>
                    <a:lstStyle/>
                    <a:p>
                      <a:pPr algn="ctr"/>
                      <a:r>
                        <a:rPr lang="en-US" b="1" dirty="0"/>
                        <a:t>Format</a:t>
                      </a:r>
                    </a:p>
                  </a:txBody>
                  <a:tcPr anchor="ctr">
                    <a:solidFill>
                      <a:schemeClr val="bg1">
                        <a:lumMod val="85000"/>
                      </a:schemeClr>
                    </a:solidFill>
                  </a:tcPr>
                </a:tc>
                <a:tc>
                  <a:txBody>
                    <a:bodyPr/>
                    <a:lstStyle/>
                    <a:p>
                      <a:pPr algn="ctr"/>
                      <a:r>
                        <a:rPr lang="en-US" b="1" dirty="0"/>
                        <a:t>Description</a:t>
                      </a:r>
                    </a:p>
                  </a:txBody>
                  <a:tcPr anchor="ctr">
                    <a:solidFill>
                      <a:schemeClr val="bg1">
                        <a:lumMod val="85000"/>
                      </a:schemeClr>
                    </a:solidFill>
                  </a:tcPr>
                </a:tc>
                <a:extLst>
                  <a:ext uri="{0D108BD9-81ED-4DB2-BD59-A6C34878D82A}">
                    <a16:rowId xmlns:a16="http://schemas.microsoft.com/office/drawing/2014/main" val="3998067076"/>
                  </a:ext>
                </a:extLst>
              </a:tr>
              <a:tr h="0">
                <a:tc>
                  <a:txBody>
                    <a:bodyPr/>
                    <a:lstStyle/>
                    <a:p>
                      <a:r>
                        <a:rPr lang="en-US" dirty="0"/>
                        <a:t>Apache Avro</a:t>
                      </a:r>
                    </a:p>
                  </a:txBody>
                  <a:tcPr anchor="ctr"/>
                </a:tc>
                <a:tc>
                  <a:txBody>
                    <a:bodyPr/>
                    <a:lstStyle/>
                    <a:p>
                      <a:r>
                        <a:rPr lang="en-US" dirty="0"/>
                        <a:t>A row-based data serialization framework developed within the Apache Hadoop project. Avro uses JSON to define schemas and supports schema evolution.</a:t>
                      </a:r>
                    </a:p>
                  </a:txBody>
                  <a:tcPr anchor="ctr"/>
                </a:tc>
                <a:extLst>
                  <a:ext uri="{0D108BD9-81ED-4DB2-BD59-A6C34878D82A}">
                    <a16:rowId xmlns:a16="http://schemas.microsoft.com/office/drawing/2014/main" val="1623726248"/>
                  </a:ext>
                </a:extLst>
              </a:tr>
              <a:tr h="0">
                <a:tc>
                  <a:txBody>
                    <a:bodyPr/>
                    <a:lstStyle/>
                    <a:p>
                      <a:r>
                        <a:rPr lang="en-US" dirty="0"/>
                        <a:t>JSON</a:t>
                      </a:r>
                    </a:p>
                  </a:txBody>
                  <a:tcPr anchor="ctr"/>
                </a:tc>
                <a:tc>
                  <a:txBody>
                    <a:bodyPr/>
                    <a:lstStyle/>
                    <a:p>
                      <a:r>
                        <a:rPr lang="en-US" dirty="0"/>
                        <a:t>A lightweight, text-based data interchange format that's easy for humans to read and write, and easy for machines to parse and generate.</a:t>
                      </a:r>
                    </a:p>
                  </a:txBody>
                  <a:tcPr anchor="ctr"/>
                </a:tc>
                <a:extLst>
                  <a:ext uri="{0D108BD9-81ED-4DB2-BD59-A6C34878D82A}">
                    <a16:rowId xmlns:a16="http://schemas.microsoft.com/office/drawing/2014/main" val="3635346206"/>
                  </a:ext>
                </a:extLst>
              </a:tr>
              <a:tr h="0">
                <a:tc>
                  <a:txBody>
                    <a:bodyPr/>
                    <a:lstStyle/>
                    <a:p>
                      <a:r>
                        <a:rPr lang="en-US" dirty="0"/>
                        <a:t>Apache Parquet</a:t>
                      </a:r>
                    </a:p>
                  </a:txBody>
                  <a:tcPr anchor="ctr"/>
                </a:tc>
                <a:tc>
                  <a:txBody>
                    <a:bodyPr/>
                    <a:lstStyle/>
                    <a:p>
                      <a:r>
                        <a:rPr lang="en-US" dirty="0"/>
                        <a:t>A columnar storage file format optimized for use with big data processing frameworks like Apache Spark and Hive. Offers efficient data compression.</a:t>
                      </a:r>
                    </a:p>
                  </a:txBody>
                  <a:tcPr anchor="ctr"/>
                </a:tc>
                <a:extLst>
                  <a:ext uri="{0D108BD9-81ED-4DB2-BD59-A6C34878D82A}">
                    <a16:rowId xmlns:a16="http://schemas.microsoft.com/office/drawing/2014/main" val="2932766566"/>
                  </a:ext>
                </a:extLst>
              </a:tr>
              <a:tr h="0">
                <a:tc>
                  <a:txBody>
                    <a:bodyPr/>
                    <a:lstStyle/>
                    <a:p>
                      <a:r>
                        <a:rPr lang="en-US" dirty="0"/>
                        <a:t>Optimized Row Columnar (ORC)</a:t>
                      </a:r>
                    </a:p>
                  </a:txBody>
                  <a:tcPr anchor="ctr"/>
                </a:tc>
                <a:tc>
                  <a:txBody>
                    <a:bodyPr/>
                    <a:lstStyle/>
                    <a:p>
                      <a:r>
                        <a:rPr lang="en-US" dirty="0"/>
                        <a:t>A columnar storage format primarily used with the Apache Hive ecosystem. ORC provides high compression and fast performance for reading large datasets.</a:t>
                      </a:r>
                    </a:p>
                  </a:txBody>
                  <a:tcPr anchor="ctr"/>
                </a:tc>
                <a:extLst>
                  <a:ext uri="{0D108BD9-81ED-4DB2-BD59-A6C34878D82A}">
                    <a16:rowId xmlns:a16="http://schemas.microsoft.com/office/drawing/2014/main" val="3346896664"/>
                  </a:ext>
                </a:extLst>
              </a:tr>
            </a:tbl>
          </a:graphicData>
        </a:graphic>
      </p:graphicFrame>
    </p:spTree>
    <p:extLst>
      <p:ext uri="{BB962C8B-B14F-4D97-AF65-F5344CB8AC3E}">
        <p14:creationId xmlns:p14="http://schemas.microsoft.com/office/powerpoint/2010/main" val="1512065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4DFEFC-442B-4D10-E3C1-1614E2C4911C}"/>
              </a:ext>
            </a:extLst>
          </p:cNvPr>
          <p:cNvSpPr>
            <a:spLocks noGrp="1"/>
          </p:cNvSpPr>
          <p:nvPr>
            <p:ph type="title"/>
          </p:nvPr>
        </p:nvSpPr>
        <p:spPr/>
        <p:txBody>
          <a:bodyPr>
            <a:normAutofit/>
          </a:bodyPr>
          <a:lstStyle/>
          <a:p>
            <a:r>
              <a:rPr lang="en-US" sz="4800" dirty="0"/>
              <a:t>Processing Big Data</a:t>
            </a:r>
          </a:p>
        </p:txBody>
      </p:sp>
      <p:sp>
        <p:nvSpPr>
          <p:cNvPr id="5" name="Text Placeholder 4">
            <a:extLst>
              <a:ext uri="{FF2B5EF4-FFF2-40B4-BE49-F238E27FC236}">
                <a16:creationId xmlns:a16="http://schemas.microsoft.com/office/drawing/2014/main" id="{B3130CAD-8D6A-6933-F828-2A63CC4D22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365227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594A0-8A9F-CD41-3C70-36FFD2E6D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36A66-F998-2E06-BDCD-367DBA1AEF80}"/>
              </a:ext>
            </a:extLst>
          </p:cNvPr>
          <p:cNvSpPr>
            <a:spLocks noGrp="1"/>
          </p:cNvSpPr>
          <p:nvPr>
            <p:ph type="title"/>
          </p:nvPr>
        </p:nvSpPr>
        <p:spPr/>
        <p:txBody>
          <a:bodyPr>
            <a:normAutofit/>
          </a:bodyPr>
          <a:lstStyle/>
          <a:p>
            <a:r>
              <a:rPr lang="en-US" dirty="0"/>
              <a:t>Processing Big Data</a:t>
            </a:r>
          </a:p>
        </p:txBody>
      </p:sp>
      <p:sp>
        <p:nvSpPr>
          <p:cNvPr id="3" name="Content Placeholder 2">
            <a:extLst>
              <a:ext uri="{FF2B5EF4-FFF2-40B4-BE49-F238E27FC236}">
                <a16:creationId xmlns:a16="http://schemas.microsoft.com/office/drawing/2014/main" id="{8F08CEFF-C16E-A4B0-DA1F-B909B18BEEAB}"/>
              </a:ext>
            </a:extLst>
          </p:cNvPr>
          <p:cNvSpPr>
            <a:spLocks noGrp="1"/>
          </p:cNvSpPr>
          <p:nvPr>
            <p:ph idx="1"/>
          </p:nvPr>
        </p:nvSpPr>
        <p:spPr/>
        <p:txBody>
          <a:bodyPr/>
          <a:lstStyle/>
          <a:p>
            <a:pPr>
              <a:buNone/>
            </a:pPr>
            <a:r>
              <a:rPr lang="en-US" b="1" dirty="0"/>
              <a:t>Objective:</a:t>
            </a:r>
            <a:r>
              <a:rPr lang="en-US" dirty="0"/>
              <a:t> Learn to select, configure, and operate big data processing frameworks using AWS tools.</a:t>
            </a:r>
          </a:p>
          <a:p>
            <a:pPr>
              <a:buNone/>
            </a:pPr>
            <a:r>
              <a:rPr lang="en-US" b="1" dirty="0"/>
              <a:t>By the end of this module, you will be able to:</a:t>
            </a:r>
            <a:endParaRPr lang="en-US" dirty="0"/>
          </a:p>
          <a:p>
            <a:pPr>
              <a:buFont typeface="Arial" panose="020B0604020202020204" pitchFamily="34" charset="0"/>
              <a:buChar char="•"/>
            </a:pPr>
            <a:r>
              <a:rPr lang="en-US" dirty="0"/>
              <a:t>Compare batch vs. streaming big data processing.</a:t>
            </a:r>
          </a:p>
          <a:p>
            <a:pPr>
              <a:buFont typeface="Arial" panose="020B0604020202020204" pitchFamily="34" charset="0"/>
              <a:buChar char="•"/>
            </a:pPr>
            <a:r>
              <a:rPr lang="en-US" dirty="0"/>
              <a:t>Understand Apache Hadoop and Apache Spark.</a:t>
            </a:r>
          </a:p>
          <a:p>
            <a:pPr>
              <a:buFont typeface="Arial" panose="020B0604020202020204" pitchFamily="34" charset="0"/>
              <a:buChar char="•"/>
            </a:pPr>
            <a:r>
              <a:rPr lang="en-US" dirty="0"/>
              <a:t>Deploy and manage Amazon EMR clusters.</a:t>
            </a:r>
          </a:p>
          <a:p>
            <a:pPr>
              <a:buFont typeface="Arial" panose="020B0604020202020204" pitchFamily="34" charset="0"/>
              <a:buChar char="•"/>
            </a:pPr>
            <a:r>
              <a:rPr lang="en-US" dirty="0"/>
              <a:t>Use Apache Hudi for near real-time data updates.</a:t>
            </a:r>
          </a:p>
          <a:p>
            <a:endParaRPr lang="en-US" dirty="0"/>
          </a:p>
        </p:txBody>
      </p:sp>
    </p:spTree>
    <p:extLst>
      <p:ext uri="{BB962C8B-B14F-4D97-AF65-F5344CB8AC3E}">
        <p14:creationId xmlns:p14="http://schemas.microsoft.com/office/powerpoint/2010/main" val="3455571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DDAC3-66D6-D33F-E8BC-83240359A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95E22-8B15-11C2-981E-133F3774E787}"/>
              </a:ext>
            </a:extLst>
          </p:cNvPr>
          <p:cNvSpPr>
            <a:spLocks noGrp="1"/>
          </p:cNvSpPr>
          <p:nvPr>
            <p:ph type="title"/>
          </p:nvPr>
        </p:nvSpPr>
        <p:spPr/>
        <p:txBody>
          <a:bodyPr>
            <a:normAutofit/>
          </a:bodyPr>
          <a:lstStyle/>
          <a:p>
            <a:r>
              <a:rPr lang="en-US" dirty="0"/>
              <a:t>Big Data Processing Concepts</a:t>
            </a:r>
          </a:p>
        </p:txBody>
      </p:sp>
      <p:sp>
        <p:nvSpPr>
          <p:cNvPr id="3" name="Content Placeholder 2">
            <a:extLst>
              <a:ext uri="{FF2B5EF4-FFF2-40B4-BE49-F238E27FC236}">
                <a16:creationId xmlns:a16="http://schemas.microsoft.com/office/drawing/2014/main" id="{83E704A8-2091-9BA1-DBA0-A22FBF06E1CD}"/>
              </a:ext>
            </a:extLst>
          </p:cNvPr>
          <p:cNvSpPr>
            <a:spLocks noGrp="1"/>
          </p:cNvSpPr>
          <p:nvPr>
            <p:ph idx="1"/>
          </p:nvPr>
        </p:nvSpPr>
        <p:spPr/>
        <p:txBody>
          <a:bodyPr>
            <a:normAutofit lnSpcReduction="10000"/>
          </a:bodyPr>
          <a:lstStyle/>
          <a:p>
            <a:pPr>
              <a:buNone/>
            </a:pPr>
            <a:r>
              <a:rPr lang="en-US" b="1" dirty="0"/>
              <a:t>Types of Processing:</a:t>
            </a:r>
            <a:endParaRPr lang="en-US" dirty="0"/>
          </a:p>
          <a:p>
            <a:pPr>
              <a:buNone/>
            </a:pPr>
            <a:r>
              <a:rPr lang="en-US" b="1" dirty="0"/>
              <a:t>Batch Processing:</a:t>
            </a:r>
            <a:endParaRPr lang="en-US" dirty="0"/>
          </a:p>
          <a:p>
            <a:pPr>
              <a:buFont typeface="Arial" panose="020B0604020202020204" pitchFamily="34" charset="0"/>
              <a:buChar char="•"/>
            </a:pPr>
            <a:r>
              <a:rPr lang="en-US" dirty="0"/>
              <a:t>Handles large volumes of historical (cold) data.</a:t>
            </a:r>
          </a:p>
          <a:p>
            <a:pPr>
              <a:buFont typeface="Arial" panose="020B0604020202020204" pitchFamily="34" charset="0"/>
              <a:buChar char="•"/>
            </a:pPr>
            <a:r>
              <a:rPr lang="en-US" dirty="0"/>
              <a:t>Processes data in scheduled intervals or batches.</a:t>
            </a:r>
          </a:p>
          <a:p>
            <a:pPr>
              <a:buFont typeface="Arial" panose="020B0604020202020204" pitchFamily="34" charset="0"/>
              <a:buChar char="•"/>
            </a:pPr>
            <a:r>
              <a:rPr lang="en-US" dirty="0"/>
              <a:t>Suitable for deep, complex analysis.</a:t>
            </a:r>
          </a:p>
          <a:p>
            <a:pPr>
              <a:buFont typeface="Arial" panose="020B0604020202020204" pitchFamily="34" charset="0"/>
              <a:buChar char="•"/>
            </a:pPr>
            <a:r>
              <a:rPr lang="en-US" dirty="0"/>
              <a:t>Tools: Amazon EMR, Hadoop, Spark (batch mode).</a:t>
            </a:r>
          </a:p>
          <a:p>
            <a:pPr>
              <a:buNone/>
            </a:pPr>
            <a:r>
              <a:rPr lang="en-US" b="1" dirty="0"/>
              <a:t>Streaming Processing:</a:t>
            </a:r>
            <a:endParaRPr lang="en-US" dirty="0"/>
          </a:p>
          <a:p>
            <a:pPr>
              <a:buFont typeface="Arial" panose="020B0604020202020204" pitchFamily="34" charset="0"/>
              <a:buChar char="•"/>
            </a:pPr>
            <a:r>
              <a:rPr lang="en-US" dirty="0"/>
              <a:t>Ingests and processes real-time (hot) data as it arrives.</a:t>
            </a:r>
          </a:p>
          <a:p>
            <a:pPr>
              <a:buFont typeface="Arial" panose="020B0604020202020204" pitchFamily="34" charset="0"/>
              <a:buChar char="•"/>
            </a:pPr>
            <a:r>
              <a:rPr lang="en-US" dirty="0"/>
              <a:t>Handles continuous, unpredictable data flows.</a:t>
            </a:r>
          </a:p>
          <a:p>
            <a:pPr>
              <a:buFont typeface="Arial" panose="020B0604020202020204" pitchFamily="34" charset="0"/>
              <a:buChar char="•"/>
            </a:pPr>
            <a:r>
              <a:rPr lang="en-US" dirty="0"/>
              <a:t>Supports low-latency analytics and event-driven systems.</a:t>
            </a:r>
          </a:p>
          <a:p>
            <a:pPr>
              <a:buFont typeface="Arial" panose="020B0604020202020204" pitchFamily="34" charset="0"/>
              <a:buChar char="•"/>
            </a:pPr>
            <a:r>
              <a:rPr lang="en-US" dirty="0"/>
              <a:t>Tools: Apache Spark Streaming, Amazon Kinesis.</a:t>
            </a:r>
          </a:p>
          <a:p>
            <a:endParaRPr lang="en-US" dirty="0"/>
          </a:p>
        </p:txBody>
      </p:sp>
    </p:spTree>
    <p:extLst>
      <p:ext uri="{BB962C8B-B14F-4D97-AF65-F5344CB8AC3E}">
        <p14:creationId xmlns:p14="http://schemas.microsoft.com/office/powerpoint/2010/main" val="3909486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018F9-9C48-0E3C-032C-132B4FEBF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DAB52-1AD0-419E-342C-9E530CC175C0}"/>
              </a:ext>
            </a:extLst>
          </p:cNvPr>
          <p:cNvSpPr>
            <a:spLocks noGrp="1"/>
          </p:cNvSpPr>
          <p:nvPr>
            <p:ph type="title"/>
          </p:nvPr>
        </p:nvSpPr>
        <p:spPr/>
        <p:txBody>
          <a:bodyPr>
            <a:normAutofit/>
          </a:bodyPr>
          <a:lstStyle/>
          <a:p>
            <a:r>
              <a:rPr lang="en-US" dirty="0"/>
              <a:t>Apache Hadoop Overview</a:t>
            </a:r>
          </a:p>
        </p:txBody>
      </p:sp>
      <p:sp>
        <p:nvSpPr>
          <p:cNvPr id="3" name="Content Placeholder 2">
            <a:extLst>
              <a:ext uri="{FF2B5EF4-FFF2-40B4-BE49-F238E27FC236}">
                <a16:creationId xmlns:a16="http://schemas.microsoft.com/office/drawing/2014/main" id="{122E8FA5-4A07-42FC-C825-FED4335E740E}"/>
              </a:ext>
            </a:extLst>
          </p:cNvPr>
          <p:cNvSpPr>
            <a:spLocks noGrp="1"/>
          </p:cNvSpPr>
          <p:nvPr>
            <p:ph idx="1"/>
          </p:nvPr>
        </p:nvSpPr>
        <p:spPr/>
        <p:txBody>
          <a:bodyPr/>
          <a:lstStyle/>
          <a:p>
            <a:pPr>
              <a:buNone/>
            </a:pPr>
            <a:r>
              <a:rPr lang="en-US" b="1" dirty="0"/>
              <a:t>What is Hadoop?</a:t>
            </a:r>
            <a:endParaRPr lang="en-US" dirty="0"/>
          </a:p>
          <a:p>
            <a:pPr>
              <a:buFont typeface="Arial" panose="020B0604020202020204" pitchFamily="34" charset="0"/>
              <a:buChar char="•"/>
            </a:pPr>
            <a:r>
              <a:rPr lang="en-US" dirty="0"/>
              <a:t>An open-source distributed framework for storage and processing.</a:t>
            </a:r>
          </a:p>
          <a:p>
            <a:pPr>
              <a:buFont typeface="Arial" panose="020B0604020202020204" pitchFamily="34" charset="0"/>
              <a:buChar char="•"/>
            </a:pPr>
            <a:r>
              <a:rPr lang="en-US" dirty="0"/>
              <a:t>Executes jobs across clusters of servers.</a:t>
            </a:r>
          </a:p>
          <a:p>
            <a:pPr>
              <a:buNone/>
            </a:pPr>
            <a:r>
              <a:rPr lang="en-US" b="1" dirty="0"/>
              <a:t>Core Components:</a:t>
            </a:r>
            <a:endParaRPr lang="en-US" dirty="0"/>
          </a:p>
          <a:p>
            <a:pPr>
              <a:buFont typeface="Arial" panose="020B0604020202020204" pitchFamily="34" charset="0"/>
              <a:buChar char="•"/>
            </a:pPr>
            <a:r>
              <a:rPr lang="en-US" b="1" dirty="0"/>
              <a:t>HDFS (Hadoop Distributed File System):</a:t>
            </a:r>
            <a:r>
              <a:rPr lang="en-US" dirty="0"/>
              <a:t> Stores data in blocks with replication.</a:t>
            </a:r>
          </a:p>
          <a:p>
            <a:pPr>
              <a:buFont typeface="Arial" panose="020B0604020202020204" pitchFamily="34" charset="0"/>
              <a:buChar char="•"/>
            </a:pPr>
            <a:r>
              <a:rPr lang="en-US" b="1" dirty="0"/>
              <a:t>YARN:</a:t>
            </a:r>
            <a:r>
              <a:rPr lang="en-US" dirty="0"/>
              <a:t> Allocates cluster resources and manages job execution.</a:t>
            </a:r>
          </a:p>
          <a:p>
            <a:pPr>
              <a:buFont typeface="Arial" panose="020B0604020202020204" pitchFamily="34" charset="0"/>
              <a:buChar char="•"/>
            </a:pPr>
            <a:r>
              <a:rPr lang="en-US" b="1" dirty="0"/>
              <a:t>MapReduce:</a:t>
            </a:r>
            <a:r>
              <a:rPr lang="en-US" dirty="0"/>
              <a:t> Splits jobs into map and reduce tasks for parallel execution.</a:t>
            </a:r>
          </a:p>
          <a:p>
            <a:pPr>
              <a:buNone/>
            </a:pPr>
            <a:r>
              <a:rPr lang="en-US" b="1" dirty="0"/>
              <a:t>Hadoop is best for:</a:t>
            </a:r>
            <a:endParaRPr lang="en-US" dirty="0"/>
          </a:p>
          <a:p>
            <a:pPr>
              <a:buFont typeface="Arial" panose="020B0604020202020204" pitchFamily="34" charset="0"/>
              <a:buChar char="•"/>
            </a:pPr>
            <a:r>
              <a:rPr lang="en-US" dirty="0"/>
              <a:t>Handling massive datasets with high fault tolerance.</a:t>
            </a:r>
          </a:p>
          <a:p>
            <a:pPr>
              <a:buFont typeface="Arial" panose="020B0604020202020204" pitchFamily="34" charset="0"/>
              <a:buChar char="•"/>
            </a:pPr>
            <a:r>
              <a:rPr lang="en-US" dirty="0"/>
              <a:t>Traditional batch analytics workloads.</a:t>
            </a:r>
          </a:p>
          <a:p>
            <a:endParaRPr lang="en-US" dirty="0"/>
          </a:p>
        </p:txBody>
      </p:sp>
    </p:spTree>
    <p:extLst>
      <p:ext uri="{BB962C8B-B14F-4D97-AF65-F5344CB8AC3E}">
        <p14:creationId xmlns:p14="http://schemas.microsoft.com/office/powerpoint/2010/main" val="37890340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C4FBB-5FEC-00FF-E3D0-8911A47C0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55A3A-1A55-32E6-C6B3-3B421667ABEC}"/>
              </a:ext>
            </a:extLst>
          </p:cNvPr>
          <p:cNvSpPr>
            <a:spLocks noGrp="1"/>
          </p:cNvSpPr>
          <p:nvPr>
            <p:ph type="title"/>
          </p:nvPr>
        </p:nvSpPr>
        <p:spPr/>
        <p:txBody>
          <a:bodyPr>
            <a:normAutofit/>
          </a:bodyPr>
          <a:lstStyle/>
          <a:p>
            <a:r>
              <a:rPr lang="en-US" dirty="0"/>
              <a:t>Hadoop Ecosystem Tools</a:t>
            </a:r>
          </a:p>
        </p:txBody>
      </p:sp>
      <p:sp>
        <p:nvSpPr>
          <p:cNvPr id="3" name="Content Placeholder 2">
            <a:extLst>
              <a:ext uri="{FF2B5EF4-FFF2-40B4-BE49-F238E27FC236}">
                <a16:creationId xmlns:a16="http://schemas.microsoft.com/office/drawing/2014/main" id="{F9767636-8189-7662-6F7C-1B4E4CD53189}"/>
              </a:ext>
            </a:extLst>
          </p:cNvPr>
          <p:cNvSpPr>
            <a:spLocks noGrp="1"/>
          </p:cNvSpPr>
          <p:nvPr>
            <p:ph idx="1"/>
          </p:nvPr>
        </p:nvSpPr>
        <p:spPr/>
        <p:txBody>
          <a:bodyPr/>
          <a:lstStyle/>
          <a:p>
            <a:pPr>
              <a:buFont typeface="Arial" panose="020B0604020202020204" pitchFamily="34" charset="0"/>
              <a:buChar char="•"/>
            </a:pPr>
            <a:r>
              <a:rPr lang="en-US" b="1" dirty="0"/>
              <a:t>Apache Hive:</a:t>
            </a:r>
            <a:r>
              <a:rPr lang="en-US" dirty="0"/>
              <a:t> SQL-like queries on large datasets without writing MapReduce code.</a:t>
            </a:r>
          </a:p>
          <a:p>
            <a:pPr>
              <a:buFont typeface="Arial" panose="020B0604020202020204" pitchFamily="34" charset="0"/>
              <a:buChar char="•"/>
            </a:pPr>
            <a:r>
              <a:rPr lang="en-US" b="1" dirty="0"/>
              <a:t>Apache Pig:</a:t>
            </a:r>
            <a:r>
              <a:rPr lang="en-US" dirty="0"/>
              <a:t> Data flow scripting for parallel execution.</a:t>
            </a:r>
          </a:p>
          <a:p>
            <a:pPr>
              <a:buFont typeface="Arial" panose="020B0604020202020204" pitchFamily="34" charset="0"/>
              <a:buChar char="•"/>
            </a:pPr>
            <a:r>
              <a:rPr lang="en-US" b="1" dirty="0"/>
              <a:t>Apache Flink:</a:t>
            </a:r>
            <a:r>
              <a:rPr lang="en-US" dirty="0"/>
              <a:t> Optimized for both stream and batch processing.</a:t>
            </a:r>
          </a:p>
          <a:p>
            <a:pPr>
              <a:buFont typeface="Arial" panose="020B0604020202020204" pitchFamily="34" charset="0"/>
              <a:buChar char="•"/>
            </a:pPr>
            <a:r>
              <a:rPr lang="en-US" b="1" dirty="0"/>
              <a:t>Presto:</a:t>
            </a:r>
            <a:r>
              <a:rPr lang="en-US" dirty="0"/>
              <a:t> Fast, in-memory query engine ideal for interactive queries.</a:t>
            </a:r>
          </a:p>
          <a:p>
            <a:endParaRPr lang="en-US" dirty="0"/>
          </a:p>
        </p:txBody>
      </p:sp>
    </p:spTree>
    <p:extLst>
      <p:ext uri="{BB962C8B-B14F-4D97-AF65-F5344CB8AC3E}">
        <p14:creationId xmlns:p14="http://schemas.microsoft.com/office/powerpoint/2010/main" val="13422574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A03B4-3BF2-D560-EC06-8010968DB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09D8F-E577-4BB7-95B1-7BCE7291B179}"/>
              </a:ext>
            </a:extLst>
          </p:cNvPr>
          <p:cNvSpPr>
            <a:spLocks noGrp="1"/>
          </p:cNvSpPr>
          <p:nvPr>
            <p:ph type="title"/>
          </p:nvPr>
        </p:nvSpPr>
        <p:spPr/>
        <p:txBody>
          <a:bodyPr>
            <a:normAutofit/>
          </a:bodyPr>
          <a:lstStyle/>
          <a:p>
            <a:r>
              <a:rPr lang="en-US" dirty="0"/>
              <a:t>Apache Spark Overview</a:t>
            </a:r>
          </a:p>
        </p:txBody>
      </p:sp>
      <p:sp>
        <p:nvSpPr>
          <p:cNvPr id="3" name="Content Placeholder 2">
            <a:extLst>
              <a:ext uri="{FF2B5EF4-FFF2-40B4-BE49-F238E27FC236}">
                <a16:creationId xmlns:a16="http://schemas.microsoft.com/office/drawing/2014/main" id="{87AF9928-8F9D-DBE6-013A-18E93CD35067}"/>
              </a:ext>
            </a:extLst>
          </p:cNvPr>
          <p:cNvSpPr>
            <a:spLocks noGrp="1"/>
          </p:cNvSpPr>
          <p:nvPr>
            <p:ph idx="1"/>
          </p:nvPr>
        </p:nvSpPr>
        <p:spPr/>
        <p:txBody>
          <a:bodyPr/>
          <a:lstStyle/>
          <a:p>
            <a:pPr>
              <a:buNone/>
            </a:pPr>
            <a:r>
              <a:rPr lang="en-US" b="1" dirty="0"/>
              <a:t>What is Spark?</a:t>
            </a:r>
            <a:endParaRPr lang="en-US" dirty="0"/>
          </a:p>
          <a:p>
            <a:pPr>
              <a:buFont typeface="Arial" panose="020B0604020202020204" pitchFamily="34" charset="0"/>
              <a:buChar char="•"/>
            </a:pPr>
            <a:r>
              <a:rPr lang="en-US" dirty="0"/>
              <a:t>A distributed data processing framework with in-memory computation.</a:t>
            </a:r>
          </a:p>
          <a:p>
            <a:pPr>
              <a:buFont typeface="Arial" panose="020B0604020202020204" pitchFamily="34" charset="0"/>
              <a:buChar char="•"/>
            </a:pPr>
            <a:r>
              <a:rPr lang="en-US" dirty="0"/>
              <a:t>Optimized for speed, supports iterative ML and interactive analytics.</a:t>
            </a:r>
          </a:p>
          <a:p>
            <a:pPr>
              <a:buNone/>
            </a:pPr>
            <a:r>
              <a:rPr lang="en-US" b="1" dirty="0"/>
              <a:t>Spark Architecture:</a:t>
            </a:r>
            <a:endParaRPr lang="en-US" dirty="0"/>
          </a:p>
          <a:p>
            <a:pPr>
              <a:buFont typeface="Arial" panose="020B0604020202020204" pitchFamily="34" charset="0"/>
              <a:buChar char="•"/>
            </a:pPr>
            <a:r>
              <a:rPr lang="en-US" b="1" dirty="0"/>
              <a:t>Driver Program:</a:t>
            </a:r>
            <a:r>
              <a:rPr lang="en-US" dirty="0"/>
              <a:t> Manages the overall job.</a:t>
            </a:r>
          </a:p>
          <a:p>
            <a:pPr>
              <a:buFont typeface="Arial" panose="020B0604020202020204" pitchFamily="34" charset="0"/>
              <a:buChar char="•"/>
            </a:pPr>
            <a:r>
              <a:rPr lang="en-US" b="1" dirty="0"/>
              <a:t>Executors:</a:t>
            </a:r>
            <a:r>
              <a:rPr lang="en-US" dirty="0"/>
              <a:t> Execute tasks and store data in memory for reuse.</a:t>
            </a:r>
          </a:p>
          <a:p>
            <a:pPr>
              <a:buFont typeface="Arial" panose="020B0604020202020204" pitchFamily="34" charset="0"/>
              <a:buChar char="•"/>
            </a:pPr>
            <a:r>
              <a:rPr lang="en-US" b="1" dirty="0" err="1"/>
              <a:t>SparkContext</a:t>
            </a:r>
            <a:r>
              <a:rPr lang="en-US" b="1" dirty="0"/>
              <a:t> &amp; Cluster Manager:</a:t>
            </a:r>
            <a:r>
              <a:rPr lang="en-US" dirty="0"/>
              <a:t> Coordinate resources and tasks.</a:t>
            </a:r>
          </a:p>
          <a:p>
            <a:pPr>
              <a:buNone/>
            </a:pPr>
            <a:r>
              <a:rPr lang="en-US" b="1" dirty="0"/>
              <a:t>Spark Components:</a:t>
            </a:r>
            <a:endParaRPr lang="en-US" dirty="0"/>
          </a:p>
          <a:p>
            <a:pPr>
              <a:buFont typeface="Arial" panose="020B0604020202020204" pitchFamily="34" charset="0"/>
              <a:buChar char="•"/>
            </a:pPr>
            <a:r>
              <a:rPr lang="en-US" dirty="0"/>
              <a:t>Spark Core, Spark SQL, Spark </a:t>
            </a:r>
            <a:r>
              <a:rPr lang="en-US" dirty="0" err="1"/>
              <a:t>MLlib</a:t>
            </a:r>
            <a:r>
              <a:rPr lang="en-US" dirty="0"/>
              <a:t> (ML), Spark Streaming, </a:t>
            </a:r>
            <a:r>
              <a:rPr lang="en-US" dirty="0" err="1"/>
              <a:t>GraphX</a:t>
            </a:r>
            <a:r>
              <a:rPr lang="en-US" dirty="0"/>
              <a:t>.</a:t>
            </a:r>
          </a:p>
          <a:p>
            <a:endParaRPr lang="en-US" dirty="0"/>
          </a:p>
        </p:txBody>
      </p:sp>
    </p:spTree>
    <p:extLst>
      <p:ext uri="{BB962C8B-B14F-4D97-AF65-F5344CB8AC3E}">
        <p14:creationId xmlns:p14="http://schemas.microsoft.com/office/powerpoint/2010/main" val="1283399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D4B16-9879-7EBE-1CF2-CAFC9B927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2EE2A-1C01-7290-A136-8B5D19CB31C1}"/>
              </a:ext>
            </a:extLst>
          </p:cNvPr>
          <p:cNvSpPr>
            <a:spLocks noGrp="1"/>
          </p:cNvSpPr>
          <p:nvPr>
            <p:ph type="title"/>
          </p:nvPr>
        </p:nvSpPr>
        <p:spPr/>
        <p:txBody>
          <a:bodyPr>
            <a:normAutofit/>
          </a:bodyPr>
          <a:lstStyle/>
          <a:p>
            <a:r>
              <a:rPr lang="en-US" dirty="0"/>
              <a:t>Amazon EMR – Managed Hadoop and Spark</a:t>
            </a:r>
          </a:p>
        </p:txBody>
      </p:sp>
      <p:sp>
        <p:nvSpPr>
          <p:cNvPr id="3" name="Content Placeholder 2">
            <a:extLst>
              <a:ext uri="{FF2B5EF4-FFF2-40B4-BE49-F238E27FC236}">
                <a16:creationId xmlns:a16="http://schemas.microsoft.com/office/drawing/2014/main" id="{4F15233F-0035-4294-5F31-9A33FF0E98E0}"/>
              </a:ext>
            </a:extLst>
          </p:cNvPr>
          <p:cNvSpPr>
            <a:spLocks noGrp="1"/>
          </p:cNvSpPr>
          <p:nvPr>
            <p:ph idx="1"/>
          </p:nvPr>
        </p:nvSpPr>
        <p:spPr/>
        <p:txBody>
          <a:bodyPr/>
          <a:lstStyle/>
          <a:p>
            <a:pPr>
              <a:buNone/>
            </a:pPr>
            <a:r>
              <a:rPr lang="en-US" b="1" dirty="0"/>
              <a:t>Amazon EMR (Elastic MapReduce):</a:t>
            </a:r>
            <a:endParaRPr lang="en-US" dirty="0"/>
          </a:p>
          <a:p>
            <a:pPr>
              <a:buFont typeface="Arial" panose="020B0604020202020204" pitchFamily="34" charset="0"/>
              <a:buChar char="•"/>
            </a:pPr>
            <a:r>
              <a:rPr lang="en-US" dirty="0"/>
              <a:t>AWS-managed service to run open-source tools like Hadoop, Spark, Hive, and Hudi.</a:t>
            </a:r>
          </a:p>
          <a:p>
            <a:pPr>
              <a:buFont typeface="Arial" panose="020B0604020202020204" pitchFamily="34" charset="0"/>
              <a:buChar char="•"/>
            </a:pPr>
            <a:r>
              <a:rPr lang="en-US" dirty="0"/>
              <a:t>Supports petabyte-scale data processing.</a:t>
            </a:r>
          </a:p>
          <a:p>
            <a:pPr>
              <a:buNone/>
            </a:pPr>
            <a:r>
              <a:rPr lang="en-US" b="1" dirty="0"/>
              <a:t>Use Cases:</a:t>
            </a:r>
            <a:endParaRPr lang="en-US" dirty="0"/>
          </a:p>
          <a:p>
            <a:pPr>
              <a:buFont typeface="Arial" panose="020B0604020202020204" pitchFamily="34" charset="0"/>
              <a:buChar char="•"/>
            </a:pPr>
            <a:r>
              <a:rPr lang="en-US" dirty="0"/>
              <a:t>ETL, machine learning, interactive analytics, and log processing.</a:t>
            </a:r>
          </a:p>
          <a:p>
            <a:pPr>
              <a:buNone/>
            </a:pPr>
            <a:r>
              <a:rPr lang="en-US" b="1" dirty="0"/>
              <a:t>Node Types:</a:t>
            </a:r>
            <a:endParaRPr lang="en-US" dirty="0"/>
          </a:p>
          <a:p>
            <a:pPr>
              <a:buFont typeface="Arial" panose="020B0604020202020204" pitchFamily="34" charset="0"/>
              <a:buChar char="•"/>
            </a:pPr>
            <a:r>
              <a:rPr lang="en-US" b="1" dirty="0"/>
              <a:t>Main Node:</a:t>
            </a:r>
            <a:r>
              <a:rPr lang="en-US" dirty="0"/>
              <a:t> Controls cluster and manages tasks.</a:t>
            </a:r>
          </a:p>
          <a:p>
            <a:pPr>
              <a:buFont typeface="Arial" panose="020B0604020202020204" pitchFamily="34" charset="0"/>
              <a:buChar char="•"/>
            </a:pPr>
            <a:r>
              <a:rPr lang="en-US" b="1" dirty="0"/>
              <a:t>Core Nodes:</a:t>
            </a:r>
            <a:r>
              <a:rPr lang="en-US" dirty="0"/>
              <a:t> Store data in HDFS and run tasks.</a:t>
            </a:r>
          </a:p>
          <a:p>
            <a:pPr>
              <a:buFont typeface="Arial" panose="020B0604020202020204" pitchFamily="34" charset="0"/>
              <a:buChar char="•"/>
            </a:pPr>
            <a:r>
              <a:rPr lang="en-US" b="1" dirty="0"/>
              <a:t>Task Nodes:</a:t>
            </a:r>
            <a:r>
              <a:rPr lang="en-US" dirty="0"/>
              <a:t> Execute tasks only.</a:t>
            </a:r>
          </a:p>
          <a:p>
            <a:endParaRPr lang="en-US" dirty="0"/>
          </a:p>
        </p:txBody>
      </p:sp>
    </p:spTree>
    <p:extLst>
      <p:ext uri="{BB962C8B-B14F-4D97-AF65-F5344CB8AC3E}">
        <p14:creationId xmlns:p14="http://schemas.microsoft.com/office/powerpoint/2010/main" val="12197518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AC0C8-8B9E-6F78-A759-55F260B58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6D089-2B89-4FF1-5142-10F8657EB603}"/>
              </a:ext>
            </a:extLst>
          </p:cNvPr>
          <p:cNvSpPr>
            <a:spLocks noGrp="1"/>
          </p:cNvSpPr>
          <p:nvPr>
            <p:ph type="title"/>
          </p:nvPr>
        </p:nvSpPr>
        <p:spPr/>
        <p:txBody>
          <a:bodyPr>
            <a:normAutofit/>
          </a:bodyPr>
          <a:lstStyle/>
          <a:p>
            <a:r>
              <a:rPr lang="en-US" dirty="0"/>
              <a:t>EMR Cluster Setup and Management</a:t>
            </a:r>
          </a:p>
        </p:txBody>
      </p:sp>
      <p:sp>
        <p:nvSpPr>
          <p:cNvPr id="3" name="Content Placeholder 2">
            <a:extLst>
              <a:ext uri="{FF2B5EF4-FFF2-40B4-BE49-F238E27FC236}">
                <a16:creationId xmlns:a16="http://schemas.microsoft.com/office/drawing/2014/main" id="{A23F8F36-C80D-0F77-B36A-E9D702BCEB8B}"/>
              </a:ext>
            </a:extLst>
          </p:cNvPr>
          <p:cNvSpPr>
            <a:spLocks noGrp="1"/>
          </p:cNvSpPr>
          <p:nvPr>
            <p:ph idx="1"/>
          </p:nvPr>
        </p:nvSpPr>
        <p:spPr/>
        <p:txBody>
          <a:bodyPr>
            <a:normAutofit lnSpcReduction="10000"/>
          </a:bodyPr>
          <a:lstStyle/>
          <a:p>
            <a:pPr>
              <a:buNone/>
            </a:pPr>
            <a:r>
              <a:rPr lang="en-US" b="1" dirty="0"/>
              <a:t>Ways to Launch Clusters:</a:t>
            </a:r>
            <a:endParaRPr lang="en-US" dirty="0"/>
          </a:p>
          <a:p>
            <a:pPr>
              <a:buFont typeface="Arial" panose="020B0604020202020204" pitchFamily="34" charset="0"/>
              <a:buChar char="•"/>
            </a:pPr>
            <a:r>
              <a:rPr lang="en-US" dirty="0"/>
              <a:t>Interactive Mode (AWS Console)</a:t>
            </a:r>
          </a:p>
          <a:p>
            <a:pPr>
              <a:buFont typeface="Arial" panose="020B0604020202020204" pitchFamily="34" charset="0"/>
              <a:buChar char="•"/>
            </a:pPr>
            <a:r>
              <a:rPr lang="en-US" dirty="0"/>
              <a:t>Command Line Interface (CLI)</a:t>
            </a:r>
          </a:p>
          <a:p>
            <a:pPr>
              <a:buFont typeface="Arial" panose="020B0604020202020204" pitchFamily="34" charset="0"/>
              <a:buChar char="•"/>
            </a:pPr>
            <a:r>
              <a:rPr lang="en-US" dirty="0"/>
              <a:t>APIs (Automation)</a:t>
            </a:r>
          </a:p>
          <a:p>
            <a:pPr>
              <a:buNone/>
            </a:pPr>
            <a:r>
              <a:rPr lang="en-US" b="1" dirty="0"/>
              <a:t>Cluster Types:</a:t>
            </a:r>
            <a:endParaRPr lang="en-US" dirty="0"/>
          </a:p>
          <a:p>
            <a:pPr>
              <a:buFont typeface="Arial" panose="020B0604020202020204" pitchFamily="34" charset="0"/>
              <a:buChar char="•"/>
            </a:pPr>
            <a:r>
              <a:rPr lang="en-US" b="1" dirty="0"/>
              <a:t>Long-Running Clusters:</a:t>
            </a:r>
            <a:r>
              <a:rPr lang="en-US" dirty="0"/>
              <a:t> Persistent jobs and state.</a:t>
            </a:r>
          </a:p>
          <a:p>
            <a:pPr>
              <a:buFont typeface="Arial" panose="020B0604020202020204" pitchFamily="34" charset="0"/>
              <a:buChar char="•"/>
            </a:pPr>
            <a:r>
              <a:rPr lang="en-US" b="1" dirty="0"/>
              <a:t>Transient Clusters:</a:t>
            </a:r>
            <a:r>
              <a:rPr lang="en-US" dirty="0"/>
              <a:t> Temporary, shut down after processing.</a:t>
            </a:r>
          </a:p>
          <a:p>
            <a:pPr>
              <a:buNone/>
            </a:pPr>
            <a:r>
              <a:rPr lang="en-US" b="1" dirty="0"/>
              <a:t>Scaling EMR:</a:t>
            </a:r>
            <a:endParaRPr lang="en-US" dirty="0"/>
          </a:p>
          <a:p>
            <a:pPr>
              <a:buFont typeface="Arial" panose="020B0604020202020204" pitchFamily="34" charset="0"/>
              <a:buChar char="•"/>
            </a:pPr>
            <a:r>
              <a:rPr lang="en-US" b="1" dirty="0"/>
              <a:t>Manual Scaling</a:t>
            </a:r>
            <a:endParaRPr lang="en-US" dirty="0"/>
          </a:p>
          <a:p>
            <a:pPr>
              <a:buFont typeface="Arial" panose="020B0604020202020204" pitchFamily="34" charset="0"/>
              <a:buChar char="•"/>
            </a:pPr>
            <a:r>
              <a:rPr lang="en-US" b="1" dirty="0"/>
              <a:t>EMR Managed Scaling</a:t>
            </a:r>
            <a:endParaRPr lang="en-US" dirty="0"/>
          </a:p>
          <a:p>
            <a:pPr>
              <a:buFont typeface="Arial" panose="020B0604020202020204" pitchFamily="34" charset="0"/>
              <a:buChar char="•"/>
            </a:pPr>
            <a:r>
              <a:rPr lang="en-US" b="1" dirty="0"/>
              <a:t>Custom Auto-Scaling Policies</a:t>
            </a:r>
            <a:endParaRPr lang="en-US" dirty="0"/>
          </a:p>
          <a:p>
            <a:endParaRPr lang="en-US" dirty="0"/>
          </a:p>
        </p:txBody>
      </p:sp>
    </p:spTree>
    <p:extLst>
      <p:ext uri="{BB962C8B-B14F-4D97-AF65-F5344CB8AC3E}">
        <p14:creationId xmlns:p14="http://schemas.microsoft.com/office/powerpoint/2010/main" val="3946932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E1D30-1EB8-6ACF-F367-7BB06BBF3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F9BD2-20E3-1E9B-4042-B2ED2466D129}"/>
              </a:ext>
            </a:extLst>
          </p:cNvPr>
          <p:cNvSpPr>
            <a:spLocks noGrp="1"/>
          </p:cNvSpPr>
          <p:nvPr>
            <p:ph type="title"/>
          </p:nvPr>
        </p:nvSpPr>
        <p:spPr/>
        <p:txBody>
          <a:bodyPr>
            <a:normAutofit/>
          </a:bodyPr>
          <a:lstStyle/>
          <a:p>
            <a:r>
              <a:rPr lang="en-US" dirty="0"/>
              <a:t>Connecting to EMR Clusters</a:t>
            </a:r>
          </a:p>
        </p:txBody>
      </p:sp>
      <p:sp>
        <p:nvSpPr>
          <p:cNvPr id="3" name="Content Placeholder 2">
            <a:extLst>
              <a:ext uri="{FF2B5EF4-FFF2-40B4-BE49-F238E27FC236}">
                <a16:creationId xmlns:a16="http://schemas.microsoft.com/office/drawing/2014/main" id="{9330B23A-C3F2-1625-3E32-2ADB4A65DF6C}"/>
              </a:ext>
            </a:extLst>
          </p:cNvPr>
          <p:cNvSpPr>
            <a:spLocks noGrp="1"/>
          </p:cNvSpPr>
          <p:nvPr>
            <p:ph idx="1"/>
          </p:nvPr>
        </p:nvSpPr>
        <p:spPr/>
        <p:txBody>
          <a:bodyPr/>
          <a:lstStyle/>
          <a:p>
            <a:pPr>
              <a:buFont typeface="Arial" panose="020B0604020202020204" pitchFamily="34" charset="0"/>
              <a:buChar char="•"/>
            </a:pPr>
            <a:r>
              <a:rPr lang="en-US" dirty="0"/>
              <a:t>Connect via SSH to the main node using its public DNS.</a:t>
            </a:r>
          </a:p>
          <a:p>
            <a:pPr>
              <a:buFont typeface="Arial" panose="020B0604020202020204" pitchFamily="34" charset="0"/>
              <a:buChar char="•"/>
            </a:pPr>
            <a:r>
              <a:rPr lang="en-US" dirty="0"/>
              <a:t>Security groups must be configured for access.</a:t>
            </a:r>
          </a:p>
          <a:p>
            <a:pPr>
              <a:buFont typeface="Arial" panose="020B0604020202020204" pitchFamily="34" charset="0"/>
              <a:buChar char="•"/>
            </a:pPr>
            <a:r>
              <a:rPr lang="en-US" dirty="0"/>
              <a:t>Clusters must be running to allow any interaction.</a:t>
            </a:r>
          </a:p>
          <a:p>
            <a:endParaRPr lang="en-US" dirty="0"/>
          </a:p>
        </p:txBody>
      </p:sp>
    </p:spTree>
    <p:extLst>
      <p:ext uri="{BB962C8B-B14F-4D97-AF65-F5344CB8AC3E}">
        <p14:creationId xmlns:p14="http://schemas.microsoft.com/office/powerpoint/2010/main" val="23774854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FD4F6-F495-FEC9-A7AA-75409BDB6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B8462-D9AA-0653-8850-DB482DF80FC7}"/>
              </a:ext>
            </a:extLst>
          </p:cNvPr>
          <p:cNvSpPr>
            <a:spLocks noGrp="1"/>
          </p:cNvSpPr>
          <p:nvPr>
            <p:ph type="title"/>
          </p:nvPr>
        </p:nvSpPr>
        <p:spPr/>
        <p:txBody>
          <a:bodyPr>
            <a:normAutofit/>
          </a:bodyPr>
          <a:lstStyle/>
          <a:p>
            <a:r>
              <a:rPr lang="en-US" dirty="0"/>
              <a:t>Apache Hudi – Managing Dynamic Data</a:t>
            </a:r>
          </a:p>
        </p:txBody>
      </p:sp>
      <p:sp>
        <p:nvSpPr>
          <p:cNvPr id="3" name="Content Placeholder 2">
            <a:extLst>
              <a:ext uri="{FF2B5EF4-FFF2-40B4-BE49-F238E27FC236}">
                <a16:creationId xmlns:a16="http://schemas.microsoft.com/office/drawing/2014/main" id="{9B228356-0E0C-9EBE-77EF-5423D91C54FE}"/>
              </a:ext>
            </a:extLst>
          </p:cNvPr>
          <p:cNvSpPr>
            <a:spLocks noGrp="1"/>
          </p:cNvSpPr>
          <p:nvPr>
            <p:ph idx="1"/>
          </p:nvPr>
        </p:nvSpPr>
        <p:spPr/>
        <p:txBody>
          <a:bodyPr/>
          <a:lstStyle/>
          <a:p>
            <a:pPr>
              <a:buNone/>
            </a:pPr>
            <a:r>
              <a:rPr lang="en-US" b="1" dirty="0"/>
              <a:t>What is Apache Hudi?</a:t>
            </a:r>
            <a:endParaRPr lang="en-US" dirty="0"/>
          </a:p>
          <a:p>
            <a:pPr>
              <a:buFont typeface="Arial" panose="020B0604020202020204" pitchFamily="34" charset="0"/>
              <a:buChar char="•"/>
            </a:pPr>
            <a:r>
              <a:rPr lang="en-US" dirty="0"/>
              <a:t>A data management framework optimized for fast ingestion and updates.</a:t>
            </a:r>
          </a:p>
          <a:p>
            <a:pPr>
              <a:buFont typeface="Arial" panose="020B0604020202020204" pitchFamily="34" charset="0"/>
              <a:buChar char="•"/>
            </a:pPr>
            <a:r>
              <a:rPr lang="en-US" dirty="0"/>
              <a:t>Works well with Spark, Hive, and Presto.</a:t>
            </a:r>
          </a:p>
          <a:p>
            <a:pPr>
              <a:buNone/>
            </a:pPr>
            <a:r>
              <a:rPr lang="en-US" b="1" dirty="0"/>
              <a:t>Storage Modes:</a:t>
            </a:r>
            <a:endParaRPr lang="en-US" dirty="0"/>
          </a:p>
          <a:p>
            <a:pPr>
              <a:buFont typeface="Arial" panose="020B0604020202020204" pitchFamily="34" charset="0"/>
              <a:buChar char="•"/>
            </a:pPr>
            <a:r>
              <a:rPr lang="en-US" b="1" dirty="0"/>
              <a:t>Copy on Write (</a:t>
            </a:r>
            <a:r>
              <a:rPr lang="en-US" b="1" dirty="0" err="1"/>
              <a:t>CoW</a:t>
            </a:r>
            <a:r>
              <a:rPr lang="en-US" b="1" dirty="0"/>
              <a:t>):</a:t>
            </a:r>
            <a:r>
              <a:rPr lang="en-US" dirty="0"/>
              <a:t> Writes entire files; ideal for frequent reads.</a:t>
            </a:r>
          </a:p>
          <a:p>
            <a:pPr>
              <a:buFont typeface="Arial" panose="020B0604020202020204" pitchFamily="34" charset="0"/>
              <a:buChar char="•"/>
            </a:pPr>
            <a:r>
              <a:rPr lang="en-US" b="1" dirty="0"/>
              <a:t>Merge on Read (</a:t>
            </a:r>
            <a:r>
              <a:rPr lang="en-US" b="1" dirty="0" err="1"/>
              <a:t>MoR</a:t>
            </a:r>
            <a:r>
              <a:rPr lang="en-US" b="1" dirty="0"/>
              <a:t>):</a:t>
            </a:r>
            <a:r>
              <a:rPr lang="en-US" dirty="0"/>
              <a:t> Logs changes separately and merges during read.</a:t>
            </a:r>
          </a:p>
          <a:p>
            <a:pPr>
              <a:buNone/>
            </a:pPr>
            <a:r>
              <a:rPr lang="en-US" b="1" dirty="0"/>
              <a:t>Views:</a:t>
            </a:r>
            <a:endParaRPr lang="en-US" dirty="0"/>
          </a:p>
          <a:p>
            <a:pPr>
              <a:buFont typeface="Arial" panose="020B0604020202020204" pitchFamily="34" charset="0"/>
              <a:buChar char="•"/>
            </a:pPr>
            <a:r>
              <a:rPr lang="en-US" b="1" dirty="0"/>
              <a:t>Read-Optimized View:</a:t>
            </a:r>
            <a:r>
              <a:rPr lang="en-US" dirty="0"/>
              <a:t> For quick reads.</a:t>
            </a:r>
          </a:p>
          <a:p>
            <a:pPr>
              <a:buFont typeface="Arial" panose="020B0604020202020204" pitchFamily="34" charset="0"/>
              <a:buChar char="•"/>
            </a:pPr>
            <a:r>
              <a:rPr lang="en-US" b="1" dirty="0"/>
              <a:t>Incremental View:</a:t>
            </a:r>
            <a:r>
              <a:rPr lang="en-US" dirty="0"/>
              <a:t> Shows data changes.</a:t>
            </a:r>
          </a:p>
          <a:p>
            <a:pPr>
              <a:buFont typeface="Arial" panose="020B0604020202020204" pitchFamily="34" charset="0"/>
              <a:buChar char="•"/>
            </a:pPr>
            <a:r>
              <a:rPr lang="en-US" b="1" dirty="0"/>
              <a:t>Real-Time View:</a:t>
            </a:r>
            <a:r>
              <a:rPr lang="en-US" dirty="0"/>
              <a:t> Combines base files and logs for up-to-date reads.</a:t>
            </a:r>
          </a:p>
          <a:p>
            <a:endParaRPr lang="en-US" dirty="0"/>
          </a:p>
        </p:txBody>
      </p:sp>
    </p:spTree>
    <p:extLst>
      <p:ext uri="{BB962C8B-B14F-4D97-AF65-F5344CB8AC3E}">
        <p14:creationId xmlns:p14="http://schemas.microsoft.com/office/powerpoint/2010/main" val="8118971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F5B88-06B5-D424-BDD4-DC8C6FAA2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204B2-8A4F-D675-D383-799E196E737C}"/>
              </a:ext>
            </a:extLst>
          </p:cNvPr>
          <p:cNvSpPr>
            <a:spLocks noGrp="1"/>
          </p:cNvSpPr>
          <p:nvPr>
            <p:ph type="title"/>
          </p:nvPr>
        </p:nvSpPr>
        <p:spPr/>
        <p:txBody>
          <a:bodyPr>
            <a:normAutofit/>
          </a:bodyPr>
          <a:lstStyle/>
          <a:p>
            <a:r>
              <a:rPr lang="en-US" dirty="0"/>
              <a:t>Real-Time Data Updating with Hudi</a:t>
            </a:r>
          </a:p>
        </p:txBody>
      </p:sp>
      <p:sp>
        <p:nvSpPr>
          <p:cNvPr id="3" name="Content Placeholder 2">
            <a:extLst>
              <a:ext uri="{FF2B5EF4-FFF2-40B4-BE49-F238E27FC236}">
                <a16:creationId xmlns:a16="http://schemas.microsoft.com/office/drawing/2014/main" id="{3662BAAF-51FF-451F-DD6F-BE653BB2492E}"/>
              </a:ext>
            </a:extLst>
          </p:cNvPr>
          <p:cNvSpPr>
            <a:spLocks noGrp="1"/>
          </p:cNvSpPr>
          <p:nvPr>
            <p:ph idx="1"/>
          </p:nvPr>
        </p:nvSpPr>
        <p:spPr/>
        <p:txBody>
          <a:bodyPr/>
          <a:lstStyle/>
          <a:p>
            <a:pPr>
              <a:buFont typeface="Arial" panose="020B0604020202020204" pitchFamily="34" charset="0"/>
              <a:buChar char="•"/>
            </a:pPr>
            <a:r>
              <a:rPr lang="en-US" b="1" dirty="0"/>
              <a:t>Hudi </a:t>
            </a:r>
            <a:r>
              <a:rPr lang="en-US" b="1" dirty="0" err="1"/>
              <a:t>DeltaStreamer</a:t>
            </a:r>
            <a:r>
              <a:rPr lang="en-US" dirty="0"/>
              <a:t> automates ingesting and updating datasets.</a:t>
            </a:r>
          </a:p>
          <a:p>
            <a:pPr>
              <a:buFont typeface="Arial" panose="020B0604020202020204" pitchFamily="34" charset="0"/>
              <a:buChar char="•"/>
            </a:pPr>
            <a:r>
              <a:rPr lang="en-US" dirty="0"/>
              <a:t>Maintains ACID transactions for concurrent data operations.</a:t>
            </a:r>
          </a:p>
          <a:p>
            <a:pPr>
              <a:buFont typeface="Arial" panose="020B0604020202020204" pitchFamily="34" charset="0"/>
              <a:buChar char="•"/>
            </a:pPr>
            <a:r>
              <a:rPr lang="en-US" dirty="0"/>
              <a:t>Enables schema evolution and data versioning in S3-based lakes.</a:t>
            </a:r>
          </a:p>
          <a:p>
            <a:endParaRPr lang="en-US" dirty="0"/>
          </a:p>
        </p:txBody>
      </p:sp>
    </p:spTree>
    <p:extLst>
      <p:ext uri="{BB962C8B-B14F-4D97-AF65-F5344CB8AC3E}">
        <p14:creationId xmlns:p14="http://schemas.microsoft.com/office/powerpoint/2010/main" val="19004809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91DA19-5D52-C4A6-6EBE-AC936A921E50}"/>
              </a:ext>
            </a:extLst>
          </p:cNvPr>
          <p:cNvSpPr>
            <a:spLocks noGrp="1"/>
          </p:cNvSpPr>
          <p:nvPr>
            <p:ph type="title"/>
          </p:nvPr>
        </p:nvSpPr>
        <p:spPr/>
        <p:txBody>
          <a:bodyPr>
            <a:normAutofit/>
          </a:bodyPr>
          <a:lstStyle/>
          <a:p>
            <a:r>
              <a:rPr lang="en-US" sz="4800" dirty="0"/>
              <a:t>Analyzing and Visualizing Data</a:t>
            </a:r>
          </a:p>
        </p:txBody>
      </p:sp>
      <p:sp>
        <p:nvSpPr>
          <p:cNvPr id="5" name="Text Placeholder 4">
            <a:extLst>
              <a:ext uri="{FF2B5EF4-FFF2-40B4-BE49-F238E27FC236}">
                <a16:creationId xmlns:a16="http://schemas.microsoft.com/office/drawing/2014/main" id="{903EEF92-5C01-367D-8A40-6668275AB93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665879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2F2A9-DD98-8BC4-9F02-01520C488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632D6-131C-22AF-6585-6DEAA41246B2}"/>
              </a:ext>
            </a:extLst>
          </p:cNvPr>
          <p:cNvSpPr>
            <a:spLocks noGrp="1"/>
          </p:cNvSpPr>
          <p:nvPr>
            <p:ph type="title"/>
          </p:nvPr>
        </p:nvSpPr>
        <p:spPr/>
        <p:txBody>
          <a:bodyPr>
            <a:normAutofit/>
          </a:bodyPr>
          <a:lstStyle/>
          <a:p>
            <a:r>
              <a:rPr lang="en-US" dirty="0"/>
              <a:t>Analyzing and Visualizing Data</a:t>
            </a:r>
          </a:p>
        </p:txBody>
      </p:sp>
      <p:sp>
        <p:nvSpPr>
          <p:cNvPr id="3" name="Content Placeholder 2">
            <a:extLst>
              <a:ext uri="{FF2B5EF4-FFF2-40B4-BE49-F238E27FC236}">
                <a16:creationId xmlns:a16="http://schemas.microsoft.com/office/drawing/2014/main" id="{4EBB235B-3B36-355A-91AE-5E9990924CD3}"/>
              </a:ext>
            </a:extLst>
          </p:cNvPr>
          <p:cNvSpPr>
            <a:spLocks noGrp="1"/>
          </p:cNvSpPr>
          <p:nvPr>
            <p:ph idx="1"/>
          </p:nvPr>
        </p:nvSpPr>
        <p:spPr/>
        <p:txBody>
          <a:bodyPr/>
          <a:lstStyle/>
          <a:p>
            <a:pPr>
              <a:buNone/>
            </a:pPr>
            <a:r>
              <a:rPr lang="en-US" b="1" dirty="0"/>
              <a:t>Objective:</a:t>
            </a:r>
            <a:r>
              <a:rPr lang="en-US" dirty="0"/>
              <a:t> Understand how to choose and apply AWS tools to analyze and visualize data effectively.</a:t>
            </a:r>
          </a:p>
          <a:p>
            <a:pPr>
              <a:buNone/>
            </a:pPr>
            <a:r>
              <a:rPr lang="en-US" b="1" dirty="0"/>
              <a:t>By the end of this module, you will be able to:</a:t>
            </a:r>
            <a:endParaRPr lang="en-US" dirty="0"/>
          </a:p>
          <a:p>
            <a:pPr>
              <a:buFont typeface="Arial" panose="020B0604020202020204" pitchFamily="34" charset="0"/>
              <a:buChar char="•"/>
            </a:pPr>
            <a:r>
              <a:rPr lang="en-US" dirty="0"/>
              <a:t>Identify factors that influence the choice of analysis and visualization tools.</a:t>
            </a:r>
          </a:p>
          <a:p>
            <a:pPr>
              <a:buFont typeface="Arial" panose="020B0604020202020204" pitchFamily="34" charset="0"/>
              <a:buChar char="•"/>
            </a:pPr>
            <a:r>
              <a:rPr lang="en-US" dirty="0"/>
              <a:t>Compare AWS services for data analysis and visualization.</a:t>
            </a:r>
          </a:p>
          <a:p>
            <a:pPr>
              <a:buFont typeface="Arial" panose="020B0604020202020204" pitchFamily="34" charset="0"/>
              <a:buChar char="•"/>
            </a:pPr>
            <a:r>
              <a:rPr lang="en-US" dirty="0"/>
              <a:t>Select the right tool based on business needs, data characteristics, and access requirements.</a:t>
            </a:r>
          </a:p>
          <a:p>
            <a:endParaRPr lang="en-US" dirty="0"/>
          </a:p>
        </p:txBody>
      </p:sp>
    </p:spTree>
    <p:extLst>
      <p:ext uri="{BB962C8B-B14F-4D97-AF65-F5344CB8AC3E}">
        <p14:creationId xmlns:p14="http://schemas.microsoft.com/office/powerpoint/2010/main" val="42490482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AA5F3-CA12-230B-7856-D0DBDAD5D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5D917-6C15-3C88-26DB-4136BA8E8B24}"/>
              </a:ext>
            </a:extLst>
          </p:cNvPr>
          <p:cNvSpPr>
            <a:spLocks noGrp="1"/>
          </p:cNvSpPr>
          <p:nvPr>
            <p:ph type="title"/>
          </p:nvPr>
        </p:nvSpPr>
        <p:spPr/>
        <p:txBody>
          <a:bodyPr>
            <a:normAutofit/>
          </a:bodyPr>
          <a:lstStyle/>
          <a:p>
            <a:r>
              <a:rPr lang="en-US" dirty="0"/>
              <a:t>Factors That Influence Tool Selection</a:t>
            </a:r>
          </a:p>
        </p:txBody>
      </p:sp>
      <p:sp>
        <p:nvSpPr>
          <p:cNvPr id="3" name="Content Placeholder 2">
            <a:extLst>
              <a:ext uri="{FF2B5EF4-FFF2-40B4-BE49-F238E27FC236}">
                <a16:creationId xmlns:a16="http://schemas.microsoft.com/office/drawing/2014/main" id="{CCB80DA7-B450-0581-8F9E-1A8F08554870}"/>
              </a:ext>
            </a:extLst>
          </p:cNvPr>
          <p:cNvSpPr>
            <a:spLocks noGrp="1"/>
          </p:cNvSpPr>
          <p:nvPr>
            <p:ph idx="1"/>
          </p:nvPr>
        </p:nvSpPr>
        <p:spPr/>
        <p:txBody>
          <a:bodyPr>
            <a:normAutofit fontScale="92500" lnSpcReduction="10000"/>
          </a:bodyPr>
          <a:lstStyle/>
          <a:p>
            <a:pPr>
              <a:buNone/>
            </a:pPr>
            <a:r>
              <a:rPr lang="en-US" b="1" dirty="0"/>
              <a:t>1. Business Needs:</a:t>
            </a:r>
            <a:endParaRPr lang="en-US" dirty="0"/>
          </a:p>
          <a:p>
            <a:pPr>
              <a:buFont typeface="Arial" panose="020B0604020202020204" pitchFamily="34" charset="0"/>
              <a:buChar char="•"/>
            </a:pPr>
            <a:r>
              <a:rPr lang="en-US" dirty="0"/>
              <a:t>What decisions must be supported by the analysis?</a:t>
            </a:r>
          </a:p>
          <a:p>
            <a:pPr>
              <a:buFont typeface="Arial" panose="020B0604020202020204" pitchFamily="34" charset="0"/>
              <a:buChar char="•"/>
            </a:pPr>
            <a:r>
              <a:rPr lang="en-US" dirty="0"/>
              <a:t>What types of insights or KPIs are required?</a:t>
            </a:r>
          </a:p>
          <a:p>
            <a:pPr>
              <a:buFont typeface="Arial" panose="020B0604020202020204" pitchFamily="34" charset="0"/>
              <a:buChar char="•"/>
            </a:pPr>
            <a:r>
              <a:rPr lang="en-US" dirty="0"/>
              <a:t>Do users need dashboards, reports, or both?</a:t>
            </a:r>
          </a:p>
          <a:p>
            <a:pPr>
              <a:buNone/>
            </a:pPr>
            <a:r>
              <a:rPr lang="en-US" b="1" dirty="0"/>
              <a:t>2. Data Characteristics:</a:t>
            </a:r>
            <a:endParaRPr lang="en-US" dirty="0"/>
          </a:p>
          <a:p>
            <a:pPr>
              <a:buFont typeface="Arial" panose="020B0604020202020204" pitchFamily="34" charset="0"/>
              <a:buChar char="•"/>
            </a:pPr>
            <a:r>
              <a:rPr lang="en-US" dirty="0"/>
              <a:t>What is the size (volume) and speed (velocity) of the data?</a:t>
            </a:r>
          </a:p>
          <a:p>
            <a:pPr>
              <a:buFont typeface="Arial" panose="020B0604020202020204" pitchFamily="34" charset="0"/>
              <a:buChar char="•"/>
            </a:pPr>
            <a:r>
              <a:rPr lang="en-US" dirty="0"/>
              <a:t>Is the data structured or unstructured?</a:t>
            </a:r>
          </a:p>
          <a:p>
            <a:pPr>
              <a:buFont typeface="Arial" panose="020B0604020202020204" pitchFamily="34" charset="0"/>
              <a:buChar char="•"/>
            </a:pPr>
            <a:r>
              <a:rPr lang="en-US" dirty="0"/>
              <a:t>How often is the data updated?</a:t>
            </a:r>
          </a:p>
          <a:p>
            <a:pPr>
              <a:buNone/>
            </a:pPr>
            <a:r>
              <a:rPr lang="en-US" b="1" dirty="0"/>
              <a:t>3. Access to Data:</a:t>
            </a:r>
            <a:endParaRPr lang="en-US" dirty="0"/>
          </a:p>
          <a:p>
            <a:pPr>
              <a:buFont typeface="Arial" panose="020B0604020202020204" pitchFamily="34" charset="0"/>
              <a:buChar char="•"/>
            </a:pPr>
            <a:r>
              <a:rPr lang="en-US" dirty="0"/>
              <a:t>Where is the data stored, and who needs access?</a:t>
            </a:r>
          </a:p>
          <a:p>
            <a:pPr>
              <a:buFont typeface="Arial" panose="020B0604020202020204" pitchFamily="34" charset="0"/>
              <a:buChar char="•"/>
            </a:pPr>
            <a:r>
              <a:rPr lang="en-US" dirty="0"/>
              <a:t>What access levels should be granted (read, write, analyze)?</a:t>
            </a:r>
          </a:p>
          <a:p>
            <a:pPr>
              <a:buFont typeface="Arial" panose="020B0604020202020204" pitchFamily="34" charset="0"/>
              <a:buChar char="•"/>
            </a:pPr>
            <a:r>
              <a:rPr lang="en-US" dirty="0"/>
              <a:t>Follow the principle of least privilege.</a:t>
            </a:r>
          </a:p>
          <a:p>
            <a:endParaRPr lang="en-US" dirty="0"/>
          </a:p>
        </p:txBody>
      </p:sp>
    </p:spTree>
    <p:extLst>
      <p:ext uri="{BB962C8B-B14F-4D97-AF65-F5344CB8AC3E}">
        <p14:creationId xmlns:p14="http://schemas.microsoft.com/office/powerpoint/2010/main" val="689273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1E303-0086-5E72-A2E7-20929D50E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45EB2B-3A39-D5F3-D927-BE41858882BB}"/>
              </a:ext>
            </a:extLst>
          </p:cNvPr>
          <p:cNvSpPr>
            <a:spLocks noGrp="1"/>
          </p:cNvSpPr>
          <p:nvPr>
            <p:ph type="title"/>
          </p:nvPr>
        </p:nvSpPr>
        <p:spPr/>
        <p:txBody>
          <a:bodyPr/>
          <a:lstStyle/>
          <a:p>
            <a:r>
              <a:rPr lang="en-US" dirty="0"/>
              <a:t>Business Needs – Types of Visualizations</a:t>
            </a:r>
          </a:p>
        </p:txBody>
      </p:sp>
      <p:graphicFrame>
        <p:nvGraphicFramePr>
          <p:cNvPr id="4" name="Content Placeholder 3">
            <a:extLst>
              <a:ext uri="{FF2B5EF4-FFF2-40B4-BE49-F238E27FC236}">
                <a16:creationId xmlns:a16="http://schemas.microsoft.com/office/drawing/2014/main" id="{403268BA-354B-4F56-032D-9CE08DAE613D}"/>
              </a:ext>
            </a:extLst>
          </p:cNvPr>
          <p:cNvGraphicFramePr>
            <a:graphicFrameLocks noGrp="1"/>
          </p:cNvGraphicFramePr>
          <p:nvPr>
            <p:ph idx="1"/>
          </p:nvPr>
        </p:nvGraphicFramePr>
        <p:xfrm>
          <a:off x="838200" y="1775246"/>
          <a:ext cx="10515600" cy="246888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3537356892"/>
                    </a:ext>
                  </a:extLst>
                </a:gridCol>
                <a:gridCol w="3505200">
                  <a:extLst>
                    <a:ext uri="{9D8B030D-6E8A-4147-A177-3AD203B41FA5}">
                      <a16:colId xmlns:a16="http://schemas.microsoft.com/office/drawing/2014/main" val="2362530417"/>
                    </a:ext>
                  </a:extLst>
                </a:gridCol>
                <a:gridCol w="3505200">
                  <a:extLst>
                    <a:ext uri="{9D8B030D-6E8A-4147-A177-3AD203B41FA5}">
                      <a16:colId xmlns:a16="http://schemas.microsoft.com/office/drawing/2014/main" val="1999073629"/>
                    </a:ext>
                  </a:extLst>
                </a:gridCol>
              </a:tblGrid>
              <a:tr h="0">
                <a:tc>
                  <a:txBody>
                    <a:bodyPr/>
                    <a:lstStyle/>
                    <a:p>
                      <a:pPr algn="ctr"/>
                      <a:r>
                        <a:rPr lang="en-US" b="1"/>
                        <a:t>Insight Type</a:t>
                      </a:r>
                      <a:endParaRPr lang="en-US"/>
                    </a:p>
                  </a:txBody>
                  <a:tcPr anchor="ctr">
                    <a:solidFill>
                      <a:schemeClr val="bg1">
                        <a:lumMod val="85000"/>
                      </a:schemeClr>
                    </a:solidFill>
                  </a:tcPr>
                </a:tc>
                <a:tc>
                  <a:txBody>
                    <a:bodyPr/>
                    <a:lstStyle/>
                    <a:p>
                      <a:pPr algn="ctr"/>
                      <a:r>
                        <a:rPr lang="en-US" b="1"/>
                        <a:t>Description</a:t>
                      </a:r>
                      <a:endParaRPr lang="en-US"/>
                    </a:p>
                  </a:txBody>
                  <a:tcPr anchor="ctr">
                    <a:solidFill>
                      <a:schemeClr val="bg1">
                        <a:lumMod val="85000"/>
                      </a:schemeClr>
                    </a:solidFill>
                  </a:tcPr>
                </a:tc>
                <a:tc>
                  <a:txBody>
                    <a:bodyPr/>
                    <a:lstStyle/>
                    <a:p>
                      <a:pPr algn="ctr"/>
                      <a:r>
                        <a:rPr lang="en-US" b="1" dirty="0"/>
                        <a:t>Examples</a:t>
                      </a:r>
                      <a:endParaRPr lang="en-US" dirty="0"/>
                    </a:p>
                  </a:txBody>
                  <a:tcPr anchor="ctr">
                    <a:solidFill>
                      <a:schemeClr val="bg1">
                        <a:lumMod val="85000"/>
                      </a:schemeClr>
                    </a:solidFill>
                  </a:tcPr>
                </a:tc>
                <a:extLst>
                  <a:ext uri="{0D108BD9-81ED-4DB2-BD59-A6C34878D82A}">
                    <a16:rowId xmlns:a16="http://schemas.microsoft.com/office/drawing/2014/main" val="2226948369"/>
                  </a:ext>
                </a:extLst>
              </a:tr>
              <a:tr h="0">
                <a:tc>
                  <a:txBody>
                    <a:bodyPr/>
                    <a:lstStyle/>
                    <a:p>
                      <a:r>
                        <a:rPr lang="en-US" b="1"/>
                        <a:t>KPIs</a:t>
                      </a:r>
                      <a:endParaRPr lang="en-US"/>
                    </a:p>
                  </a:txBody>
                  <a:tcPr anchor="ctr"/>
                </a:tc>
                <a:tc>
                  <a:txBody>
                    <a:bodyPr/>
                    <a:lstStyle/>
                    <a:p>
                      <a:r>
                        <a:rPr lang="en-US"/>
                        <a:t>Track performance</a:t>
                      </a:r>
                    </a:p>
                  </a:txBody>
                  <a:tcPr anchor="ctr"/>
                </a:tc>
                <a:tc>
                  <a:txBody>
                    <a:bodyPr/>
                    <a:lstStyle/>
                    <a:p>
                      <a:r>
                        <a:rPr lang="en-US"/>
                        <a:t>Revenue, retention rate</a:t>
                      </a:r>
                    </a:p>
                  </a:txBody>
                  <a:tcPr anchor="ctr"/>
                </a:tc>
                <a:extLst>
                  <a:ext uri="{0D108BD9-81ED-4DB2-BD59-A6C34878D82A}">
                    <a16:rowId xmlns:a16="http://schemas.microsoft.com/office/drawing/2014/main" val="2861810782"/>
                  </a:ext>
                </a:extLst>
              </a:tr>
              <a:tr h="0">
                <a:tc>
                  <a:txBody>
                    <a:bodyPr/>
                    <a:lstStyle/>
                    <a:p>
                      <a:r>
                        <a:rPr lang="en-US" b="1"/>
                        <a:t>Relationships</a:t>
                      </a:r>
                      <a:endParaRPr lang="en-US"/>
                    </a:p>
                  </a:txBody>
                  <a:tcPr anchor="ctr"/>
                </a:tc>
                <a:tc>
                  <a:txBody>
                    <a:bodyPr/>
                    <a:lstStyle/>
                    <a:p>
                      <a:r>
                        <a:rPr lang="en-US"/>
                        <a:t>Show variable interactions</a:t>
                      </a:r>
                    </a:p>
                  </a:txBody>
                  <a:tcPr anchor="ctr"/>
                </a:tc>
                <a:tc>
                  <a:txBody>
                    <a:bodyPr/>
                    <a:lstStyle/>
                    <a:p>
                      <a:r>
                        <a:rPr lang="en-US"/>
                        <a:t>User actions vs. outcomes</a:t>
                      </a:r>
                    </a:p>
                  </a:txBody>
                  <a:tcPr anchor="ctr"/>
                </a:tc>
                <a:extLst>
                  <a:ext uri="{0D108BD9-81ED-4DB2-BD59-A6C34878D82A}">
                    <a16:rowId xmlns:a16="http://schemas.microsoft.com/office/drawing/2014/main" val="2847871941"/>
                  </a:ext>
                </a:extLst>
              </a:tr>
              <a:tr h="0">
                <a:tc>
                  <a:txBody>
                    <a:bodyPr/>
                    <a:lstStyle/>
                    <a:p>
                      <a:r>
                        <a:rPr lang="en-US" b="1"/>
                        <a:t>Comparisons</a:t>
                      </a:r>
                      <a:endParaRPr lang="en-US"/>
                    </a:p>
                  </a:txBody>
                  <a:tcPr anchor="ctr"/>
                </a:tc>
                <a:tc>
                  <a:txBody>
                    <a:bodyPr/>
                    <a:lstStyle/>
                    <a:p>
                      <a:r>
                        <a:rPr lang="en-US"/>
                        <a:t>Examine differences over time or between groups</a:t>
                      </a:r>
                    </a:p>
                  </a:txBody>
                  <a:tcPr anchor="ctr"/>
                </a:tc>
                <a:tc>
                  <a:txBody>
                    <a:bodyPr/>
                    <a:lstStyle/>
                    <a:p>
                      <a:r>
                        <a:rPr lang="en-US"/>
                        <a:t>Monthly sales by region</a:t>
                      </a:r>
                    </a:p>
                  </a:txBody>
                  <a:tcPr anchor="ctr"/>
                </a:tc>
                <a:extLst>
                  <a:ext uri="{0D108BD9-81ED-4DB2-BD59-A6C34878D82A}">
                    <a16:rowId xmlns:a16="http://schemas.microsoft.com/office/drawing/2014/main" val="3984892320"/>
                  </a:ext>
                </a:extLst>
              </a:tr>
              <a:tr h="0">
                <a:tc>
                  <a:txBody>
                    <a:bodyPr/>
                    <a:lstStyle/>
                    <a:p>
                      <a:r>
                        <a:rPr lang="en-US" b="1"/>
                        <a:t>Distributions</a:t>
                      </a:r>
                      <a:endParaRPr lang="en-US"/>
                    </a:p>
                  </a:txBody>
                  <a:tcPr anchor="ctr"/>
                </a:tc>
                <a:tc>
                  <a:txBody>
                    <a:bodyPr/>
                    <a:lstStyle/>
                    <a:p>
                      <a:r>
                        <a:rPr lang="en-US"/>
                        <a:t>Display data spread</a:t>
                      </a:r>
                    </a:p>
                  </a:txBody>
                  <a:tcPr anchor="ctr"/>
                </a:tc>
                <a:tc>
                  <a:txBody>
                    <a:bodyPr/>
                    <a:lstStyle/>
                    <a:p>
                      <a:r>
                        <a:rPr lang="en-US"/>
                        <a:t>Error rates, response times</a:t>
                      </a:r>
                    </a:p>
                  </a:txBody>
                  <a:tcPr anchor="ctr"/>
                </a:tc>
                <a:extLst>
                  <a:ext uri="{0D108BD9-81ED-4DB2-BD59-A6C34878D82A}">
                    <a16:rowId xmlns:a16="http://schemas.microsoft.com/office/drawing/2014/main" val="259308737"/>
                  </a:ext>
                </a:extLst>
              </a:tr>
              <a:tr h="0">
                <a:tc>
                  <a:txBody>
                    <a:bodyPr/>
                    <a:lstStyle/>
                    <a:p>
                      <a:r>
                        <a:rPr lang="en-US" b="1"/>
                        <a:t>Compositions</a:t>
                      </a:r>
                      <a:endParaRPr lang="en-US"/>
                    </a:p>
                  </a:txBody>
                  <a:tcPr anchor="ctr"/>
                </a:tc>
                <a:tc>
                  <a:txBody>
                    <a:bodyPr/>
                    <a:lstStyle/>
                    <a:p>
                      <a:r>
                        <a:rPr lang="en-US"/>
                        <a:t>Highlight parts of a whole</a:t>
                      </a:r>
                    </a:p>
                  </a:txBody>
                  <a:tcPr anchor="ctr"/>
                </a:tc>
                <a:tc>
                  <a:txBody>
                    <a:bodyPr/>
                    <a:lstStyle/>
                    <a:p>
                      <a:r>
                        <a:rPr lang="en-US" dirty="0"/>
                        <a:t>Sales by category</a:t>
                      </a:r>
                    </a:p>
                  </a:txBody>
                  <a:tcPr anchor="ctr"/>
                </a:tc>
                <a:extLst>
                  <a:ext uri="{0D108BD9-81ED-4DB2-BD59-A6C34878D82A}">
                    <a16:rowId xmlns:a16="http://schemas.microsoft.com/office/drawing/2014/main" val="730269440"/>
                  </a:ext>
                </a:extLst>
              </a:tr>
            </a:tbl>
          </a:graphicData>
        </a:graphic>
      </p:graphicFrame>
    </p:spTree>
    <p:extLst>
      <p:ext uri="{BB962C8B-B14F-4D97-AF65-F5344CB8AC3E}">
        <p14:creationId xmlns:p14="http://schemas.microsoft.com/office/powerpoint/2010/main" val="40951326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5140E-940A-41A0-9315-E73905FC4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E6936-6DDC-57B4-D089-0FF24EF598F6}"/>
              </a:ext>
            </a:extLst>
          </p:cNvPr>
          <p:cNvSpPr>
            <a:spLocks noGrp="1"/>
          </p:cNvSpPr>
          <p:nvPr>
            <p:ph type="title"/>
          </p:nvPr>
        </p:nvSpPr>
        <p:spPr/>
        <p:txBody>
          <a:bodyPr/>
          <a:lstStyle/>
          <a:p>
            <a:r>
              <a:rPr lang="en-US" dirty="0"/>
              <a:t>Data Characteristics – Examples</a:t>
            </a:r>
          </a:p>
        </p:txBody>
      </p:sp>
      <p:graphicFrame>
        <p:nvGraphicFramePr>
          <p:cNvPr id="4" name="Content Placeholder 3">
            <a:extLst>
              <a:ext uri="{FF2B5EF4-FFF2-40B4-BE49-F238E27FC236}">
                <a16:creationId xmlns:a16="http://schemas.microsoft.com/office/drawing/2014/main" id="{D7473AE8-CBB8-B262-AB9B-10A5F5277ADA}"/>
              </a:ext>
            </a:extLst>
          </p:cNvPr>
          <p:cNvGraphicFramePr>
            <a:graphicFrameLocks noGrp="1"/>
          </p:cNvGraphicFramePr>
          <p:nvPr>
            <p:ph idx="1"/>
          </p:nvPr>
        </p:nvGraphicFramePr>
        <p:xfrm>
          <a:off x="838200" y="1825909"/>
          <a:ext cx="10515600" cy="2194560"/>
        </p:xfrm>
        <a:graphic>
          <a:graphicData uri="http://schemas.openxmlformats.org/drawingml/2006/table">
            <a:tbl>
              <a:tblPr>
                <a:tableStyleId>{616DA210-FB5B-4158-B5E0-FEB733F419BA}</a:tableStyleId>
              </a:tblPr>
              <a:tblGrid>
                <a:gridCol w="5257800">
                  <a:extLst>
                    <a:ext uri="{9D8B030D-6E8A-4147-A177-3AD203B41FA5}">
                      <a16:colId xmlns:a16="http://schemas.microsoft.com/office/drawing/2014/main" val="1512278392"/>
                    </a:ext>
                  </a:extLst>
                </a:gridCol>
                <a:gridCol w="5257800">
                  <a:extLst>
                    <a:ext uri="{9D8B030D-6E8A-4147-A177-3AD203B41FA5}">
                      <a16:colId xmlns:a16="http://schemas.microsoft.com/office/drawing/2014/main" val="241539217"/>
                    </a:ext>
                  </a:extLst>
                </a:gridCol>
              </a:tblGrid>
              <a:tr h="0">
                <a:tc>
                  <a:txBody>
                    <a:bodyPr/>
                    <a:lstStyle/>
                    <a:p>
                      <a:pPr algn="ctr"/>
                      <a:r>
                        <a:rPr lang="en-US" b="1"/>
                        <a:t>Data Type</a:t>
                      </a:r>
                      <a:endParaRPr lang="en-US"/>
                    </a:p>
                  </a:txBody>
                  <a:tcPr anchor="ctr">
                    <a:solidFill>
                      <a:schemeClr val="bg1">
                        <a:lumMod val="85000"/>
                      </a:schemeClr>
                    </a:solidFill>
                  </a:tcPr>
                </a:tc>
                <a:tc>
                  <a:txBody>
                    <a:bodyPr/>
                    <a:lstStyle/>
                    <a:p>
                      <a:pPr algn="ctr"/>
                      <a:r>
                        <a:rPr lang="en-US" b="1" dirty="0"/>
                        <a:t>Use Case</a:t>
                      </a:r>
                      <a:endParaRPr lang="en-US" dirty="0"/>
                    </a:p>
                  </a:txBody>
                  <a:tcPr anchor="ctr">
                    <a:solidFill>
                      <a:schemeClr val="bg1">
                        <a:lumMod val="85000"/>
                      </a:schemeClr>
                    </a:solidFill>
                  </a:tcPr>
                </a:tc>
                <a:extLst>
                  <a:ext uri="{0D108BD9-81ED-4DB2-BD59-A6C34878D82A}">
                    <a16:rowId xmlns:a16="http://schemas.microsoft.com/office/drawing/2014/main" val="939335469"/>
                  </a:ext>
                </a:extLst>
              </a:tr>
              <a:tr h="0">
                <a:tc>
                  <a:txBody>
                    <a:bodyPr/>
                    <a:lstStyle/>
                    <a:p>
                      <a:r>
                        <a:rPr lang="en-US"/>
                        <a:t>Historical data</a:t>
                      </a:r>
                    </a:p>
                  </a:txBody>
                  <a:tcPr anchor="ctr"/>
                </a:tc>
                <a:tc>
                  <a:txBody>
                    <a:bodyPr/>
                    <a:lstStyle/>
                    <a:p>
                      <a:r>
                        <a:rPr lang="en-US"/>
                        <a:t>Drill-down on yearly sales</a:t>
                      </a:r>
                    </a:p>
                  </a:txBody>
                  <a:tcPr anchor="ctr"/>
                </a:tc>
                <a:extLst>
                  <a:ext uri="{0D108BD9-81ED-4DB2-BD59-A6C34878D82A}">
                    <a16:rowId xmlns:a16="http://schemas.microsoft.com/office/drawing/2014/main" val="2807578075"/>
                  </a:ext>
                </a:extLst>
              </a:tr>
              <a:tr h="0">
                <a:tc>
                  <a:txBody>
                    <a:bodyPr/>
                    <a:lstStyle/>
                    <a:p>
                      <a:r>
                        <a:rPr lang="en-US"/>
                        <a:t>Real-time (IoT)</a:t>
                      </a:r>
                    </a:p>
                  </a:txBody>
                  <a:tcPr anchor="ctr"/>
                </a:tc>
                <a:tc>
                  <a:txBody>
                    <a:bodyPr/>
                    <a:lstStyle/>
                    <a:p>
                      <a:r>
                        <a:rPr lang="en-US"/>
                        <a:t>Monitor live sensor error rates</a:t>
                      </a:r>
                    </a:p>
                  </a:txBody>
                  <a:tcPr anchor="ctr"/>
                </a:tc>
                <a:extLst>
                  <a:ext uri="{0D108BD9-81ED-4DB2-BD59-A6C34878D82A}">
                    <a16:rowId xmlns:a16="http://schemas.microsoft.com/office/drawing/2014/main" val="4080794927"/>
                  </a:ext>
                </a:extLst>
              </a:tr>
              <a:tr h="0">
                <a:tc>
                  <a:txBody>
                    <a:bodyPr/>
                    <a:lstStyle/>
                    <a:p>
                      <a:r>
                        <a:rPr lang="en-US"/>
                        <a:t>Structured</a:t>
                      </a:r>
                    </a:p>
                  </a:txBody>
                  <a:tcPr anchor="ctr"/>
                </a:tc>
                <a:tc>
                  <a:txBody>
                    <a:bodyPr/>
                    <a:lstStyle/>
                    <a:p>
                      <a:r>
                        <a:rPr lang="en-US"/>
                        <a:t>Query customer support logs in RDS</a:t>
                      </a:r>
                    </a:p>
                  </a:txBody>
                  <a:tcPr anchor="ctr"/>
                </a:tc>
                <a:extLst>
                  <a:ext uri="{0D108BD9-81ED-4DB2-BD59-A6C34878D82A}">
                    <a16:rowId xmlns:a16="http://schemas.microsoft.com/office/drawing/2014/main" val="429252588"/>
                  </a:ext>
                </a:extLst>
              </a:tr>
              <a:tr h="0">
                <a:tc>
                  <a:txBody>
                    <a:bodyPr/>
                    <a:lstStyle/>
                    <a:p>
                      <a:r>
                        <a:rPr lang="en-US"/>
                        <a:t>Unstructured</a:t>
                      </a:r>
                    </a:p>
                  </a:txBody>
                  <a:tcPr anchor="ctr"/>
                </a:tc>
                <a:tc>
                  <a:txBody>
                    <a:bodyPr/>
                    <a:lstStyle/>
                    <a:p>
                      <a:r>
                        <a:rPr lang="en-US"/>
                        <a:t>Analyze email sentiment using NLP tools</a:t>
                      </a:r>
                    </a:p>
                  </a:txBody>
                  <a:tcPr anchor="ctr"/>
                </a:tc>
                <a:extLst>
                  <a:ext uri="{0D108BD9-81ED-4DB2-BD59-A6C34878D82A}">
                    <a16:rowId xmlns:a16="http://schemas.microsoft.com/office/drawing/2014/main" val="907835484"/>
                  </a:ext>
                </a:extLst>
              </a:tr>
              <a:tr h="0">
                <a:tc>
                  <a:txBody>
                    <a:bodyPr/>
                    <a:lstStyle/>
                    <a:p>
                      <a:r>
                        <a:rPr lang="en-US"/>
                        <a:t>Mixed sources</a:t>
                      </a:r>
                    </a:p>
                  </a:txBody>
                  <a:tcPr anchor="ctr"/>
                </a:tc>
                <a:tc>
                  <a:txBody>
                    <a:bodyPr/>
                    <a:lstStyle/>
                    <a:p>
                      <a:r>
                        <a:rPr lang="en-US" dirty="0"/>
                        <a:t>Aggregate sales, logs, and social data</a:t>
                      </a:r>
                    </a:p>
                  </a:txBody>
                  <a:tcPr anchor="ctr"/>
                </a:tc>
                <a:extLst>
                  <a:ext uri="{0D108BD9-81ED-4DB2-BD59-A6C34878D82A}">
                    <a16:rowId xmlns:a16="http://schemas.microsoft.com/office/drawing/2014/main" val="2154255222"/>
                  </a:ext>
                </a:extLst>
              </a:tr>
            </a:tbl>
          </a:graphicData>
        </a:graphic>
      </p:graphicFrame>
    </p:spTree>
    <p:extLst>
      <p:ext uri="{BB962C8B-B14F-4D97-AF65-F5344CB8AC3E}">
        <p14:creationId xmlns:p14="http://schemas.microsoft.com/office/powerpoint/2010/main" val="17594217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1573C-D95D-B587-9354-5713C9607A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A164B-BA8B-1A6C-7DF9-D11384E516B0}"/>
              </a:ext>
            </a:extLst>
          </p:cNvPr>
          <p:cNvSpPr>
            <a:spLocks noGrp="1"/>
          </p:cNvSpPr>
          <p:nvPr>
            <p:ph type="title"/>
          </p:nvPr>
        </p:nvSpPr>
        <p:spPr/>
        <p:txBody>
          <a:bodyPr/>
          <a:lstStyle/>
          <a:p>
            <a:r>
              <a:rPr lang="en-US" dirty="0"/>
              <a:t>Comparing AWS Tools and Services</a:t>
            </a:r>
          </a:p>
        </p:txBody>
      </p:sp>
      <p:graphicFrame>
        <p:nvGraphicFramePr>
          <p:cNvPr id="4" name="Content Placeholder 3">
            <a:extLst>
              <a:ext uri="{FF2B5EF4-FFF2-40B4-BE49-F238E27FC236}">
                <a16:creationId xmlns:a16="http://schemas.microsoft.com/office/drawing/2014/main" id="{76220F68-8FAC-E752-D22F-6ADF1C9AA2F6}"/>
              </a:ext>
            </a:extLst>
          </p:cNvPr>
          <p:cNvGraphicFramePr>
            <a:graphicFrameLocks noGrp="1"/>
          </p:cNvGraphicFramePr>
          <p:nvPr>
            <p:ph idx="1"/>
          </p:nvPr>
        </p:nvGraphicFramePr>
        <p:xfrm>
          <a:off x="838200" y="1872864"/>
          <a:ext cx="10515600" cy="2286000"/>
        </p:xfrm>
        <a:graphic>
          <a:graphicData uri="http://schemas.openxmlformats.org/drawingml/2006/table">
            <a:tbl>
              <a:tblPr>
                <a:tableStyleId>{616DA210-FB5B-4158-B5E0-FEB733F419BA}</a:tableStyleId>
              </a:tblPr>
              <a:tblGrid>
                <a:gridCol w="3505200">
                  <a:extLst>
                    <a:ext uri="{9D8B030D-6E8A-4147-A177-3AD203B41FA5}">
                      <a16:colId xmlns:a16="http://schemas.microsoft.com/office/drawing/2014/main" val="1901898189"/>
                    </a:ext>
                  </a:extLst>
                </a:gridCol>
                <a:gridCol w="3505200">
                  <a:extLst>
                    <a:ext uri="{9D8B030D-6E8A-4147-A177-3AD203B41FA5}">
                      <a16:colId xmlns:a16="http://schemas.microsoft.com/office/drawing/2014/main" val="777428734"/>
                    </a:ext>
                  </a:extLst>
                </a:gridCol>
                <a:gridCol w="3505200">
                  <a:extLst>
                    <a:ext uri="{9D8B030D-6E8A-4147-A177-3AD203B41FA5}">
                      <a16:colId xmlns:a16="http://schemas.microsoft.com/office/drawing/2014/main" val="2513942221"/>
                    </a:ext>
                  </a:extLst>
                </a:gridCol>
              </a:tblGrid>
              <a:tr h="0">
                <a:tc>
                  <a:txBody>
                    <a:bodyPr/>
                    <a:lstStyle/>
                    <a:p>
                      <a:pPr algn="ctr"/>
                      <a:r>
                        <a:rPr lang="en-US" b="1"/>
                        <a:t>Tool</a:t>
                      </a:r>
                      <a:endParaRPr lang="en-US"/>
                    </a:p>
                  </a:txBody>
                  <a:tcPr anchor="ctr">
                    <a:solidFill>
                      <a:schemeClr val="bg1">
                        <a:lumMod val="85000"/>
                      </a:schemeClr>
                    </a:solidFill>
                  </a:tcPr>
                </a:tc>
                <a:tc>
                  <a:txBody>
                    <a:bodyPr/>
                    <a:lstStyle/>
                    <a:p>
                      <a:pPr algn="ctr"/>
                      <a:r>
                        <a:rPr lang="en-US" b="1"/>
                        <a:t>Primary Use</a:t>
                      </a:r>
                      <a:endParaRPr lang="en-US"/>
                    </a:p>
                  </a:txBody>
                  <a:tcPr anchor="ctr">
                    <a:solidFill>
                      <a:schemeClr val="bg1">
                        <a:lumMod val="85000"/>
                      </a:schemeClr>
                    </a:solidFill>
                  </a:tcPr>
                </a:tc>
                <a:tc>
                  <a:txBody>
                    <a:bodyPr/>
                    <a:lstStyle/>
                    <a:p>
                      <a:pPr algn="ctr"/>
                      <a:r>
                        <a:rPr lang="en-US" b="1" dirty="0"/>
                        <a:t>Highlights</a:t>
                      </a:r>
                      <a:endParaRPr lang="en-US" dirty="0"/>
                    </a:p>
                  </a:txBody>
                  <a:tcPr anchor="ctr">
                    <a:solidFill>
                      <a:schemeClr val="bg1">
                        <a:lumMod val="85000"/>
                      </a:schemeClr>
                    </a:solidFill>
                  </a:tcPr>
                </a:tc>
                <a:extLst>
                  <a:ext uri="{0D108BD9-81ED-4DB2-BD59-A6C34878D82A}">
                    <a16:rowId xmlns:a16="http://schemas.microsoft.com/office/drawing/2014/main" val="3371180414"/>
                  </a:ext>
                </a:extLst>
              </a:tr>
              <a:tr h="0">
                <a:tc>
                  <a:txBody>
                    <a:bodyPr/>
                    <a:lstStyle/>
                    <a:p>
                      <a:r>
                        <a:rPr lang="en-US" b="1"/>
                        <a:t>Amazon Athena</a:t>
                      </a:r>
                      <a:endParaRPr lang="en-US"/>
                    </a:p>
                  </a:txBody>
                  <a:tcPr anchor="ctr"/>
                </a:tc>
                <a:tc>
                  <a:txBody>
                    <a:bodyPr/>
                    <a:lstStyle/>
                    <a:p>
                      <a:r>
                        <a:rPr lang="en-US"/>
                        <a:t>SQL queries on S3 data</a:t>
                      </a:r>
                    </a:p>
                  </a:txBody>
                  <a:tcPr anchor="ctr"/>
                </a:tc>
                <a:tc>
                  <a:txBody>
                    <a:bodyPr/>
                    <a:lstStyle/>
                    <a:p>
                      <a:r>
                        <a:rPr lang="en-US"/>
                        <a:t>Serverless, one-time queries, Apache Iceberg</a:t>
                      </a:r>
                    </a:p>
                  </a:txBody>
                  <a:tcPr anchor="ctr"/>
                </a:tc>
                <a:extLst>
                  <a:ext uri="{0D108BD9-81ED-4DB2-BD59-A6C34878D82A}">
                    <a16:rowId xmlns:a16="http://schemas.microsoft.com/office/drawing/2014/main" val="692820694"/>
                  </a:ext>
                </a:extLst>
              </a:tr>
              <a:tr h="0">
                <a:tc>
                  <a:txBody>
                    <a:bodyPr/>
                    <a:lstStyle/>
                    <a:p>
                      <a:r>
                        <a:rPr lang="en-US" b="1"/>
                        <a:t>Amazon QuickSight</a:t>
                      </a:r>
                      <a:endParaRPr lang="en-US"/>
                    </a:p>
                  </a:txBody>
                  <a:tcPr anchor="ctr"/>
                </a:tc>
                <a:tc>
                  <a:txBody>
                    <a:bodyPr/>
                    <a:lstStyle/>
                    <a:p>
                      <a:r>
                        <a:rPr lang="en-US"/>
                        <a:t>Dashboards and BI reporting</a:t>
                      </a:r>
                    </a:p>
                  </a:txBody>
                  <a:tcPr anchor="ctr"/>
                </a:tc>
                <a:tc>
                  <a:txBody>
                    <a:bodyPr/>
                    <a:lstStyle/>
                    <a:p>
                      <a:r>
                        <a:rPr lang="en-US"/>
                        <a:t>Natural language queries with QuickSight Q</a:t>
                      </a:r>
                    </a:p>
                  </a:txBody>
                  <a:tcPr anchor="ctr"/>
                </a:tc>
                <a:extLst>
                  <a:ext uri="{0D108BD9-81ED-4DB2-BD59-A6C34878D82A}">
                    <a16:rowId xmlns:a16="http://schemas.microsoft.com/office/drawing/2014/main" val="2381794507"/>
                  </a:ext>
                </a:extLst>
              </a:tr>
              <a:tr h="0">
                <a:tc>
                  <a:txBody>
                    <a:bodyPr/>
                    <a:lstStyle/>
                    <a:p>
                      <a:r>
                        <a:rPr lang="en-US" b="1"/>
                        <a:t>Amazon OpenSearch</a:t>
                      </a:r>
                      <a:endParaRPr lang="en-US"/>
                    </a:p>
                  </a:txBody>
                  <a:tcPr anchor="ctr"/>
                </a:tc>
                <a:tc>
                  <a:txBody>
                    <a:bodyPr/>
                    <a:lstStyle/>
                    <a:p>
                      <a:r>
                        <a:rPr lang="en-US"/>
                        <a:t>Real-time log and telemetry analytics</a:t>
                      </a:r>
                    </a:p>
                  </a:txBody>
                  <a:tcPr anchor="ctr"/>
                </a:tc>
                <a:tc>
                  <a:txBody>
                    <a:bodyPr/>
                    <a:lstStyle/>
                    <a:p>
                      <a:r>
                        <a:rPr lang="en-US" dirty="0"/>
                        <a:t>Integrated with OpenSearch Dashboards</a:t>
                      </a:r>
                    </a:p>
                  </a:txBody>
                  <a:tcPr anchor="ctr"/>
                </a:tc>
                <a:extLst>
                  <a:ext uri="{0D108BD9-81ED-4DB2-BD59-A6C34878D82A}">
                    <a16:rowId xmlns:a16="http://schemas.microsoft.com/office/drawing/2014/main" val="4039306434"/>
                  </a:ext>
                </a:extLst>
              </a:tr>
            </a:tbl>
          </a:graphicData>
        </a:graphic>
      </p:graphicFrame>
    </p:spTree>
    <p:extLst>
      <p:ext uri="{BB962C8B-B14F-4D97-AF65-F5344CB8AC3E}">
        <p14:creationId xmlns:p14="http://schemas.microsoft.com/office/powerpoint/2010/main" val="2564428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74AAD-93BC-6361-0F89-D6FC07D01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14B55-4482-C9B1-F6A9-F92AF3ABC42C}"/>
              </a:ext>
            </a:extLst>
          </p:cNvPr>
          <p:cNvSpPr>
            <a:spLocks noGrp="1"/>
          </p:cNvSpPr>
          <p:nvPr>
            <p:ph type="title"/>
          </p:nvPr>
        </p:nvSpPr>
        <p:spPr/>
        <p:txBody>
          <a:bodyPr>
            <a:normAutofit/>
          </a:bodyPr>
          <a:lstStyle/>
          <a:p>
            <a:r>
              <a:rPr lang="en-US" dirty="0"/>
              <a:t>Amazon Athena</a:t>
            </a:r>
          </a:p>
        </p:txBody>
      </p:sp>
      <p:sp>
        <p:nvSpPr>
          <p:cNvPr id="3" name="Content Placeholder 2">
            <a:extLst>
              <a:ext uri="{FF2B5EF4-FFF2-40B4-BE49-F238E27FC236}">
                <a16:creationId xmlns:a16="http://schemas.microsoft.com/office/drawing/2014/main" id="{B6ADC10D-F620-1E7A-5683-5961E651C8C5}"/>
              </a:ext>
            </a:extLst>
          </p:cNvPr>
          <p:cNvSpPr>
            <a:spLocks noGrp="1"/>
          </p:cNvSpPr>
          <p:nvPr>
            <p:ph idx="1"/>
          </p:nvPr>
        </p:nvSpPr>
        <p:spPr/>
        <p:txBody>
          <a:bodyPr/>
          <a:lstStyle/>
          <a:p>
            <a:pPr>
              <a:buFont typeface="Arial" panose="020B0604020202020204" pitchFamily="34" charset="0"/>
              <a:buChar char="•"/>
            </a:pPr>
            <a:r>
              <a:rPr lang="en-US" dirty="0"/>
              <a:t>Interactive query service using SQL.</a:t>
            </a:r>
          </a:p>
          <a:p>
            <a:pPr>
              <a:buFont typeface="Arial" panose="020B0604020202020204" pitchFamily="34" charset="0"/>
              <a:buChar char="•"/>
            </a:pPr>
            <a:r>
              <a:rPr lang="en-US" dirty="0"/>
              <a:t>Works directly with data in Amazon S3.</a:t>
            </a:r>
          </a:p>
          <a:p>
            <a:pPr>
              <a:buFont typeface="Arial" panose="020B0604020202020204" pitchFamily="34" charset="0"/>
              <a:buChar char="•"/>
            </a:pPr>
            <a:r>
              <a:rPr lang="en-US" dirty="0"/>
              <a:t>Serverless—no infrastructure to manage.</a:t>
            </a:r>
          </a:p>
          <a:p>
            <a:pPr>
              <a:buFont typeface="Arial" panose="020B0604020202020204" pitchFamily="34" charset="0"/>
              <a:buChar char="•"/>
            </a:pPr>
            <a:r>
              <a:rPr lang="en-US" dirty="0"/>
              <a:t>Integrated with BI tools like </a:t>
            </a:r>
            <a:r>
              <a:rPr lang="en-US" dirty="0" err="1"/>
              <a:t>QuickSight</a:t>
            </a:r>
            <a:r>
              <a:rPr lang="en-US" dirty="0"/>
              <a:t>.</a:t>
            </a:r>
          </a:p>
          <a:p>
            <a:pPr>
              <a:buFont typeface="Arial" panose="020B0604020202020204" pitchFamily="34" charset="0"/>
              <a:buChar char="•"/>
            </a:pPr>
            <a:r>
              <a:rPr lang="en-US" dirty="0"/>
              <a:t>Supports </a:t>
            </a:r>
            <a:r>
              <a:rPr lang="en-US" b="1" dirty="0"/>
              <a:t>data modification</a:t>
            </a:r>
            <a:r>
              <a:rPr lang="en-US" dirty="0"/>
              <a:t> via Apache Iceberg (insert, update, delete, version control).</a:t>
            </a:r>
          </a:p>
          <a:p>
            <a:endParaRPr lang="en-US" dirty="0"/>
          </a:p>
        </p:txBody>
      </p:sp>
    </p:spTree>
    <p:extLst>
      <p:ext uri="{BB962C8B-B14F-4D97-AF65-F5344CB8AC3E}">
        <p14:creationId xmlns:p14="http://schemas.microsoft.com/office/powerpoint/2010/main" val="17099809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AFA04-2F0C-C3E2-5478-7A0F6C488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236A9-0D0A-569C-3DCB-7106B9B18BFF}"/>
              </a:ext>
            </a:extLst>
          </p:cNvPr>
          <p:cNvSpPr>
            <a:spLocks noGrp="1"/>
          </p:cNvSpPr>
          <p:nvPr>
            <p:ph type="title"/>
          </p:nvPr>
        </p:nvSpPr>
        <p:spPr/>
        <p:txBody>
          <a:bodyPr>
            <a:normAutofit/>
          </a:bodyPr>
          <a:lstStyle/>
          <a:p>
            <a:r>
              <a:rPr lang="en-US" dirty="0"/>
              <a:t>Amazon </a:t>
            </a:r>
            <a:r>
              <a:rPr lang="en-US" dirty="0" err="1"/>
              <a:t>QuickSight</a:t>
            </a:r>
            <a:endParaRPr lang="en-US" dirty="0"/>
          </a:p>
        </p:txBody>
      </p:sp>
      <p:sp>
        <p:nvSpPr>
          <p:cNvPr id="3" name="Content Placeholder 2">
            <a:extLst>
              <a:ext uri="{FF2B5EF4-FFF2-40B4-BE49-F238E27FC236}">
                <a16:creationId xmlns:a16="http://schemas.microsoft.com/office/drawing/2014/main" id="{AA687D92-7AEE-8170-63C2-954FB244B5C9}"/>
              </a:ext>
            </a:extLst>
          </p:cNvPr>
          <p:cNvSpPr>
            <a:spLocks noGrp="1"/>
          </p:cNvSpPr>
          <p:nvPr>
            <p:ph idx="1"/>
          </p:nvPr>
        </p:nvSpPr>
        <p:spPr/>
        <p:txBody>
          <a:bodyPr/>
          <a:lstStyle/>
          <a:p>
            <a:pPr>
              <a:buFont typeface="Arial" panose="020B0604020202020204" pitchFamily="34" charset="0"/>
              <a:buChar char="•"/>
            </a:pPr>
            <a:r>
              <a:rPr lang="en-US" dirty="0"/>
              <a:t>Scalable business intelligence (BI) service.</a:t>
            </a:r>
          </a:p>
          <a:p>
            <a:pPr>
              <a:buFont typeface="Arial" panose="020B0604020202020204" pitchFamily="34" charset="0"/>
              <a:buChar char="•"/>
            </a:pPr>
            <a:r>
              <a:rPr lang="en-US" dirty="0"/>
              <a:t>Connects to various data sources.</a:t>
            </a:r>
          </a:p>
          <a:p>
            <a:pPr>
              <a:buFont typeface="Arial" panose="020B0604020202020204" pitchFamily="34" charset="0"/>
              <a:buChar char="•"/>
            </a:pPr>
            <a:r>
              <a:rPr lang="en-US" dirty="0"/>
              <a:t>Provides interactive dashboards, KPIs, forecasts.</a:t>
            </a:r>
          </a:p>
          <a:p>
            <a:pPr>
              <a:buFont typeface="Arial" panose="020B0604020202020204" pitchFamily="34" charset="0"/>
              <a:buChar char="•"/>
            </a:pPr>
            <a:r>
              <a:rPr lang="en-US" dirty="0"/>
              <a:t>Features </a:t>
            </a:r>
            <a:r>
              <a:rPr lang="en-US" b="1" dirty="0" err="1"/>
              <a:t>QuickSight</a:t>
            </a:r>
            <a:r>
              <a:rPr lang="en-US" b="1" dirty="0"/>
              <a:t> Q</a:t>
            </a:r>
            <a:r>
              <a:rPr lang="en-US" dirty="0"/>
              <a:t>: Use natural language to ask questions and get instant visual answers.</a:t>
            </a:r>
          </a:p>
          <a:p>
            <a:r>
              <a:rPr lang="en-US" b="1" dirty="0"/>
              <a:t>Example:</a:t>
            </a:r>
            <a:r>
              <a:rPr lang="en-US" dirty="0"/>
              <a:t> “Show last year’s weekly sales in California.”</a:t>
            </a:r>
          </a:p>
          <a:p>
            <a:endParaRPr lang="en-US" dirty="0"/>
          </a:p>
        </p:txBody>
      </p:sp>
    </p:spTree>
    <p:extLst>
      <p:ext uri="{BB962C8B-B14F-4D97-AF65-F5344CB8AC3E}">
        <p14:creationId xmlns:p14="http://schemas.microsoft.com/office/powerpoint/2010/main" val="7472950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1F290-FB2B-AEA9-F034-D89404B5B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43DD0-758E-8FFA-1D4E-1D70C0534E1D}"/>
              </a:ext>
            </a:extLst>
          </p:cNvPr>
          <p:cNvSpPr>
            <a:spLocks noGrp="1"/>
          </p:cNvSpPr>
          <p:nvPr>
            <p:ph type="title"/>
          </p:nvPr>
        </p:nvSpPr>
        <p:spPr/>
        <p:txBody>
          <a:bodyPr>
            <a:normAutofit/>
          </a:bodyPr>
          <a:lstStyle/>
          <a:p>
            <a:r>
              <a:rPr lang="en-US" dirty="0"/>
              <a:t>Amazon OpenSearch Service</a:t>
            </a:r>
          </a:p>
        </p:txBody>
      </p:sp>
      <p:sp>
        <p:nvSpPr>
          <p:cNvPr id="3" name="Content Placeholder 2">
            <a:extLst>
              <a:ext uri="{FF2B5EF4-FFF2-40B4-BE49-F238E27FC236}">
                <a16:creationId xmlns:a16="http://schemas.microsoft.com/office/drawing/2014/main" id="{EBE6711B-65A9-4AD4-3CDF-71A6203C46DC}"/>
              </a:ext>
            </a:extLst>
          </p:cNvPr>
          <p:cNvSpPr>
            <a:spLocks noGrp="1"/>
          </p:cNvSpPr>
          <p:nvPr>
            <p:ph idx="1"/>
          </p:nvPr>
        </p:nvSpPr>
        <p:spPr/>
        <p:txBody>
          <a:bodyPr/>
          <a:lstStyle/>
          <a:p>
            <a:pPr>
              <a:buFont typeface="Arial" panose="020B0604020202020204" pitchFamily="34" charset="0"/>
              <a:buChar char="•"/>
            </a:pPr>
            <a:r>
              <a:rPr lang="en-US" dirty="0"/>
              <a:t>Managed open-source search and analytics engine.</a:t>
            </a:r>
          </a:p>
          <a:p>
            <a:pPr>
              <a:buFont typeface="Arial" panose="020B0604020202020204" pitchFamily="34" charset="0"/>
              <a:buChar char="•"/>
            </a:pPr>
            <a:r>
              <a:rPr lang="en-US" dirty="0"/>
              <a:t>Ideal for log analytics, app monitoring, clickstream analysis.</a:t>
            </a:r>
          </a:p>
          <a:p>
            <a:pPr>
              <a:buFont typeface="Arial" panose="020B0604020202020204" pitchFamily="34" charset="0"/>
              <a:buChar char="•"/>
            </a:pPr>
            <a:r>
              <a:rPr lang="en-US" dirty="0"/>
              <a:t>Integrated with </a:t>
            </a:r>
            <a:r>
              <a:rPr lang="en-US" b="1" dirty="0"/>
              <a:t>OpenSearch Dashboards</a:t>
            </a:r>
            <a:r>
              <a:rPr lang="en-US" dirty="0"/>
              <a:t> (formerly Kibana).</a:t>
            </a:r>
          </a:p>
          <a:p>
            <a:pPr>
              <a:buNone/>
            </a:pPr>
            <a:r>
              <a:rPr lang="en-US" b="1" dirty="0"/>
              <a:t>Example Use Case:</a:t>
            </a:r>
            <a:endParaRPr lang="en-US" dirty="0"/>
          </a:p>
          <a:p>
            <a:pPr>
              <a:buFont typeface="Arial" panose="020B0604020202020204" pitchFamily="34" charset="0"/>
              <a:buChar char="•"/>
            </a:pPr>
            <a:r>
              <a:rPr lang="en-US" dirty="0"/>
              <a:t>Visualize customer call transcripts using S3 + Comprehend.</a:t>
            </a:r>
          </a:p>
          <a:p>
            <a:pPr>
              <a:buFont typeface="Arial" panose="020B0604020202020204" pitchFamily="34" charset="0"/>
              <a:buChar char="•"/>
            </a:pPr>
            <a:r>
              <a:rPr lang="en-US" dirty="0"/>
              <a:t>Use pie charts, bar charts, and histograms to track call sentiment and keyword trends.</a:t>
            </a:r>
          </a:p>
          <a:p>
            <a:endParaRPr lang="en-US" dirty="0"/>
          </a:p>
        </p:txBody>
      </p:sp>
    </p:spTree>
    <p:extLst>
      <p:ext uri="{BB962C8B-B14F-4D97-AF65-F5344CB8AC3E}">
        <p14:creationId xmlns:p14="http://schemas.microsoft.com/office/powerpoint/2010/main" val="15503635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DEC21-1C61-C733-D9DB-CB92A4FAE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9A4DE-107A-D635-9B98-3D1E35BBD22E}"/>
              </a:ext>
            </a:extLst>
          </p:cNvPr>
          <p:cNvSpPr>
            <a:spLocks noGrp="1"/>
          </p:cNvSpPr>
          <p:nvPr>
            <p:ph type="title"/>
          </p:nvPr>
        </p:nvSpPr>
        <p:spPr/>
        <p:txBody>
          <a:bodyPr>
            <a:normAutofit/>
          </a:bodyPr>
          <a:lstStyle/>
          <a:p>
            <a:r>
              <a:rPr lang="en-US" dirty="0"/>
              <a:t>Use Case – Gaming Analytics</a:t>
            </a:r>
          </a:p>
        </p:txBody>
      </p:sp>
      <p:sp>
        <p:nvSpPr>
          <p:cNvPr id="3" name="Content Placeholder 2">
            <a:extLst>
              <a:ext uri="{FF2B5EF4-FFF2-40B4-BE49-F238E27FC236}">
                <a16:creationId xmlns:a16="http://schemas.microsoft.com/office/drawing/2014/main" id="{BA8C48D0-339D-853C-A80D-F1C896F78944}"/>
              </a:ext>
            </a:extLst>
          </p:cNvPr>
          <p:cNvSpPr>
            <a:spLocks noGrp="1"/>
          </p:cNvSpPr>
          <p:nvPr>
            <p:ph idx="1"/>
          </p:nvPr>
        </p:nvSpPr>
        <p:spPr/>
        <p:txBody>
          <a:bodyPr/>
          <a:lstStyle/>
          <a:p>
            <a:pPr>
              <a:buNone/>
            </a:pPr>
            <a:r>
              <a:rPr lang="en-US" b="1" dirty="0"/>
              <a:t>Three Personas:</a:t>
            </a:r>
            <a:endParaRPr lang="en-US" dirty="0"/>
          </a:p>
          <a:p>
            <a:pPr>
              <a:buFont typeface="+mj-lt"/>
              <a:buAutoNum type="arabicPeriod"/>
            </a:pPr>
            <a:r>
              <a:rPr lang="en-US" b="1" dirty="0"/>
              <a:t>Analyst:</a:t>
            </a:r>
            <a:r>
              <a:rPr lang="en-US" dirty="0"/>
              <a:t> Uses Athena to query player usage data.</a:t>
            </a:r>
          </a:p>
          <a:p>
            <a:pPr>
              <a:buFont typeface="+mj-lt"/>
              <a:buAutoNum type="arabicPeriod"/>
            </a:pPr>
            <a:r>
              <a:rPr lang="en-US" b="1" dirty="0"/>
              <a:t>Business User:</a:t>
            </a:r>
            <a:r>
              <a:rPr lang="en-US" dirty="0"/>
              <a:t> Uses </a:t>
            </a:r>
            <a:r>
              <a:rPr lang="en-US" dirty="0" err="1"/>
              <a:t>QuickSight</a:t>
            </a:r>
            <a:r>
              <a:rPr lang="en-US" dirty="0"/>
              <a:t> to visualize revenue and retention KPIs.</a:t>
            </a:r>
          </a:p>
          <a:p>
            <a:pPr>
              <a:buFont typeface="+mj-lt"/>
              <a:buAutoNum type="arabicPeriod"/>
            </a:pPr>
            <a:r>
              <a:rPr lang="en-US" b="1" dirty="0"/>
              <a:t>DevOps Engineer:</a:t>
            </a:r>
            <a:r>
              <a:rPr lang="en-US" dirty="0"/>
              <a:t> Uses OpenSearch to monitor server performance in real-time.</a:t>
            </a:r>
          </a:p>
          <a:p>
            <a:pPr>
              <a:buNone/>
            </a:pPr>
            <a:r>
              <a:rPr lang="en-US" b="1" dirty="0"/>
              <a:t>Key Tools in Use Case:</a:t>
            </a:r>
            <a:endParaRPr lang="en-US" dirty="0"/>
          </a:p>
          <a:p>
            <a:pPr>
              <a:buFont typeface="Arial" panose="020B0604020202020204" pitchFamily="34" charset="0"/>
              <a:buChar char="•"/>
            </a:pPr>
            <a:r>
              <a:rPr lang="en-US" b="1" dirty="0"/>
              <a:t>Athena:</a:t>
            </a:r>
            <a:r>
              <a:rPr lang="en-US" dirty="0"/>
              <a:t> For daily aggregated data queries.</a:t>
            </a:r>
          </a:p>
          <a:p>
            <a:pPr>
              <a:buFont typeface="Arial" panose="020B0604020202020204" pitchFamily="34" charset="0"/>
              <a:buChar char="•"/>
            </a:pPr>
            <a:r>
              <a:rPr lang="en-US" b="1" dirty="0" err="1"/>
              <a:t>QuickSight</a:t>
            </a:r>
            <a:r>
              <a:rPr lang="en-US" b="1" dirty="0"/>
              <a:t>:</a:t>
            </a:r>
            <a:r>
              <a:rPr lang="en-US" dirty="0"/>
              <a:t> For high-level KPI dashboards.</a:t>
            </a:r>
          </a:p>
          <a:p>
            <a:pPr>
              <a:buFont typeface="Arial" panose="020B0604020202020204" pitchFamily="34" charset="0"/>
              <a:buChar char="•"/>
            </a:pPr>
            <a:r>
              <a:rPr lang="en-US" b="1" dirty="0"/>
              <a:t>OpenSearch:</a:t>
            </a:r>
            <a:r>
              <a:rPr lang="en-US" dirty="0"/>
              <a:t> For live telemetry and log analysis.</a:t>
            </a:r>
          </a:p>
          <a:p>
            <a:endParaRPr lang="en-US" dirty="0"/>
          </a:p>
        </p:txBody>
      </p:sp>
    </p:spTree>
    <p:extLst>
      <p:ext uri="{BB962C8B-B14F-4D97-AF65-F5344CB8AC3E}">
        <p14:creationId xmlns:p14="http://schemas.microsoft.com/office/powerpoint/2010/main" val="10543590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6C9265-CEE7-252A-3C6B-480911750F44}"/>
              </a:ext>
            </a:extLst>
          </p:cNvPr>
          <p:cNvSpPr>
            <a:spLocks noGrp="1"/>
          </p:cNvSpPr>
          <p:nvPr>
            <p:ph type="title"/>
          </p:nvPr>
        </p:nvSpPr>
        <p:spPr/>
        <p:txBody>
          <a:bodyPr>
            <a:normAutofit/>
          </a:bodyPr>
          <a:lstStyle/>
          <a:p>
            <a:r>
              <a:rPr lang="en-US" sz="4800" dirty="0"/>
              <a:t>Automating the Pipeline</a:t>
            </a:r>
          </a:p>
        </p:txBody>
      </p:sp>
      <p:sp>
        <p:nvSpPr>
          <p:cNvPr id="5" name="Text Placeholder 4">
            <a:extLst>
              <a:ext uri="{FF2B5EF4-FFF2-40B4-BE49-F238E27FC236}">
                <a16:creationId xmlns:a16="http://schemas.microsoft.com/office/drawing/2014/main" id="{3BFBF26A-EC86-3947-28FD-F6FCB5DBB40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054903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759FA-533B-6623-FD5F-9C68C27A3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3C77D-563B-B40A-FA0F-A24613682E37}"/>
              </a:ext>
            </a:extLst>
          </p:cNvPr>
          <p:cNvSpPr>
            <a:spLocks noGrp="1"/>
          </p:cNvSpPr>
          <p:nvPr>
            <p:ph type="title"/>
          </p:nvPr>
        </p:nvSpPr>
        <p:spPr/>
        <p:txBody>
          <a:bodyPr>
            <a:normAutofit/>
          </a:bodyPr>
          <a:lstStyle/>
          <a:p>
            <a:r>
              <a:rPr lang="en-US" dirty="0"/>
              <a:t>Automating the Pipeline</a:t>
            </a:r>
          </a:p>
        </p:txBody>
      </p:sp>
      <p:sp>
        <p:nvSpPr>
          <p:cNvPr id="3" name="Content Placeholder 2">
            <a:extLst>
              <a:ext uri="{FF2B5EF4-FFF2-40B4-BE49-F238E27FC236}">
                <a16:creationId xmlns:a16="http://schemas.microsoft.com/office/drawing/2014/main" id="{083AE058-2A38-BDF2-E52E-58485BBA9113}"/>
              </a:ext>
            </a:extLst>
          </p:cNvPr>
          <p:cNvSpPr>
            <a:spLocks noGrp="1"/>
          </p:cNvSpPr>
          <p:nvPr>
            <p:ph idx="1"/>
          </p:nvPr>
        </p:nvSpPr>
        <p:spPr/>
        <p:txBody>
          <a:bodyPr/>
          <a:lstStyle/>
          <a:p>
            <a:pPr>
              <a:buNone/>
            </a:pPr>
            <a:r>
              <a:rPr lang="en-US" b="1" dirty="0"/>
              <a:t>Objective:</a:t>
            </a:r>
            <a:r>
              <a:rPr lang="en-US" dirty="0"/>
              <a:t> Learn how to automate infrastructure and data workflows using DevOps principles and AWS Step Functions.</a:t>
            </a:r>
          </a:p>
          <a:p>
            <a:pPr>
              <a:buNone/>
            </a:pPr>
            <a:r>
              <a:rPr lang="en-US" b="1" dirty="0"/>
              <a:t>By the end of this module, you will be able to:</a:t>
            </a:r>
            <a:endParaRPr lang="en-US" dirty="0"/>
          </a:p>
          <a:p>
            <a:pPr>
              <a:buFont typeface="Arial" panose="020B0604020202020204" pitchFamily="34" charset="0"/>
              <a:buChar char="•"/>
            </a:pPr>
            <a:r>
              <a:rPr lang="en-US" dirty="0"/>
              <a:t>Identify the advantages of pipeline automation.</a:t>
            </a:r>
          </a:p>
          <a:p>
            <a:pPr>
              <a:buFont typeface="Arial" panose="020B0604020202020204" pitchFamily="34" charset="0"/>
              <a:buChar char="•"/>
            </a:pPr>
            <a:r>
              <a:rPr lang="en-US" dirty="0"/>
              <a:t>Understand the CI/CD process in data pipelines.</a:t>
            </a:r>
          </a:p>
          <a:p>
            <a:pPr>
              <a:buFont typeface="Arial" panose="020B0604020202020204" pitchFamily="34" charset="0"/>
              <a:buChar char="•"/>
            </a:pPr>
            <a:r>
              <a:rPr lang="en-US" dirty="0"/>
              <a:t>Describe the components and states of AWS Step Functions.</a:t>
            </a:r>
          </a:p>
          <a:p>
            <a:pPr>
              <a:buFont typeface="Arial" panose="020B0604020202020204" pitchFamily="34" charset="0"/>
              <a:buChar char="•"/>
            </a:pPr>
            <a:r>
              <a:rPr lang="en-US" dirty="0"/>
              <a:t>Build automated workflows using Step Functions and Athena.</a:t>
            </a:r>
          </a:p>
          <a:p>
            <a:endParaRPr lang="en-US" dirty="0"/>
          </a:p>
        </p:txBody>
      </p:sp>
    </p:spTree>
    <p:extLst>
      <p:ext uri="{BB962C8B-B14F-4D97-AF65-F5344CB8AC3E}">
        <p14:creationId xmlns:p14="http://schemas.microsoft.com/office/powerpoint/2010/main" val="33684551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13629-02FD-E12C-3318-12BC7AB20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3582A-6969-C451-E62D-BAAE9F09A641}"/>
              </a:ext>
            </a:extLst>
          </p:cNvPr>
          <p:cNvSpPr>
            <a:spLocks noGrp="1"/>
          </p:cNvSpPr>
          <p:nvPr>
            <p:ph type="title"/>
          </p:nvPr>
        </p:nvSpPr>
        <p:spPr/>
        <p:txBody>
          <a:bodyPr>
            <a:normAutofit/>
          </a:bodyPr>
          <a:lstStyle/>
          <a:p>
            <a:r>
              <a:rPr lang="en-US" dirty="0"/>
              <a:t>Automating Infrastructure Deployment</a:t>
            </a:r>
          </a:p>
        </p:txBody>
      </p:sp>
      <p:sp>
        <p:nvSpPr>
          <p:cNvPr id="3" name="Content Placeholder 2">
            <a:extLst>
              <a:ext uri="{FF2B5EF4-FFF2-40B4-BE49-F238E27FC236}">
                <a16:creationId xmlns:a16="http://schemas.microsoft.com/office/drawing/2014/main" id="{D7FE5CB3-5DE6-7E56-5B9E-82DB1DD2F3C8}"/>
              </a:ext>
            </a:extLst>
          </p:cNvPr>
          <p:cNvSpPr>
            <a:spLocks noGrp="1"/>
          </p:cNvSpPr>
          <p:nvPr>
            <p:ph idx="1"/>
          </p:nvPr>
        </p:nvSpPr>
        <p:spPr/>
        <p:txBody>
          <a:bodyPr/>
          <a:lstStyle/>
          <a:p>
            <a:pPr>
              <a:buNone/>
            </a:pPr>
            <a:r>
              <a:rPr lang="en-US" b="1" dirty="0"/>
              <a:t>Why automate?</a:t>
            </a:r>
            <a:endParaRPr lang="en-US" dirty="0"/>
          </a:p>
          <a:p>
            <a:pPr>
              <a:buFont typeface="Arial" panose="020B0604020202020204" pitchFamily="34" charset="0"/>
              <a:buChar char="•"/>
            </a:pPr>
            <a:r>
              <a:rPr lang="en-US" dirty="0"/>
              <a:t>Reduces manual effort, risk of human error, and downtime.</a:t>
            </a:r>
          </a:p>
          <a:p>
            <a:pPr>
              <a:buFont typeface="Arial" panose="020B0604020202020204" pitchFamily="34" charset="0"/>
              <a:buChar char="•"/>
            </a:pPr>
            <a:r>
              <a:rPr lang="en-US" dirty="0"/>
              <a:t>Ensures repeatable, consistent environment setup.</a:t>
            </a:r>
          </a:p>
          <a:p>
            <a:pPr>
              <a:buNone/>
            </a:pPr>
            <a:r>
              <a:rPr lang="en-US" b="1" dirty="0"/>
              <a:t>Infrastructure as Code (</a:t>
            </a:r>
            <a:r>
              <a:rPr lang="en-US" b="1" dirty="0" err="1"/>
              <a:t>IaC</a:t>
            </a:r>
            <a:r>
              <a:rPr lang="en-US" b="1" dirty="0"/>
              <a:t>):</a:t>
            </a:r>
            <a:endParaRPr lang="en-US" dirty="0"/>
          </a:p>
          <a:p>
            <a:pPr>
              <a:buFont typeface="Arial" panose="020B0604020202020204" pitchFamily="34" charset="0"/>
              <a:buChar char="•"/>
            </a:pPr>
            <a:r>
              <a:rPr lang="en-US" dirty="0"/>
              <a:t>Define infrastructure in scripts (JSON, YAML, or Terraform).</a:t>
            </a:r>
          </a:p>
          <a:p>
            <a:pPr>
              <a:buFont typeface="Arial" panose="020B0604020202020204" pitchFamily="34" charset="0"/>
              <a:buChar char="•"/>
            </a:pPr>
            <a:r>
              <a:rPr lang="en-US" dirty="0"/>
              <a:t>Benefits: </a:t>
            </a:r>
            <a:r>
              <a:rPr lang="en-US" b="1" dirty="0"/>
              <a:t>Repeatability</a:t>
            </a:r>
            <a:r>
              <a:rPr lang="en-US" dirty="0"/>
              <a:t> and </a:t>
            </a:r>
            <a:r>
              <a:rPr lang="en-US" b="1" dirty="0"/>
              <a:t>Reusability</a:t>
            </a:r>
            <a:r>
              <a:rPr lang="en-US" dirty="0"/>
              <a:t>.</a:t>
            </a:r>
          </a:p>
          <a:p>
            <a:pPr>
              <a:buFont typeface="Arial" panose="020B0604020202020204" pitchFamily="34" charset="0"/>
              <a:buChar char="•"/>
            </a:pPr>
            <a:r>
              <a:rPr lang="en-US" dirty="0"/>
              <a:t>Automatically recreate environments for testing, deployment, and disaster recovery.</a:t>
            </a:r>
          </a:p>
          <a:p>
            <a:endParaRPr lang="en-US" dirty="0"/>
          </a:p>
        </p:txBody>
      </p:sp>
    </p:spTree>
    <p:extLst>
      <p:ext uri="{BB962C8B-B14F-4D97-AF65-F5344CB8AC3E}">
        <p14:creationId xmlns:p14="http://schemas.microsoft.com/office/powerpoint/2010/main" val="9784399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45504-0187-31AB-55BB-8F1728367CBA}"/>
              </a:ext>
            </a:extLst>
          </p:cNvPr>
          <p:cNvSpPr>
            <a:spLocks noGrp="1"/>
          </p:cNvSpPr>
          <p:nvPr>
            <p:ph type="title"/>
          </p:nvPr>
        </p:nvSpPr>
        <p:spPr/>
        <p:txBody>
          <a:bodyPr>
            <a:normAutofit/>
          </a:bodyPr>
          <a:lstStyle/>
          <a:p>
            <a:r>
              <a:rPr lang="en-US" dirty="0"/>
              <a:t>CI/CD and DevOps</a:t>
            </a:r>
          </a:p>
        </p:txBody>
      </p:sp>
      <p:sp>
        <p:nvSpPr>
          <p:cNvPr id="3" name="Content Placeholder 2">
            <a:extLst>
              <a:ext uri="{FF2B5EF4-FFF2-40B4-BE49-F238E27FC236}">
                <a16:creationId xmlns:a16="http://schemas.microsoft.com/office/drawing/2014/main" id="{B44BF42D-EC6A-69D7-4769-0FA6C029B960}"/>
              </a:ext>
            </a:extLst>
          </p:cNvPr>
          <p:cNvSpPr>
            <a:spLocks noGrp="1"/>
          </p:cNvSpPr>
          <p:nvPr>
            <p:ph idx="1"/>
          </p:nvPr>
        </p:nvSpPr>
        <p:spPr/>
        <p:txBody>
          <a:bodyPr>
            <a:normAutofit lnSpcReduction="10000"/>
          </a:bodyPr>
          <a:lstStyle/>
          <a:p>
            <a:pPr>
              <a:buNone/>
            </a:pPr>
            <a:r>
              <a:rPr lang="en-US" b="1" dirty="0"/>
              <a:t>CI/CD (Continuous Integration / Continuous Delivery):</a:t>
            </a:r>
            <a:endParaRPr lang="en-US" dirty="0"/>
          </a:p>
          <a:p>
            <a:pPr>
              <a:buFont typeface="Arial" panose="020B0604020202020204" pitchFamily="34" charset="0"/>
              <a:buChar char="•"/>
            </a:pPr>
            <a:r>
              <a:rPr lang="en-US" dirty="0"/>
              <a:t>Part of the </a:t>
            </a:r>
            <a:r>
              <a:rPr lang="en-US" b="1" dirty="0"/>
              <a:t>DevOps lifecycle</a:t>
            </a:r>
            <a:r>
              <a:rPr lang="en-US" dirty="0"/>
              <a:t>, focused on rapid, reliable software delivery.</a:t>
            </a:r>
          </a:p>
          <a:p>
            <a:pPr>
              <a:buNone/>
            </a:pPr>
            <a:r>
              <a:rPr lang="en-US" b="1" dirty="0"/>
              <a:t>CI (Continuous Integration):</a:t>
            </a:r>
            <a:endParaRPr lang="en-US" dirty="0"/>
          </a:p>
          <a:p>
            <a:pPr>
              <a:buFont typeface="Arial" panose="020B0604020202020204" pitchFamily="34" charset="0"/>
              <a:buChar char="•"/>
            </a:pPr>
            <a:r>
              <a:rPr lang="en-US" dirty="0"/>
              <a:t>Developers regularly merge code into a shared repo.</a:t>
            </a:r>
          </a:p>
          <a:p>
            <a:pPr>
              <a:buFont typeface="Arial" panose="020B0604020202020204" pitchFamily="34" charset="0"/>
              <a:buChar char="•"/>
            </a:pPr>
            <a:r>
              <a:rPr lang="en-US" dirty="0"/>
              <a:t>Automated builds and tests validate changes.</a:t>
            </a:r>
          </a:p>
          <a:p>
            <a:pPr>
              <a:buNone/>
            </a:pPr>
            <a:r>
              <a:rPr lang="en-US" b="1" dirty="0"/>
              <a:t>CD (Continuous Delivery/Deployment):</a:t>
            </a:r>
            <a:endParaRPr lang="en-US" dirty="0"/>
          </a:p>
          <a:p>
            <a:pPr>
              <a:buFont typeface="Arial" panose="020B0604020202020204" pitchFamily="34" charset="0"/>
              <a:buChar char="•"/>
            </a:pPr>
            <a:r>
              <a:rPr lang="en-US" dirty="0"/>
              <a:t>Code changes automatically released to production.</a:t>
            </a:r>
          </a:p>
          <a:p>
            <a:pPr>
              <a:buFont typeface="Arial" panose="020B0604020202020204" pitchFamily="34" charset="0"/>
              <a:buChar char="•"/>
            </a:pPr>
            <a:r>
              <a:rPr lang="en-US" dirty="0"/>
              <a:t>Reduces risk and speeds up releases.</a:t>
            </a:r>
          </a:p>
          <a:p>
            <a:pPr>
              <a:buNone/>
            </a:pPr>
            <a:r>
              <a:rPr lang="en-US" b="1" dirty="0"/>
              <a:t>Benefits in Data Engineering:</a:t>
            </a:r>
            <a:endParaRPr lang="en-US" dirty="0"/>
          </a:p>
          <a:p>
            <a:pPr>
              <a:buFont typeface="Arial" panose="020B0604020202020204" pitchFamily="34" charset="0"/>
              <a:buChar char="•"/>
            </a:pPr>
            <a:r>
              <a:rPr lang="en-US" dirty="0"/>
              <a:t>Automates transformation pipelines.</a:t>
            </a:r>
          </a:p>
          <a:p>
            <a:pPr>
              <a:buFont typeface="Arial" panose="020B0604020202020204" pitchFamily="34" charset="0"/>
              <a:buChar char="•"/>
            </a:pPr>
            <a:r>
              <a:rPr lang="en-US" dirty="0"/>
              <a:t>Reduces delays in deploying analytics or ML updates.</a:t>
            </a:r>
          </a:p>
          <a:p>
            <a:endParaRPr lang="en-US" dirty="0"/>
          </a:p>
        </p:txBody>
      </p:sp>
    </p:spTree>
    <p:extLst>
      <p:ext uri="{BB962C8B-B14F-4D97-AF65-F5344CB8AC3E}">
        <p14:creationId xmlns:p14="http://schemas.microsoft.com/office/powerpoint/2010/main" val="20006706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E534A-613B-FA7D-BCAE-13B4A2286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11320-F4BC-478A-466E-DE82167A4CBC}"/>
              </a:ext>
            </a:extLst>
          </p:cNvPr>
          <p:cNvSpPr>
            <a:spLocks noGrp="1"/>
          </p:cNvSpPr>
          <p:nvPr>
            <p:ph type="title"/>
          </p:nvPr>
        </p:nvSpPr>
        <p:spPr/>
        <p:txBody>
          <a:bodyPr>
            <a:normAutofit/>
          </a:bodyPr>
          <a:lstStyle/>
          <a:p>
            <a:r>
              <a:rPr lang="en-US" dirty="0"/>
              <a:t>Introduction to AWS Step Functions</a:t>
            </a:r>
          </a:p>
        </p:txBody>
      </p:sp>
      <p:sp>
        <p:nvSpPr>
          <p:cNvPr id="3" name="Content Placeholder 2">
            <a:extLst>
              <a:ext uri="{FF2B5EF4-FFF2-40B4-BE49-F238E27FC236}">
                <a16:creationId xmlns:a16="http://schemas.microsoft.com/office/drawing/2014/main" id="{1683A5C1-CCDA-0638-D557-DB317ACBB36D}"/>
              </a:ext>
            </a:extLst>
          </p:cNvPr>
          <p:cNvSpPr>
            <a:spLocks noGrp="1"/>
          </p:cNvSpPr>
          <p:nvPr>
            <p:ph idx="1"/>
          </p:nvPr>
        </p:nvSpPr>
        <p:spPr/>
        <p:txBody>
          <a:bodyPr/>
          <a:lstStyle/>
          <a:p>
            <a:pPr>
              <a:buNone/>
            </a:pPr>
            <a:r>
              <a:rPr lang="en-US" b="1" dirty="0"/>
              <a:t>What are Step Functions?</a:t>
            </a:r>
            <a:endParaRPr lang="en-US" dirty="0"/>
          </a:p>
          <a:p>
            <a:pPr>
              <a:buFont typeface="Arial" panose="020B0604020202020204" pitchFamily="34" charset="0"/>
              <a:buChar char="•"/>
            </a:pPr>
            <a:r>
              <a:rPr lang="en-US" dirty="0"/>
              <a:t>A fully managed </a:t>
            </a:r>
            <a:r>
              <a:rPr lang="en-US" b="1" dirty="0"/>
              <a:t>workflow orchestration service</a:t>
            </a:r>
            <a:r>
              <a:rPr lang="en-US" dirty="0"/>
              <a:t>.</a:t>
            </a:r>
          </a:p>
          <a:p>
            <a:pPr>
              <a:buFont typeface="Arial" panose="020B0604020202020204" pitchFamily="34" charset="0"/>
              <a:buChar char="•"/>
            </a:pPr>
            <a:r>
              <a:rPr lang="en-US" dirty="0"/>
              <a:t>Coordinates components of distributed apps and microservices using </a:t>
            </a:r>
            <a:r>
              <a:rPr lang="en-US" b="1" dirty="0"/>
              <a:t>visual workflows</a:t>
            </a:r>
            <a:r>
              <a:rPr lang="en-US" dirty="0"/>
              <a:t>.</a:t>
            </a:r>
          </a:p>
          <a:p>
            <a:pPr>
              <a:buFont typeface="Arial" panose="020B0604020202020204" pitchFamily="34" charset="0"/>
              <a:buChar char="•"/>
            </a:pPr>
            <a:r>
              <a:rPr lang="en-US" dirty="0"/>
              <a:t>Manages retries, logging, and state transitions automatically.</a:t>
            </a:r>
          </a:p>
          <a:p>
            <a:pPr>
              <a:buNone/>
            </a:pPr>
            <a:r>
              <a:rPr lang="en-US" b="1" dirty="0"/>
              <a:t>Key Uses:</a:t>
            </a:r>
            <a:endParaRPr lang="en-US" dirty="0"/>
          </a:p>
          <a:p>
            <a:pPr>
              <a:buFont typeface="Arial" panose="020B0604020202020204" pitchFamily="34" charset="0"/>
              <a:buChar char="•"/>
            </a:pPr>
            <a:r>
              <a:rPr lang="en-US" dirty="0"/>
              <a:t>Automate ETL, analytics workflows, and batch processing pipelines.</a:t>
            </a:r>
          </a:p>
          <a:p>
            <a:pPr>
              <a:buFont typeface="Arial" panose="020B0604020202020204" pitchFamily="34" charset="0"/>
              <a:buChar char="•"/>
            </a:pPr>
            <a:r>
              <a:rPr lang="en-US" dirty="0"/>
              <a:t>Integrate with </a:t>
            </a:r>
            <a:r>
              <a:rPr lang="en-US" b="1" dirty="0"/>
              <a:t>Amazon Athena</a:t>
            </a:r>
            <a:r>
              <a:rPr lang="en-US" dirty="0"/>
              <a:t>, </a:t>
            </a:r>
            <a:r>
              <a:rPr lang="en-US" b="1" dirty="0"/>
              <a:t>Lambda</a:t>
            </a:r>
            <a:r>
              <a:rPr lang="en-US" dirty="0"/>
              <a:t>, </a:t>
            </a:r>
            <a:r>
              <a:rPr lang="en-US" b="1" dirty="0"/>
              <a:t>Glue</a:t>
            </a:r>
            <a:r>
              <a:rPr lang="en-US" dirty="0"/>
              <a:t>, and more.</a:t>
            </a:r>
          </a:p>
          <a:p>
            <a:endParaRPr lang="en-US" dirty="0"/>
          </a:p>
        </p:txBody>
      </p:sp>
    </p:spTree>
    <p:extLst>
      <p:ext uri="{BB962C8B-B14F-4D97-AF65-F5344CB8AC3E}">
        <p14:creationId xmlns:p14="http://schemas.microsoft.com/office/powerpoint/2010/main" val="24149635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B595E-76A4-2A1B-C381-2CC859885D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63206-9B7B-C560-1F37-B5C9281784C5}"/>
              </a:ext>
            </a:extLst>
          </p:cNvPr>
          <p:cNvSpPr>
            <a:spLocks noGrp="1"/>
          </p:cNvSpPr>
          <p:nvPr>
            <p:ph type="title"/>
          </p:nvPr>
        </p:nvSpPr>
        <p:spPr/>
        <p:txBody>
          <a:bodyPr>
            <a:normAutofit/>
          </a:bodyPr>
          <a:lstStyle/>
          <a:p>
            <a:r>
              <a:rPr lang="en-US" dirty="0"/>
              <a:t>Step Functions Interface Overview</a:t>
            </a:r>
          </a:p>
        </p:txBody>
      </p:sp>
      <p:sp>
        <p:nvSpPr>
          <p:cNvPr id="3" name="Content Placeholder 2">
            <a:extLst>
              <a:ext uri="{FF2B5EF4-FFF2-40B4-BE49-F238E27FC236}">
                <a16:creationId xmlns:a16="http://schemas.microsoft.com/office/drawing/2014/main" id="{3F7154C0-A6BE-5E0E-802A-DDE10F5B67B7}"/>
              </a:ext>
            </a:extLst>
          </p:cNvPr>
          <p:cNvSpPr>
            <a:spLocks noGrp="1"/>
          </p:cNvSpPr>
          <p:nvPr>
            <p:ph idx="1"/>
          </p:nvPr>
        </p:nvSpPr>
        <p:spPr/>
        <p:txBody>
          <a:bodyPr/>
          <a:lstStyle/>
          <a:p>
            <a:pPr>
              <a:buFont typeface="Arial" panose="020B0604020202020204" pitchFamily="34" charset="0"/>
              <a:buChar char="•"/>
            </a:pPr>
            <a:r>
              <a:rPr lang="en-US" b="1" dirty="0"/>
              <a:t>Canvas:</a:t>
            </a:r>
            <a:r>
              <a:rPr lang="en-US" dirty="0"/>
              <a:t> Visual editor where you drag and drop states.</a:t>
            </a:r>
          </a:p>
          <a:p>
            <a:pPr>
              <a:buFont typeface="Arial" panose="020B0604020202020204" pitchFamily="34" charset="0"/>
              <a:buChar char="•"/>
            </a:pPr>
            <a:r>
              <a:rPr lang="en-US" b="1" dirty="0"/>
              <a:t>States Browser &amp; Actions Panel:</a:t>
            </a:r>
            <a:r>
              <a:rPr lang="en-US" dirty="0"/>
              <a:t> Predefined elements you can use.</a:t>
            </a:r>
          </a:p>
          <a:p>
            <a:pPr>
              <a:buFont typeface="Arial" panose="020B0604020202020204" pitchFamily="34" charset="0"/>
              <a:buChar char="•"/>
            </a:pPr>
            <a:r>
              <a:rPr lang="en-US" b="1" dirty="0"/>
              <a:t>Inspector:</a:t>
            </a:r>
            <a:r>
              <a:rPr lang="en-US" dirty="0"/>
              <a:t> Displays auto-generated code (JSON/YAML) for each state.</a:t>
            </a:r>
          </a:p>
          <a:p>
            <a:pPr>
              <a:buNone/>
            </a:pPr>
            <a:r>
              <a:rPr lang="en-US" b="1" dirty="0"/>
              <a:t>Workflow = State Machine</a:t>
            </a:r>
            <a:endParaRPr lang="en-US" dirty="0"/>
          </a:p>
          <a:p>
            <a:pPr>
              <a:buFont typeface="Arial" panose="020B0604020202020204" pitchFamily="34" charset="0"/>
              <a:buChar char="•"/>
            </a:pPr>
            <a:r>
              <a:rPr lang="en-US" dirty="0"/>
              <a:t>Each step = State</a:t>
            </a:r>
          </a:p>
          <a:p>
            <a:pPr>
              <a:buFont typeface="Arial" panose="020B0604020202020204" pitchFamily="34" charset="0"/>
              <a:buChar char="•"/>
            </a:pPr>
            <a:r>
              <a:rPr lang="en-US" dirty="0"/>
              <a:t>Transitions define the order of operations</a:t>
            </a:r>
          </a:p>
          <a:p>
            <a:pPr>
              <a:buFont typeface="Arial" panose="020B0604020202020204" pitchFamily="34" charset="0"/>
              <a:buChar char="•"/>
            </a:pPr>
            <a:r>
              <a:rPr lang="en-US" dirty="0"/>
              <a:t>Code is auto-generated but fully customizable</a:t>
            </a:r>
          </a:p>
          <a:p>
            <a:endParaRPr lang="en-US" dirty="0"/>
          </a:p>
        </p:txBody>
      </p:sp>
    </p:spTree>
    <p:extLst>
      <p:ext uri="{BB962C8B-B14F-4D97-AF65-F5344CB8AC3E}">
        <p14:creationId xmlns:p14="http://schemas.microsoft.com/office/powerpoint/2010/main" val="26967197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14830-1F83-5EA5-0DCC-58C0B44EC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20F36-FCCE-711E-0E53-24BB0FCB3328}"/>
              </a:ext>
            </a:extLst>
          </p:cNvPr>
          <p:cNvSpPr>
            <a:spLocks noGrp="1"/>
          </p:cNvSpPr>
          <p:nvPr>
            <p:ph type="title"/>
          </p:nvPr>
        </p:nvSpPr>
        <p:spPr/>
        <p:txBody>
          <a:bodyPr/>
          <a:lstStyle/>
          <a:p>
            <a:r>
              <a:rPr lang="en-US" dirty="0"/>
              <a:t>Types of States in Step Functions</a:t>
            </a:r>
          </a:p>
        </p:txBody>
      </p:sp>
      <p:graphicFrame>
        <p:nvGraphicFramePr>
          <p:cNvPr id="4" name="Content Placeholder 3">
            <a:extLst>
              <a:ext uri="{FF2B5EF4-FFF2-40B4-BE49-F238E27FC236}">
                <a16:creationId xmlns:a16="http://schemas.microsoft.com/office/drawing/2014/main" id="{5E8BEB50-80A0-7D14-50E2-3B775B7D3657}"/>
              </a:ext>
            </a:extLst>
          </p:cNvPr>
          <p:cNvGraphicFramePr>
            <a:graphicFrameLocks noGrp="1"/>
          </p:cNvGraphicFramePr>
          <p:nvPr>
            <p:ph idx="1"/>
          </p:nvPr>
        </p:nvGraphicFramePr>
        <p:xfrm>
          <a:off x="838200" y="1783080"/>
          <a:ext cx="10515600" cy="3291840"/>
        </p:xfrm>
        <a:graphic>
          <a:graphicData uri="http://schemas.openxmlformats.org/drawingml/2006/table">
            <a:tbl>
              <a:tblPr>
                <a:tableStyleId>{616DA210-FB5B-4158-B5E0-FEB733F419BA}</a:tableStyleId>
              </a:tblPr>
              <a:tblGrid>
                <a:gridCol w="5257800">
                  <a:extLst>
                    <a:ext uri="{9D8B030D-6E8A-4147-A177-3AD203B41FA5}">
                      <a16:colId xmlns:a16="http://schemas.microsoft.com/office/drawing/2014/main" val="252993037"/>
                    </a:ext>
                  </a:extLst>
                </a:gridCol>
                <a:gridCol w="5257800">
                  <a:extLst>
                    <a:ext uri="{9D8B030D-6E8A-4147-A177-3AD203B41FA5}">
                      <a16:colId xmlns:a16="http://schemas.microsoft.com/office/drawing/2014/main" val="606956530"/>
                    </a:ext>
                  </a:extLst>
                </a:gridCol>
              </a:tblGrid>
              <a:tr h="0">
                <a:tc>
                  <a:txBody>
                    <a:bodyPr/>
                    <a:lstStyle/>
                    <a:p>
                      <a:pPr algn="ctr"/>
                      <a:r>
                        <a:rPr lang="en-US" b="1"/>
                        <a:t>State Type</a:t>
                      </a:r>
                      <a:endParaRPr lang="en-US"/>
                    </a:p>
                  </a:txBody>
                  <a:tcPr anchor="ctr">
                    <a:solidFill>
                      <a:schemeClr val="bg1">
                        <a:lumMod val="85000"/>
                      </a:schemeClr>
                    </a:solidFill>
                  </a:tcPr>
                </a:tc>
                <a:tc>
                  <a:txBody>
                    <a:bodyPr/>
                    <a:lstStyle/>
                    <a:p>
                      <a:pPr algn="ctr"/>
                      <a:r>
                        <a:rPr lang="en-US" b="1" dirty="0"/>
                        <a:t>Purpose</a:t>
                      </a:r>
                      <a:endParaRPr lang="en-US" dirty="0"/>
                    </a:p>
                  </a:txBody>
                  <a:tcPr anchor="ctr">
                    <a:solidFill>
                      <a:schemeClr val="bg1">
                        <a:lumMod val="85000"/>
                      </a:schemeClr>
                    </a:solidFill>
                  </a:tcPr>
                </a:tc>
                <a:extLst>
                  <a:ext uri="{0D108BD9-81ED-4DB2-BD59-A6C34878D82A}">
                    <a16:rowId xmlns:a16="http://schemas.microsoft.com/office/drawing/2014/main" val="1812689326"/>
                  </a:ext>
                </a:extLst>
              </a:tr>
              <a:tr h="0">
                <a:tc>
                  <a:txBody>
                    <a:bodyPr/>
                    <a:lstStyle/>
                    <a:p>
                      <a:r>
                        <a:rPr lang="en-US" b="1"/>
                        <a:t>Task</a:t>
                      </a:r>
                      <a:endParaRPr lang="en-US"/>
                    </a:p>
                  </a:txBody>
                  <a:tcPr anchor="ctr"/>
                </a:tc>
                <a:tc>
                  <a:txBody>
                    <a:bodyPr/>
                    <a:lstStyle/>
                    <a:p>
                      <a:r>
                        <a:rPr lang="en-US"/>
                        <a:t>Executes work using services like Lambda</a:t>
                      </a:r>
                    </a:p>
                  </a:txBody>
                  <a:tcPr anchor="ctr"/>
                </a:tc>
                <a:extLst>
                  <a:ext uri="{0D108BD9-81ED-4DB2-BD59-A6C34878D82A}">
                    <a16:rowId xmlns:a16="http://schemas.microsoft.com/office/drawing/2014/main" val="885543261"/>
                  </a:ext>
                </a:extLst>
              </a:tr>
              <a:tr h="0">
                <a:tc>
                  <a:txBody>
                    <a:bodyPr/>
                    <a:lstStyle/>
                    <a:p>
                      <a:r>
                        <a:rPr lang="en-US" b="1"/>
                        <a:t>Pass</a:t>
                      </a:r>
                      <a:endParaRPr lang="en-US"/>
                    </a:p>
                  </a:txBody>
                  <a:tcPr anchor="ctr"/>
                </a:tc>
                <a:tc>
                  <a:txBody>
                    <a:bodyPr/>
                    <a:lstStyle/>
                    <a:p>
                      <a:r>
                        <a:rPr lang="en-US"/>
                        <a:t>Transfers input to output, no computation</a:t>
                      </a:r>
                    </a:p>
                  </a:txBody>
                  <a:tcPr anchor="ctr"/>
                </a:tc>
                <a:extLst>
                  <a:ext uri="{0D108BD9-81ED-4DB2-BD59-A6C34878D82A}">
                    <a16:rowId xmlns:a16="http://schemas.microsoft.com/office/drawing/2014/main" val="3030665661"/>
                  </a:ext>
                </a:extLst>
              </a:tr>
              <a:tr h="0">
                <a:tc>
                  <a:txBody>
                    <a:bodyPr/>
                    <a:lstStyle/>
                    <a:p>
                      <a:r>
                        <a:rPr lang="en-US" b="1"/>
                        <a:t>Choice</a:t>
                      </a:r>
                      <a:endParaRPr lang="en-US"/>
                    </a:p>
                  </a:txBody>
                  <a:tcPr anchor="ctr"/>
                </a:tc>
                <a:tc>
                  <a:txBody>
                    <a:bodyPr/>
                    <a:lstStyle/>
                    <a:p>
                      <a:r>
                        <a:rPr lang="en-US"/>
                        <a:t>Branches workflow based on condition</a:t>
                      </a:r>
                    </a:p>
                  </a:txBody>
                  <a:tcPr anchor="ctr"/>
                </a:tc>
                <a:extLst>
                  <a:ext uri="{0D108BD9-81ED-4DB2-BD59-A6C34878D82A}">
                    <a16:rowId xmlns:a16="http://schemas.microsoft.com/office/drawing/2014/main" val="1690093173"/>
                  </a:ext>
                </a:extLst>
              </a:tr>
              <a:tr h="0">
                <a:tc>
                  <a:txBody>
                    <a:bodyPr/>
                    <a:lstStyle/>
                    <a:p>
                      <a:r>
                        <a:rPr lang="en-US" b="1"/>
                        <a:t>Parallel</a:t>
                      </a:r>
                      <a:endParaRPr lang="en-US"/>
                    </a:p>
                  </a:txBody>
                  <a:tcPr anchor="ctr"/>
                </a:tc>
                <a:tc>
                  <a:txBody>
                    <a:bodyPr/>
                    <a:lstStyle/>
                    <a:p>
                      <a:r>
                        <a:rPr lang="en-US"/>
                        <a:t>Executes multiple branches concurrently</a:t>
                      </a:r>
                    </a:p>
                  </a:txBody>
                  <a:tcPr anchor="ctr"/>
                </a:tc>
                <a:extLst>
                  <a:ext uri="{0D108BD9-81ED-4DB2-BD59-A6C34878D82A}">
                    <a16:rowId xmlns:a16="http://schemas.microsoft.com/office/drawing/2014/main" val="672523346"/>
                  </a:ext>
                </a:extLst>
              </a:tr>
              <a:tr h="0">
                <a:tc>
                  <a:txBody>
                    <a:bodyPr/>
                    <a:lstStyle/>
                    <a:p>
                      <a:r>
                        <a:rPr lang="en-US" b="1"/>
                        <a:t>Wait</a:t>
                      </a:r>
                      <a:endParaRPr lang="en-US"/>
                    </a:p>
                  </a:txBody>
                  <a:tcPr anchor="ctr"/>
                </a:tc>
                <a:tc>
                  <a:txBody>
                    <a:bodyPr/>
                    <a:lstStyle/>
                    <a:p>
                      <a:r>
                        <a:rPr lang="en-US"/>
                        <a:t>Pauses workflow for a defined duration</a:t>
                      </a:r>
                    </a:p>
                  </a:txBody>
                  <a:tcPr anchor="ctr"/>
                </a:tc>
                <a:extLst>
                  <a:ext uri="{0D108BD9-81ED-4DB2-BD59-A6C34878D82A}">
                    <a16:rowId xmlns:a16="http://schemas.microsoft.com/office/drawing/2014/main" val="2725620375"/>
                  </a:ext>
                </a:extLst>
              </a:tr>
              <a:tr h="0">
                <a:tc>
                  <a:txBody>
                    <a:bodyPr/>
                    <a:lstStyle/>
                    <a:p>
                      <a:r>
                        <a:rPr lang="en-US" b="1"/>
                        <a:t>Map</a:t>
                      </a:r>
                      <a:endParaRPr lang="en-US"/>
                    </a:p>
                  </a:txBody>
                  <a:tcPr anchor="ctr"/>
                </a:tc>
                <a:tc>
                  <a:txBody>
                    <a:bodyPr/>
                    <a:lstStyle/>
                    <a:p>
                      <a:r>
                        <a:rPr lang="en-US"/>
                        <a:t>Iterates over items like a loop</a:t>
                      </a:r>
                    </a:p>
                  </a:txBody>
                  <a:tcPr anchor="ctr"/>
                </a:tc>
                <a:extLst>
                  <a:ext uri="{0D108BD9-81ED-4DB2-BD59-A6C34878D82A}">
                    <a16:rowId xmlns:a16="http://schemas.microsoft.com/office/drawing/2014/main" val="1332032445"/>
                  </a:ext>
                </a:extLst>
              </a:tr>
              <a:tr h="0">
                <a:tc>
                  <a:txBody>
                    <a:bodyPr/>
                    <a:lstStyle/>
                    <a:p>
                      <a:r>
                        <a:rPr lang="en-US" b="1"/>
                        <a:t>Succeed</a:t>
                      </a:r>
                      <a:endParaRPr lang="en-US"/>
                    </a:p>
                  </a:txBody>
                  <a:tcPr anchor="ctr"/>
                </a:tc>
                <a:tc>
                  <a:txBody>
                    <a:bodyPr/>
                    <a:lstStyle/>
                    <a:p>
                      <a:r>
                        <a:rPr lang="en-US"/>
                        <a:t>Marks workflow as successful</a:t>
                      </a:r>
                    </a:p>
                  </a:txBody>
                  <a:tcPr anchor="ctr"/>
                </a:tc>
                <a:extLst>
                  <a:ext uri="{0D108BD9-81ED-4DB2-BD59-A6C34878D82A}">
                    <a16:rowId xmlns:a16="http://schemas.microsoft.com/office/drawing/2014/main" val="2920750981"/>
                  </a:ext>
                </a:extLst>
              </a:tr>
              <a:tr h="0">
                <a:tc>
                  <a:txBody>
                    <a:bodyPr/>
                    <a:lstStyle/>
                    <a:p>
                      <a:r>
                        <a:rPr lang="en-US" b="1"/>
                        <a:t>Fail</a:t>
                      </a:r>
                      <a:endParaRPr lang="en-US"/>
                    </a:p>
                  </a:txBody>
                  <a:tcPr anchor="ctr"/>
                </a:tc>
                <a:tc>
                  <a:txBody>
                    <a:bodyPr/>
                    <a:lstStyle/>
                    <a:p>
                      <a:r>
                        <a:rPr lang="en-US" dirty="0"/>
                        <a:t>Marks workflow as failed with error</a:t>
                      </a:r>
                    </a:p>
                  </a:txBody>
                  <a:tcPr anchor="ctr"/>
                </a:tc>
                <a:extLst>
                  <a:ext uri="{0D108BD9-81ED-4DB2-BD59-A6C34878D82A}">
                    <a16:rowId xmlns:a16="http://schemas.microsoft.com/office/drawing/2014/main" val="3740414544"/>
                  </a:ext>
                </a:extLst>
              </a:tr>
            </a:tbl>
          </a:graphicData>
        </a:graphic>
      </p:graphicFrame>
    </p:spTree>
    <p:extLst>
      <p:ext uri="{BB962C8B-B14F-4D97-AF65-F5344CB8AC3E}">
        <p14:creationId xmlns:p14="http://schemas.microsoft.com/office/powerpoint/2010/main" val="14670100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1994-1691-E7EB-E723-116B500DF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49820-86E6-67A0-D14C-C6BF1D5F3492}"/>
              </a:ext>
            </a:extLst>
          </p:cNvPr>
          <p:cNvSpPr>
            <a:spLocks noGrp="1"/>
          </p:cNvSpPr>
          <p:nvPr>
            <p:ph type="title"/>
          </p:nvPr>
        </p:nvSpPr>
        <p:spPr/>
        <p:txBody>
          <a:bodyPr/>
          <a:lstStyle/>
          <a:p>
            <a:r>
              <a:rPr lang="en-US" dirty="0"/>
              <a:t>Code Examples – State Types</a:t>
            </a:r>
          </a:p>
        </p:txBody>
      </p:sp>
      <p:pic>
        <p:nvPicPr>
          <p:cNvPr id="5" name="Content Placeholder 4">
            <a:extLst>
              <a:ext uri="{FF2B5EF4-FFF2-40B4-BE49-F238E27FC236}">
                <a16:creationId xmlns:a16="http://schemas.microsoft.com/office/drawing/2014/main" id="{C8AC2521-8172-F53F-CA69-13EBD8148B78}"/>
              </a:ext>
            </a:extLst>
          </p:cNvPr>
          <p:cNvPicPr>
            <a:picLocks noGrp="1" noChangeAspect="1"/>
          </p:cNvPicPr>
          <p:nvPr>
            <p:ph idx="1"/>
          </p:nvPr>
        </p:nvPicPr>
        <p:blipFill>
          <a:blip r:embed="rId2"/>
          <a:stretch>
            <a:fillRect/>
          </a:stretch>
        </p:blipFill>
        <p:spPr>
          <a:xfrm>
            <a:off x="2653585" y="1706563"/>
            <a:ext cx="6884829" cy="4991100"/>
          </a:xfrm>
        </p:spPr>
      </p:pic>
    </p:spTree>
    <p:extLst>
      <p:ext uri="{BB962C8B-B14F-4D97-AF65-F5344CB8AC3E}">
        <p14:creationId xmlns:p14="http://schemas.microsoft.com/office/powerpoint/2010/main" val="34692173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1AA5B-6C74-0D04-3610-02676E691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A9743-B231-D96B-839C-111F97C9000D}"/>
              </a:ext>
            </a:extLst>
          </p:cNvPr>
          <p:cNvSpPr>
            <a:spLocks noGrp="1"/>
          </p:cNvSpPr>
          <p:nvPr>
            <p:ph type="title"/>
          </p:nvPr>
        </p:nvSpPr>
        <p:spPr/>
        <p:txBody>
          <a:bodyPr>
            <a:normAutofit/>
          </a:bodyPr>
          <a:lstStyle/>
          <a:p>
            <a:r>
              <a:rPr lang="en-US" dirty="0"/>
              <a:t>Simplifying ETL with Step Functions</a:t>
            </a:r>
          </a:p>
        </p:txBody>
      </p:sp>
      <p:sp>
        <p:nvSpPr>
          <p:cNvPr id="3" name="Content Placeholder 2">
            <a:extLst>
              <a:ext uri="{FF2B5EF4-FFF2-40B4-BE49-F238E27FC236}">
                <a16:creationId xmlns:a16="http://schemas.microsoft.com/office/drawing/2014/main" id="{98CF089C-9CA2-6401-5EFB-771546845F85}"/>
              </a:ext>
            </a:extLst>
          </p:cNvPr>
          <p:cNvSpPr>
            <a:spLocks noGrp="1"/>
          </p:cNvSpPr>
          <p:nvPr>
            <p:ph idx="1"/>
          </p:nvPr>
        </p:nvSpPr>
        <p:spPr/>
        <p:txBody>
          <a:bodyPr/>
          <a:lstStyle/>
          <a:p>
            <a:pPr>
              <a:buFont typeface="Arial" panose="020B0604020202020204" pitchFamily="34" charset="0"/>
              <a:buChar char="•"/>
            </a:pPr>
            <a:r>
              <a:rPr lang="en-US" b="1" dirty="0"/>
              <a:t>Integrates seamlessly</a:t>
            </a:r>
            <a:r>
              <a:rPr lang="en-US" dirty="0"/>
              <a:t> with Amazon Athena and AWS Glue.</a:t>
            </a:r>
          </a:p>
          <a:p>
            <a:pPr>
              <a:buFont typeface="Arial" panose="020B0604020202020204" pitchFamily="34" charset="0"/>
              <a:buChar char="•"/>
            </a:pPr>
            <a:r>
              <a:rPr lang="en-US" dirty="0"/>
              <a:t>Enables conditional branching to check if Glue tables exist.</a:t>
            </a:r>
          </a:p>
          <a:p>
            <a:pPr>
              <a:buFont typeface="Arial" panose="020B0604020202020204" pitchFamily="34" charset="0"/>
              <a:buChar char="•"/>
            </a:pPr>
            <a:r>
              <a:rPr lang="en-US" dirty="0"/>
              <a:t>Allows </a:t>
            </a:r>
            <a:r>
              <a:rPr lang="en-US" b="1" dirty="0"/>
              <a:t>dynamic workflow creation</a:t>
            </a:r>
            <a:r>
              <a:rPr lang="en-US" dirty="0"/>
              <a:t> based on dataset metadata.</a:t>
            </a:r>
          </a:p>
          <a:p>
            <a:pPr>
              <a:buFont typeface="Arial" panose="020B0604020202020204" pitchFamily="34" charset="0"/>
              <a:buChar char="•"/>
            </a:pPr>
            <a:r>
              <a:rPr lang="en-US" dirty="0"/>
              <a:t>Supports advanced formats like </a:t>
            </a:r>
            <a:r>
              <a:rPr lang="en-US" b="1" dirty="0"/>
              <a:t>Parquet</a:t>
            </a:r>
            <a:r>
              <a:rPr lang="en-US" dirty="0"/>
              <a:t> with </a:t>
            </a:r>
            <a:r>
              <a:rPr lang="en-US" b="1" dirty="0"/>
              <a:t>Snappy compression</a:t>
            </a:r>
            <a:r>
              <a:rPr lang="en-US" dirty="0"/>
              <a:t> to optimize storage and query performance.</a:t>
            </a:r>
          </a:p>
          <a:p>
            <a:endParaRPr lang="en-US" dirty="0"/>
          </a:p>
        </p:txBody>
      </p:sp>
    </p:spTree>
    <p:extLst>
      <p:ext uri="{BB962C8B-B14F-4D97-AF65-F5344CB8AC3E}">
        <p14:creationId xmlns:p14="http://schemas.microsoft.com/office/powerpoint/2010/main" val="1820504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7481E-E98F-681E-4163-219D080BED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AD889-3134-4145-8ABE-6B3A78301426}"/>
              </a:ext>
            </a:extLst>
          </p:cNvPr>
          <p:cNvSpPr>
            <a:spLocks noGrp="1"/>
          </p:cNvSpPr>
          <p:nvPr>
            <p:ph type="title"/>
          </p:nvPr>
        </p:nvSpPr>
        <p:spPr/>
        <p:txBody>
          <a:bodyPr>
            <a:normAutofit/>
          </a:bodyPr>
          <a:lstStyle/>
          <a:p>
            <a:r>
              <a:rPr lang="en-US" dirty="0"/>
              <a:t>Lab Summary – Orchestrating ETL with Step Functions</a:t>
            </a:r>
          </a:p>
        </p:txBody>
      </p:sp>
      <p:sp>
        <p:nvSpPr>
          <p:cNvPr id="3" name="Content Placeholder 2">
            <a:extLst>
              <a:ext uri="{FF2B5EF4-FFF2-40B4-BE49-F238E27FC236}">
                <a16:creationId xmlns:a16="http://schemas.microsoft.com/office/drawing/2014/main" id="{8E84AFE7-3528-047C-3F54-29CCF698D7CB}"/>
              </a:ext>
            </a:extLst>
          </p:cNvPr>
          <p:cNvSpPr>
            <a:spLocks noGrp="1"/>
          </p:cNvSpPr>
          <p:nvPr>
            <p:ph idx="1"/>
          </p:nvPr>
        </p:nvSpPr>
        <p:spPr/>
        <p:txBody>
          <a:bodyPr/>
          <a:lstStyle/>
          <a:p>
            <a:pPr>
              <a:buNone/>
            </a:pPr>
            <a:r>
              <a:rPr lang="en-US" b="1" dirty="0"/>
              <a:t>Lab Highlights:</a:t>
            </a:r>
            <a:endParaRPr lang="en-US" dirty="0"/>
          </a:p>
          <a:p>
            <a:pPr>
              <a:buFont typeface="Arial" panose="020B0604020202020204" pitchFamily="34" charset="0"/>
              <a:buChar char="•"/>
            </a:pPr>
            <a:r>
              <a:rPr lang="en-US" dirty="0"/>
              <a:t>Use </a:t>
            </a:r>
            <a:r>
              <a:rPr lang="en-US" b="1" dirty="0"/>
              <a:t>Step Functions</a:t>
            </a:r>
            <a:r>
              <a:rPr lang="en-US" dirty="0"/>
              <a:t> to coordinate Athena queries.</a:t>
            </a:r>
          </a:p>
          <a:p>
            <a:pPr>
              <a:buFont typeface="Arial" panose="020B0604020202020204" pitchFamily="34" charset="0"/>
              <a:buChar char="•"/>
            </a:pPr>
            <a:r>
              <a:rPr lang="en-US" dirty="0"/>
              <a:t>Build logic to check for existing tables and create them if needed.</a:t>
            </a:r>
          </a:p>
          <a:p>
            <a:pPr>
              <a:buFont typeface="Arial" panose="020B0604020202020204" pitchFamily="34" charset="0"/>
              <a:buChar char="•"/>
            </a:pPr>
            <a:r>
              <a:rPr lang="en-US" dirty="0"/>
              <a:t>Store transformed data in compressed Parquet format using </a:t>
            </a:r>
            <a:r>
              <a:rPr lang="en-US" b="1" dirty="0"/>
              <a:t>Snappy</a:t>
            </a:r>
            <a:r>
              <a:rPr lang="en-US" dirty="0"/>
              <a:t>.</a:t>
            </a:r>
          </a:p>
          <a:p>
            <a:pPr>
              <a:buFont typeface="Arial" panose="020B0604020202020204" pitchFamily="34" charset="0"/>
              <a:buChar char="•"/>
            </a:pPr>
            <a:r>
              <a:rPr lang="en-US" dirty="0"/>
              <a:t>Benefit: Reduces storage costs, improves query speed, and supports schema evolution.</a:t>
            </a:r>
          </a:p>
          <a:p>
            <a:endParaRPr lang="en-US" dirty="0"/>
          </a:p>
        </p:txBody>
      </p:sp>
    </p:spTree>
    <p:extLst>
      <p:ext uri="{BB962C8B-B14F-4D97-AF65-F5344CB8AC3E}">
        <p14:creationId xmlns:p14="http://schemas.microsoft.com/office/powerpoint/2010/main" val="39373553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TC-2022-ONEBRAND" val="yGLem5Ht"/>
  <p:tag name="ARTICULATE_DESIGN_ID_2_TC-2022-ONEBRAND" val="1VP7P7TR"/>
  <p:tag name="ARTICULATE_DESIGN_ID_1_TC-2022-ONEBRAND" val="iaDyUU6p"/>
  <p:tag name="ARTICULATE_SLIDE_COUNT" val="4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TC-2022-OneBrand">
  <a:themeElements>
    <a:clrScheme name="AWS Light 01">
      <a:dk1>
        <a:sysClr val="windowText" lastClr="000000"/>
      </a:dk1>
      <a:lt1>
        <a:sysClr val="window" lastClr="FFFFFF"/>
      </a:lt1>
      <a:dk2>
        <a:srgbClr val="232F3E"/>
      </a:dk2>
      <a:lt2>
        <a:srgbClr val="F1F3F3"/>
      </a:lt2>
      <a:accent1>
        <a:srgbClr val="00464F"/>
      </a:accent1>
      <a:accent2>
        <a:srgbClr val="36C2B4"/>
      </a:accent2>
      <a:accent3>
        <a:srgbClr val="F1F3F3"/>
      </a:accent3>
      <a:accent4>
        <a:srgbClr val="ADE422"/>
      </a:accent4>
      <a:accent5>
        <a:srgbClr val="C9208A"/>
      </a:accent5>
      <a:accent6>
        <a:srgbClr val="504BAB"/>
      </a:accent6>
      <a:hlink>
        <a:srgbClr val="504BAB"/>
      </a:hlink>
      <a:folHlink>
        <a:srgbClr val="504BAB"/>
      </a:folHlink>
    </a:clrScheme>
    <a:fontScheme name="Custom 1">
      <a:majorFont>
        <a:latin typeface="Amazon Ember Heavy"/>
        <a:ea typeface=""/>
        <a:cs typeface=""/>
      </a:majorFont>
      <a:minorFont>
        <a:latin typeface="Amazon Ember"/>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lum">
      <a:srgbClr val="262262"/>
    </a:custClr>
    <a:custClr name="Plum-Medium">
      <a:srgbClr val="504BAB"/>
    </a:custClr>
    <a:custClr name="Plum-Bright">
      <a:srgbClr val="7E93EE"/>
    </a:custClr>
    <a:custClr name="Berry">
      <a:srgbClr val="9E1F63"/>
    </a:custClr>
    <a:custClr name="Berry-Medium">
      <a:srgbClr val="C9208A"/>
    </a:custClr>
    <a:custClr name="Berry-Bright">
      <a:srgbClr val="FF99FF"/>
    </a:custClr>
    <a:custClr name="AWS Orange">
      <a:srgbClr val="FF6633"/>
    </a:custClr>
    <a:custClr name="Smile">
      <a:srgbClr val="FF9900"/>
    </a:custClr>
    <a:custClr name="AWS Yellow">
      <a:srgbClr val="F3E502"/>
    </a:custClr>
    <a:custClr name="Green Apple">
      <a:srgbClr val="18AB4B"/>
    </a:custClr>
    <a:custClr name="Green Apple-Medium">
      <a:srgbClr val="ADE422"/>
    </a:custClr>
    <a:custClr name="Green Apple-Bright">
      <a:srgbClr val="E4FDBF"/>
    </a:custClr>
    <a:custClr name="Aqua">
      <a:srgbClr val="00464F"/>
    </a:custClr>
    <a:custClr name="Aqua-Medium">
      <a:srgbClr val="36C2B4"/>
    </a:custClr>
    <a:custClr name="Aqua-Bright">
      <a:srgbClr val="A6E7CE"/>
    </a:custClr>
    <a:custClr name="Sea Blue">
      <a:srgbClr val="005276"/>
    </a:custClr>
    <a:custClr name="Sea Blue-Medium">
      <a:srgbClr val="008296"/>
    </a:custClr>
    <a:custClr name="Sea Blue-Bright">
      <a:srgbClr val="7CD1EA"/>
    </a:custClr>
    <a:custClr name="Squid Ink">
      <a:srgbClr val="232F3E"/>
    </a:custClr>
    <a:custClr name="Stone">
      <a:srgbClr val="D4DADA"/>
    </a:custClr>
    <a:custClr name="Paper">
      <a:srgbClr val="F1F3F3"/>
    </a:custClr>
  </a:custClrLst>
  <a:extLst>
    <a:ext uri="{05A4C25C-085E-4340-85A3-A5531E510DB2}">
      <thm15:themeFamily xmlns:thm15="http://schemas.microsoft.com/office/thememl/2012/main" name="TC-2022-OneBrand" id="{D85F030C-8C8F-4415-B192-649216BDD928}" vid="{148CE638-F90D-4279-BD5C-0F02BBE424E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TC-2022-OneBrand</Template>
  <TotalTime>26879</TotalTime>
  <Words>8963</Words>
  <Application>Microsoft Office PowerPoint</Application>
  <PresentationFormat>Widescreen</PresentationFormat>
  <Paragraphs>827</Paragraphs>
  <Slides>82</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Amazon Ember</vt:lpstr>
      <vt:lpstr>Amazon Ember Heavy</vt:lpstr>
      <vt:lpstr>Arial</vt:lpstr>
      <vt:lpstr>Calibri</vt:lpstr>
      <vt:lpstr>Calibri Light</vt:lpstr>
      <vt:lpstr>Lucida Console</vt:lpstr>
      <vt:lpstr>1_TC-2022-OneBrand</vt:lpstr>
      <vt:lpstr>AWS Academy Data Engineering</vt:lpstr>
      <vt:lpstr>Data-Driven Organizations</vt:lpstr>
      <vt:lpstr>The data pipeline – infrastructure for data-driven decisions</vt:lpstr>
      <vt:lpstr>A data pipeline in its simplest terms</vt:lpstr>
      <vt:lpstr>Work backwards to design your infrastructure</vt:lpstr>
      <vt:lpstr>Layers of the pipeline infrastructure</vt:lpstr>
      <vt:lpstr>Actions taken with data in the pipeline</vt:lpstr>
      <vt:lpstr>Iterative processing through the pipeline</vt:lpstr>
      <vt:lpstr>Example: A simple pipeline</vt:lpstr>
      <vt:lpstr>Key takeaways: The data pipeline – infrastructure for data-driven decisions</vt:lpstr>
      <vt:lpstr>The role of the data engineer  in data-driven organizations</vt:lpstr>
      <vt:lpstr>Common data pipeline questions</vt:lpstr>
      <vt:lpstr>Key takeaways: The role of the data engineer in data-driven organizations</vt:lpstr>
      <vt:lpstr>Modern data strategies</vt:lpstr>
      <vt:lpstr>Three-pronged strategy to build data infrastructure</vt:lpstr>
      <vt:lpstr>Modernize</vt:lpstr>
      <vt:lpstr>Unify</vt:lpstr>
      <vt:lpstr>Innovate</vt:lpstr>
      <vt:lpstr>"Being a data-driven organization means culturally treating data as a strategic asset and then building capabilities to put that asset to use – not just for big decisions but also for everyday action on the front line."</vt:lpstr>
      <vt:lpstr>Key takeaways: Modern data strategies</vt:lpstr>
      <vt:lpstr>Module wrap-up</vt:lpstr>
      <vt:lpstr>Module summary</vt:lpstr>
      <vt:lpstr>Module knowledge check</vt:lpstr>
      <vt:lpstr>Sample exam question</vt:lpstr>
      <vt:lpstr>Sample exam question: Response choices</vt:lpstr>
      <vt:lpstr>Sample exam question: Answer</vt:lpstr>
      <vt:lpstr>Ingesting Data by Batch or Stream</vt:lpstr>
      <vt:lpstr>Ingesting by Batch or Stream</vt:lpstr>
      <vt:lpstr>Comparing Batch and Stream Ingestion</vt:lpstr>
      <vt:lpstr>Batch Ingestion Pipeline – Tasks and Considerations</vt:lpstr>
      <vt:lpstr>Purpose-Built AWS Tools for Batch Ingestion</vt:lpstr>
      <vt:lpstr>AWS Glue – Simplifying Batch Ingestion</vt:lpstr>
      <vt:lpstr>Scaling Batch Processing with AWS Glue</vt:lpstr>
      <vt:lpstr>Streaming Ingestion with Kinesis</vt:lpstr>
      <vt:lpstr>Purpose-Built Kinesis Services</vt:lpstr>
      <vt:lpstr>Scaling Stream Processing</vt:lpstr>
      <vt:lpstr>IoT Data Ingestion – AWS Services</vt:lpstr>
      <vt:lpstr>Storing and Organizing Data</vt:lpstr>
      <vt:lpstr>Storing and Organizing Data</vt:lpstr>
      <vt:lpstr>Types of Storage in Cloud Data Architectures</vt:lpstr>
      <vt:lpstr>Understanding the Storage Layer</vt:lpstr>
      <vt:lpstr>Data Lake Storage</vt:lpstr>
      <vt:lpstr>Amazon S3 – Data Lake Backbone</vt:lpstr>
      <vt:lpstr>Data Warehouse Storage</vt:lpstr>
      <vt:lpstr>Data Lakes vs. Data Warehouses</vt:lpstr>
      <vt:lpstr>Purpose-Built Databases</vt:lpstr>
      <vt:lpstr>Storage in Support of ETL vs. ELT Pipelines</vt:lpstr>
      <vt:lpstr>Example: Storage in support of an ETL pipeline</vt:lpstr>
      <vt:lpstr>Example: Storage in support of an ELT pipeline</vt:lpstr>
      <vt:lpstr>Securing Cloud Storage</vt:lpstr>
      <vt:lpstr>File Formats</vt:lpstr>
      <vt:lpstr>Processing Big Data</vt:lpstr>
      <vt:lpstr>Processing Big Data</vt:lpstr>
      <vt:lpstr>Big Data Processing Concepts</vt:lpstr>
      <vt:lpstr>Apache Hadoop Overview</vt:lpstr>
      <vt:lpstr>Hadoop Ecosystem Tools</vt:lpstr>
      <vt:lpstr>Apache Spark Overview</vt:lpstr>
      <vt:lpstr>Amazon EMR – Managed Hadoop and Spark</vt:lpstr>
      <vt:lpstr>EMR Cluster Setup and Management</vt:lpstr>
      <vt:lpstr>Connecting to EMR Clusters</vt:lpstr>
      <vt:lpstr>Apache Hudi – Managing Dynamic Data</vt:lpstr>
      <vt:lpstr>Real-Time Data Updating with Hudi</vt:lpstr>
      <vt:lpstr>Analyzing and Visualizing Data</vt:lpstr>
      <vt:lpstr>Analyzing and Visualizing Data</vt:lpstr>
      <vt:lpstr>Factors That Influence Tool Selection</vt:lpstr>
      <vt:lpstr>Business Needs – Types of Visualizations</vt:lpstr>
      <vt:lpstr>Data Characteristics – Examples</vt:lpstr>
      <vt:lpstr>Comparing AWS Tools and Services</vt:lpstr>
      <vt:lpstr>Amazon Athena</vt:lpstr>
      <vt:lpstr>Amazon QuickSight</vt:lpstr>
      <vt:lpstr>Amazon OpenSearch Service</vt:lpstr>
      <vt:lpstr>Use Case – Gaming Analytics</vt:lpstr>
      <vt:lpstr>Automating the Pipeline</vt:lpstr>
      <vt:lpstr>Automating the Pipeline</vt:lpstr>
      <vt:lpstr>Automating Infrastructure Deployment</vt:lpstr>
      <vt:lpstr>CI/CD and DevOps</vt:lpstr>
      <vt:lpstr>Introduction to AWS Step Functions</vt:lpstr>
      <vt:lpstr>Step Functions Interface Overview</vt:lpstr>
      <vt:lpstr>Types of States in Step Functions</vt:lpstr>
      <vt:lpstr>Code Examples – State Types</vt:lpstr>
      <vt:lpstr>Simplifying ETL with Step Functions</vt:lpstr>
      <vt:lpstr>Lab Summary – Orchestrating ETL with Step Functions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Academy Data Engineering</dc:title>
  <dc:creator>Raymond, Patty</dc:creator>
  <cp:lastModifiedBy>Mohammed Fasha</cp:lastModifiedBy>
  <cp:revision>626</cp:revision>
  <dcterms:created xsi:type="dcterms:W3CDTF">2022-02-21T17:12:34Z</dcterms:created>
  <dcterms:modified xsi:type="dcterms:W3CDTF">2025-05-03T11:55:39Z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1B9067DC-C585-4732-A227-FB3BF7346ACA</vt:lpwstr>
  </property>
  <property fmtid="{D5CDD505-2E9C-101B-9397-08002B2CF9AE}" pid="3" name="ArticulatePath">
    <vt:lpwstr>Presentation1</vt:lpwstr>
  </property>
</Properties>
</file>