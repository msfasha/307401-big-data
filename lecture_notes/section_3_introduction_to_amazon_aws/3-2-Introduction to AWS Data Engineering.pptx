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heme/theme2.xml" ContentType="application/vnd.openxmlformats-officedocument.theme+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notesSlides/notesSlide4.xml" ContentType="application/vnd.openxmlformats-officedocument.presentationml.notesSlide+xml"/>
  <Override PartName="/ppt/tags/tag47.xml" ContentType="application/vnd.openxmlformats-officedocument.presentationml.tags+xml"/>
  <Override PartName="/ppt/notesSlides/notesSlide5.xml" ContentType="application/vnd.openxmlformats-officedocument.presentationml.notesSlide+xml"/>
  <Override PartName="/ppt/tags/tag48.xml" ContentType="application/vnd.openxmlformats-officedocument.presentationml.tags+xml"/>
  <Override PartName="/ppt/notesSlides/notesSlide6.xml" ContentType="application/vnd.openxmlformats-officedocument.presentationml.notesSlide+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notesSlides/notesSlide8.xml" ContentType="application/vnd.openxmlformats-officedocument.presentationml.notesSlide+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notesSlides/notesSlide11.xml" ContentType="application/vnd.openxmlformats-officedocument.presentationml.notesSlide+xml"/>
  <Override PartName="/ppt/tags/tag54.xml" ContentType="application/vnd.openxmlformats-officedocument.presentationml.tags+xml"/>
  <Override PartName="/ppt/notesSlides/notesSlide12.xml" ContentType="application/vnd.openxmlformats-officedocument.presentationml.notesSlide+xml"/>
  <Override PartName="/ppt/tags/tag55.xml" ContentType="application/vnd.openxmlformats-officedocument.presentationml.tags+xml"/>
  <Override PartName="/ppt/notesSlides/notesSlide13.xml" ContentType="application/vnd.openxmlformats-officedocument.presentationml.notesSlide+xml"/>
  <Override PartName="/ppt/tags/tag56.xml" ContentType="application/vnd.openxmlformats-officedocument.presentationml.tags+xml"/>
  <Override PartName="/ppt/notesSlides/notesSlide14.xml" ContentType="application/vnd.openxmlformats-officedocument.presentationml.notesSlide+xml"/>
  <Override PartName="/ppt/tags/tag57.xml" ContentType="application/vnd.openxmlformats-officedocument.presentationml.tags+xml"/>
  <Override PartName="/ppt/notesSlides/notesSlide15.xml" ContentType="application/vnd.openxmlformats-officedocument.presentationml.notesSlide+xml"/>
  <Override PartName="/ppt/tags/tag58.xml" ContentType="application/vnd.openxmlformats-officedocument.presentationml.tags+xml"/>
  <Override PartName="/ppt/notesSlides/notesSlide16.xml" ContentType="application/vnd.openxmlformats-officedocument.presentationml.notesSlide+xml"/>
  <Override PartName="/ppt/tags/tag59.xml" ContentType="application/vnd.openxmlformats-officedocument.presentationml.tags+xml"/>
  <Override PartName="/ppt/notesSlides/notesSlide17.xml" ContentType="application/vnd.openxmlformats-officedocument.presentationml.notesSlide+xml"/>
  <Override PartName="/ppt/tags/tag60.xml" ContentType="application/vnd.openxmlformats-officedocument.presentationml.tags+xml"/>
  <Override PartName="/ppt/notesSlides/notesSlide18.xml" ContentType="application/vnd.openxmlformats-officedocument.presentationml.notesSlide+xml"/>
  <Override PartName="/ppt/tags/tag61.xml" ContentType="application/vnd.openxmlformats-officedocument.presentationml.tags+xml"/>
  <Override PartName="/ppt/notesSlides/notesSlide19.xml" ContentType="application/vnd.openxmlformats-officedocument.presentationml.notesSlide+xml"/>
  <Override PartName="/ppt/tags/tag62.xml" ContentType="application/vnd.openxmlformats-officedocument.presentationml.tags+xml"/>
  <Override PartName="/ppt/notesSlides/notesSlide20.xml" ContentType="application/vnd.openxmlformats-officedocument.presentationml.notesSlide+xml"/>
  <Override PartName="/ppt/tags/tag63.xml" ContentType="application/vnd.openxmlformats-officedocument.presentationml.tags+xml"/>
  <Override PartName="/ppt/notesSlides/notesSlide21.xml" ContentType="application/vnd.openxmlformats-officedocument.presentationml.notesSlide+xml"/>
  <Override PartName="/ppt/tags/tag64.xml" ContentType="application/vnd.openxmlformats-officedocument.presentationml.tags+xml"/>
  <Override PartName="/ppt/notesSlides/notesSlide22.xml" ContentType="application/vnd.openxmlformats-officedocument.presentationml.notesSlide+xml"/>
  <Override PartName="/ppt/tags/tag65.xml" ContentType="application/vnd.openxmlformats-officedocument.presentationml.tags+xml"/>
  <Override PartName="/ppt/notesSlides/notesSlide23.xml" ContentType="application/vnd.openxmlformats-officedocument.presentationml.notesSlide+xml"/>
  <Override PartName="/ppt/tags/tag66.xml" ContentType="application/vnd.openxmlformats-officedocument.presentationml.tags+xml"/>
  <Override PartName="/ppt/notesSlides/notesSlide24.xml" ContentType="application/vnd.openxmlformats-officedocument.presentationml.notesSlide+xml"/>
  <Override PartName="/ppt/tags/tag67.xml" ContentType="application/vnd.openxmlformats-officedocument.presentationml.tags+xml"/>
  <Override PartName="/ppt/notesSlides/notesSlide25.xml" ContentType="application/vnd.openxmlformats-officedocument.presentationml.notesSlide+xml"/>
  <Override PartName="/ppt/tags/tag68.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28"/>
  </p:notesMasterIdLst>
  <p:sldIdLst>
    <p:sldId id="316" r:id="rId2"/>
    <p:sldId id="257" r:id="rId3"/>
    <p:sldId id="260" r:id="rId4"/>
    <p:sldId id="268" r:id="rId5"/>
    <p:sldId id="271" r:id="rId6"/>
    <p:sldId id="318" r:id="rId7"/>
    <p:sldId id="325" r:id="rId8"/>
    <p:sldId id="327" r:id="rId9"/>
    <p:sldId id="333" r:id="rId10"/>
    <p:sldId id="296" r:id="rId11"/>
    <p:sldId id="274" r:id="rId12"/>
    <p:sldId id="329" r:id="rId13"/>
    <p:sldId id="298" r:id="rId14"/>
    <p:sldId id="269" r:id="rId15"/>
    <p:sldId id="277" r:id="rId16"/>
    <p:sldId id="283" r:id="rId17"/>
    <p:sldId id="284" r:id="rId18"/>
    <p:sldId id="285" r:id="rId19"/>
    <p:sldId id="261" r:id="rId20"/>
    <p:sldId id="297" r:id="rId21"/>
    <p:sldId id="293" r:id="rId22"/>
    <p:sldId id="294" r:id="rId23"/>
    <p:sldId id="299" r:id="rId24"/>
    <p:sldId id="473" r:id="rId25"/>
    <p:sldId id="471" r:id="rId26"/>
    <p:sldId id="476" r:id="rId27"/>
  </p:sldIdLst>
  <p:sldSz cx="12192000" cy="6858000"/>
  <p:notesSz cx="6858000" cy="9144000"/>
  <p:custDataLst>
    <p:tags r:id="rId29"/>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2: Data-Driven Organizations" id="{F951D943-4D35-4A91-8346-04D26B8D5550}">
          <p14:sldIdLst>
            <p14:sldId id="316"/>
            <p14:sldId id="257"/>
          </p14:sldIdLst>
        </p14:section>
        <p14:section name="The data pipeline – infrastructure for data-driven decisions" id="{A713CE27-ADA6-43D3-956E-EA6FE40D6278}">
          <p14:sldIdLst>
            <p14:sldId id="260"/>
            <p14:sldId id="268"/>
            <p14:sldId id="271"/>
            <p14:sldId id="318"/>
            <p14:sldId id="325"/>
            <p14:sldId id="327"/>
            <p14:sldId id="333"/>
            <p14:sldId id="296"/>
          </p14:sldIdLst>
        </p14:section>
        <p14:section name="The role of the data engineer in data-driven organizations" id="{16857DC9-8652-49CD-8150-AF3E070D2E30}">
          <p14:sldIdLst>
            <p14:sldId id="274"/>
            <p14:sldId id="329"/>
            <p14:sldId id="298"/>
          </p14:sldIdLst>
        </p14:section>
        <p14:section name="Modern data strategies" id="{83C8D926-ECA4-4A5C-BF3E-8A4AB69FE96A}">
          <p14:sldIdLst>
            <p14:sldId id="269"/>
            <p14:sldId id="277"/>
            <p14:sldId id="283"/>
            <p14:sldId id="284"/>
            <p14:sldId id="285"/>
            <p14:sldId id="261"/>
            <p14:sldId id="297"/>
          </p14:sldIdLst>
        </p14:section>
        <p14:section name="Lab: Accessing and Analyzing Data by Using Amazon S3" id="{D5A88868-6A6C-4371-B1E3-12B1BCBFB144}">
          <p14:sldIdLst/>
        </p14:section>
        <p14:section name="Wrap-up" id="{068BA809-5368-467F-A0A3-5A3502D623F9}">
          <p14:sldIdLst>
            <p14:sldId id="293"/>
            <p14:sldId id="294"/>
            <p14:sldId id="299"/>
            <p14:sldId id="473"/>
            <p14:sldId id="471"/>
            <p14:sldId id="4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swani, Monisha" initials="DM" lastIdx="17" clrIdx="0">
    <p:extLst>
      <p:ext uri="{19B8F6BF-5375-455C-9EA6-DF929625EA0E}">
        <p15:presenceInfo xmlns:p15="http://schemas.microsoft.com/office/powerpoint/2012/main" userId="S-1-5-21-1407069837-2091007605-538272213-41758195" providerId="AD"/>
      </p:ext>
    </p:extLst>
  </p:cmAuthor>
  <p:cmAuthor id="2" name="Raymond, Patty" initials="RP" lastIdx="35" clrIdx="1">
    <p:extLst>
      <p:ext uri="{19B8F6BF-5375-455C-9EA6-DF929625EA0E}">
        <p15:presenceInfo xmlns:p15="http://schemas.microsoft.com/office/powerpoint/2012/main" userId="S-1-5-21-1407069837-2091007605-538272213-29355854" providerId="AD"/>
      </p:ext>
    </p:extLst>
  </p:cmAuthor>
  <p:cmAuthor id="3" name="Stading, Katrina" initials="SK" lastIdx="37" clrIdx="2">
    <p:extLst>
      <p:ext uri="{19B8F6BF-5375-455C-9EA6-DF929625EA0E}">
        <p15:presenceInfo xmlns:p15="http://schemas.microsoft.com/office/powerpoint/2012/main" userId="S-1-5-21-1407069837-2091007605-538272213-31813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6" autoAdjust="0"/>
    <p:restoredTop sz="63388" autoAdjust="0"/>
  </p:normalViewPr>
  <p:slideViewPr>
    <p:cSldViewPr snapToGrid="0">
      <p:cViewPr varScale="1">
        <p:scale>
          <a:sx n="97" d="100"/>
          <a:sy n="97" d="100"/>
        </p:scale>
        <p:origin x="2532" y="84"/>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Lst>
  </p:outlineViewPr>
  <p:notesTextViewPr>
    <p:cViewPr>
      <p:scale>
        <a:sx n="125" d="100"/>
        <a:sy n="125" d="100"/>
      </p:scale>
      <p:origin x="0" y="0"/>
    </p:cViewPr>
  </p:notesTextViewPr>
  <p:notesViewPr>
    <p:cSldViewPr snapToGrid="0">
      <p:cViewPr varScale="1">
        <p:scale>
          <a:sx n="95" d="100"/>
          <a:sy n="95" d="100"/>
        </p:scale>
        <p:origin x="4123"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19.xml"/><Relationship Id="rId3" Type="http://schemas.openxmlformats.org/officeDocument/2006/relationships/slide" Target="slides/slide4.xml"/><Relationship Id="rId21" Type="http://schemas.openxmlformats.org/officeDocument/2006/relationships/slide" Target="slides/slide22.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2" Type="http://schemas.openxmlformats.org/officeDocument/2006/relationships/slide" Target="slides/slide3.xml"/><Relationship Id="rId16" Type="http://schemas.openxmlformats.org/officeDocument/2006/relationships/slide" Target="slides/slide17.xml"/><Relationship Id="rId20" Type="http://schemas.openxmlformats.org/officeDocument/2006/relationships/slide" Target="slides/slide21.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5.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4.xml"/><Relationship Id="rId10" Type="http://schemas.openxmlformats.org/officeDocument/2006/relationships/slide" Target="slides/slide11.xml"/><Relationship Id="rId19" Type="http://schemas.openxmlformats.org/officeDocument/2006/relationships/slide" Target="slides/slide2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86806EEA-D20C-4771-AB93-CD600C4A677D}"/>
    <pc:docChg chg="custSel modSld">
      <pc:chgData name="Mohammed Fasha" userId="cc64f42d-a1a6-4f08-b97b-0c37f877119f" providerId="ADAL" clId="{86806EEA-D20C-4771-AB93-CD600C4A677D}" dt="2024-07-30T12:46:57.869" v="0" actId="33524"/>
      <pc:docMkLst>
        <pc:docMk/>
      </pc:docMkLst>
      <pc:sldChg chg="modSp mod">
        <pc:chgData name="Mohammed Fasha" userId="cc64f42d-a1a6-4f08-b97b-0c37f877119f" providerId="ADAL" clId="{86806EEA-D20C-4771-AB93-CD600C4A677D}" dt="2024-07-30T12:46:57.869" v="0" actId="33524"/>
        <pc:sldMkLst>
          <pc:docMk/>
          <pc:sldMk cId="1405370405" sldId="284"/>
        </pc:sldMkLst>
        <pc:spChg chg="mod">
          <ac:chgData name="Mohammed Fasha" userId="cc64f42d-a1a6-4f08-b97b-0c37f877119f" providerId="ADAL" clId="{86806EEA-D20C-4771-AB93-CD600C4A677D}" dt="2024-07-30T12:46:57.869" v="0" actId="33524"/>
          <ac:spMkLst>
            <pc:docMk/>
            <pc:sldMk cId="1405370405" sldId="284"/>
            <ac:spMk id="17" creationId="{3CBF192A-4448-490D-9346-82CC479879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042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53D6894-8726-415B-9FD1-9AEC571F76BC}" type="slidenum">
              <a:rPr lang="en-US" b="1" smtClean="0"/>
              <a:pPr/>
              <a:t>1</a:t>
            </a:fld>
            <a:r>
              <a:rPr lang="en-US" b="1" dirty="0"/>
              <a:t> </a:t>
            </a:r>
          </a:p>
          <a:p>
            <a:r>
              <a:rPr lang="en-US" b="1" dirty="0"/>
              <a:t>|Instructor notes</a:t>
            </a:r>
          </a:p>
          <a:p>
            <a:r>
              <a:rPr lang="en-US" b="1" dirty="0"/>
              <a:t>|</a:t>
            </a:r>
          </a:p>
          <a:p>
            <a:r>
              <a:rPr lang="en-US" b="1" dirty="0"/>
              <a:t>|Student notes</a:t>
            </a:r>
          </a:p>
          <a:p>
            <a:pPr lvl="0">
              <a:defRPr/>
            </a:pPr>
            <a:r>
              <a:rPr lang="en-US" dirty="0"/>
              <a:t>Welcome to the AWS Academy Data Engineering course.</a:t>
            </a:r>
          </a:p>
        </p:txBody>
      </p:sp>
    </p:spTree>
    <p:extLst>
      <p:ext uri="{BB962C8B-B14F-4D97-AF65-F5344CB8AC3E}">
        <p14:creationId xmlns:p14="http://schemas.microsoft.com/office/powerpoint/2010/main" val="4084858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t>2</a:t>
            </a:fld>
            <a:endParaRPr lang="en-US" b="1" dirty="0"/>
          </a:p>
          <a:p>
            <a:r>
              <a:rPr lang="en-US" b="1" dirty="0"/>
              <a:t>|Instructor notes</a:t>
            </a:r>
          </a:p>
          <a:p>
            <a:r>
              <a:rPr lang="en-US" b="0" dirty="0">
                <a:solidFill>
                  <a:srgbClr val="000000"/>
                </a:solidFill>
                <a:latin typeface="Calibri" panose="020F0502020204030204" pitchFamily="34" charset="0"/>
              </a:rPr>
              <a:t>|</a:t>
            </a:r>
          </a:p>
          <a:p>
            <a:r>
              <a:rPr lang="en-US" b="1" dirty="0"/>
              <a:t>|Student notes</a:t>
            </a:r>
          </a:p>
          <a:p>
            <a:r>
              <a:rPr lang="en-US" dirty="0"/>
              <a:t>Welcome to the Data-Driven Organizations module. This module introduces how modern organizations use data and data science to make decisions.</a:t>
            </a:r>
          </a:p>
        </p:txBody>
      </p:sp>
    </p:spTree>
    <p:extLst>
      <p:ext uri="{BB962C8B-B14F-4D97-AF65-F5344CB8AC3E}">
        <p14:creationId xmlns:p14="http://schemas.microsoft.com/office/powerpoint/2010/main" val="1542418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A data pipeline provides the infrastructure to turn data into insights and make data-driven decisions. This section introduces the basic layers of a data pipeline.</a:t>
            </a:r>
          </a:p>
        </p:txBody>
      </p:sp>
    </p:spTree>
    <p:extLst>
      <p:ext uri="{BB962C8B-B14F-4D97-AF65-F5344CB8AC3E}">
        <p14:creationId xmlns:p14="http://schemas.microsoft.com/office/powerpoint/2010/main" val="1191483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4</a:t>
            </a:fld>
            <a:endParaRPr lang="en-US" b="1" dirty="0"/>
          </a:p>
          <a:p>
            <a:r>
              <a:rPr lang="en-US" b="1" dirty="0"/>
              <a:t>|Instructor notes</a:t>
            </a:r>
          </a:p>
          <a:p>
            <a:r>
              <a:rPr lang="en-US" b="0" dirty="0"/>
              <a:t>|Modules 3 and 4 will iterate further on this topic. Those modules will apply more technical details about the types of data and data processing, and match that information to the AWS services and reference architectures that will be used. The goal of this section is to introduce the high-level vocabulary and provide a simplified analogy by using plastic building blocks. It might be helpful to return to this analogy as the course becomes more complex. Modules 6–11 will go deeper into each individual layer and the services and considerations that impact design of that layer.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data pipeline is the infrastructure that you build to support data-driven decision-making. At the most basic level, any data pipeline infrastructure must be able to bring data in, store it, and provide the means to work with the data to derive insights. As the data engineer or data scientist, it's your job to build the pipeline to figure out what's appropriate and how you're going to do it. Often this will include exploring and experimenting to get to know the data and the best way to derive value from it.</a:t>
            </a:r>
          </a:p>
        </p:txBody>
      </p:sp>
    </p:spTree>
    <p:extLst>
      <p:ext uri="{BB962C8B-B14F-4D97-AF65-F5344CB8AC3E}">
        <p14:creationId xmlns:p14="http://schemas.microsoft.com/office/powerpoint/2010/main" val="320641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number of variations and options to create a data pipeline are broad. The key to designing an effective decision-making infrastructure is to start with the business problem to be solved or decision to be made. Then, build the pipeline that best suits that use case. The cloud makes it easier to start up different infrastructure to serve different use cases. An organization doesn't need to invest in an infrastructure that tries to serve all business needs with a single database, server, or technology stack. For each use case, start with the end in mind, and build the data pipeline that supports it.</a:t>
            </a:r>
          </a:p>
        </p:txBody>
      </p:sp>
    </p:spTree>
    <p:extLst>
      <p:ext uri="{BB962C8B-B14F-4D97-AF65-F5344CB8AC3E}">
        <p14:creationId xmlns:p14="http://schemas.microsoft.com/office/powerpoint/2010/main" val="2194652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infrastructure layers that you need to build include methods to ingest and store data from the data sources that you have identified. You need to make the stored data accessible for decision-making processes. You must also create the infrastructure to process, analyze, and visualize data by using tools that are appropriate to the use case. To build an appropriate infrastructure, you will need to understand the nature of the data and the intended type of processing and analysis to be performed.</a:t>
            </a:r>
          </a:p>
        </p:txBody>
      </p:sp>
    </p:spTree>
    <p:extLst>
      <p:ext uri="{BB962C8B-B14F-4D97-AF65-F5344CB8AC3E}">
        <p14:creationId xmlns:p14="http://schemas.microsoft.com/office/powerpoint/2010/main" val="915467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a:t>
            </a:fld>
            <a:endParaRPr lang="en-US" b="1" dirty="0"/>
          </a:p>
          <a:p>
            <a:r>
              <a:rPr lang="en-US" b="1" dirty="0"/>
              <a:t>|Instructor notes</a:t>
            </a:r>
          </a:p>
          <a:p>
            <a:r>
              <a:rPr lang="en-US" b="0" dirty="0"/>
              <a:t>|This slide includes an animation that runs automatically when you present the slide. It moves the data wrangling circle across the pipeline illustrating that data wrangling happens in multiple stages across the pipeline. </a:t>
            </a:r>
            <a:br>
              <a:rPr lang="en-US" b="0" dirty="0"/>
            </a:br>
            <a:r>
              <a:rPr lang="en-US" b="0" dirty="0"/>
              <a:t>|</a:t>
            </a:r>
          </a:p>
          <a:p>
            <a:r>
              <a:rPr lang="en-US" b="1" dirty="0"/>
              <a:t>|Student notes</a:t>
            </a:r>
          </a:p>
          <a:p>
            <a:r>
              <a:rPr lang="en-US" dirty="0"/>
              <a:t>Looking at the pipeline from the perspective of the data that travels through it, the pipeline must support the ability to discover details about the data and how it fits (or doesn't fit) your intended outcomes. You might start with a hypothesis and use BI tools or other mechanisms to discover more information about the data, and then experiment and see where it takes you.</a:t>
            </a:r>
          </a:p>
          <a:p>
            <a:endParaRPr lang="en-US" dirty="0"/>
          </a:p>
          <a:p>
            <a:r>
              <a:rPr lang="en-US" dirty="0"/>
              <a:t>Data might need to be cleaned or normalized. For example, you might merge multiple data sources that share some similar data and you need to rectify inconsistencies, or you might have a data source that hasn't been well-maintained or validated at its source. You need to prepare the data before it's viable for analysis.</a:t>
            </a:r>
          </a:p>
          <a:p>
            <a:endParaRPr lang="en-US" dirty="0"/>
          </a:p>
          <a:p>
            <a:r>
              <a:rPr lang="en-US" dirty="0"/>
              <a:t>Data will almost always be transformed as it moves through the pipeline. This might include modifying the format to support a specific analysis tool or replacing values (for example, zeroes in place of nulls). You might also augment the dataset by filling in gaps or enriching it with additional information. For example, you might calculate and save additional data values to be used during analysis. You might also add metadata to categorize and catalog data. </a:t>
            </a:r>
            <a:r>
              <a:rPr lang="en-US" i="1" dirty="0"/>
              <a:t>Data wrangling</a:t>
            </a:r>
            <a:r>
              <a:rPr lang="en-US" dirty="0"/>
              <a:t> is a term that is used to describe the ways in which data is manipulated and transformed from its raw state into more meaningful states that downstream processes or users can use.</a:t>
            </a:r>
          </a:p>
          <a:p>
            <a:endParaRPr lang="en-US" dirty="0"/>
          </a:p>
          <a:p>
            <a:r>
              <a:rPr lang="en-US" dirty="0"/>
              <a:t>Within each layer, or as part of transitioning between pipeline layers, you might perform these tasks on data to prepare it for the desired analysis or predictions. Some task types can happen in multiple places across the pipeline, and some tasks can be performed together as part of a single process. For example, in traditional data science architectures, the extract, transform, and load (ETL) process takes data from one source, performs some type of transformation on it, and then loads it into another location where the analysis is done.</a:t>
            </a:r>
          </a:p>
          <a:p>
            <a:endParaRPr lang="en-US" dirty="0"/>
          </a:p>
          <a:p>
            <a:r>
              <a:rPr lang="en-US" dirty="0"/>
              <a:t>As you learn about different scenarios, you will see these tasks performed at different points in the pipeline, using different services and methods dependent on the uses case.</a:t>
            </a:r>
          </a:p>
          <a:p>
            <a:endParaRPr lang="en-US" dirty="0"/>
          </a:p>
          <a:p>
            <a:r>
              <a:rPr lang="en-US" dirty="0"/>
              <a:t>The tools that you use and the way you perform these tasks will differ based on characteristics of your data, the business problem that you're addressing, and the methods or models that you're applying.</a:t>
            </a:r>
          </a:p>
        </p:txBody>
      </p:sp>
    </p:spTree>
    <p:extLst>
      <p:ext uri="{BB962C8B-B14F-4D97-AF65-F5344CB8AC3E}">
        <p14:creationId xmlns:p14="http://schemas.microsoft.com/office/powerpoint/2010/main" val="3847338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key characteristic of deriving insights by using your data pipeline is that the process will almost always be iterative. You have a hypothesis about what you expect to find in the data, and you need to experiment and see where it takes you. You might develop your hypothesis by using BI tools to do initial discovery and analysis of data that has already been collected. You might iterate within a pipeline segment, or you might iterate across the entire pipeline. For example, in this illustration, the initial iteration (number 1) yielded a result that wasn't as defined as was desired. Therefore, the data scientist refined the model and reprocessed the data to get a better result (number 2). After reviewing those results, they determined that additional data could improve the detail available in their result, so an additional data source was tapped and ingested through the pipeline to produce the desired result (number 3).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pipeline often has iterations of storage and processing. For example, after the external data is ingested into pipeline storage, iterative processing transforms the data into different levels of refinement for different needs.</a:t>
            </a:r>
          </a:p>
        </p:txBody>
      </p:sp>
    </p:spTree>
    <p:extLst>
      <p:ext uri="{BB962C8B-B14F-4D97-AF65-F5344CB8AC3E}">
        <p14:creationId xmlns:p14="http://schemas.microsoft.com/office/powerpoint/2010/main" val="280307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example is similar to the pipeline that you will work with in the lab titled Accessing and Analyzing Data by Using </a:t>
            </a:r>
            <a:r>
              <a:rPr lang="en-US" b="0" dirty="0"/>
              <a:t>Amazon S3.</a:t>
            </a:r>
            <a:r>
              <a:rPr lang="en-US" b="1" dirty="0"/>
              <a:t> </a:t>
            </a: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dataset to be ingested into the pipeline is a .csv file that contains structured data. A developer uses a utility to compress the file, then uploads the file to an S3 bucket for storage. The data science team who will analyze the data can use S3 Select statements to directly query the data in Amazon S3.</a:t>
            </a:r>
          </a:p>
        </p:txBody>
      </p:sp>
    </p:spTree>
    <p:extLst>
      <p:ext uri="{BB962C8B-B14F-4D97-AF65-F5344CB8AC3E}">
        <p14:creationId xmlns:p14="http://schemas.microsoft.com/office/powerpoint/2010/main" val="3601417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10</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The data pipeline provides the infrastructure for data-driven decisions and includes layers to ingest, store, process, and analyze and visualize data.</a:t>
            </a:r>
          </a:p>
          <a:p>
            <a:pPr marL="171450" indent="-171450">
              <a:buFont typeface="Arial" panose="020B0604020202020204" pitchFamily="34" charset="0"/>
              <a:buChar char="•"/>
            </a:pPr>
            <a:r>
              <a:rPr lang="en-US" dirty="0"/>
              <a:t>Data wrangling refers to the work to transform data to prepare it for analysis. Processing is typically iterative. The business problem should drive the pipeline design.</a:t>
            </a:r>
          </a:p>
        </p:txBody>
      </p:sp>
    </p:spTree>
    <p:extLst>
      <p:ext uri="{BB962C8B-B14F-4D97-AF65-F5344CB8AC3E}">
        <p14:creationId xmlns:p14="http://schemas.microsoft.com/office/powerpoint/2010/main" val="1850271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the responsibilities of the data engineer and data scientist roles to plan and manage a data infrastructure.</a:t>
            </a:r>
          </a:p>
        </p:txBody>
      </p:sp>
    </p:spTree>
    <p:extLst>
      <p:ext uri="{BB962C8B-B14F-4D97-AF65-F5344CB8AC3E}">
        <p14:creationId xmlns:p14="http://schemas.microsoft.com/office/powerpoint/2010/main" val="2262088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12</a:t>
            </a:fld>
            <a:endParaRPr lang="en-US" b="1" dirty="0"/>
          </a:p>
          <a:p>
            <a:r>
              <a:rPr lang="en-US" b="1" dirty="0"/>
              <a:t>|Instructor notes</a:t>
            </a:r>
          </a:p>
          <a:p>
            <a:r>
              <a:rPr lang="en-US" dirty="0"/>
              <a:t>|This slide is a baseline setup for activities that the student will perform throughout the course. You might withhold the questions and instead treat this as a precursor to the data module that follows. The slide is animated to support withholding the questions and treating this as a discussion.</a:t>
            </a:r>
          </a:p>
          <a:p>
            <a:r>
              <a:rPr lang="en-US" dirty="0"/>
              <a:t>|Ask students to think of the type of questions that they believe will need to be answered by the data engineer based on what they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dirty="0"/>
          </a:p>
          <a:p>
            <a:r>
              <a:rPr lang="en-US" b="1" dirty="0"/>
              <a:t>|Student notes</a:t>
            </a:r>
          </a:p>
          <a:p>
            <a:r>
              <a:rPr lang="en-US" dirty="0"/>
              <a:t>To build the correct pipeline, the person responsible for building the pipeline needs to ask a lot of questions about the nature of the data and the intent for its processing. You can classify the questions broadly into data engineering questions, which are mostly focused on getting the data into the pipeline, and data science questions, which are mostly about what you are trying to get out of the data.</a:t>
            </a:r>
          </a:p>
          <a:p>
            <a:endParaRPr lang="en-US" dirty="0"/>
          </a:p>
          <a:p>
            <a:r>
              <a:rPr lang="en-US" dirty="0"/>
              <a:t>In the remainder of this course, you will learn how the answers to these types of data engineering questions lead you to select components and build pipelines that provide the appropriate infrastructure for data-driven decisions.</a:t>
            </a:r>
          </a:p>
        </p:txBody>
      </p:sp>
    </p:spTree>
    <p:extLst>
      <p:ext uri="{BB962C8B-B14F-4D97-AF65-F5344CB8AC3E}">
        <p14:creationId xmlns:p14="http://schemas.microsoft.com/office/powerpoint/2010/main" val="610313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a few key points to summarize this section:</a:t>
            </a:r>
          </a:p>
          <a:p>
            <a:r>
              <a:rPr lang="en-US" dirty="0"/>
              <a:t>Data scientists and data engineers both work with the data pipeline, and depending on your organization some tasks might be performed by either role. But generally speaking, the data engineer is focused on the infrastructure the data passes through and the data scientist is focused on analyzing the data in the pipeline.  Both roles need to ask questions about how they data meets their needs, and iterate on their answers and design as they learn more. </a:t>
            </a:r>
          </a:p>
        </p:txBody>
      </p:sp>
    </p:spTree>
    <p:extLst>
      <p:ext uri="{BB962C8B-B14F-4D97-AF65-F5344CB8AC3E}">
        <p14:creationId xmlns:p14="http://schemas.microsoft.com/office/powerpoint/2010/main" val="309425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14</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This section introduces strategies that an organization can use to make the most of its data infrastructure.</a:t>
            </a:r>
          </a:p>
        </p:txBody>
      </p:sp>
    </p:spTree>
    <p:extLst>
      <p:ext uri="{BB962C8B-B14F-4D97-AF65-F5344CB8AC3E}">
        <p14:creationId xmlns:p14="http://schemas.microsoft.com/office/powerpoint/2010/main" val="270288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If you go to work for an organization that aspires to use its data as a strategic asset, you will likely spend time helping the organization to adapt more traditional infrastructures toward those that are designed to better support data analytics and AI/ML. Amazon Web Services (AWS) advises its customers to approach this type of data infrastructure along three strategies: modernize, unify, and innovate.</a:t>
            </a:r>
          </a:p>
        </p:txBody>
      </p:sp>
    </p:spTree>
    <p:extLst>
      <p:ext uri="{BB962C8B-B14F-4D97-AF65-F5344CB8AC3E}">
        <p14:creationId xmlns:p14="http://schemas.microsoft.com/office/powerpoint/2010/main" val="2945577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Modernizing the infrastructure gives an organization the agility it needs to respond quickly to changes in the business landscape and incorporate new features. The practices listed here are actually applicable to any modern application architecture, but in this course, you will look at them through the lens of data analytics and AI/ML use cases.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AWS use the term undifferentiated heavy lifting to refer to the IT tasks that don't really help a business focus on their core value to customers, but take a lot of their time and resources. For example, managing data centers and hardware, or patching operating systems and databases.  By migrating applications and databases to the cloud, an organization can reduce its focus on administrative activities and instead focus development resources on business functionality. The cloud also makes it easier to start up different infrastructure to serve different use cases. An organization can choose the best set of tools and resources for each business problem. They can also experiment with new environment types or services without committing to resources long term.</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advantage of using cloud services is the ability to use purpose-built data stores rather than trying to use a single type of database to serve all needs. Choose a data store that matches the data structure and scalability that are required for each use case. Together with purpose-built data stores, use loosely coupled components so that you can use services that are designed for a targeted purpose and modify or scale them independently from each other. This greatly increases the flexibility of the infrastructure.</a:t>
            </a:r>
          </a:p>
        </p:txBody>
      </p:sp>
    </p:spTree>
    <p:extLst>
      <p:ext uri="{BB962C8B-B14F-4D97-AF65-F5344CB8AC3E}">
        <p14:creationId xmlns:p14="http://schemas.microsoft.com/office/powerpoint/2010/main" val="2555118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17</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important and most challenging strategies for successful data-driven organizations is to unify data to create a single source of truth. This means moving from siloed databases that one group of users access to a data lake, which brings all the data together and democratizes access. Control of data moves away from a centralized team such as IT, where users must request data. With modern data strategies, users can directly access the data that is relevant to them and build their own visualizations. Users can run queries directly against the data in the lake, but your infrastructure should also support movement between the data lake and purpose-built data stores that are needed for specific 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Moving to this type of data structure often requires significant changes to the cultural aspects of who owns the data and the governance needed to maintain the single source of truth.</a:t>
            </a:r>
          </a:p>
        </p:txBody>
      </p:sp>
    </p:spTree>
    <p:extLst>
      <p:ext uri="{BB962C8B-B14F-4D97-AF65-F5344CB8AC3E}">
        <p14:creationId xmlns:p14="http://schemas.microsoft.com/office/powerpoint/2010/main" val="604463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noted in an earlier section, the exploding availability of data and the lower costs of applying AI make it possible to incorporate AI and ML into more decision-making. Organizations that take advantage of this can drive value in new ways and adapt to changing business needs more proactively. But it takes conscious effort to reframe business problems as prediction problems and experiment with ML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trend in AWS service features is an increasing ability to apply an AI/ML type of functionality, without as much overhead or required experience as more traditional ML infrastructures. For example, Amazon SageMaker Studio provides fully managed ML infrastructure and a no-code visual interface for business analysts. Amazon Redshift is a data warehouse service, and one of its features, Redshift ML, helps users to create, train, and deploy SageMaker models by using familiar SQL syntax.</a:t>
            </a:r>
          </a:p>
        </p:txBody>
      </p:sp>
    </p:spTree>
    <p:extLst>
      <p:ext uri="{BB962C8B-B14F-4D97-AF65-F5344CB8AC3E}">
        <p14:creationId xmlns:p14="http://schemas.microsoft.com/office/powerpoint/2010/main" val="3948017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19</a:t>
            </a:fld>
            <a:endParaRPr lang="en-US" b="1" dirty="0"/>
          </a:p>
          <a:p>
            <a:r>
              <a:rPr lang="en-US" b="1" dirty="0"/>
              <a:t>|Instructor notes</a:t>
            </a:r>
          </a:p>
          <a:p>
            <a:r>
              <a:rPr lang="en-US" b="0" dirty="0">
                <a:solidFill>
                  <a:srgbClr val="000000"/>
                </a:solidFill>
                <a:latin typeface="Calibri" panose="020F0502020204030204" pitchFamily="34" charset="0"/>
              </a:rPr>
              <a:t>|</a:t>
            </a:r>
          </a:p>
          <a:p>
            <a:r>
              <a:rPr lang="en-US" b="1" dirty="0"/>
              <a:t>|Student notes</a:t>
            </a:r>
          </a:p>
          <a:p>
            <a:r>
              <a:rPr lang="en-US" sz="1200" kern="1200" dirty="0">
                <a:solidFill>
                  <a:schemeClr val="tx1"/>
                </a:solidFill>
                <a:effectLst/>
                <a:latin typeface="+mn-lt"/>
                <a:ea typeface="+mn-ea"/>
                <a:cs typeface="+mn-cs"/>
              </a:rPr>
              <a:t>Organizations that can put their data to work to make better, more informed decisions, can respond faster to the unexpected and uncover completely new opportunities. To be successful, organizations need to treat data as a strategic asset and build an infrastructure that allows them to use that strategic asset for big and small decisions all across the organization.</a:t>
            </a:r>
          </a:p>
        </p:txBody>
      </p:sp>
    </p:spTree>
    <p:extLst>
      <p:ext uri="{BB962C8B-B14F-4D97-AF65-F5344CB8AC3E}">
        <p14:creationId xmlns:p14="http://schemas.microsoft.com/office/powerpoint/2010/main" val="2915786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20</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Organizations that want to become data driven should modernize, unify, and innovate. This means moving to cloud-based, purpose-built services and reducing operational overhead. It also means creating a single source of truth for data and making data available across the organization.</a:t>
            </a:r>
          </a:p>
          <a:p>
            <a:pPr marL="171450" indent="-171450">
              <a:buFont typeface="Arial" panose="020B0604020202020204" pitchFamily="34" charset="0"/>
              <a:buChar char="•"/>
            </a:pPr>
            <a:r>
              <a:rPr lang="en-US" dirty="0"/>
              <a:t>Organizations should innovate by finding new value in their data with the use of AI and ML.</a:t>
            </a:r>
          </a:p>
        </p:txBody>
      </p:sp>
    </p:spTree>
    <p:extLst>
      <p:ext uri="{BB962C8B-B14F-4D97-AF65-F5344CB8AC3E}">
        <p14:creationId xmlns:p14="http://schemas.microsoft.com/office/powerpoint/2010/main" val="3937096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This section summarizes what you have learned and brings the Data-Driven Organizations module to a close.</a:t>
            </a:r>
          </a:p>
        </p:txBody>
      </p:sp>
    </p:spTree>
    <p:extLst>
      <p:ext uri="{BB962C8B-B14F-4D97-AF65-F5344CB8AC3E}">
        <p14:creationId xmlns:p14="http://schemas.microsoft.com/office/powerpoint/2010/main" val="2090860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22</a:t>
            </a:fld>
            <a:endParaRPr lang="en-US" b="1" dirty="0"/>
          </a:p>
          <a:p>
            <a:r>
              <a:rPr lang="en-US" b="1" dirty="0"/>
              <a:t>|Instructor notes</a:t>
            </a:r>
          </a:p>
          <a:p>
            <a:r>
              <a:rPr lang="en-US" b="0" dirty="0">
                <a:solidFill>
                  <a:srgbClr val="000000"/>
                </a:solidFill>
                <a:latin typeface="Calibri" panose="020F0502020204030204" pitchFamily="34" charset="0"/>
              </a:rPr>
              <a:t>|</a:t>
            </a:r>
            <a:r>
              <a:rPr lang="en-US" dirty="0"/>
              <a:t>This is a good opportunity to use an online group or discussion board to ask students to reflect on what they have learned. You might ask the students to recall a point from the module that aligns to one of the listed objectives. This provides a good segue to the knowledge check and sample exam question.</a:t>
            </a:r>
          </a:p>
          <a:p>
            <a:r>
              <a:rPr lang="en-US" b="0" dirty="0"/>
              <a:t>|</a:t>
            </a: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module introduced data-driven decision-making and how data analytics and AI/ML can support decision-making. You learned that both data analytics and AI/ML can help with predictions, but AI/ML does it by learning about the data rather than by using programmed rules. You learned about the four main layers in a data pipeline: ingestion, storage, processing, and analysis and visualization. You were also introduced to the type of actions that are taken on data as it passes through the pipeline; for example, cleaning and transformation. You heard about the types of concerns that a data engineer or data scientist might have when building out and using a data pipeline. And finally, you learned about the modernize, unify, and innovate approach for building modern data infrastructures.</a:t>
            </a:r>
          </a:p>
        </p:txBody>
      </p:sp>
    </p:spTree>
    <p:extLst>
      <p:ext uri="{BB962C8B-B14F-4D97-AF65-F5344CB8AC3E}">
        <p14:creationId xmlns:p14="http://schemas.microsoft.com/office/powerpoint/2010/main" val="238341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23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libri" panose="020F0502020204030204" pitchFamily="34" charset="0"/>
              </a:rPr>
              <a:t>Use your online course to access the knowledge check for this module.</a:t>
            </a:r>
            <a:endParaRPr lang="en-US" b="1" dirty="0"/>
          </a:p>
        </p:txBody>
      </p:sp>
    </p:spTree>
    <p:extLst>
      <p:ext uri="{BB962C8B-B14F-4D97-AF65-F5344CB8AC3E}">
        <p14:creationId xmlns:p14="http://schemas.microsoft.com/office/powerpoint/2010/main" val="1398228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D2AA25C6-F230-4FA8-A61D-98E7B01B9405}"/>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24</a:t>
            </a:fld>
            <a:endParaRPr lang="en-US" b="0" dirty="0"/>
          </a:p>
          <a:p>
            <a:r>
              <a:rPr lang="en-US" b="1" dirty="0"/>
              <a:t>|Instructor notes: </a:t>
            </a:r>
            <a:r>
              <a:rPr lang="en-US" b="0" dirty="0"/>
              <a:t>The key words section is animated to be revealed on click. </a:t>
            </a:r>
          </a:p>
          <a:p>
            <a:r>
              <a:rPr lang="en-US" dirty="0"/>
              <a:t>|</a:t>
            </a:r>
          </a:p>
          <a:p>
            <a:r>
              <a:rPr lang="en-US" b="1" dirty="0"/>
              <a:t>|Student notes</a:t>
            </a:r>
          </a:p>
          <a:p>
            <a:r>
              <a:rPr lang="en-US" dirty="0"/>
              <a:t>The question implies the need for some type of analytics solution, based on the desired outcome of improved sales and the desire to address the request in a data-driven way. The other key consideration is that the question asks for the first step.</a:t>
            </a:r>
          </a:p>
        </p:txBody>
      </p:sp>
    </p:spTree>
    <p:extLst>
      <p:ext uri="{BB962C8B-B14F-4D97-AF65-F5344CB8AC3E}">
        <p14:creationId xmlns:p14="http://schemas.microsoft.com/office/powerpoint/2010/main" val="2938796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6CA4E64E-AFD1-4D4A-A515-38E98974BB62}"/>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25</a:t>
            </a:fld>
            <a:endParaRPr lang="en-US" b="0" dirty="0"/>
          </a:p>
          <a:p>
            <a:r>
              <a:rPr lang="en-US" b="1" dirty="0"/>
              <a:t>|Instructor notes</a:t>
            </a:r>
          </a:p>
          <a:p>
            <a:r>
              <a:rPr lang="en-US" dirty="0"/>
              <a:t>|</a:t>
            </a:r>
          </a:p>
          <a:p>
            <a:r>
              <a:rPr lang="en-US" b="1" dirty="0"/>
              <a:t>|Student notes</a:t>
            </a:r>
          </a:p>
          <a:p>
            <a:r>
              <a:rPr lang="en-US" dirty="0"/>
              <a:t>Use the key words that you identified on the previous slide, and review each of the possible responses to determine which one best addresses the question.</a:t>
            </a:r>
          </a:p>
        </p:txBody>
      </p:sp>
    </p:spTree>
    <p:extLst>
      <p:ext uri="{BB962C8B-B14F-4D97-AF65-F5344CB8AC3E}">
        <p14:creationId xmlns:p14="http://schemas.microsoft.com/office/powerpoint/2010/main" val="4280026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F5EF8484-1427-4092-81D7-30D0C264985C}"/>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26</a:t>
            </a:fld>
            <a:r>
              <a:rPr lang="en-US" b="1" dirty="0"/>
              <a:t> </a:t>
            </a:r>
            <a:endParaRPr lang="en-US" b="0" dirty="0"/>
          </a:p>
          <a:p>
            <a:r>
              <a:rPr lang="en-US" b="1" dirty="0"/>
              <a:t>|Instructor notes</a:t>
            </a:r>
          </a:p>
          <a:p>
            <a:r>
              <a:rPr lang="en-US" dirty="0"/>
              <a:t>|</a:t>
            </a:r>
          </a:p>
          <a:p>
            <a:r>
              <a:rPr lang="en-US" b="1" dirty="0"/>
              <a:t>|Student notes</a:t>
            </a:r>
          </a:p>
          <a:p>
            <a:pPr lvl="0"/>
            <a:r>
              <a:rPr lang="en-US" dirty="0"/>
              <a:t>Choice A (Develop an ML model that analyzes customer comments to determine where customers are unsatisfied) might be appropriate if the retailer believes that the cause of poor sales is related to customer satisfaction with their products and services.</a:t>
            </a:r>
          </a:p>
          <a:p>
            <a:pPr lvl="0"/>
            <a:endParaRPr lang="en-US" dirty="0"/>
          </a:p>
          <a:p>
            <a:pPr lvl="0"/>
            <a:r>
              <a:rPr lang="en-US" dirty="0"/>
              <a:t>Choice B (Use A/B testing to provide some customers with a new UI that is designed to simplify the purchasing process, and then compare sales results from the old and new UIs) might be appropriate if the retailer believes that sales are low because customers are having difficulty making purchases through the older UI.</a:t>
            </a:r>
          </a:p>
          <a:p>
            <a:pPr lvl="0"/>
            <a:endParaRPr lang="en-US" dirty="0"/>
          </a:p>
          <a:p>
            <a:pPr lvl="0"/>
            <a:r>
              <a:rPr lang="en-US" dirty="0"/>
              <a:t>Choice D (Analyze the total revenue per customer, and create customer segments that receive different types of offers based on their segment) might be appropriate if the retailer believes that low sales can be attributed to the way that different customer segments shop on their website.</a:t>
            </a:r>
          </a:p>
          <a:p>
            <a:pPr lvl="0"/>
            <a:endParaRPr lang="en-US" dirty="0"/>
          </a:p>
          <a:p>
            <a:pPr lvl="0"/>
            <a:r>
              <a:rPr lang="en-US" dirty="0"/>
              <a:t>Each of these answers (A, B, and D) represents ways that the organization might gather and analyze additional data depending on their hypothesis. But the first step should be to work backwards from the business problem (poor sales) to form a hypothesis and then build a data pipeline to collect and process data iteratively. So choice C is the correct answer.</a:t>
            </a:r>
          </a:p>
        </p:txBody>
      </p:sp>
    </p:spTree>
    <p:extLst>
      <p:ext uri="{BB962C8B-B14F-4D97-AF65-F5344CB8AC3E}">
        <p14:creationId xmlns:p14="http://schemas.microsoft.com/office/powerpoint/2010/main" val="37312885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8.svg"/><Relationship Id="rId5" Type="http://schemas.openxmlformats.org/officeDocument/2006/relationships/image" Target="../media/image7.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8.xml"/><Relationship Id="rId4"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Instructor Intro">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accent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dirty="0">
                <a:solidFill>
                  <a:schemeClr val="bg1"/>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Enter </a:t>
            </a:r>
            <a:br>
              <a:rPr lang="en-US" dirty="0"/>
            </a:br>
            <a:r>
              <a:rPr lang="en-US" dirty="0"/>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Tree>
    <p:custDataLst>
      <p:tags r:id="rId1"/>
    </p:custDataLst>
    <p:extLst>
      <p:ext uri="{BB962C8B-B14F-4D97-AF65-F5344CB8AC3E}">
        <p14:creationId xmlns:p14="http://schemas.microsoft.com/office/powerpoint/2010/main" val="1509370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5601" y="551423"/>
              <a:ext cx="1005840" cy="601499"/>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1"/>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1"/>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3189323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Variant">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5601" y="551423"/>
              <a:ext cx="1005840" cy="601499"/>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Tree>
    <p:custDataLst>
      <p:tags r:id="rId1"/>
    </p:custDataLst>
    <p:extLst>
      <p:ext uri="{BB962C8B-B14F-4D97-AF65-F5344CB8AC3E}">
        <p14:creationId xmlns:p14="http://schemas.microsoft.com/office/powerpoint/2010/main" val="2929932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1B10142-B0CD-490B-913A-93A7D3CC5D7A}"/>
              </a:ext>
              <a:ext uri="{C183D7F6-B498-43B3-948B-1728B52AA6E4}">
                <adec:decorative xmlns:adec="http://schemas.microsoft.com/office/drawing/2017/decorative" val="1"/>
              </a:ext>
            </a:extLst>
          </p:cNvPr>
          <p:cNvGrpSpPr/>
          <p:nvPr/>
        </p:nvGrpSpPr>
        <p:grpSpPr>
          <a:xfrm>
            <a:off x="143797" y="-1"/>
            <a:ext cx="12048203" cy="6858001"/>
            <a:chOff x="143797" y="-1"/>
            <a:chExt cx="12048203" cy="6858001"/>
          </a:xfrm>
        </p:grpSpPr>
        <p:sp>
          <p:nvSpPr>
            <p:cNvPr id="96" name="CubeFront">
              <a:extLst>
                <a:ext uri="{FF2B5EF4-FFF2-40B4-BE49-F238E27FC236}">
                  <a16:creationId xmlns:a16="http://schemas.microsoft.com/office/drawing/2014/main" id="{EB9F2B64-3214-46CE-B26A-76A33B8A082C}"/>
                </a:ext>
                <a:ext uri="{C183D7F6-B498-43B3-948B-1728B52AA6E4}">
                  <adec:decorative xmlns:adec="http://schemas.microsoft.com/office/drawing/2017/decorative" val="1"/>
                </a:ext>
              </a:extLst>
            </p:cNvPr>
            <p:cNvSpPr/>
            <p:nvPr/>
          </p:nvSpPr>
          <p:spPr>
            <a:xfrm>
              <a:off x="575642"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0FF51441-9768-48B1-AE80-CEAE9A021603}"/>
                </a:ext>
                <a:ext uri="{C183D7F6-B498-43B3-948B-1728B52AA6E4}">
                  <adec:decorative xmlns:adec="http://schemas.microsoft.com/office/drawing/2017/decorative" val="1"/>
                </a:ext>
              </a:extLst>
            </p:cNvPr>
            <p:cNvSpPr/>
            <p:nvPr/>
          </p:nvSpPr>
          <p:spPr>
            <a:xfrm>
              <a:off x="572679" y="4071144"/>
              <a:ext cx="11619321"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697F20B3-5BFF-47DC-AE6A-5F9A8918A682}"/>
                </a:ext>
                <a:ext uri="{C183D7F6-B498-43B3-948B-1728B52AA6E4}">
                  <adec:decorative xmlns:adec="http://schemas.microsoft.com/office/drawing/2017/decorative" val="1"/>
                </a:ext>
              </a:extLst>
            </p:cNvPr>
            <p:cNvSpPr/>
            <p:nvPr/>
          </p:nvSpPr>
          <p:spPr>
            <a:xfrm>
              <a:off x="9134016" y="-1"/>
              <a:ext cx="3057984"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88" name="Icons">
              <a:extLst>
                <a:ext uri="{FF2B5EF4-FFF2-40B4-BE49-F238E27FC236}">
                  <a16:creationId xmlns:a16="http://schemas.microsoft.com/office/drawing/2014/main" id="{B4EB8A30-C05D-469F-BB6F-51E2087DD9D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933450" y="4011878"/>
              <a:ext cx="11258550" cy="2846121"/>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43797" y="6525216"/>
              <a:ext cx="366979" cy="219456"/>
            </a:xfrm>
            <a:prstGeom prst="rect">
              <a:avLst/>
            </a:prstGeom>
          </p:spPr>
        </p:pic>
      </p:grpSp>
      <p:sp>
        <p:nvSpPr>
          <p:cNvPr id="4" name="CopyBackground">
            <a:extLst>
              <a:ext uri="{FF2B5EF4-FFF2-40B4-BE49-F238E27FC236}">
                <a16:creationId xmlns:a16="http://schemas.microsoft.com/office/drawing/2014/main" id="{F06F3491-7AC4-48E9-9C0B-AAB51F148301}"/>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pyright">
            <a:extLst>
              <a:ext uri="{FF2B5EF4-FFF2-40B4-BE49-F238E27FC236}">
                <a16:creationId xmlns:a16="http://schemas.microsoft.com/office/drawing/2014/main" id="{5A486F92-5B56-43F0-919B-1CB4CEF78BAE}"/>
              </a:ext>
            </a:extLst>
          </p:cNvPr>
          <p:cNvSpPr txBox="1"/>
          <p:nvPr/>
        </p:nvSpPr>
        <p:spPr>
          <a:xfrm>
            <a:off x="7538162" y="6579898"/>
            <a:ext cx="4653838" cy="261610"/>
          </a:xfrm>
          <a:prstGeom prst="rect">
            <a:avLst/>
          </a:prstGeom>
          <a:noFill/>
        </p:spPr>
        <p:txBody>
          <a:bodyPr wrap="none" rtlCol="0">
            <a:spAutoFit/>
          </a:bodyPr>
          <a:lstStyle/>
          <a:p>
            <a:r>
              <a:rPr lang="en-US" sz="1100" kern="1200" dirty="0">
                <a:solidFill>
                  <a:schemeClr val="tx1"/>
                </a:solidFill>
                <a:effectLst/>
                <a:latin typeface="+mn-lt"/>
                <a:ea typeface="+mn-ea"/>
                <a:cs typeface="+mn-cs"/>
              </a:rPr>
              <a:t>© 2022, Amazon Web Services, Inc. or its affiliates. All rights reserved.</a:t>
            </a:r>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89129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Variant">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6640" y="6525216"/>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4293173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opic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6" y="292099"/>
            <a:ext cx="7315200" cy="6031789"/>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97522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Lab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1056CCF-5B21-4350-BF80-A3B57BA69974}"/>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6907F1CE-62F4-48CA-89F6-0B629152175D}"/>
              </a:ext>
            </a:extLst>
          </p:cNvPr>
          <p:cNvSpPr>
            <a:spLocks noGrp="1"/>
          </p:cNvSpPr>
          <p:nvPr>
            <p:ph type="sldNum" sz="quarter" idx="19"/>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7" y="292099"/>
            <a:ext cx="7315200" cy="603504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5644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emo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590C8418-C0F8-4BD5-BA8E-68B06A1A26FA}"/>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08C16C8F-F970-434B-A5D8-23375C792502}"/>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1D21189B-B67B-4124-B9C1-0445B174C37E}"/>
              </a:ext>
            </a:extLst>
          </p:cNvPr>
          <p:cNvSpPr>
            <a:spLocks noGrp="1"/>
          </p:cNvSpPr>
          <p:nvPr>
            <p:ph type="sldNum" sz="quarter" idx="2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5"/>
            <a:ext cx="3960813" cy="4069714"/>
          </a:xfrm>
        </p:spPr>
        <p:txBody>
          <a:bodyPr/>
          <a:lstStyle>
            <a:lvl1pPr marL="0" indent="0" algn="ctr">
              <a:buNone/>
              <a:defRPr>
                <a:solidFill>
                  <a:schemeClr val="bg1"/>
                </a:solidFill>
              </a:defRPr>
            </a:lvl1pPr>
          </a:lstStyle>
          <a:p>
            <a:r>
              <a:rPr lang="en-US" sz="2800" dirty="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8" y="292099"/>
            <a:ext cx="7315200" cy="603504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89833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F677F69B-2CBA-4CD5-BED4-788402F16D10}"/>
              </a:ext>
            </a:extLst>
          </p:cNvPr>
          <p:cNvSpPr>
            <a:spLocks noGrp="1"/>
          </p:cNvSpPr>
          <p:nvPr>
            <p:ph type="sldNum" sz="quarter" idx="12"/>
          </p:nvPr>
        </p:nvSpPr>
        <p:spPr>
          <a:xfrm>
            <a:off x="11469389" y="6445721"/>
            <a:ext cx="484261" cy="289591"/>
          </a:xfrm>
          <a:prstGeom prst="rect">
            <a:avLst/>
          </a:prstGeom>
        </p:spPr>
        <p:txBody>
          <a:bodyPr/>
          <a:lstStyle>
            <a:lvl1pPr>
              <a:defRPr sz="1100">
                <a:solidFill>
                  <a:schemeClr val="bg1"/>
                </a:solidFill>
              </a:defRPr>
            </a:lvl1pPr>
          </a:lstStyle>
          <a:p>
            <a:fld id="{363DB862-5E2B-42BB-8337-D46E9881345F}" type="slidenum">
              <a:rPr lang="en-US" smtClean="0"/>
              <a:pPr/>
              <a:t>‹#›</a:t>
            </a:fld>
            <a:endParaRPr lang="en-US" dirty="0"/>
          </a:p>
        </p:txBody>
      </p:sp>
      <p:sp>
        <p:nvSpPr>
          <p:cNvPr id="12" name="Title">
            <a:extLst>
              <a:ext uri="{FF2B5EF4-FFF2-40B4-BE49-F238E27FC236}">
                <a16:creationId xmlns:a16="http://schemas.microsoft.com/office/drawing/2014/main" id="{19F4B46F-8918-4F56-950E-E5BF7CF82322}"/>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dirty="0"/>
              <a:t>Thank you text</a:t>
            </a:r>
          </a:p>
        </p:txBody>
      </p:sp>
      <p:sp>
        <p:nvSpPr>
          <p:cNvPr id="13" name="Text Placeholder 4">
            <a:extLst>
              <a:ext uri="{FF2B5EF4-FFF2-40B4-BE49-F238E27FC236}">
                <a16:creationId xmlns:a16="http://schemas.microsoft.com/office/drawing/2014/main" id="{B78702CF-7EB1-4FBA-96A0-E24A909FF076}"/>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dirty="0"/>
              <a:t>Edit Master text styles</a:t>
            </a:r>
          </a:p>
        </p:txBody>
      </p:sp>
    </p:spTree>
    <p:custDataLst>
      <p:tags r:id="rId1"/>
    </p:custDataLst>
    <p:extLst>
      <p:ext uri="{BB962C8B-B14F-4D97-AF65-F5344CB8AC3E}">
        <p14:creationId xmlns:p14="http://schemas.microsoft.com/office/powerpoint/2010/main" val="137072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hank You Variant">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rcRect/>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12"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dirty="0">
                  <a:solidFill>
                    <a:schemeClr val="tx1"/>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9B49CB56-F51A-4490-AF1E-E4240987B76D}"/>
              </a:ext>
            </a:extLst>
          </p:cNvPr>
          <p:cNvSpPr>
            <a:spLocks noGrp="1"/>
          </p:cNvSpPr>
          <p:nvPr>
            <p:ph type="sldNum" sz="quarter" idx="10"/>
          </p:nvPr>
        </p:nvSpPr>
        <p:spPr>
          <a:xfrm>
            <a:off x="137658"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371599"/>
            <a:ext cx="10218737" cy="1396999"/>
          </a:xfrm>
        </p:spPr>
        <p:txBody>
          <a:bodyPr anchor="ctr"/>
          <a:lstStyle>
            <a:lvl1pPr>
              <a:defRPr sz="4400">
                <a:solidFill>
                  <a:schemeClr val="bg1"/>
                </a:solidFill>
              </a:defRPr>
            </a:lvl1pPr>
          </a:lstStyle>
          <a:p>
            <a:r>
              <a:rPr lang="en-US" dirty="0"/>
              <a:t>Thank you text</a:t>
            </a:r>
          </a:p>
        </p:txBody>
      </p:sp>
      <p:sp>
        <p:nvSpPr>
          <p:cNvPr id="7" name="Copyright">
            <a:extLst>
              <a:ext uri="{FF2B5EF4-FFF2-40B4-BE49-F238E27FC236}">
                <a16:creationId xmlns:a16="http://schemas.microsoft.com/office/drawing/2014/main" id="{BAAF9A30-4DFD-4F8D-9003-F977112E6788}"/>
              </a:ext>
            </a:extLst>
          </p:cNvPr>
          <p:cNvSpPr>
            <a:spLocks noGrp="1"/>
          </p:cNvSpPr>
          <p:nvPr>
            <p:ph type="body" idx="1" hasCustomPrompt="1"/>
          </p:nvPr>
        </p:nvSpPr>
        <p:spPr>
          <a:xfrm>
            <a:off x="668338" y="2768600"/>
            <a:ext cx="10218737" cy="1558925"/>
          </a:xfrm>
        </p:spPr>
        <p:txBody>
          <a:bodyPr>
            <a:normAutofit/>
          </a:bodyPr>
          <a:lstStyle>
            <a:lvl1pPr marL="0" indent="0">
              <a:buNone/>
              <a:defRPr sz="1800">
                <a:solidFill>
                  <a:schemeClr val="bg2"/>
                </a:solidFill>
              </a:defRPr>
            </a:lvl1pPr>
            <a:lvl2pPr marL="341313" indent="0">
              <a:buNone/>
              <a:defRPr/>
            </a:lvl2pPr>
            <a:lvl3pPr marL="625475" indent="0">
              <a:buNone/>
              <a:defRPr/>
            </a:lvl3pPr>
            <a:lvl4pPr marL="911225" indent="0">
              <a:buNone/>
              <a:defRPr/>
            </a:lvl4pPr>
            <a:lvl5pPr marL="1255713" indent="0">
              <a:buNone/>
              <a:defRPr/>
            </a:lvl5pPr>
          </a:lstStyle>
          <a:p>
            <a:pPr lvl="0"/>
            <a:r>
              <a:rPr lang="en-US" dirty="0"/>
              <a:t>Enter copyright statement.</a:t>
            </a:r>
          </a:p>
        </p:txBody>
      </p:sp>
    </p:spTree>
    <p:custDataLst>
      <p:tags r:id="rId1"/>
    </p:custDataLst>
    <p:extLst>
      <p:ext uri="{BB962C8B-B14F-4D97-AF65-F5344CB8AC3E}">
        <p14:creationId xmlns:p14="http://schemas.microsoft.com/office/powerpoint/2010/main" val="367739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12"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1"/>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1"/>
                </a:solidFill>
              </a:defRPr>
            </a:lvl1pPr>
          </a:lstStyle>
          <a:p>
            <a:pPr lvl="0"/>
            <a:r>
              <a:rPr lang="en-US" dirty="0"/>
              <a:t>Enter quoted person’s name</a:t>
            </a:r>
          </a:p>
        </p:txBody>
      </p:sp>
      <p:sp>
        <p:nvSpPr>
          <p:cNvPr id="14" name="Slide Number">
            <a:extLst>
              <a:ext uri="{FF2B5EF4-FFF2-40B4-BE49-F238E27FC236}">
                <a16:creationId xmlns:a16="http://schemas.microsoft.com/office/drawing/2014/main" id="{C8840ABD-2650-4199-982B-E8F97C5823BD}"/>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Tree>
    <p:custDataLst>
      <p:tags r:id="rId1"/>
    </p:custDataLst>
    <p:extLst>
      <p:ext uri="{BB962C8B-B14F-4D97-AF65-F5344CB8AC3E}">
        <p14:creationId xmlns:p14="http://schemas.microsoft.com/office/powerpoint/2010/main" val="1191416564"/>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E9D2CE50-9EF5-41CF-94BD-9DA96E183D65}"/>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5" name="Content">
            <a:extLst>
              <a:ext uri="{FF2B5EF4-FFF2-40B4-BE49-F238E27FC236}">
                <a16:creationId xmlns:a16="http://schemas.microsoft.com/office/drawing/2014/main" id="{8A73B5A2-5001-4FA4-B113-0F6124F1F6A0}"/>
              </a:ext>
            </a:extLst>
          </p:cNvPr>
          <p:cNvSpPr>
            <a:spLocks noGrp="1"/>
          </p:cNvSpPr>
          <p:nvPr>
            <p:ph type="body" idx="1" hasCustomPrompt="1"/>
          </p:nvPr>
        </p:nvSpPr>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959280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d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71A5E590-E321-4CED-8720-07AC22B296BD}"/>
              </a:ext>
            </a:extLst>
          </p:cNvPr>
          <p:cNvSpPr>
            <a:spLocks noGrp="1"/>
          </p:cNvSpPr>
          <p:nvPr>
            <p:ph type="sldNum" sz="quarter" idx="14"/>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dirty="0"/>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268145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Text Column, and Small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517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Header, Text, and Small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54665"/>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1309362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2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0536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2 Code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2175047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2 Headers, and 2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and 2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0974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0974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27428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20"/>
            <a:ext cx="5669280" cy="5398901"/>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365948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5669280" cy="2639293"/>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4"/>
            <a:ext cx="5669280" cy="2639293"/>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4676910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3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3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366904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3 Headers, and 3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and 3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694444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5608030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4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6702989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6576"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50741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8 Small Pictures, 8 Headers, and 8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0E189EDB-562D-4D7A-BCB4-14FBDC641A8C}"/>
              </a:ext>
            </a:extLst>
          </p:cNvPr>
          <p:cNvSpPr>
            <a:spLocks noGrp="1"/>
          </p:cNvSpPr>
          <p:nvPr>
            <p:ph type="sldNum" sz="quarter" idx="39"/>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Four-column layout with subtitles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869175685"/>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358D1B1C-BB6D-4656-A627-256D6300DBE3}"/>
              </a:ext>
            </a:extLst>
          </p:cNvPr>
          <p:cNvSpPr>
            <a:spLocks noGrp="1"/>
          </p:cNvSpPr>
          <p:nvPr>
            <p:ph type="sldNum" sz="quarter" idx="27"/>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Four-column layout with subtitles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106808248"/>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9966069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6173320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Blank">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blank layout</a:t>
            </a:r>
          </a:p>
        </p:txBody>
      </p:sp>
    </p:spTree>
    <p:custDataLst>
      <p:tags r:id="rId1"/>
    </p:custDataLst>
    <p:extLst>
      <p:ext uri="{BB962C8B-B14F-4D97-AF65-F5344CB8AC3E}">
        <p14:creationId xmlns:p14="http://schemas.microsoft.com/office/powerpoint/2010/main" val="2048326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mall Title and Archite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dirty="0"/>
              <a:t>Architecture layout</a:t>
            </a:r>
          </a:p>
        </p:txBody>
      </p:sp>
    </p:spTree>
    <p:custDataLst>
      <p:tags r:id="rId1"/>
    </p:custDataLst>
    <p:extLst>
      <p:ext uri="{BB962C8B-B14F-4D97-AF65-F5344CB8AC3E}">
        <p14:creationId xmlns:p14="http://schemas.microsoft.com/office/powerpoint/2010/main" val="7887662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Full Bleed Imag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dirty="0"/>
              <a:t>Architecture layout</a:t>
            </a:r>
          </a:p>
        </p:txBody>
      </p:sp>
      <p:sp>
        <p:nvSpPr>
          <p:cNvPr id="11" name="Picture">
            <a:extLst>
              <a:ext uri="{FF2B5EF4-FFF2-40B4-BE49-F238E27FC236}">
                <a16:creationId xmlns:a16="http://schemas.microsoft.com/office/drawing/2014/main" id="{0381C651-7A78-4580-9017-44C97E7FD95A}"/>
              </a:ext>
              <a:ext uri="{C183D7F6-B498-43B3-948B-1728B52AA6E4}">
                <adec:decorative xmlns:adec="http://schemas.microsoft.com/office/drawing/2017/decorative" val="0"/>
              </a:ext>
            </a:extLst>
          </p:cNvPr>
          <p:cNvSpPr>
            <a:spLocks noGrp="1"/>
          </p:cNvSpPr>
          <p:nvPr>
            <p:ph idx="1" hasCustomPrompt="1"/>
          </p:nvPr>
        </p:nvSpPr>
        <p:spPr>
          <a:xfrm>
            <a:off x="0" y="611150"/>
            <a:ext cx="12192000" cy="5745583"/>
          </a:xfrm>
        </p:spPr>
        <p:txBody>
          <a:bodyPr anchor="ctr"/>
          <a:lstStyle>
            <a:lvl1pPr marL="0" indent="0" algn="ctr">
              <a:buNone/>
              <a:defRPr/>
            </a:lvl1pPr>
          </a:lstStyle>
          <a:p>
            <a:r>
              <a:rPr lang="en-US" dirty="0"/>
              <a:t>Click to add image</a:t>
            </a:r>
          </a:p>
          <a:p>
            <a:r>
              <a:rPr lang="en-US" dirty="0"/>
              <a:t>Full bleed</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31863755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Gallary">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noSelect="1"/>
          </p:cNvSpPr>
          <p:nvPr>
            <p:ph type="sldNum" sz="quarter" idx="10"/>
          </p:nvPr>
        </p:nvSpPr>
        <p:spPr>
          <a:xfrm>
            <a:off x="11469389" y="6445721"/>
            <a:ext cx="484261" cy="289591"/>
          </a:xfrm>
          <a:prstGeom prst="rect">
            <a:avLst/>
          </a:prstGeom>
        </p:spPr>
        <p:txBody>
          <a:body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dirty="0"/>
              <a:t>Title only layout</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8353139"/>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KC-Vertical-Question">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44148AD-FBE4-4610-A02B-F09937856BFE}"/>
              </a:ext>
              <a:ext uri="{C183D7F6-B498-43B3-948B-1728B52AA6E4}">
                <adec:decorative xmlns:adec="http://schemas.microsoft.com/office/drawing/2017/decorative" val="1"/>
              </a:ext>
            </a:extLst>
          </p:cNvPr>
          <p:cNvGrpSpPr/>
          <p:nvPr/>
        </p:nvGrpSpPr>
        <p:grpSpPr>
          <a:xfrm>
            <a:off x="0" y="1"/>
            <a:ext cx="12192000" cy="6858000"/>
            <a:chOff x="0" y="1"/>
            <a:chExt cx="12192000" cy="6858000"/>
          </a:xfrm>
        </p:grpSpPr>
        <p:sp>
          <p:nvSpPr>
            <p:cNvPr id="92" name="BKG-TP">
              <a:extLst>
                <a:ext uri="{FF2B5EF4-FFF2-40B4-BE49-F238E27FC236}">
                  <a16:creationId xmlns:a16="http://schemas.microsoft.com/office/drawing/2014/main" id="{EE0FEDDA-942B-48BE-AAB8-C426A48B446B}"/>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8926E20E-BC19-41F8-A693-C36187128391}"/>
                </a:ext>
                <a:ext uri="{C183D7F6-B498-43B3-948B-1728B52AA6E4}">
                  <adec:decorative xmlns:adec="http://schemas.microsoft.com/office/drawing/2017/decorative" val="1"/>
                </a:ext>
              </a:extLst>
            </p:cNvPr>
            <p:cNvSpPr/>
            <p:nvPr/>
          </p:nvSpPr>
          <p:spPr>
            <a:xfrm>
              <a:off x="4584699" y="1005354"/>
              <a:ext cx="7607301" cy="54411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98" name="AWS Logo">
              <a:extLst>
                <a:ext uri="{FF2B5EF4-FFF2-40B4-BE49-F238E27FC236}">
                  <a16:creationId xmlns:a16="http://schemas.microsoft.com/office/drawing/2014/main" id="{13179500-6F1A-4F08-95D3-20B705F0686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5"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4ADB9219-F2B8-4503-92E5-3B4A6A10A1E8}"/>
              </a:ext>
            </a:extLst>
          </p:cNvPr>
          <p:cNvSpPr>
            <a:spLocks noGrp="1"/>
          </p:cNvSpPr>
          <p:nvPr>
            <p:ph type="sldNum" sz="quarter" idx="10"/>
          </p:nvPr>
        </p:nvSpPr>
        <p:spPr>
          <a:xfrm>
            <a:off x="11466576" y="6446520"/>
            <a:ext cx="484261" cy="289591"/>
          </a:xfrm>
          <a:prstGeom prst="rect">
            <a:avLst/>
          </a:prstGeom>
        </p:spPr>
        <p:txBody>
          <a:bodyPr/>
          <a:lstStyle>
            <a:lvl1pPr>
              <a:defRPr sz="1100">
                <a:solidFill>
                  <a:schemeClr val="bg2"/>
                </a:solidFill>
              </a:defRPr>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41164"/>
          </a:xfrm>
          <a:solidFill>
            <a:schemeClr val="accent1"/>
          </a:solidFill>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Response A">
            <a:extLst>
              <a:ext uri="{FF2B5EF4-FFF2-40B4-BE49-F238E27FC236}">
                <a16:creationId xmlns:a16="http://schemas.microsoft.com/office/drawing/2014/main" id="{DF65B8F8-C411-4217-9956-036774AA94F8}"/>
              </a:ext>
            </a:extLst>
          </p:cNvPr>
          <p:cNvSpPr>
            <a:spLocks noGrp="1"/>
          </p:cNvSpPr>
          <p:nvPr>
            <p:ph type="body" idx="8" hasCustomPrompt="1"/>
          </p:nvPr>
        </p:nvSpPr>
        <p:spPr>
          <a:xfrm>
            <a:off x="4584699" y="1344286"/>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Response A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429250" y="1344286"/>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Response B">
            <a:extLst>
              <a:ext uri="{FF2B5EF4-FFF2-40B4-BE49-F238E27FC236}">
                <a16:creationId xmlns:a16="http://schemas.microsoft.com/office/drawing/2014/main" id="{B27347F1-D178-4BA7-947D-9C3316CA7F55}"/>
              </a:ext>
            </a:extLst>
          </p:cNvPr>
          <p:cNvSpPr>
            <a:spLocks noGrp="1"/>
          </p:cNvSpPr>
          <p:nvPr>
            <p:ph type="body" idx="9" hasCustomPrompt="1"/>
          </p:nvPr>
        </p:nvSpPr>
        <p:spPr>
          <a:xfrm>
            <a:off x="4584699" y="2197687"/>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Response B Text">
            <a:extLst>
              <a:ext uri="{FF2B5EF4-FFF2-40B4-BE49-F238E27FC236}">
                <a16:creationId xmlns:a16="http://schemas.microsoft.com/office/drawing/2014/main" id="{9762E385-4F68-4D4A-BE57-EDA108A285B5}"/>
              </a:ext>
            </a:extLst>
          </p:cNvPr>
          <p:cNvSpPr>
            <a:spLocks noGrp="1"/>
          </p:cNvSpPr>
          <p:nvPr>
            <p:ph type="body" idx="3" hasCustomPrompt="1"/>
          </p:nvPr>
        </p:nvSpPr>
        <p:spPr>
          <a:xfrm>
            <a:off x="5429250" y="2197687"/>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Response C">
            <a:extLst>
              <a:ext uri="{FF2B5EF4-FFF2-40B4-BE49-F238E27FC236}">
                <a16:creationId xmlns:a16="http://schemas.microsoft.com/office/drawing/2014/main" id="{2ACAFB9D-8E9C-4408-85E1-A3501374C2E9}"/>
              </a:ext>
            </a:extLst>
          </p:cNvPr>
          <p:cNvSpPr>
            <a:spLocks noGrp="1"/>
          </p:cNvSpPr>
          <p:nvPr>
            <p:ph type="body" idx="10" hasCustomPrompt="1"/>
          </p:nvPr>
        </p:nvSpPr>
        <p:spPr>
          <a:xfrm>
            <a:off x="4584699" y="3042542"/>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Response C Text">
            <a:extLst>
              <a:ext uri="{FF2B5EF4-FFF2-40B4-BE49-F238E27FC236}">
                <a16:creationId xmlns:a16="http://schemas.microsoft.com/office/drawing/2014/main" id="{22884D39-7004-49D5-8E88-C45BE1C9BFCB}"/>
              </a:ext>
            </a:extLst>
          </p:cNvPr>
          <p:cNvSpPr>
            <a:spLocks noGrp="1"/>
          </p:cNvSpPr>
          <p:nvPr>
            <p:ph type="body" idx="4" hasCustomPrompt="1"/>
          </p:nvPr>
        </p:nvSpPr>
        <p:spPr>
          <a:xfrm>
            <a:off x="5429250" y="3042542"/>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Response D">
            <a:extLst>
              <a:ext uri="{FF2B5EF4-FFF2-40B4-BE49-F238E27FC236}">
                <a16:creationId xmlns:a16="http://schemas.microsoft.com/office/drawing/2014/main" id="{310C83DA-41AE-4CBA-AA96-EB5CB2226FCF}"/>
              </a:ext>
            </a:extLst>
          </p:cNvPr>
          <p:cNvSpPr>
            <a:spLocks noGrp="1"/>
          </p:cNvSpPr>
          <p:nvPr>
            <p:ph type="body" idx="11" hasCustomPrompt="1"/>
          </p:nvPr>
        </p:nvSpPr>
        <p:spPr>
          <a:xfrm>
            <a:off x="4584699" y="3878850"/>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Response D Text">
            <a:extLst>
              <a:ext uri="{FF2B5EF4-FFF2-40B4-BE49-F238E27FC236}">
                <a16:creationId xmlns:a16="http://schemas.microsoft.com/office/drawing/2014/main" id="{AEE05FA0-DD58-4D0B-A7E0-EAC7B789E7A7}"/>
              </a:ext>
            </a:extLst>
          </p:cNvPr>
          <p:cNvSpPr>
            <a:spLocks noGrp="1"/>
          </p:cNvSpPr>
          <p:nvPr>
            <p:ph type="body" idx="5" hasCustomPrompt="1"/>
          </p:nvPr>
        </p:nvSpPr>
        <p:spPr>
          <a:xfrm>
            <a:off x="5429250" y="3878850"/>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Response E">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84699" y="4717905"/>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Response E Text">
            <a:extLst>
              <a:ext uri="{FF2B5EF4-FFF2-40B4-BE49-F238E27FC236}">
                <a16:creationId xmlns:a16="http://schemas.microsoft.com/office/drawing/2014/main" id="{B428E384-92E9-495A-9CAE-E33E3164F939}"/>
              </a:ext>
            </a:extLst>
          </p:cNvPr>
          <p:cNvSpPr>
            <a:spLocks noGrp="1"/>
          </p:cNvSpPr>
          <p:nvPr>
            <p:ph type="body" idx="6" hasCustomPrompt="1"/>
          </p:nvPr>
        </p:nvSpPr>
        <p:spPr>
          <a:xfrm>
            <a:off x="5429250" y="4717905"/>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Response F">
            <a:extLst>
              <a:ext uri="{FF2B5EF4-FFF2-40B4-BE49-F238E27FC236}">
                <a16:creationId xmlns:a16="http://schemas.microsoft.com/office/drawing/2014/main" id="{DC41B7B5-B438-4885-90AE-758ABF2CA9F9}"/>
              </a:ext>
            </a:extLst>
          </p:cNvPr>
          <p:cNvSpPr>
            <a:spLocks noGrp="1"/>
          </p:cNvSpPr>
          <p:nvPr>
            <p:ph type="body" idx="13" hasCustomPrompt="1"/>
          </p:nvPr>
        </p:nvSpPr>
        <p:spPr>
          <a:xfrm>
            <a:off x="4584699" y="5571303"/>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Response F Text">
            <a:extLst>
              <a:ext uri="{FF2B5EF4-FFF2-40B4-BE49-F238E27FC236}">
                <a16:creationId xmlns:a16="http://schemas.microsoft.com/office/drawing/2014/main" id="{09F72B28-4CF6-4FD1-BA4A-5A98215324E2}"/>
              </a:ext>
            </a:extLst>
          </p:cNvPr>
          <p:cNvSpPr>
            <a:spLocks noGrp="1"/>
          </p:cNvSpPr>
          <p:nvPr>
            <p:ph type="body" idx="7" hasCustomPrompt="1"/>
          </p:nvPr>
        </p:nvSpPr>
        <p:spPr>
          <a:xfrm>
            <a:off x="5429250" y="5571303"/>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0568726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KC-Vertical-Answ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E45E85F-AC1E-48C6-9D1E-EE52A57E4949}"/>
              </a:ext>
              <a:ext uri="{C183D7F6-B498-43B3-948B-1728B52AA6E4}">
                <adec:decorative xmlns:adec="http://schemas.microsoft.com/office/drawing/2017/decorative" val="1"/>
              </a:ext>
            </a:extLst>
          </p:cNvPr>
          <p:cNvGrpSpPr/>
          <p:nvPr/>
        </p:nvGrpSpPr>
        <p:grpSpPr>
          <a:xfrm>
            <a:off x="0" y="1"/>
            <a:ext cx="12192000" cy="6858000"/>
            <a:chOff x="0" y="1"/>
            <a:chExt cx="12192000" cy="6858000"/>
          </a:xfrm>
        </p:grpSpPr>
        <p:sp>
          <p:nvSpPr>
            <p:cNvPr id="92" name="BKG-TP">
              <a:extLst>
                <a:ext uri="{FF2B5EF4-FFF2-40B4-BE49-F238E27FC236}">
                  <a16:creationId xmlns:a16="http://schemas.microsoft.com/office/drawing/2014/main" id="{EE0FEDDA-942B-48BE-AAB8-C426A48B446B}"/>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8926E20E-BC19-41F8-A693-C36187128391}"/>
                </a:ext>
                <a:ext uri="{C183D7F6-B498-43B3-948B-1728B52AA6E4}">
                  <adec:decorative xmlns:adec="http://schemas.microsoft.com/office/drawing/2017/decorative" val="1"/>
                </a:ext>
              </a:extLst>
            </p:cNvPr>
            <p:cNvSpPr/>
            <p:nvPr/>
          </p:nvSpPr>
          <p:spPr>
            <a:xfrm>
              <a:off x="4584699" y="1005354"/>
              <a:ext cx="7607301" cy="5441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13179500-6F1A-4F08-95D3-20B705F0686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4ADB9219-F2B8-4503-92E5-3B4A6A10A1E8}"/>
              </a:ext>
            </a:extLst>
          </p:cNvPr>
          <p:cNvSpPr>
            <a:spLocks noGrp="1"/>
          </p:cNvSpPr>
          <p:nvPr>
            <p:ph type="sldNum" sz="quarter" idx="10"/>
          </p:nvPr>
        </p:nvSpPr>
        <p:spPr>
          <a:xfrm>
            <a:off x="11466576" y="6446520"/>
            <a:ext cx="484261" cy="289591"/>
          </a:xfrm>
          <a:prstGeom prst="rect">
            <a:avLst/>
          </a:prstGeom>
        </p:spPr>
        <p:txBody>
          <a:bodyPr/>
          <a:lstStyle>
            <a:lvl1pPr>
              <a:defRPr sz="1100">
                <a:solidFill>
                  <a:schemeClr val="bg2"/>
                </a:solidFill>
              </a:defRPr>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41163"/>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5" y="1420596"/>
            <a:ext cx="7309485" cy="5025923"/>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6630261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KC-Horizontal-Question">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1384477F-E4BD-4991-B78C-EDBAD7FAF778}"/>
              </a:ext>
            </a:extLst>
          </p:cNvPr>
          <p:cNvSpPr>
            <a:spLocks noGrp="1" noSelect="1"/>
          </p:cNvSpPr>
          <p:nvPr>
            <p:ph type="sldNum" sz="quarter" idx="4"/>
          </p:nvPr>
        </p:nvSpPr>
        <p:spPr>
          <a:xfrm>
            <a:off x="11469389" y="6445721"/>
            <a:ext cx="484261" cy="289591"/>
          </a:xfrm>
          <a:prstGeom prst="rect">
            <a:avLst/>
          </a:prstGeom>
        </p:spPr>
        <p:txBody>
          <a:bodyPr/>
          <a:lstStyle>
            <a:lvl1pPr>
              <a:defRPr>
                <a:solidFill>
                  <a:schemeClr val="tx2"/>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Response A">
            <a:extLst>
              <a:ext uri="{FF2B5EF4-FFF2-40B4-BE49-F238E27FC236}">
                <a16:creationId xmlns:a16="http://schemas.microsoft.com/office/drawing/2014/main" id="{B4EC449C-918E-4AF9-9E90-0E8D47CF3DD9}"/>
              </a:ext>
            </a:extLst>
          </p:cNvPr>
          <p:cNvSpPr>
            <a:spLocks noGrp="1"/>
          </p:cNvSpPr>
          <p:nvPr>
            <p:ph type="body" idx="8" hasCustomPrompt="1"/>
          </p:nvPr>
        </p:nvSpPr>
        <p:spPr>
          <a:xfrm>
            <a:off x="1" y="2427252"/>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Response A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Response B">
            <a:extLst>
              <a:ext uri="{FF2B5EF4-FFF2-40B4-BE49-F238E27FC236}">
                <a16:creationId xmlns:a16="http://schemas.microsoft.com/office/drawing/2014/main" id="{05FFB414-A546-4A6C-B7E8-B6D9C7AC88C9}"/>
              </a:ext>
            </a:extLst>
          </p:cNvPr>
          <p:cNvSpPr>
            <a:spLocks noGrp="1"/>
          </p:cNvSpPr>
          <p:nvPr>
            <p:ph type="body" idx="9" hasCustomPrompt="1"/>
          </p:nvPr>
        </p:nvSpPr>
        <p:spPr>
          <a:xfrm>
            <a:off x="1" y="3095161"/>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Response B Text">
            <a:extLst>
              <a:ext uri="{FF2B5EF4-FFF2-40B4-BE49-F238E27FC236}">
                <a16:creationId xmlns:a16="http://schemas.microsoft.com/office/drawing/2014/main" id="{840EA72F-053D-43C4-A0AA-4F71D345F1E1}"/>
              </a:ext>
            </a:extLst>
          </p:cNvPr>
          <p:cNvSpPr>
            <a:spLocks noGrp="1"/>
          </p:cNvSpPr>
          <p:nvPr>
            <p:ph type="body" hasCustomPrompt="1"/>
          </p:nvPr>
        </p:nvSpPr>
        <p:spPr>
          <a:xfrm>
            <a:off x="907950" y="3095161"/>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Response C">
            <a:extLst>
              <a:ext uri="{FF2B5EF4-FFF2-40B4-BE49-F238E27FC236}">
                <a16:creationId xmlns:a16="http://schemas.microsoft.com/office/drawing/2014/main" id="{F00955FE-A162-474C-BFF8-0AB0FBF10130}"/>
              </a:ext>
            </a:extLst>
          </p:cNvPr>
          <p:cNvSpPr>
            <a:spLocks noGrp="1"/>
          </p:cNvSpPr>
          <p:nvPr>
            <p:ph type="body" idx="10" hasCustomPrompt="1"/>
          </p:nvPr>
        </p:nvSpPr>
        <p:spPr>
          <a:xfrm>
            <a:off x="1" y="3765577"/>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Response C Text">
            <a:extLst>
              <a:ext uri="{FF2B5EF4-FFF2-40B4-BE49-F238E27FC236}">
                <a16:creationId xmlns:a16="http://schemas.microsoft.com/office/drawing/2014/main" id="{55974934-D7D0-4C4C-B76C-558C1028590E}"/>
              </a:ext>
            </a:extLst>
          </p:cNvPr>
          <p:cNvSpPr>
            <a:spLocks noGrp="1"/>
          </p:cNvSpPr>
          <p:nvPr>
            <p:ph type="body" idx="4" hasCustomPrompt="1"/>
          </p:nvPr>
        </p:nvSpPr>
        <p:spPr>
          <a:xfrm>
            <a:off x="907950" y="3765577"/>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Response D">
            <a:extLst>
              <a:ext uri="{FF2B5EF4-FFF2-40B4-BE49-F238E27FC236}">
                <a16:creationId xmlns:a16="http://schemas.microsoft.com/office/drawing/2014/main" id="{9A682F4A-836A-42BD-B18F-482CDD9FE392}"/>
              </a:ext>
            </a:extLst>
          </p:cNvPr>
          <p:cNvSpPr>
            <a:spLocks noGrp="1"/>
          </p:cNvSpPr>
          <p:nvPr>
            <p:ph type="body" idx="11" hasCustomPrompt="1"/>
          </p:nvPr>
        </p:nvSpPr>
        <p:spPr>
          <a:xfrm>
            <a:off x="1" y="4436721"/>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Response D Text">
            <a:extLst>
              <a:ext uri="{FF2B5EF4-FFF2-40B4-BE49-F238E27FC236}">
                <a16:creationId xmlns:a16="http://schemas.microsoft.com/office/drawing/2014/main" id="{2A075B8F-DFA0-46B1-A70C-B12937892D4B}"/>
              </a:ext>
            </a:extLst>
          </p:cNvPr>
          <p:cNvSpPr>
            <a:spLocks noGrp="1"/>
          </p:cNvSpPr>
          <p:nvPr>
            <p:ph type="body" idx="5" hasCustomPrompt="1"/>
          </p:nvPr>
        </p:nvSpPr>
        <p:spPr>
          <a:xfrm>
            <a:off x="907950" y="4436721"/>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Response E">
            <a:extLst>
              <a:ext uri="{FF2B5EF4-FFF2-40B4-BE49-F238E27FC236}">
                <a16:creationId xmlns:a16="http://schemas.microsoft.com/office/drawing/2014/main" id="{B3A4AC8A-DBAB-477E-8F79-6EFB6340CE48}"/>
              </a:ext>
            </a:extLst>
          </p:cNvPr>
          <p:cNvSpPr>
            <a:spLocks noGrp="1"/>
          </p:cNvSpPr>
          <p:nvPr>
            <p:ph type="body" idx="12" hasCustomPrompt="1"/>
          </p:nvPr>
        </p:nvSpPr>
        <p:spPr>
          <a:xfrm>
            <a:off x="1" y="5111626"/>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Response E Text">
            <a:extLst>
              <a:ext uri="{FF2B5EF4-FFF2-40B4-BE49-F238E27FC236}">
                <a16:creationId xmlns:a16="http://schemas.microsoft.com/office/drawing/2014/main" id="{0B4A450D-E822-44AA-8298-11D531D74483}"/>
              </a:ext>
            </a:extLst>
          </p:cNvPr>
          <p:cNvSpPr>
            <a:spLocks noGrp="1"/>
          </p:cNvSpPr>
          <p:nvPr>
            <p:ph type="body" idx="6" hasCustomPrompt="1"/>
          </p:nvPr>
        </p:nvSpPr>
        <p:spPr>
          <a:xfrm>
            <a:off x="907950" y="5111626"/>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Response F">
            <a:extLst>
              <a:ext uri="{FF2B5EF4-FFF2-40B4-BE49-F238E27FC236}">
                <a16:creationId xmlns:a16="http://schemas.microsoft.com/office/drawing/2014/main" id="{4075988B-8657-4CA4-A4CB-EAEA7B298681}"/>
              </a:ext>
            </a:extLst>
          </p:cNvPr>
          <p:cNvSpPr>
            <a:spLocks noGrp="1"/>
          </p:cNvSpPr>
          <p:nvPr>
            <p:ph type="body" idx="13" hasCustomPrompt="1"/>
          </p:nvPr>
        </p:nvSpPr>
        <p:spPr>
          <a:xfrm>
            <a:off x="1" y="5789014"/>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Response F Text">
            <a:extLst>
              <a:ext uri="{FF2B5EF4-FFF2-40B4-BE49-F238E27FC236}">
                <a16:creationId xmlns:a16="http://schemas.microsoft.com/office/drawing/2014/main" id="{327445DD-9D42-491C-969B-C7919BE2E3F0}"/>
              </a:ext>
            </a:extLst>
          </p:cNvPr>
          <p:cNvSpPr>
            <a:spLocks noGrp="1"/>
          </p:cNvSpPr>
          <p:nvPr>
            <p:ph type="body" idx="7" hasCustomPrompt="1"/>
          </p:nvPr>
        </p:nvSpPr>
        <p:spPr>
          <a:xfrm>
            <a:off x="907950" y="5789014"/>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783900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KC-Horizontal-Answ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BC7B315-7F0D-4E47-99F5-36D169DF767E}"/>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5F602DA0-A523-4504-8B32-D5AD20FED3A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20950" y="257149"/>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1384477F-E4BD-4991-B78C-EDBAD7FAF778}"/>
              </a:ext>
            </a:extLst>
          </p:cNvPr>
          <p:cNvSpPr>
            <a:spLocks noGrp="1" noSelect="1"/>
          </p:cNvSpPr>
          <p:nvPr>
            <p:ph type="sldNum" sz="quarter" idx="4"/>
          </p:nvPr>
        </p:nvSpPr>
        <p:spPr>
          <a:xfrm>
            <a:off x="11469389" y="6445721"/>
            <a:ext cx="484261" cy="289591"/>
          </a:xfrm>
          <a:prstGeom prst="rect">
            <a:avLst/>
          </a:prstGeom>
        </p:spPr>
        <p:txBody>
          <a:bodyPr/>
          <a:lstStyle>
            <a:lvl1pPr>
              <a:defRPr>
                <a:solidFill>
                  <a:schemeClr val="tx2"/>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514328"/>
            <a:ext cx="11284050" cy="3931393"/>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0265225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a:solidFill>
                  <a:schemeClr val="tx1"/>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1"/>
                </a:solidFill>
              </a:defRPr>
            </a:lvl1pPr>
          </a:lstStyle>
          <a:p>
            <a:r>
              <a:rPr lang="en-US" dirty="0"/>
              <a:t>Title only layout</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pyright">
            <a:extLst>
              <a:ext uri="{FF2B5EF4-FFF2-40B4-BE49-F238E27FC236}">
                <a16:creationId xmlns:a16="http://schemas.microsoft.com/office/drawing/2014/main" id="{C7647A24-A423-4CD0-AC89-A092FB74F323}"/>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5298670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Vertical Title and Conten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a:solidFill>
                  <a:schemeClr val="tx1"/>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49547" y="2779607"/>
            <a:ext cx="6076058"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1"/>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076059"/>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25170"/>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pyright">
            <a:extLst>
              <a:ext uri="{FF2B5EF4-FFF2-40B4-BE49-F238E27FC236}">
                <a16:creationId xmlns:a16="http://schemas.microsoft.com/office/drawing/2014/main" id="{F46B110E-7703-46F4-9D45-B44EB738E4E6}"/>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1617906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KC-AcademyQuestion">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a:prstGeom prst="rect">
            <a:avLst/>
          </a:prstGeom>
        </p:spPr>
        <p:txBody>
          <a:bodyPr/>
          <a:lstStyle>
            <a:lvl1pPr>
              <a:defRPr sz="1100">
                <a:solidFill>
                  <a:schemeClr val="tx2"/>
                </a:solidFill>
                <a:latin typeface="+mn-lt"/>
              </a:defRPr>
            </a:lvl1pPr>
          </a:lstStyle>
          <a:p>
            <a:fld id="{B23121D6-781A-4B6C-8D9B-3A8188A614AE}" type="slidenum">
              <a:rPr lang="en-US" smtClean="0"/>
              <a:t>‹#›</a:t>
            </a:fld>
            <a:endParaRPr lang="en-US" dirty="0"/>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p:nvPr>
        </p:nvSpPr>
        <p:spPr>
          <a:xfrm>
            <a:off x="179239" y="179881"/>
            <a:ext cx="11771597" cy="498849"/>
          </a:xfrm>
        </p:spPr>
        <p:txBody>
          <a:bodyPr/>
          <a:lstStyle>
            <a:lvl1pPr>
              <a:defRPr>
                <a:solidFill>
                  <a:schemeClr val="tx2"/>
                </a:solidFill>
              </a:defRPr>
            </a:lvl1pPr>
          </a:lstStyle>
          <a:p>
            <a:endParaRPr lang="en-US" dirty="0"/>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18288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8" name="Copyright">
            <a:extLst>
              <a:ext uri="{FF2B5EF4-FFF2-40B4-BE49-F238E27FC236}">
                <a16:creationId xmlns:a16="http://schemas.microsoft.com/office/drawing/2014/main" id="{06187B9E-C23C-4145-AC3C-CB40D86E4F8D}"/>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149045743"/>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578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1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363DB862-5E2B-42BB-8337-D46E9881345F}" type="slidenum">
              <a:rPr lang="en-US" smtClean="0"/>
              <a:pPr/>
              <a:t>‹#›</a:t>
            </a:fld>
            <a:endParaRPr lang="en-US" dirty="0"/>
          </a:p>
        </p:txBody>
      </p:sp>
      <p:pic>
        <p:nvPicPr>
          <p:cNvPr id="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43" cstate="screen">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243599" y="6452308"/>
            <a:ext cx="366979" cy="219456"/>
          </a:xfrm>
          <a:prstGeom prst="rect">
            <a:avLst/>
          </a:prstGeom>
        </p:spPr>
      </p:pic>
    </p:spTree>
    <p:custDataLst>
      <p:tags r:id="rId42"/>
    </p:custDataLst>
    <p:extLst>
      <p:ext uri="{BB962C8B-B14F-4D97-AF65-F5344CB8AC3E}">
        <p14:creationId xmlns:p14="http://schemas.microsoft.com/office/powerpoint/2010/main" val="1654468648"/>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 id="2147483812" r:id="rId28"/>
    <p:sldLayoutId id="2147483813" r:id="rId29"/>
    <p:sldLayoutId id="2147483814" r:id="rId30"/>
    <p:sldLayoutId id="2147483815" r:id="rId31"/>
    <p:sldLayoutId id="2147483816" r:id="rId32"/>
    <p:sldLayoutId id="2147483817" r:id="rId33"/>
    <p:sldLayoutId id="2147483818" r:id="rId34"/>
    <p:sldLayoutId id="2147483819" r:id="rId35"/>
    <p:sldLayoutId id="2147483820" r:id="rId36"/>
    <p:sldLayoutId id="2147483821" r:id="rId37"/>
    <p:sldLayoutId id="2147483822" r:id="rId38"/>
    <p:sldLayoutId id="2147483823" r:id="rId39"/>
    <p:sldLayoutId id="2147483827" r:id="rId40"/>
  </p:sldLayoutIdLst>
  <p:hf hdr="0" dt="0"/>
  <p:txStyles>
    <p:titleStyle>
      <a:lvl1pPr algn="l" defTabSz="914400" rtl="0" eaLnBrk="1" latinLnBrk="0" hangingPunct="1">
        <a:lnSpc>
          <a:spcPct val="100000"/>
        </a:lnSpc>
        <a:spcBef>
          <a:spcPct val="0"/>
        </a:spcBef>
        <a:buNone/>
        <a:defRPr sz="3200" kern="1200">
          <a:solidFill>
            <a:schemeClr val="tx2"/>
          </a:solidFill>
          <a:latin typeface="Amazon Ember Heavy" panose="020B0803020204020204" pitchFamily="34" charset="0"/>
          <a:ea typeface="Amazon Ember Heavy" panose="020B0803020204020204" pitchFamily="34" charset="0"/>
          <a:cs typeface="Amazon Ember Heavy" panose="020B0803020204020204" pitchFamily="34" charset="0"/>
        </a:defRPr>
      </a:lvl1pPr>
    </p:titleStyle>
    <p:bodyStyle>
      <a:lvl1pPr marL="228600" indent="-228600" algn="l" defTabSz="914400" rtl="0" eaLnBrk="1" latinLnBrk="0" hangingPunct="1">
        <a:lnSpc>
          <a:spcPct val="100000"/>
        </a:lnSpc>
        <a:spcBef>
          <a:spcPts val="1000"/>
        </a:spcBef>
        <a:spcAft>
          <a:spcPts val="600"/>
        </a:spcAft>
        <a:buFont typeface="Amazon Ember" panose="020B0604020202020204" pitchFamily="34" charset="0"/>
        <a:buChar char="•"/>
        <a:defRPr sz="2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569913" indent="-228600" algn="l" defTabSz="914400" rtl="0" eaLnBrk="1" latinLnBrk="0" hangingPunct="1">
        <a:lnSpc>
          <a:spcPct val="100000"/>
        </a:lnSpc>
        <a:spcBef>
          <a:spcPts val="500"/>
        </a:spcBef>
        <a:spcAft>
          <a:spcPts val="60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854075" indent="-228600" algn="l" defTabSz="914400" rtl="0" eaLnBrk="1" latinLnBrk="0" hangingPunct="1">
        <a:lnSpc>
          <a:spcPct val="100000"/>
        </a:lnSpc>
        <a:spcBef>
          <a:spcPts val="500"/>
        </a:spcBef>
        <a:spcAft>
          <a:spcPts val="60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1139825" indent="-228600" algn="l" defTabSz="914400" rtl="0" eaLnBrk="1" latinLnBrk="0" hangingPunct="1">
        <a:lnSpc>
          <a:spcPct val="100000"/>
        </a:lnSpc>
        <a:spcBef>
          <a:spcPts val="500"/>
        </a:spcBef>
        <a:spcAft>
          <a:spcPts val="60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484313" indent="-228600" algn="l" defTabSz="914400" rtl="0" eaLnBrk="1" latinLnBrk="0" hangingPunct="1">
        <a:lnSpc>
          <a:spcPct val="100000"/>
        </a:lnSpc>
        <a:spcBef>
          <a:spcPts val="500"/>
        </a:spcBef>
        <a:spcAft>
          <a:spcPts val="60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46.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47.xml"/><Relationship Id="rId5" Type="http://schemas.openxmlformats.org/officeDocument/2006/relationships/image" Target="../media/image14.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6.xml"/><Relationship Id="rId7" Type="http://schemas.openxmlformats.org/officeDocument/2006/relationships/image" Target="../media/image18.jpeg"/><Relationship Id="rId2" Type="http://schemas.openxmlformats.org/officeDocument/2006/relationships/slideLayout" Target="../slideLayouts/slideLayout29.xml"/><Relationship Id="rId1" Type="http://schemas.openxmlformats.org/officeDocument/2006/relationships/tags" Target="../tags/tag4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9.xml"/><Relationship Id="rId1" Type="http://schemas.openxmlformats.org/officeDocument/2006/relationships/tags" Target="../tags/tag49.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9.xml"/><Relationship Id="rId1" Type="http://schemas.openxmlformats.org/officeDocument/2006/relationships/tags" Target="../tags/tag50.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9.xml"/><Relationship Id="rId7" Type="http://schemas.openxmlformats.org/officeDocument/2006/relationships/image" Target="../media/image24.png"/><Relationship Id="rId2" Type="http://schemas.openxmlformats.org/officeDocument/2006/relationships/slideLayout" Target="../slideLayouts/slideLayout23.xml"/><Relationship Id="rId1" Type="http://schemas.openxmlformats.org/officeDocument/2006/relationships/tags" Target="../tags/tag5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5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3.xml"/><Relationship Id="rId1" Type="http://schemas.openxmlformats.org/officeDocument/2006/relationships/tags" Target="../tags/tag54.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55.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tags" Target="../tags/tag57.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58.xml"/><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59.xml"/><Relationship Id="rId4" Type="http://schemas.openxmlformats.org/officeDocument/2006/relationships/image" Target="../media/image31.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60.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tags" Target="../tags/tag6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6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6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65.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0.xml"/><Relationship Id="rId1" Type="http://schemas.openxmlformats.org/officeDocument/2006/relationships/tags" Target="../tags/tag6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0.xml"/><Relationship Id="rId1" Type="http://schemas.openxmlformats.org/officeDocument/2006/relationships/tags" Target="../tags/tag6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0.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6136A-8185-4CD0-98E4-74A9E9851BA4}"/>
              </a:ext>
            </a:extLst>
          </p:cNvPr>
          <p:cNvSpPr>
            <a:spLocks noGrp="1"/>
          </p:cNvSpPr>
          <p:nvPr>
            <p:ph type="title"/>
          </p:nvPr>
        </p:nvSpPr>
        <p:spPr/>
        <p:txBody>
          <a:bodyPr>
            <a:normAutofit/>
          </a:bodyPr>
          <a:lstStyle/>
          <a:p>
            <a:r>
              <a:rPr lang="en-US" dirty="0"/>
              <a:t>AWS Academy Data Engineering</a:t>
            </a:r>
          </a:p>
        </p:txBody>
      </p:sp>
    </p:spTree>
    <p:custDataLst>
      <p:tags r:id="rId1"/>
    </p:custDataLst>
    <p:extLst>
      <p:ext uri="{BB962C8B-B14F-4D97-AF65-F5344CB8AC3E}">
        <p14:creationId xmlns:p14="http://schemas.microsoft.com/office/powerpoint/2010/main" val="3318405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68298-83FB-4DB4-B752-E91050F32637}"/>
              </a:ext>
            </a:extLst>
          </p:cNvPr>
          <p:cNvSpPr>
            <a:spLocks noGrp="1"/>
          </p:cNvSpPr>
          <p:nvPr>
            <p:ph type="title"/>
          </p:nvPr>
        </p:nvSpPr>
        <p:spPr/>
        <p:txBody>
          <a:bodyPr/>
          <a:lstStyle/>
          <a:p>
            <a:r>
              <a:rPr lang="en-US" dirty="0"/>
              <a:t>Data-Driven Organizations</a:t>
            </a:r>
          </a:p>
        </p:txBody>
      </p:sp>
      <p:sp>
        <p:nvSpPr>
          <p:cNvPr id="5" name="Text Placeholder 4">
            <a:extLst>
              <a:ext uri="{FF2B5EF4-FFF2-40B4-BE49-F238E27FC236}">
                <a16:creationId xmlns:a16="http://schemas.microsoft.com/office/drawing/2014/main" id="{0147941B-33D0-4B61-A152-6EB64B4ED08C}"/>
              </a:ext>
            </a:extLst>
          </p:cNvPr>
          <p:cNvSpPr>
            <a:spLocks noGrp="1"/>
          </p:cNvSpPr>
          <p:nvPr>
            <p:ph type="subTitle" idx="1"/>
          </p:nvPr>
        </p:nvSpPr>
        <p:spPr/>
        <p:txBody>
          <a:bodyPr/>
          <a:lstStyle/>
          <a:p>
            <a:r>
              <a:rPr lang="en-US" dirty="0"/>
              <a:t>AWS Academy Data Engineering</a:t>
            </a:r>
          </a:p>
        </p:txBody>
      </p:sp>
    </p:spTree>
    <p:custDataLst>
      <p:tags r:id="rId1"/>
    </p:custDataLst>
    <p:extLst>
      <p:ext uri="{BB962C8B-B14F-4D97-AF65-F5344CB8AC3E}">
        <p14:creationId xmlns:p14="http://schemas.microsoft.com/office/powerpoint/2010/main" val="1695471215"/>
      </p:ext>
    </p:extLst>
  </p:cSld>
  <p:clrMapOvr>
    <a:masterClrMapping/>
  </p:clrMapOvr>
  <mc:AlternateContent xmlns:mc="http://schemas.openxmlformats.org/markup-compatibility/2006" xmlns:p14="http://schemas.microsoft.com/office/powerpoint/2010/main">
    <mc:Choice Requires="p14">
      <p:transition spd="slow" p14:dur="2000" advTm="6770"/>
    </mc:Choice>
    <mc:Fallback xmlns="">
      <p:transition spd="slow" advTm="67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65C6E2-9E97-46E9-B36B-3818BD79DDA0}"/>
              </a:ext>
            </a:extLst>
          </p:cNvPr>
          <p:cNvSpPr>
            <a:spLocks noGrp="1"/>
          </p:cNvSpPr>
          <p:nvPr>
            <p:ph type="title"/>
          </p:nvPr>
        </p:nvSpPr>
        <p:spPr/>
        <p:txBody>
          <a:bodyPr>
            <a:normAutofit/>
          </a:bodyPr>
          <a:lstStyle/>
          <a:p>
            <a:r>
              <a:rPr lang="en-US" dirty="0"/>
              <a:t>The data pipeline – infrastructure for data-driven decisions</a:t>
            </a:r>
          </a:p>
        </p:txBody>
      </p:sp>
      <p:sp>
        <p:nvSpPr>
          <p:cNvPr id="2" name="Subtitle 1">
            <a:extLst>
              <a:ext uri="{FF2B5EF4-FFF2-40B4-BE49-F238E27FC236}">
                <a16:creationId xmlns:a16="http://schemas.microsoft.com/office/drawing/2014/main" id="{262A6CC8-AFFB-42F1-987C-DED6B008A29F}"/>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225932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2"/>
          </p:nvPr>
        </p:nvSpPr>
        <p:spPr/>
        <p:txBody>
          <a:bodyPr/>
          <a:lstStyle/>
          <a:p>
            <a:fld id="{363DB862-5E2B-42BB-8337-D46E9881345F}" type="slidenum">
              <a:rPr lang="en-US" smtClean="0"/>
              <a:t>4</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p:txBody>
          <a:bodyPr/>
          <a:lstStyle/>
          <a:p>
            <a:r>
              <a:rPr lang="en-US" dirty="0"/>
              <a:t>A data pipeline in its simplest terms</a:t>
            </a:r>
          </a:p>
        </p:txBody>
      </p:sp>
      <p:grpSp>
        <p:nvGrpSpPr>
          <p:cNvPr id="8" name="Group 7">
            <a:extLst>
              <a:ext uri="{FF2B5EF4-FFF2-40B4-BE49-F238E27FC236}">
                <a16:creationId xmlns:a16="http://schemas.microsoft.com/office/drawing/2014/main" id="{1A2C1B94-B87A-473B-8F6C-0348FB1AA40E}"/>
              </a:ext>
            </a:extLst>
          </p:cNvPr>
          <p:cNvGrpSpPr/>
          <p:nvPr/>
        </p:nvGrpSpPr>
        <p:grpSpPr>
          <a:xfrm>
            <a:off x="1144121" y="3941873"/>
            <a:ext cx="2831690" cy="1747020"/>
            <a:chOff x="1144121" y="2732505"/>
            <a:chExt cx="2831690" cy="1747020"/>
          </a:xfrm>
        </p:grpSpPr>
        <p:sp>
          <p:nvSpPr>
            <p:cNvPr id="2" name="TextBox 1">
              <a:extLst>
                <a:ext uri="{FF2B5EF4-FFF2-40B4-BE49-F238E27FC236}">
                  <a16:creationId xmlns:a16="http://schemas.microsoft.com/office/drawing/2014/main" id="{7146F4EA-C415-40B8-A8D3-3C1014C05374}"/>
                </a:ext>
              </a:extLst>
            </p:cNvPr>
            <p:cNvSpPr txBox="1"/>
            <p:nvPr/>
          </p:nvSpPr>
          <p:spPr>
            <a:xfrm>
              <a:off x="1144121" y="4017860"/>
              <a:ext cx="2831690" cy="461665"/>
            </a:xfrm>
            <a:prstGeom prst="rect">
              <a:avLst/>
            </a:prstGeom>
            <a:noFill/>
          </p:spPr>
          <p:txBody>
            <a:bodyPr wrap="square" rtlCol="0">
              <a:spAutoFit/>
            </a:bodyPr>
            <a:lstStyle/>
            <a:p>
              <a:pPr algn="ctr"/>
              <a:r>
                <a:rPr lang="en-US" sz="2400" dirty="0"/>
                <a:t>Collect data</a:t>
              </a:r>
            </a:p>
          </p:txBody>
        </p:sp>
        <p:pic>
          <p:nvPicPr>
            <p:cNvPr id="13" name="Picture 1" descr="Messy pile of randomly colored plastic building blocks.">
              <a:extLst>
                <a:ext uri="{FF2B5EF4-FFF2-40B4-BE49-F238E27FC236}">
                  <a16:creationId xmlns:a16="http://schemas.microsoft.com/office/drawing/2014/main" id="{2D0674B7-0551-4FEF-B06E-91002B391C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16966" y="2732505"/>
              <a:ext cx="2286000" cy="1285355"/>
            </a:xfrm>
            <a:prstGeom prst="rect">
              <a:avLst/>
            </a:prstGeom>
          </p:spPr>
        </p:pic>
      </p:grpSp>
      <p:cxnSp>
        <p:nvCxnSpPr>
          <p:cNvPr id="17" name="Straight Arrow Connector 16">
            <a:extLst>
              <a:ext uri="{FF2B5EF4-FFF2-40B4-BE49-F238E27FC236}">
                <a16:creationId xmlns:a16="http://schemas.microsoft.com/office/drawing/2014/main" id="{38DB0129-EDF7-4231-B84A-B60CE02D9C5C}"/>
              </a:ext>
              <a:ext uri="{C183D7F6-B498-43B3-948B-1728B52AA6E4}">
                <adec:decorative xmlns:adec="http://schemas.microsoft.com/office/drawing/2017/decorative" val="1"/>
              </a:ext>
            </a:extLst>
          </p:cNvPr>
          <p:cNvCxnSpPr>
            <a:cxnSpLocks/>
          </p:cNvCxnSpPr>
          <p:nvPr/>
        </p:nvCxnSpPr>
        <p:spPr>
          <a:xfrm>
            <a:off x="3906620" y="4638368"/>
            <a:ext cx="701886" cy="0"/>
          </a:xfrm>
          <a:prstGeom prst="straightConnector1">
            <a:avLst/>
          </a:prstGeom>
          <a:ln w="44450">
            <a:solidFill>
              <a:schemeClr val="hlink"/>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5FF63A1D-4C79-4F60-AF0B-95664ACFEC06}"/>
              </a:ext>
            </a:extLst>
          </p:cNvPr>
          <p:cNvGrpSpPr/>
          <p:nvPr/>
        </p:nvGrpSpPr>
        <p:grpSpPr>
          <a:xfrm>
            <a:off x="4608506" y="3777789"/>
            <a:ext cx="2831690" cy="2280436"/>
            <a:chOff x="4608506" y="2568421"/>
            <a:chExt cx="2831690" cy="2280436"/>
          </a:xfrm>
        </p:grpSpPr>
        <p:sp>
          <p:nvSpPr>
            <p:cNvPr id="11" name="TextBox 10">
              <a:extLst>
                <a:ext uri="{FF2B5EF4-FFF2-40B4-BE49-F238E27FC236}">
                  <a16:creationId xmlns:a16="http://schemas.microsoft.com/office/drawing/2014/main" id="{5A68A65F-150C-42FB-9412-6D47A0E4BE11}"/>
                </a:ext>
              </a:extLst>
            </p:cNvPr>
            <p:cNvSpPr txBox="1"/>
            <p:nvPr/>
          </p:nvSpPr>
          <p:spPr>
            <a:xfrm>
              <a:off x="4608506" y="4017860"/>
              <a:ext cx="2831690" cy="830997"/>
            </a:xfrm>
            <a:prstGeom prst="rect">
              <a:avLst/>
            </a:prstGeom>
            <a:noFill/>
          </p:spPr>
          <p:txBody>
            <a:bodyPr wrap="square" rtlCol="0">
              <a:spAutoFit/>
            </a:bodyPr>
            <a:lstStyle/>
            <a:p>
              <a:pPr algn="ctr"/>
              <a:r>
                <a:rPr lang="en-US" sz="2400" dirty="0"/>
                <a:t>Store and process data</a:t>
              </a:r>
            </a:p>
          </p:txBody>
        </p:sp>
        <p:pic>
          <p:nvPicPr>
            <p:cNvPr id="14" name="Picture 2" descr="Set of stacked, well-organized plastic building blocks.">
              <a:extLst>
                <a:ext uri="{FF2B5EF4-FFF2-40B4-BE49-F238E27FC236}">
                  <a16:creationId xmlns:a16="http://schemas.microsoft.com/office/drawing/2014/main" id="{3AAA6926-9C0B-49E2-9D2A-30CE9EE84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37272" y="2568421"/>
              <a:ext cx="2174158" cy="1449439"/>
            </a:xfrm>
            <a:prstGeom prst="rect">
              <a:avLst/>
            </a:prstGeom>
          </p:spPr>
        </p:pic>
      </p:grpSp>
      <p:cxnSp>
        <p:nvCxnSpPr>
          <p:cNvPr id="23" name="Straight Arrow Connector 22">
            <a:extLst>
              <a:ext uri="{FF2B5EF4-FFF2-40B4-BE49-F238E27FC236}">
                <a16:creationId xmlns:a16="http://schemas.microsoft.com/office/drawing/2014/main" id="{7B7D31DE-D309-4C92-B405-C3CF3F0816E1}"/>
              </a:ext>
              <a:ext uri="{C183D7F6-B498-43B3-948B-1728B52AA6E4}">
                <adec:decorative xmlns:adec="http://schemas.microsoft.com/office/drawing/2017/decorative" val="1"/>
              </a:ext>
            </a:extLst>
          </p:cNvPr>
          <p:cNvCxnSpPr>
            <a:cxnSpLocks/>
          </p:cNvCxnSpPr>
          <p:nvPr/>
        </p:nvCxnSpPr>
        <p:spPr>
          <a:xfrm>
            <a:off x="7215175" y="4638368"/>
            <a:ext cx="701886" cy="0"/>
          </a:xfrm>
          <a:prstGeom prst="straightConnector1">
            <a:avLst/>
          </a:prstGeom>
          <a:ln w="44450">
            <a:solidFill>
              <a:srgbClr val="18AB4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230549F-115F-4970-A786-9BFB9778C7E3}"/>
              </a:ext>
            </a:extLst>
          </p:cNvPr>
          <p:cNvGrpSpPr/>
          <p:nvPr/>
        </p:nvGrpSpPr>
        <p:grpSpPr>
          <a:xfrm>
            <a:off x="7754456" y="4045679"/>
            <a:ext cx="2831690" cy="2012546"/>
            <a:chOff x="7754456" y="2836311"/>
            <a:chExt cx="2831690" cy="2012546"/>
          </a:xfrm>
        </p:grpSpPr>
        <p:sp>
          <p:nvSpPr>
            <p:cNvPr id="12" name="TextBox 11">
              <a:extLst>
                <a:ext uri="{FF2B5EF4-FFF2-40B4-BE49-F238E27FC236}">
                  <a16:creationId xmlns:a16="http://schemas.microsoft.com/office/drawing/2014/main" id="{2B997231-B030-4602-8AD8-0D33A5F9DAD9}"/>
                </a:ext>
              </a:extLst>
            </p:cNvPr>
            <p:cNvSpPr txBox="1"/>
            <p:nvPr/>
          </p:nvSpPr>
          <p:spPr>
            <a:xfrm>
              <a:off x="7754456" y="4017860"/>
              <a:ext cx="2831690" cy="830997"/>
            </a:xfrm>
            <a:prstGeom prst="rect">
              <a:avLst/>
            </a:prstGeom>
            <a:noFill/>
          </p:spPr>
          <p:txBody>
            <a:bodyPr wrap="square" rtlCol="0">
              <a:spAutoFit/>
            </a:bodyPr>
            <a:lstStyle/>
            <a:p>
              <a:pPr algn="ctr"/>
              <a:r>
                <a:rPr lang="en-US" sz="2400" dirty="0"/>
                <a:t>Build something useful with data</a:t>
              </a:r>
            </a:p>
          </p:txBody>
        </p:sp>
        <p:pic>
          <p:nvPicPr>
            <p:cNvPr id="15" name="Picture 3" descr="Multi-story house and yard made out of plastic building blocks.">
              <a:extLst>
                <a:ext uri="{FF2B5EF4-FFF2-40B4-BE49-F238E27FC236}">
                  <a16:creationId xmlns:a16="http://schemas.microsoft.com/office/drawing/2014/main" id="{CFFF2A5A-AB33-4189-BC8F-2907813A280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449705" y="2836311"/>
              <a:ext cx="1649128" cy="1181549"/>
            </a:xfrm>
            <a:prstGeom prst="rect">
              <a:avLst/>
            </a:prstGeom>
          </p:spPr>
        </p:pic>
      </p:grpSp>
      <p:sp>
        <p:nvSpPr>
          <p:cNvPr id="5" name="TextBox 4">
            <a:extLst>
              <a:ext uri="{FF2B5EF4-FFF2-40B4-BE49-F238E27FC236}">
                <a16:creationId xmlns:a16="http://schemas.microsoft.com/office/drawing/2014/main" id="{8F945562-4D16-BB8D-9B37-64A611218A0B}"/>
              </a:ext>
            </a:extLst>
          </p:cNvPr>
          <p:cNvSpPr txBox="1"/>
          <p:nvPr/>
        </p:nvSpPr>
        <p:spPr>
          <a:xfrm>
            <a:off x="365760" y="1175036"/>
            <a:ext cx="11569208" cy="224676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rgbClr val="FF0000"/>
                </a:solidFill>
              </a:rPr>
              <a:t>The data pipeline is the infrastructure that you build to support data-driven decision-making. </a:t>
            </a:r>
          </a:p>
          <a:p>
            <a:pPr marL="342900" indent="-342900">
              <a:buFont typeface="Arial" panose="020B0604020202020204" pitchFamily="34" charset="0"/>
              <a:buChar char="•"/>
            </a:pPr>
            <a:r>
              <a:rPr lang="en-US" sz="2000" dirty="0"/>
              <a:t>At the most basic level, any data pipeline infrastructure must be able to </a:t>
            </a:r>
            <a:r>
              <a:rPr lang="en-US" sz="2000" dirty="0">
                <a:solidFill>
                  <a:srgbClr val="FF0000"/>
                </a:solidFill>
              </a:rPr>
              <a:t>(1) bring data in, (2) store it, and (3) provide the means to work with the data to derive insights. </a:t>
            </a:r>
          </a:p>
          <a:p>
            <a:pPr marL="342900" indent="-342900">
              <a:buFont typeface="Arial" panose="020B0604020202020204" pitchFamily="34" charset="0"/>
              <a:buChar char="•"/>
            </a:pPr>
            <a:r>
              <a:rPr lang="en-US" sz="2000" dirty="0"/>
              <a:t>As the data engineer or data scientist, it's your job to build the pipeline to figure out what's appropriate and how you're going to do it. </a:t>
            </a:r>
          </a:p>
          <a:p>
            <a:pPr marL="342900" indent="-342900">
              <a:buFont typeface="Arial" panose="020B0604020202020204" pitchFamily="34" charset="0"/>
              <a:buChar char="•"/>
            </a:pPr>
            <a:r>
              <a:rPr lang="en-US" sz="2000" dirty="0"/>
              <a:t>Often this will include exploring and experimenting to get to know the data and the best way to derive value from it.</a:t>
            </a:r>
          </a:p>
        </p:txBody>
      </p:sp>
    </p:spTree>
    <p:custDataLst>
      <p:tags r:id="rId1"/>
    </p:custDataLst>
    <p:extLst>
      <p:ext uri="{BB962C8B-B14F-4D97-AF65-F5344CB8AC3E}">
        <p14:creationId xmlns:p14="http://schemas.microsoft.com/office/powerpoint/2010/main" val="1204046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3332B-BA83-450D-B9E4-902666554070}"/>
              </a:ext>
            </a:extLst>
          </p:cNvPr>
          <p:cNvSpPr>
            <a:spLocks noGrp="1"/>
          </p:cNvSpPr>
          <p:nvPr>
            <p:ph type="sldNum" sz="quarter" idx="12"/>
          </p:nvPr>
        </p:nvSpPr>
        <p:spPr/>
        <p:txBody>
          <a:bodyPr/>
          <a:lstStyle/>
          <a:p>
            <a:fld id="{363DB862-5E2B-42BB-8337-D46E9881345F}" type="slidenum">
              <a:rPr lang="en-US" smtClean="0"/>
              <a:t>5</a:t>
            </a:fld>
            <a:endParaRPr lang="en-US" dirty="0"/>
          </a:p>
        </p:txBody>
      </p:sp>
      <p:sp>
        <p:nvSpPr>
          <p:cNvPr id="12" name="Title 11">
            <a:extLst>
              <a:ext uri="{FF2B5EF4-FFF2-40B4-BE49-F238E27FC236}">
                <a16:creationId xmlns:a16="http://schemas.microsoft.com/office/drawing/2014/main" id="{8F6ECEF3-46E8-4198-A4B2-68BC1CC9C8C3}"/>
              </a:ext>
            </a:extLst>
          </p:cNvPr>
          <p:cNvSpPr>
            <a:spLocks noGrp="1"/>
          </p:cNvSpPr>
          <p:nvPr>
            <p:ph type="title"/>
          </p:nvPr>
        </p:nvSpPr>
        <p:spPr/>
        <p:txBody>
          <a:bodyPr/>
          <a:lstStyle/>
          <a:p>
            <a:r>
              <a:rPr lang="en-US" dirty="0">
                <a:solidFill>
                  <a:srgbClr val="FF0000"/>
                </a:solidFill>
              </a:rPr>
              <a:t>Work backwards </a:t>
            </a:r>
            <a:r>
              <a:rPr lang="en-US" dirty="0"/>
              <a:t>to design your infrastructure</a:t>
            </a:r>
          </a:p>
        </p:txBody>
      </p:sp>
      <p:pic>
        <p:nvPicPr>
          <p:cNvPr id="14" name="Picture 2 dec">
            <a:extLst>
              <a:ext uri="{FF2B5EF4-FFF2-40B4-BE49-F238E27FC236}">
                <a16:creationId xmlns:a16="http://schemas.microsoft.com/office/drawing/2014/main" id="{70A5A90A-C5B7-4759-AA35-F60860D4719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82972" y="4188379"/>
            <a:ext cx="1649128" cy="1181549"/>
          </a:xfrm>
          <a:prstGeom prst="rect">
            <a:avLst/>
          </a:prstGeom>
        </p:spPr>
      </p:pic>
      <p:sp>
        <p:nvSpPr>
          <p:cNvPr id="8" name="Arrow: Chevron 7">
            <a:extLst>
              <a:ext uri="{FF2B5EF4-FFF2-40B4-BE49-F238E27FC236}">
                <a16:creationId xmlns:a16="http://schemas.microsoft.com/office/drawing/2014/main" id="{0F64DDC6-4F29-48A3-A1B4-D836858B1124}"/>
              </a:ext>
            </a:extLst>
          </p:cNvPr>
          <p:cNvSpPr/>
          <p:nvPr/>
        </p:nvSpPr>
        <p:spPr>
          <a:xfrm flipH="1">
            <a:off x="5946401" y="4554636"/>
            <a:ext cx="4136571" cy="567253"/>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1. What decision are you trying to make?</a:t>
            </a:r>
          </a:p>
        </p:txBody>
      </p:sp>
      <p:sp>
        <p:nvSpPr>
          <p:cNvPr id="10" name="Arrow: Chevron 9">
            <a:extLst>
              <a:ext uri="{FF2B5EF4-FFF2-40B4-BE49-F238E27FC236}">
                <a16:creationId xmlns:a16="http://schemas.microsoft.com/office/drawing/2014/main" id="{2FABC6D9-B466-4182-9202-CD25D3A77A48}"/>
              </a:ext>
            </a:extLst>
          </p:cNvPr>
          <p:cNvSpPr/>
          <p:nvPr/>
        </p:nvSpPr>
        <p:spPr>
          <a:xfrm flipH="1">
            <a:off x="2036252" y="4554637"/>
            <a:ext cx="3910148" cy="567253"/>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2. What data do you need to support this?</a:t>
            </a:r>
          </a:p>
        </p:txBody>
      </p:sp>
      <p:pic>
        <p:nvPicPr>
          <p:cNvPr id="6" name="Picture 1 dec">
            <a:extLst>
              <a:ext uri="{FF2B5EF4-FFF2-40B4-BE49-F238E27FC236}">
                <a16:creationId xmlns:a16="http://schemas.microsoft.com/office/drawing/2014/main" id="{EFE1BF5F-1CA1-4707-B413-26CAC63D94D1}"/>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5760" y="4375955"/>
            <a:ext cx="1670492" cy="939272"/>
          </a:xfrm>
          <a:prstGeom prst="rect">
            <a:avLst/>
          </a:prstGeom>
        </p:spPr>
      </p:pic>
      <p:sp>
        <p:nvSpPr>
          <p:cNvPr id="13" name="Text Placeholder 12">
            <a:extLst>
              <a:ext uri="{FF2B5EF4-FFF2-40B4-BE49-F238E27FC236}">
                <a16:creationId xmlns:a16="http://schemas.microsoft.com/office/drawing/2014/main" id="{82E4BA35-0AA1-43EC-AB32-7F9B1C4F5AB7}"/>
              </a:ext>
            </a:extLst>
          </p:cNvPr>
          <p:cNvSpPr>
            <a:spLocks noGrp="1"/>
          </p:cNvSpPr>
          <p:nvPr>
            <p:ph type="body" idx="1"/>
          </p:nvPr>
        </p:nvSpPr>
        <p:spPr>
          <a:xfrm>
            <a:off x="2036252" y="5488146"/>
            <a:ext cx="8303550" cy="731318"/>
          </a:xfrm>
        </p:spPr>
        <p:txBody>
          <a:bodyPr/>
          <a:lstStyle/>
          <a:p>
            <a:pPr marL="0" indent="0" algn="ctr">
              <a:buNone/>
            </a:pPr>
            <a:r>
              <a:rPr lang="en-US" dirty="0"/>
              <a:t>Weigh the trade-offs of cost, speed, and accuracy. </a:t>
            </a:r>
          </a:p>
        </p:txBody>
      </p:sp>
      <p:sp>
        <p:nvSpPr>
          <p:cNvPr id="7" name="TextBox 6">
            <a:extLst>
              <a:ext uri="{FF2B5EF4-FFF2-40B4-BE49-F238E27FC236}">
                <a16:creationId xmlns:a16="http://schemas.microsoft.com/office/drawing/2014/main" id="{E128074E-5727-876A-B1CD-299478261020}"/>
              </a:ext>
            </a:extLst>
          </p:cNvPr>
          <p:cNvSpPr txBox="1"/>
          <p:nvPr/>
        </p:nvSpPr>
        <p:spPr>
          <a:xfrm>
            <a:off x="365759" y="1451215"/>
            <a:ext cx="11569209" cy="255454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 number of variations and options to create a data pipeline are broad.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 key to designing an effective decision-making infrastructure </a:t>
            </a:r>
            <a:r>
              <a:rPr lang="en-US" sz="2000" dirty="0">
                <a:solidFill>
                  <a:srgbClr val="FF0000"/>
                </a:solidFill>
              </a:rPr>
              <a:t>is to start with the business problem </a:t>
            </a:r>
            <a:r>
              <a:rPr lang="en-US" sz="2000" dirty="0"/>
              <a:t>to be solved or decision to be made.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Then, build the pipeline that best suits that use case.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00B050"/>
                </a:solidFill>
              </a:rPr>
              <a:t>The cloud makes it easier to start up different infrastructure to serve different use cases.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0070C0"/>
                </a:solidFill>
              </a:rPr>
              <a:t>An organization doesn't need to invest in an infrastructure that tries to serve all business needs with a single database, server, or technology stack.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For each use case, start with the end in mind, and build the data pipeline that supports it.</a:t>
            </a:r>
          </a:p>
        </p:txBody>
      </p:sp>
    </p:spTree>
    <p:custDataLst>
      <p:tags r:id="rId1"/>
    </p:custDataLst>
    <p:extLst>
      <p:ext uri="{BB962C8B-B14F-4D97-AF65-F5344CB8AC3E}">
        <p14:creationId xmlns:p14="http://schemas.microsoft.com/office/powerpoint/2010/main" val="167753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6</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Layers of the pipeline infrastructure</a:t>
            </a:r>
          </a:p>
        </p:txBody>
      </p:sp>
      <p:grpSp>
        <p:nvGrpSpPr>
          <p:cNvPr id="4" name="Group Data">
            <a:extLst>
              <a:ext uri="{FF2B5EF4-FFF2-40B4-BE49-F238E27FC236}">
                <a16:creationId xmlns:a16="http://schemas.microsoft.com/office/drawing/2014/main" id="{224DFE29-D938-4EBA-B5F3-CFB6CD0688DB}"/>
              </a:ext>
            </a:extLst>
          </p:cNvPr>
          <p:cNvGrpSpPr/>
          <p:nvPr/>
        </p:nvGrpSpPr>
        <p:grpSpPr>
          <a:xfrm>
            <a:off x="1309382" y="3949792"/>
            <a:ext cx="1112094" cy="1273776"/>
            <a:chOff x="269744" y="3224620"/>
            <a:chExt cx="1112094" cy="1273776"/>
          </a:xfrm>
        </p:grpSpPr>
        <p:pic>
          <p:nvPicPr>
            <p:cNvPr id="93" name="Picture lego pile">
              <a:extLst>
                <a:ext uri="{FF2B5EF4-FFF2-40B4-BE49-F238E27FC236}">
                  <a16:creationId xmlns:a16="http://schemas.microsoft.com/office/drawing/2014/main" id="{E9EC6A61-5FE4-4D79-8921-4CAB8881BEF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9744" y="3224620"/>
              <a:ext cx="1112094" cy="625300"/>
            </a:xfrm>
            <a:prstGeom prst="rect">
              <a:avLst/>
            </a:prstGeom>
          </p:spPr>
        </p:pic>
        <p:sp>
          <p:nvSpPr>
            <p:cNvPr id="89" name="TextBox 88">
              <a:extLst>
                <a:ext uri="{FF2B5EF4-FFF2-40B4-BE49-F238E27FC236}">
                  <a16:creationId xmlns:a16="http://schemas.microsoft.com/office/drawing/2014/main" id="{0707FA97-9A73-4AD2-8F3F-E085FF167B44}"/>
                </a:ext>
              </a:extLst>
            </p:cNvPr>
            <p:cNvSpPr txBox="1"/>
            <p:nvPr/>
          </p:nvSpPr>
          <p:spPr>
            <a:xfrm>
              <a:off x="289320" y="3852065"/>
              <a:ext cx="1038600" cy="646331"/>
            </a:xfrm>
            <a:prstGeom prst="rect">
              <a:avLst/>
            </a:prstGeom>
            <a:noFill/>
          </p:spPr>
          <p:txBody>
            <a:bodyPr wrap="square" rtlCol="0">
              <a:spAutoFit/>
            </a:bodyPr>
            <a:lstStyle/>
            <a:p>
              <a:pPr algn="ctr"/>
              <a:r>
                <a:rPr lang="en-US" dirty="0"/>
                <a:t>Data sources</a:t>
              </a:r>
            </a:p>
          </p:txBody>
        </p:sp>
      </p:grpSp>
      <p:grpSp>
        <p:nvGrpSpPr>
          <p:cNvPr id="7" name="Ingestion">
            <a:extLst>
              <a:ext uri="{FF2B5EF4-FFF2-40B4-BE49-F238E27FC236}">
                <a16:creationId xmlns:a16="http://schemas.microsoft.com/office/drawing/2014/main" id="{0C369501-AEEB-4D59-B40E-3D28C92F7AC3}"/>
              </a:ext>
            </a:extLst>
          </p:cNvPr>
          <p:cNvGrpSpPr/>
          <p:nvPr/>
        </p:nvGrpSpPr>
        <p:grpSpPr>
          <a:xfrm>
            <a:off x="2355313" y="3556927"/>
            <a:ext cx="2377440" cy="1627742"/>
            <a:chOff x="2355313" y="2681855"/>
            <a:chExt cx="2377440" cy="1627742"/>
          </a:xfrm>
        </p:grpSpPr>
        <p:sp>
          <p:nvSpPr>
            <p:cNvPr id="6" name="Arrow: Chevron ingest">
              <a:extLst>
                <a:ext uri="{FF2B5EF4-FFF2-40B4-BE49-F238E27FC236}">
                  <a16:creationId xmlns:a16="http://schemas.microsoft.com/office/drawing/2014/main" id="{219985F6-7E72-4B88-8A5C-356377ACF366}"/>
                </a:ext>
              </a:extLst>
            </p:cNvPr>
            <p:cNvSpPr/>
            <p:nvPr/>
          </p:nvSpPr>
          <p:spPr>
            <a:xfrm>
              <a:off x="2355313" y="3742344"/>
              <a:ext cx="2377440" cy="567253"/>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Ingestion</a:t>
              </a:r>
            </a:p>
          </p:txBody>
        </p:sp>
        <p:pic>
          <p:nvPicPr>
            <p:cNvPr id="91" name="Picture truck">
              <a:extLst>
                <a:ext uri="{FF2B5EF4-FFF2-40B4-BE49-F238E27FC236}">
                  <a16:creationId xmlns:a16="http://schemas.microsoft.com/office/drawing/2014/main" id="{61964BEF-A1FD-4E64-83D6-DFD75BC63A24}"/>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flipH="1">
              <a:off x="2730733" y="2681855"/>
              <a:ext cx="1534452" cy="1022968"/>
            </a:xfrm>
            <a:prstGeom prst="rect">
              <a:avLst/>
            </a:prstGeom>
          </p:spPr>
        </p:pic>
      </p:grpSp>
      <p:grpSp>
        <p:nvGrpSpPr>
          <p:cNvPr id="8" name="StorageAndProcessing">
            <a:extLst>
              <a:ext uri="{FF2B5EF4-FFF2-40B4-BE49-F238E27FC236}">
                <a16:creationId xmlns:a16="http://schemas.microsoft.com/office/drawing/2014/main" id="{A08B9E8F-B9C1-451F-90E8-C135C769D143}"/>
              </a:ext>
            </a:extLst>
          </p:cNvPr>
          <p:cNvGrpSpPr/>
          <p:nvPr/>
        </p:nvGrpSpPr>
        <p:grpSpPr>
          <a:xfrm>
            <a:off x="4885496" y="2933790"/>
            <a:ext cx="2377440" cy="3520628"/>
            <a:chOff x="4885496" y="2058718"/>
            <a:chExt cx="2377440" cy="3520628"/>
          </a:xfrm>
        </p:grpSpPr>
        <p:pic>
          <p:nvPicPr>
            <p:cNvPr id="18" name="Picture storage">
              <a:extLst>
                <a:ext uri="{FF2B5EF4-FFF2-40B4-BE49-F238E27FC236}">
                  <a16:creationId xmlns:a16="http://schemas.microsoft.com/office/drawing/2014/main" id="{911A6928-AE24-440D-ACC2-DAAF961B3FCD}"/>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37920" y="2058718"/>
              <a:ext cx="2041650" cy="1361100"/>
            </a:xfrm>
            <a:prstGeom prst="rect">
              <a:avLst/>
            </a:prstGeom>
          </p:spPr>
        </p:pic>
        <p:sp>
          <p:nvSpPr>
            <p:cNvPr id="20" name="Arrow: Chevron storage">
              <a:extLst>
                <a:ext uri="{FF2B5EF4-FFF2-40B4-BE49-F238E27FC236}">
                  <a16:creationId xmlns:a16="http://schemas.microsoft.com/office/drawing/2014/main" id="{A15DFBD9-184A-4C48-8D25-64BE7322416F}"/>
                </a:ext>
              </a:extLst>
            </p:cNvPr>
            <p:cNvSpPr/>
            <p:nvPr/>
          </p:nvSpPr>
          <p:spPr>
            <a:xfrm>
              <a:off x="4885496" y="3419818"/>
              <a:ext cx="2377440" cy="567253"/>
            </a:xfrm>
            <a:prstGeom prst="chevron">
              <a:avLst/>
            </a:prstGeom>
            <a:solidFill>
              <a:srgbClr val="005276"/>
            </a:solidFill>
            <a:ln>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Storage</a:t>
              </a:r>
            </a:p>
          </p:txBody>
        </p:sp>
        <p:pic>
          <p:nvPicPr>
            <p:cNvPr id="26" name="Picture processing">
              <a:extLst>
                <a:ext uri="{FF2B5EF4-FFF2-40B4-BE49-F238E27FC236}">
                  <a16:creationId xmlns:a16="http://schemas.microsoft.com/office/drawing/2014/main" id="{EF357851-BD7E-47C2-9661-706E30DDB484}"/>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3536" y="4319002"/>
              <a:ext cx="1680459" cy="1260344"/>
            </a:xfrm>
            <a:prstGeom prst="rect">
              <a:avLst/>
            </a:prstGeom>
          </p:spPr>
        </p:pic>
        <p:sp>
          <p:nvSpPr>
            <p:cNvPr id="21" name="Arrow: Chevron Process">
              <a:extLst>
                <a:ext uri="{FF2B5EF4-FFF2-40B4-BE49-F238E27FC236}">
                  <a16:creationId xmlns:a16="http://schemas.microsoft.com/office/drawing/2014/main" id="{269F68B3-A832-41A2-95F0-FF0346E1AE88}"/>
                </a:ext>
              </a:extLst>
            </p:cNvPr>
            <p:cNvSpPr/>
            <p:nvPr/>
          </p:nvSpPr>
          <p:spPr>
            <a:xfrm>
              <a:off x="4885496" y="4064870"/>
              <a:ext cx="2377440" cy="567253"/>
            </a:xfrm>
            <a:prstGeom prst="chevron">
              <a:avLst/>
            </a:prstGeom>
            <a:solidFill>
              <a:srgbClr val="9E1F63"/>
            </a:solidFill>
            <a:ln>
              <a:solidFill>
                <a:srgbClr val="9E1F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Processing</a:t>
              </a:r>
            </a:p>
          </p:txBody>
        </p:sp>
      </p:grpSp>
      <p:grpSp>
        <p:nvGrpSpPr>
          <p:cNvPr id="9" name="AnalysisAndVisuazliation">
            <a:extLst>
              <a:ext uri="{FF2B5EF4-FFF2-40B4-BE49-F238E27FC236}">
                <a16:creationId xmlns:a16="http://schemas.microsoft.com/office/drawing/2014/main" id="{F0D73E77-6007-4E6E-82BB-D135998735BB}"/>
              </a:ext>
            </a:extLst>
          </p:cNvPr>
          <p:cNvGrpSpPr/>
          <p:nvPr/>
        </p:nvGrpSpPr>
        <p:grpSpPr>
          <a:xfrm>
            <a:off x="7418127" y="3359018"/>
            <a:ext cx="2377440" cy="1825651"/>
            <a:chOff x="7418127" y="2483946"/>
            <a:chExt cx="2377440" cy="1825651"/>
          </a:xfrm>
        </p:grpSpPr>
        <p:sp>
          <p:nvSpPr>
            <p:cNvPr id="22" name="Arrow: Chevron AandV">
              <a:extLst>
                <a:ext uri="{FF2B5EF4-FFF2-40B4-BE49-F238E27FC236}">
                  <a16:creationId xmlns:a16="http://schemas.microsoft.com/office/drawing/2014/main" id="{91519906-0FB6-4094-8F0B-3311B549DA6C}"/>
                </a:ext>
              </a:extLst>
            </p:cNvPr>
            <p:cNvSpPr/>
            <p:nvPr/>
          </p:nvSpPr>
          <p:spPr>
            <a:xfrm>
              <a:off x="7418127" y="3742344"/>
              <a:ext cx="2377440" cy="567253"/>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Analysis &amp; Visualization</a:t>
              </a:r>
            </a:p>
          </p:txBody>
        </p:sp>
        <p:pic>
          <p:nvPicPr>
            <p:cNvPr id="94" name="Picture house">
              <a:extLst>
                <a:ext uri="{FF2B5EF4-FFF2-40B4-BE49-F238E27FC236}">
                  <a16:creationId xmlns:a16="http://schemas.microsoft.com/office/drawing/2014/main" id="{CD1EF28B-519C-4BF2-A36A-39EE045DD752}"/>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635229" y="2483946"/>
              <a:ext cx="1649128" cy="1181549"/>
            </a:xfrm>
            <a:prstGeom prst="rect">
              <a:avLst/>
            </a:prstGeom>
          </p:spPr>
        </p:pic>
      </p:grpSp>
      <p:sp>
        <p:nvSpPr>
          <p:cNvPr id="90" name="Predictions">
            <a:extLst>
              <a:ext uri="{FF2B5EF4-FFF2-40B4-BE49-F238E27FC236}">
                <a16:creationId xmlns:a16="http://schemas.microsoft.com/office/drawing/2014/main" id="{0FD12746-2EE9-435F-BAE1-0F21C4ECCFF8}"/>
              </a:ext>
            </a:extLst>
          </p:cNvPr>
          <p:cNvSpPr txBox="1"/>
          <p:nvPr/>
        </p:nvSpPr>
        <p:spPr>
          <a:xfrm>
            <a:off x="9729761" y="4446740"/>
            <a:ext cx="1513381" cy="646331"/>
          </a:xfrm>
          <a:prstGeom prst="rect">
            <a:avLst/>
          </a:prstGeom>
          <a:noFill/>
        </p:spPr>
        <p:txBody>
          <a:bodyPr wrap="square" rtlCol="0">
            <a:spAutoFit/>
          </a:bodyPr>
          <a:lstStyle/>
          <a:p>
            <a:pPr algn="ctr"/>
            <a:r>
              <a:rPr lang="en-US" dirty="0"/>
              <a:t>Predictions and decisions</a:t>
            </a:r>
          </a:p>
        </p:txBody>
      </p:sp>
      <p:sp>
        <p:nvSpPr>
          <p:cNvPr id="11" name="TextBox 10">
            <a:extLst>
              <a:ext uri="{FF2B5EF4-FFF2-40B4-BE49-F238E27FC236}">
                <a16:creationId xmlns:a16="http://schemas.microsoft.com/office/drawing/2014/main" id="{A5DBF89D-F4D5-91D6-3D8C-CF508A668F7B}"/>
              </a:ext>
            </a:extLst>
          </p:cNvPr>
          <p:cNvSpPr txBox="1"/>
          <p:nvPr/>
        </p:nvSpPr>
        <p:spPr>
          <a:xfrm>
            <a:off x="226141" y="1152959"/>
            <a:ext cx="11756899" cy="2031325"/>
          </a:xfrm>
          <a:prstGeom prst="rect">
            <a:avLst/>
          </a:prstGeom>
          <a:noFill/>
        </p:spPr>
        <p:txBody>
          <a:bodyPr wrap="square">
            <a:spAutoFit/>
          </a:bodyPr>
          <a:lstStyle/>
          <a:p>
            <a:pPr marL="285750" indent="-285750">
              <a:buFont typeface="Arial" panose="020B0604020202020204" pitchFamily="34" charset="0"/>
              <a:buChar char="•"/>
            </a:pPr>
            <a:r>
              <a:rPr lang="en-US" dirty="0"/>
              <a:t>The infrastructure layers that you need to build include methods to ingest and store data from the data sources that you have identified.</a:t>
            </a:r>
          </a:p>
          <a:p>
            <a:pPr marL="285750" indent="-285750">
              <a:buFont typeface="Arial" panose="020B0604020202020204" pitchFamily="34" charset="0"/>
              <a:buChar char="•"/>
            </a:pPr>
            <a:r>
              <a:rPr lang="en-US" dirty="0"/>
              <a:t>You need to make the stored data accessible for decision-making processes. </a:t>
            </a:r>
          </a:p>
          <a:p>
            <a:pPr marL="285750" indent="-285750">
              <a:buFont typeface="Arial" panose="020B0604020202020204" pitchFamily="34" charset="0"/>
              <a:buChar char="•"/>
            </a:pPr>
            <a:r>
              <a:rPr lang="en-US" dirty="0"/>
              <a:t>You must also create the infrastructure to process, analyze, and visualize data by using tools that are appropriate to the use case. </a:t>
            </a:r>
          </a:p>
          <a:p>
            <a:pPr marL="285750" indent="-285750">
              <a:buFont typeface="Arial" panose="020B0604020202020204" pitchFamily="34" charset="0"/>
              <a:buChar char="•"/>
            </a:pPr>
            <a:r>
              <a:rPr lang="en-US" dirty="0"/>
              <a:t>To build an appropriate infrastructure, you will need to understand the nature of the data and the intended type of processing and analysis to be performed.</a:t>
            </a:r>
          </a:p>
        </p:txBody>
      </p:sp>
    </p:spTree>
    <p:custDataLst>
      <p:tags r:id="rId1"/>
    </p:custDataLst>
    <p:extLst>
      <p:ext uri="{BB962C8B-B14F-4D97-AF65-F5344CB8AC3E}">
        <p14:creationId xmlns:p14="http://schemas.microsoft.com/office/powerpoint/2010/main" val="1814989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7</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Actions taken with data in the pipeline</a:t>
            </a:r>
          </a:p>
        </p:txBody>
      </p:sp>
      <p:pic>
        <p:nvPicPr>
          <p:cNvPr id="22" name="Picture 21" descr="Pipeline layers from ingestion through analysis &amp; visualization. ">
            <a:extLst>
              <a:ext uri="{FF2B5EF4-FFF2-40B4-BE49-F238E27FC236}">
                <a16:creationId xmlns:a16="http://schemas.microsoft.com/office/drawing/2014/main" id="{EAC7C814-32E3-4EB3-B9A1-36C9509038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3901" y="1320883"/>
            <a:ext cx="6734854" cy="2379676"/>
          </a:xfrm>
          <a:prstGeom prst="rect">
            <a:avLst/>
          </a:prstGeom>
        </p:spPr>
      </p:pic>
      <p:sp>
        <p:nvSpPr>
          <p:cNvPr id="57" name="TextBox 56">
            <a:extLst>
              <a:ext uri="{FF2B5EF4-FFF2-40B4-BE49-F238E27FC236}">
                <a16:creationId xmlns:a16="http://schemas.microsoft.com/office/drawing/2014/main" id="{8391ADAA-BBC8-4492-B148-6A6E1D1BED53}"/>
              </a:ext>
            </a:extLst>
          </p:cNvPr>
          <p:cNvSpPr txBox="1"/>
          <p:nvPr/>
        </p:nvSpPr>
        <p:spPr>
          <a:xfrm>
            <a:off x="7969274" y="4703808"/>
            <a:ext cx="1816523" cy="369332"/>
          </a:xfrm>
          <a:prstGeom prst="rect">
            <a:avLst/>
          </a:prstGeom>
          <a:noFill/>
        </p:spPr>
        <p:txBody>
          <a:bodyPr wrap="none" rtlCol="0">
            <a:spAutoFit/>
          </a:bodyPr>
          <a:lstStyle/>
          <a:p>
            <a:r>
              <a:rPr lang="en-US" dirty="0"/>
              <a:t>Transformation</a:t>
            </a:r>
          </a:p>
        </p:txBody>
      </p:sp>
      <p:cxnSp>
        <p:nvCxnSpPr>
          <p:cNvPr id="56" name="Straight Arrow Connector 55" descr="Transformation takes place across all layers.">
            <a:extLst>
              <a:ext uri="{FF2B5EF4-FFF2-40B4-BE49-F238E27FC236}">
                <a16:creationId xmlns:a16="http://schemas.microsoft.com/office/drawing/2014/main" id="{D83FB0E8-F322-491E-9BD8-0B8F4034C561}"/>
              </a:ext>
            </a:extLst>
          </p:cNvPr>
          <p:cNvCxnSpPr>
            <a:cxnSpLocks/>
            <a:stCxn id="55" idx="6"/>
          </p:cNvCxnSpPr>
          <p:nvPr/>
        </p:nvCxnSpPr>
        <p:spPr>
          <a:xfrm>
            <a:off x="7234553" y="3878769"/>
            <a:ext cx="3285966" cy="0"/>
          </a:xfrm>
          <a:prstGeom prst="straightConnector1">
            <a:avLst/>
          </a:prstGeom>
          <a:ln w="44450">
            <a:solidFill>
              <a:srgbClr val="504BA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
        <p:nvSpPr>
          <p:cNvPr id="55" name="DataWrangling">
            <a:extLst>
              <a:ext uri="{FF2B5EF4-FFF2-40B4-BE49-F238E27FC236}">
                <a16:creationId xmlns:a16="http://schemas.microsoft.com/office/drawing/2014/main" id="{420E8634-B577-40C4-BC08-C6D293E4EC4A}"/>
              </a:ext>
            </a:extLst>
          </p:cNvPr>
          <p:cNvSpPr>
            <a:spLocks noChangeAspect="1"/>
          </p:cNvSpPr>
          <p:nvPr/>
        </p:nvSpPr>
        <p:spPr>
          <a:xfrm>
            <a:off x="6222034" y="3373447"/>
            <a:ext cx="1012519" cy="1010644"/>
          </a:xfrm>
          <a:prstGeom prst="ellipse">
            <a:avLst/>
          </a:prstGeom>
          <a:solidFill>
            <a:schemeClr val="bg2"/>
          </a:solidFill>
          <a:ln w="381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tx1"/>
                </a:solidFill>
              </a:rPr>
              <a:t>Data wrangling:</a:t>
            </a:r>
            <a:r>
              <a:rPr lang="en-US" sz="1050" dirty="0">
                <a:solidFill>
                  <a:schemeClr val="tx1"/>
                </a:solidFill>
              </a:rPr>
              <a:t> Discover</a:t>
            </a:r>
          </a:p>
          <a:p>
            <a:pPr algn="ctr"/>
            <a:r>
              <a:rPr lang="en-US" sz="1050" dirty="0">
                <a:solidFill>
                  <a:schemeClr val="tx1"/>
                </a:solidFill>
              </a:rPr>
              <a:t>Clean</a:t>
            </a:r>
          </a:p>
          <a:p>
            <a:pPr algn="ctr"/>
            <a:r>
              <a:rPr lang="en-US" sz="1050" dirty="0">
                <a:solidFill>
                  <a:schemeClr val="tx1"/>
                </a:solidFill>
              </a:rPr>
              <a:t>Normalize</a:t>
            </a:r>
          </a:p>
          <a:p>
            <a:pPr algn="ctr"/>
            <a:r>
              <a:rPr lang="en-US" sz="1050" dirty="0">
                <a:solidFill>
                  <a:schemeClr val="tx1"/>
                </a:solidFill>
              </a:rPr>
              <a:t>Enrich</a:t>
            </a:r>
          </a:p>
        </p:txBody>
      </p:sp>
      <p:sp>
        <p:nvSpPr>
          <p:cNvPr id="11" name="TextBox 10">
            <a:extLst>
              <a:ext uri="{FF2B5EF4-FFF2-40B4-BE49-F238E27FC236}">
                <a16:creationId xmlns:a16="http://schemas.microsoft.com/office/drawing/2014/main" id="{0160FC9C-19FE-1E68-2875-053C52B18B43}"/>
              </a:ext>
            </a:extLst>
          </p:cNvPr>
          <p:cNvSpPr txBox="1"/>
          <p:nvPr/>
        </p:nvSpPr>
        <p:spPr>
          <a:xfrm>
            <a:off x="365761" y="1336119"/>
            <a:ext cx="5061646" cy="4801314"/>
          </a:xfrm>
          <a:prstGeom prst="rect">
            <a:avLst/>
          </a:prstGeom>
          <a:noFill/>
        </p:spPr>
        <p:txBody>
          <a:bodyPr wrap="square">
            <a:spAutoFit/>
          </a:bodyPr>
          <a:lstStyle/>
          <a:p>
            <a:pPr marL="171450" indent="-171450">
              <a:buFont typeface="Arial" panose="020B0604020202020204" pitchFamily="34" charset="0"/>
              <a:buChar char="•"/>
            </a:pPr>
            <a:r>
              <a:rPr lang="en-US" dirty="0"/>
              <a:t>The pipeline must support the ability to discover details about the data and how it fits (or doesn't fit) your intended outcomes.</a:t>
            </a:r>
          </a:p>
          <a:p>
            <a:pPr marL="171450" indent="-171450">
              <a:buFont typeface="Arial" panose="020B0604020202020204" pitchFamily="34" charset="0"/>
              <a:buChar char="•"/>
            </a:pPr>
            <a:r>
              <a:rPr lang="en-US" dirty="0"/>
              <a:t>You might start with a hypothesis and use BI tools or other mechanisms to discover more information about the data, and then experiment and see where it takes you.</a:t>
            </a:r>
          </a:p>
          <a:p>
            <a:pPr marL="171450" indent="-171450">
              <a:buFont typeface="Arial" panose="020B0604020202020204" pitchFamily="34" charset="0"/>
              <a:buChar char="•"/>
            </a:pPr>
            <a:r>
              <a:rPr lang="en-US" dirty="0"/>
              <a:t>Data will almost always be transformed as it moves through the pipeline. This might include modifying the format to support a specific analysis tool or replacing values (for example, zeroes in place of nulls). </a:t>
            </a:r>
          </a:p>
          <a:p>
            <a:pPr marL="171450" indent="-171450">
              <a:buFont typeface="Arial" panose="020B0604020202020204" pitchFamily="34" charset="0"/>
              <a:buChar char="•"/>
            </a:pPr>
            <a:r>
              <a:rPr lang="en-US" i="1" dirty="0"/>
              <a:t>Data wrangling</a:t>
            </a:r>
            <a:r>
              <a:rPr lang="en-US" dirty="0"/>
              <a:t> is a term that is used to describe the ways in which data is manipulated and transformed from its raw state into more meaningful states that downstream processes or users can use.</a:t>
            </a:r>
          </a:p>
        </p:txBody>
      </p:sp>
    </p:spTree>
    <p:custDataLst>
      <p:tags r:id="rId1"/>
    </p:custDataLst>
    <p:extLst>
      <p:ext uri="{BB962C8B-B14F-4D97-AF65-F5344CB8AC3E}">
        <p14:creationId xmlns:p14="http://schemas.microsoft.com/office/powerpoint/2010/main" val="20904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2.91667E-6 7.40741E-7 L 0.36107 7.40741E-7 " pathEditMode="relative" rAng="0" ptsTypes="AA">
                                      <p:cBhvr>
                                        <p:cTn id="6" dur="1000" fill="hold"/>
                                        <p:tgtEl>
                                          <p:spTgt spid="55"/>
                                        </p:tgtEl>
                                        <p:attrNameLst>
                                          <p:attrName>ppt_x</p:attrName>
                                          <p:attrName>ppt_y</p:attrName>
                                        </p:attrNameLst>
                                      </p:cBhvr>
                                      <p:rCtr x="180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8</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Iterative processing through the pipeline</a:t>
            </a:r>
          </a:p>
        </p:txBody>
      </p:sp>
      <p:pic>
        <p:nvPicPr>
          <p:cNvPr id="7" name="Picture 6">
            <a:extLst>
              <a:ext uri="{FF2B5EF4-FFF2-40B4-BE49-F238E27FC236}">
                <a16:creationId xmlns:a16="http://schemas.microsoft.com/office/drawing/2014/main" id="{B1B42EDF-3405-B0BB-83AA-4F277C5E2DD1}"/>
              </a:ext>
            </a:extLst>
          </p:cNvPr>
          <p:cNvPicPr>
            <a:picLocks noChangeAspect="1"/>
          </p:cNvPicPr>
          <p:nvPr/>
        </p:nvPicPr>
        <p:blipFill>
          <a:blip r:embed="rId4"/>
          <a:stretch>
            <a:fillRect/>
          </a:stretch>
        </p:blipFill>
        <p:spPr>
          <a:xfrm>
            <a:off x="4929384" y="1310705"/>
            <a:ext cx="7094075" cy="3969218"/>
          </a:xfrm>
          <a:prstGeom prst="rect">
            <a:avLst/>
          </a:prstGeom>
        </p:spPr>
      </p:pic>
      <p:sp>
        <p:nvSpPr>
          <p:cNvPr id="9" name="TextBox 8">
            <a:extLst>
              <a:ext uri="{FF2B5EF4-FFF2-40B4-BE49-F238E27FC236}">
                <a16:creationId xmlns:a16="http://schemas.microsoft.com/office/drawing/2014/main" id="{7B3F274C-53DA-35ED-F5C1-3C320F340318}"/>
              </a:ext>
            </a:extLst>
          </p:cNvPr>
          <p:cNvSpPr txBox="1"/>
          <p:nvPr/>
        </p:nvSpPr>
        <p:spPr>
          <a:xfrm>
            <a:off x="365760" y="1312467"/>
            <a:ext cx="4658524" cy="42473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Another key characteristic of deriving insights by using your data pipeline is that the process will almost always be iterative.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example, in this illustration, the initial iteration (number 1) yielded a result that wasn't as defined as was desired. Therefore, the data scientist refined the model and reprocessed the data to get a better result (number 2).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After reviewing those results, they determined that additional data could improve the detail available in their result, so an additional data source was tapped and ingested through the pipeline to produce the desired result (number 3). </a:t>
            </a:r>
          </a:p>
        </p:txBody>
      </p:sp>
    </p:spTree>
    <p:custDataLst>
      <p:tags r:id="rId1"/>
    </p:custDataLst>
    <p:extLst>
      <p:ext uri="{BB962C8B-B14F-4D97-AF65-F5344CB8AC3E}">
        <p14:creationId xmlns:p14="http://schemas.microsoft.com/office/powerpoint/2010/main" val="2769057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2"/>
          </p:nvPr>
        </p:nvSpPr>
        <p:spPr>
          <a:xfrm>
            <a:off x="11469390" y="6445722"/>
            <a:ext cx="418904" cy="186890"/>
          </a:xfrm>
        </p:spPr>
        <p:txBody>
          <a:bodyPr/>
          <a:lstStyle/>
          <a:p>
            <a:fld id="{363DB862-5E2B-42BB-8337-D46E9881345F}" type="slidenum">
              <a:rPr lang="en-US" smtClean="0"/>
              <a:t>9</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a:xfrm>
            <a:off x="365761" y="301752"/>
            <a:ext cx="10007808" cy="471961"/>
          </a:xfrm>
        </p:spPr>
        <p:txBody>
          <a:bodyPr>
            <a:normAutofit fontScale="90000"/>
          </a:bodyPr>
          <a:lstStyle/>
          <a:p>
            <a:r>
              <a:rPr lang="en-US" dirty="0"/>
              <a:t>Example: A simple pipeline</a:t>
            </a:r>
          </a:p>
        </p:txBody>
      </p:sp>
      <p:grpSp>
        <p:nvGrpSpPr>
          <p:cNvPr id="2" name="architecture">
            <a:extLst>
              <a:ext uri="{FF2B5EF4-FFF2-40B4-BE49-F238E27FC236}">
                <a16:creationId xmlns:a16="http://schemas.microsoft.com/office/drawing/2014/main" id="{092D1848-2CC8-4225-B4D6-571E587D7B71}"/>
              </a:ext>
            </a:extLst>
          </p:cNvPr>
          <p:cNvGrpSpPr/>
          <p:nvPr/>
        </p:nvGrpSpPr>
        <p:grpSpPr>
          <a:xfrm>
            <a:off x="2852234" y="1189339"/>
            <a:ext cx="6850026" cy="2180181"/>
            <a:chOff x="1353844" y="2474359"/>
            <a:chExt cx="9090984" cy="3747743"/>
          </a:xfrm>
        </p:grpSpPr>
        <p:grpSp>
          <p:nvGrpSpPr>
            <p:cNvPr id="17" name="DeveloperUploadsToS3" descr="Flatten: Developer uploads compressed .csv file to Amazon S3.">
              <a:extLst>
                <a:ext uri="{FF2B5EF4-FFF2-40B4-BE49-F238E27FC236}">
                  <a16:creationId xmlns:a16="http://schemas.microsoft.com/office/drawing/2014/main" id="{0953BFDB-B94E-41ED-A270-385F18B939EA}"/>
                </a:ext>
              </a:extLst>
            </p:cNvPr>
            <p:cNvGrpSpPr/>
            <p:nvPr/>
          </p:nvGrpSpPr>
          <p:grpSpPr>
            <a:xfrm>
              <a:off x="1353844" y="2846261"/>
              <a:ext cx="4422113" cy="3375841"/>
              <a:chOff x="354810" y="2416342"/>
              <a:chExt cx="4422113" cy="3375841"/>
            </a:xfrm>
          </p:grpSpPr>
          <p:sp>
            <p:nvSpPr>
              <p:cNvPr id="80" name="TextBox developer">
                <a:extLst>
                  <a:ext uri="{FF2B5EF4-FFF2-40B4-BE49-F238E27FC236}">
                    <a16:creationId xmlns:a16="http://schemas.microsoft.com/office/drawing/2014/main" id="{5E2519F1-FF4A-40CD-887C-9228492738A9}"/>
                  </a:ext>
                </a:extLst>
              </p:cNvPr>
              <p:cNvSpPr txBox="1">
                <a:spLocks noChangeArrowheads="1"/>
              </p:cNvSpPr>
              <p:nvPr/>
            </p:nvSpPr>
            <p:spPr bwMode="auto">
              <a:xfrm>
                <a:off x="413203" y="5366780"/>
                <a:ext cx="17120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Developer</a:t>
                </a:r>
              </a:p>
            </p:txBody>
          </p:sp>
          <p:pic>
            <p:nvPicPr>
              <p:cNvPr id="65" name="Picture Developer">
                <a:extLst>
                  <a:ext uri="{FF2B5EF4-FFF2-40B4-BE49-F238E27FC236}">
                    <a16:creationId xmlns:a16="http://schemas.microsoft.com/office/drawing/2014/main" id="{95337D23-FD00-47CA-B359-602183B4ACD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54810" y="3963383"/>
                <a:ext cx="1828801" cy="1828800"/>
              </a:xfrm>
              <a:prstGeom prst="rect">
                <a:avLst/>
              </a:prstGeom>
            </p:spPr>
          </p:pic>
          <p:cxnSp>
            <p:nvCxnSpPr>
              <p:cNvPr id="119" name="Connector: Elbow 118">
                <a:extLst>
                  <a:ext uri="{FF2B5EF4-FFF2-40B4-BE49-F238E27FC236}">
                    <a16:creationId xmlns:a16="http://schemas.microsoft.com/office/drawing/2014/main" id="{453A0D15-214F-49DF-9A75-4D51641C5925}"/>
                  </a:ext>
                  <a:ext uri="{C183D7F6-B498-43B3-948B-1728B52AA6E4}">
                    <adec:decorative xmlns:adec="http://schemas.microsoft.com/office/drawing/2017/decorative" val="1"/>
                  </a:ext>
                </a:extLst>
              </p:cNvPr>
              <p:cNvCxnSpPr>
                <a:cxnSpLocks/>
                <a:endCxn id="78" idx="1"/>
              </p:cNvCxnSpPr>
              <p:nvPr/>
            </p:nvCxnSpPr>
            <p:spPr>
              <a:xfrm flipV="1">
                <a:off x="1271581" y="3791102"/>
                <a:ext cx="3505342" cy="914406"/>
              </a:xfrm>
              <a:prstGeom prst="bentConnector3">
                <a:avLst>
                  <a:gd name="adj1" fmla="val -196"/>
                </a:avLst>
              </a:prstGeom>
              <a:ln w="12700">
                <a:solidFill>
                  <a:srgbClr val="232F3E"/>
                </a:solidFill>
                <a:tailEnd type="arrow" w="lg"/>
              </a:ln>
              <a:effectLst/>
            </p:spPr>
            <p:style>
              <a:lnRef idx="1">
                <a:schemeClr val="accent1"/>
              </a:lnRef>
              <a:fillRef idx="0">
                <a:schemeClr val="accent1"/>
              </a:fillRef>
              <a:effectRef idx="0">
                <a:schemeClr val="accent1"/>
              </a:effectRef>
              <a:fontRef idx="minor">
                <a:schemeClr val="tx1"/>
              </a:fontRef>
            </p:style>
          </p:cxnSp>
          <p:sp>
            <p:nvSpPr>
              <p:cNvPr id="82" name="TextBox zip label">
                <a:extLst>
                  <a:ext uri="{FF2B5EF4-FFF2-40B4-BE49-F238E27FC236}">
                    <a16:creationId xmlns:a16="http://schemas.microsoft.com/office/drawing/2014/main" id="{3129B8CB-8343-4148-862D-EE41DF7D8A41}"/>
                  </a:ext>
                </a:extLst>
              </p:cNvPr>
              <p:cNvSpPr txBox="1">
                <a:spLocks noChangeArrowheads="1"/>
              </p:cNvSpPr>
              <p:nvPr/>
            </p:nvSpPr>
            <p:spPr bwMode="auto">
              <a:xfrm>
                <a:off x="2533787" y="2416342"/>
                <a:ext cx="2243136"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Compressed .csv file</a:t>
                </a:r>
              </a:p>
            </p:txBody>
          </p:sp>
          <p:pic>
            <p:nvPicPr>
              <p:cNvPr id="1028" name="Picture zip" descr="Zip file being uploaded to Amazon S3. ">
                <a:extLst>
                  <a:ext uri="{FF2B5EF4-FFF2-40B4-BE49-F238E27FC236}">
                    <a16:creationId xmlns:a16="http://schemas.microsoft.com/office/drawing/2014/main" id="{22EB2D55-2ED5-4625-9845-7EAF3AD0088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52981" y="2901404"/>
                <a:ext cx="685061" cy="79555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AnalystUsesS3Select" descr="Flatten: Analyst uses S3 Select statements to query data in Amazon S3. ">
              <a:extLst>
                <a:ext uri="{FF2B5EF4-FFF2-40B4-BE49-F238E27FC236}">
                  <a16:creationId xmlns:a16="http://schemas.microsoft.com/office/drawing/2014/main" id="{1DC8D17B-E065-4298-B4EF-4A907094D9A0}"/>
                </a:ext>
              </a:extLst>
            </p:cNvPr>
            <p:cNvGrpSpPr/>
            <p:nvPr/>
          </p:nvGrpSpPr>
          <p:grpSpPr>
            <a:xfrm>
              <a:off x="5036976" y="2474359"/>
              <a:ext cx="5407852" cy="2661062"/>
              <a:chOff x="4037942" y="2044440"/>
              <a:chExt cx="5407852" cy="2661062"/>
            </a:xfrm>
          </p:grpSpPr>
          <p:pic>
            <p:nvPicPr>
              <p:cNvPr id="78" name="Graphic S3">
                <a:extLst>
                  <a:ext uri="{FF2B5EF4-FFF2-40B4-BE49-F238E27FC236}">
                    <a16:creationId xmlns:a16="http://schemas.microsoft.com/office/drawing/2014/main" id="{024EC30A-A532-49AB-8095-31A091A737D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776923" y="341010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TextBox S3">
                <a:extLst>
                  <a:ext uri="{FF2B5EF4-FFF2-40B4-BE49-F238E27FC236}">
                    <a16:creationId xmlns:a16="http://schemas.microsoft.com/office/drawing/2014/main" id="{7BF2B399-ECFB-4758-9A3E-206865C2B7D7}"/>
                  </a:ext>
                </a:extLst>
              </p:cNvPr>
              <p:cNvSpPr txBox="1">
                <a:spLocks noChangeArrowheads="1"/>
              </p:cNvSpPr>
              <p:nvPr/>
            </p:nvSpPr>
            <p:spPr bwMode="auto">
              <a:xfrm>
                <a:off x="4037942" y="4265570"/>
                <a:ext cx="2239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Amazon S3</a:t>
                </a:r>
              </a:p>
            </p:txBody>
          </p:sp>
          <p:sp>
            <p:nvSpPr>
              <p:cNvPr id="81" name="TextBox analyst">
                <a:extLst>
                  <a:ext uri="{FF2B5EF4-FFF2-40B4-BE49-F238E27FC236}">
                    <a16:creationId xmlns:a16="http://schemas.microsoft.com/office/drawing/2014/main" id="{D1233D43-F43C-4172-B995-992BB5566314}"/>
                  </a:ext>
                </a:extLst>
              </p:cNvPr>
              <p:cNvSpPr txBox="1">
                <a:spLocks noChangeArrowheads="1"/>
              </p:cNvSpPr>
              <p:nvPr/>
            </p:nvSpPr>
            <p:spPr bwMode="auto">
              <a:xfrm>
                <a:off x="7972845" y="4265570"/>
                <a:ext cx="129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Analyst</a:t>
                </a:r>
              </a:p>
            </p:txBody>
          </p:sp>
          <p:pic>
            <p:nvPicPr>
              <p:cNvPr id="110" name="Picture analyst">
                <a:extLst>
                  <a:ext uri="{FF2B5EF4-FFF2-40B4-BE49-F238E27FC236}">
                    <a16:creationId xmlns:a16="http://schemas.microsoft.com/office/drawing/2014/main" id="{32E882EB-C7C5-4D01-B1B6-F1B397AF5058}"/>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flipH="1">
                <a:off x="7799874" y="2876702"/>
                <a:ext cx="1645920" cy="1828800"/>
              </a:xfrm>
              <a:prstGeom prst="rect">
                <a:avLst/>
              </a:prstGeom>
            </p:spPr>
          </p:pic>
          <p:pic>
            <p:nvPicPr>
              <p:cNvPr id="1026" name="Picture SQL statements">
                <a:extLst>
                  <a:ext uri="{FF2B5EF4-FFF2-40B4-BE49-F238E27FC236}">
                    <a16:creationId xmlns:a16="http://schemas.microsoft.com/office/drawing/2014/main" id="{F5977A99-8B85-4968-AEB2-4969642EA7D6}"/>
                  </a:ext>
                  <a:ext uri="{C183D7F6-B498-43B3-948B-1728B52AA6E4}">
                    <adec:decorative xmlns:adec="http://schemas.microsoft.com/office/drawing/2017/decorative" val="1"/>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a:off x="6346353" y="2756545"/>
                <a:ext cx="1085273" cy="1085273"/>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S3 Select">
                <a:extLst>
                  <a:ext uri="{FF2B5EF4-FFF2-40B4-BE49-F238E27FC236}">
                    <a16:creationId xmlns:a16="http://schemas.microsoft.com/office/drawing/2014/main" id="{F7576507-3CF1-4813-86E2-F8D9AB36CA44}"/>
                  </a:ext>
                </a:extLst>
              </p:cNvPr>
              <p:cNvSpPr txBox="1">
                <a:spLocks noChangeArrowheads="1"/>
              </p:cNvSpPr>
              <p:nvPr/>
            </p:nvSpPr>
            <p:spPr bwMode="auto">
              <a:xfrm>
                <a:off x="5729708" y="2044440"/>
                <a:ext cx="224313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S3 Select statements</a:t>
                </a:r>
              </a:p>
            </p:txBody>
          </p:sp>
          <p:cxnSp>
            <p:nvCxnSpPr>
              <p:cNvPr id="100" name="Straight Arrow Connector 99">
                <a:extLst>
                  <a:ext uri="{FF2B5EF4-FFF2-40B4-BE49-F238E27FC236}">
                    <a16:creationId xmlns:a16="http://schemas.microsoft.com/office/drawing/2014/main" id="{47F2A917-0249-4D80-8891-EB7BE67FA000}"/>
                  </a:ext>
                  <a:ext uri="{C183D7F6-B498-43B3-948B-1728B52AA6E4}">
                    <adec:decorative xmlns:adec="http://schemas.microsoft.com/office/drawing/2017/decorative" val="1"/>
                  </a:ext>
                </a:extLst>
              </p:cNvPr>
              <p:cNvCxnSpPr>
                <a:cxnSpLocks/>
                <a:stCxn id="110" idx="3"/>
                <a:endCxn id="78" idx="3"/>
              </p:cNvCxnSpPr>
              <p:nvPr/>
            </p:nvCxnSpPr>
            <p:spPr>
              <a:xfrm flipH="1">
                <a:off x="5538923" y="3791102"/>
                <a:ext cx="2260951" cy="0"/>
              </a:xfrm>
              <a:prstGeom prst="straightConnector1">
                <a:avLst/>
              </a:prstGeom>
              <a:ln w="12700">
                <a:solidFill>
                  <a:srgbClr val="232F3E"/>
                </a:solidFill>
                <a:headEnd type="arrow" w="lg"/>
                <a:tailEnd type="arrow" w="lg"/>
              </a:ln>
            </p:spPr>
            <p:style>
              <a:lnRef idx="1">
                <a:schemeClr val="accent1"/>
              </a:lnRef>
              <a:fillRef idx="0">
                <a:schemeClr val="accent1"/>
              </a:fillRef>
              <a:effectRef idx="0">
                <a:schemeClr val="accent1"/>
              </a:effectRef>
              <a:fontRef idx="minor">
                <a:schemeClr val="tx1"/>
              </a:fontRef>
            </p:style>
          </p:cxnSp>
        </p:grpSp>
      </p:grpSp>
      <p:pic>
        <p:nvPicPr>
          <p:cNvPr id="25" name="pipeline">
            <a:extLst>
              <a:ext uri="{FF2B5EF4-FFF2-40B4-BE49-F238E27FC236}">
                <a16:creationId xmlns:a16="http://schemas.microsoft.com/office/drawing/2014/main" id="{26150402-E34C-4C26-BE2A-F4550F155B94}"/>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23701" y="3770219"/>
            <a:ext cx="5390300" cy="880049"/>
          </a:xfrm>
          <a:prstGeom prst="rect">
            <a:avLst/>
          </a:prstGeom>
        </p:spPr>
      </p:pic>
      <p:sp>
        <p:nvSpPr>
          <p:cNvPr id="5" name="TextBox 4">
            <a:extLst>
              <a:ext uri="{FF2B5EF4-FFF2-40B4-BE49-F238E27FC236}">
                <a16:creationId xmlns:a16="http://schemas.microsoft.com/office/drawing/2014/main" id="{E9D886DF-E407-31B6-254C-4D1924CB7C07}"/>
              </a:ext>
            </a:extLst>
          </p:cNvPr>
          <p:cNvSpPr txBox="1"/>
          <p:nvPr/>
        </p:nvSpPr>
        <p:spPr>
          <a:xfrm>
            <a:off x="423014" y="4901456"/>
            <a:ext cx="1152253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example is similar to the pipeline that you will work with in the lab titled Accessing and Analyzing Data by Using </a:t>
            </a:r>
            <a:r>
              <a:rPr lang="en-US" b="0" dirty="0"/>
              <a:t>Amazon S3.</a:t>
            </a:r>
            <a:r>
              <a:rPr lang="en-US" b="1" dirty="0"/>
              <a:t> </a:t>
            </a:r>
            <a:endParaRPr 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dataset to be ingested into the pipeline is a .csv file that contains structured data.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developer uses a utility to compress the file, then uploads the file to an S3 bucket for storage.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data science team who will analyze the data can use S3 Select statements to directly query the data in Amazon S3.</a:t>
            </a:r>
          </a:p>
        </p:txBody>
      </p:sp>
    </p:spTree>
    <p:custDataLst>
      <p:tags r:id="rId1"/>
    </p:custDataLst>
    <p:extLst>
      <p:ext uri="{BB962C8B-B14F-4D97-AF65-F5344CB8AC3E}">
        <p14:creationId xmlns:p14="http://schemas.microsoft.com/office/powerpoint/2010/main" val="228155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10</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normAutofit fontScale="90000"/>
          </a:bodyPr>
          <a:lstStyle/>
          <a:p>
            <a:r>
              <a:rPr lang="en-US" dirty="0"/>
              <a:t>Key takeaways: The data pipeline – infrastructure for data-driven decisions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968565" y="2892425"/>
            <a:ext cx="2511045" cy="2743200"/>
          </a:xfrm>
        </p:spPr>
      </p:pic>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A </a:t>
            </a:r>
            <a:r>
              <a:rPr lang="en-US" dirty="0">
                <a:solidFill>
                  <a:srgbClr val="FF0000"/>
                </a:solidFill>
              </a:rPr>
              <a:t>data pipeline </a:t>
            </a:r>
            <a:r>
              <a:rPr lang="en-US" dirty="0"/>
              <a:t>provides the </a:t>
            </a:r>
            <a:r>
              <a:rPr lang="en-US" dirty="0">
                <a:solidFill>
                  <a:srgbClr val="FF0000"/>
                </a:solidFill>
              </a:rPr>
              <a:t>infrastructure</a:t>
            </a:r>
            <a:r>
              <a:rPr lang="en-US" dirty="0"/>
              <a:t> for data-driven decision-making.</a:t>
            </a:r>
          </a:p>
          <a:p>
            <a:r>
              <a:rPr lang="en-US" dirty="0"/>
              <a:t>When designing a pipeline</a:t>
            </a:r>
            <a:r>
              <a:rPr lang="en-US" dirty="0">
                <a:solidFill>
                  <a:srgbClr val="FF0000"/>
                </a:solidFill>
              </a:rPr>
              <a:t>, start with the business problem</a:t>
            </a:r>
            <a:r>
              <a:rPr lang="en-US" dirty="0"/>
              <a:t> to be solved and work backwards to the data.</a:t>
            </a:r>
          </a:p>
          <a:p>
            <a:r>
              <a:rPr lang="en-US" dirty="0"/>
              <a:t>The pipeline includes </a:t>
            </a:r>
            <a:r>
              <a:rPr lang="en-US" dirty="0">
                <a:solidFill>
                  <a:srgbClr val="FF0000"/>
                </a:solidFill>
              </a:rPr>
              <a:t>layers to ingest, store, process, and analyze and visualize </a:t>
            </a:r>
            <a:r>
              <a:rPr lang="en-US" dirty="0"/>
              <a:t>data passing through it.</a:t>
            </a:r>
          </a:p>
          <a:p>
            <a:r>
              <a:rPr lang="en-US" dirty="0"/>
              <a:t>Data </a:t>
            </a:r>
            <a:r>
              <a:rPr lang="en-US" dirty="0">
                <a:solidFill>
                  <a:srgbClr val="FF0000"/>
                </a:solidFill>
              </a:rPr>
              <a:t>wrangling refers to how data is acted upon </a:t>
            </a:r>
            <a:r>
              <a:rPr lang="en-US" dirty="0"/>
              <a:t>as it passes through the pipeline. Tasks include discovery, cleaning, normalization, transformation, and augmentation.</a:t>
            </a:r>
          </a:p>
          <a:p>
            <a:r>
              <a:rPr lang="en-US" dirty="0"/>
              <a:t>Data is </a:t>
            </a:r>
            <a:r>
              <a:rPr lang="en-US" dirty="0">
                <a:solidFill>
                  <a:srgbClr val="FF0000"/>
                </a:solidFill>
              </a:rPr>
              <a:t>processed iteratively </a:t>
            </a:r>
            <a:r>
              <a:rPr lang="en-US" dirty="0"/>
              <a:t>to evaluate and improve upon results.</a:t>
            </a:r>
          </a:p>
        </p:txBody>
      </p:sp>
    </p:spTree>
    <p:custDataLst>
      <p:tags r:id="rId1"/>
    </p:custDataLst>
    <p:extLst>
      <p:ext uri="{BB962C8B-B14F-4D97-AF65-F5344CB8AC3E}">
        <p14:creationId xmlns:p14="http://schemas.microsoft.com/office/powerpoint/2010/main" val="30197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normAutofit/>
          </a:bodyPr>
          <a:lstStyle/>
          <a:p>
            <a:r>
              <a:rPr lang="en-US" dirty="0"/>
              <a:t>The role of the data engineer </a:t>
            </a:r>
            <a:br>
              <a:rPr lang="en-US" dirty="0"/>
            </a:br>
            <a:r>
              <a:rPr lang="en-US" dirty="0"/>
              <a:t>in data-driven organizations</a:t>
            </a:r>
          </a:p>
        </p:txBody>
      </p:sp>
      <p:sp>
        <p:nvSpPr>
          <p:cNvPr id="2" name="Subtitle 1">
            <a:extLst>
              <a:ext uri="{FF2B5EF4-FFF2-40B4-BE49-F238E27FC236}">
                <a16:creationId xmlns:a16="http://schemas.microsoft.com/office/drawing/2014/main" id="{15B34B1B-567B-40FE-96D8-1729781A6869}"/>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264464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96A15D01-FB8D-4271-BC63-D0EC4B17EA76}"/>
              </a:ext>
            </a:extLst>
          </p:cNvPr>
          <p:cNvSpPr>
            <a:spLocks noGrp="1"/>
          </p:cNvSpPr>
          <p:nvPr>
            <p:ph type="sldNum" sz="quarter" idx="12"/>
          </p:nvPr>
        </p:nvSpPr>
        <p:spPr/>
        <p:txBody>
          <a:bodyPr/>
          <a:lstStyle/>
          <a:p>
            <a:fld id="{363DB862-5E2B-42BB-8337-D46E9881345F}" type="slidenum">
              <a:rPr lang="en-US" smtClean="0"/>
              <a:t>12</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p:txBody>
          <a:bodyPr/>
          <a:lstStyle/>
          <a:p>
            <a:r>
              <a:rPr lang="en-US" dirty="0"/>
              <a:t>Common data pipeline questions</a:t>
            </a:r>
          </a:p>
        </p:txBody>
      </p:sp>
      <p:pic>
        <p:nvPicPr>
          <p:cNvPr id="29" name="DataEngeineerPic">
            <a:extLst>
              <a:ext uri="{FF2B5EF4-FFF2-40B4-BE49-F238E27FC236}">
                <a16:creationId xmlns:a16="http://schemas.microsoft.com/office/drawing/2014/main" id="{65AD2EF2-FF4F-42FC-A307-3E0CDBEEDDDA}"/>
              </a:ext>
              <a:ext uri="{C183D7F6-B498-43B3-948B-1728B52AA6E4}">
                <adec:decorative xmlns:adec="http://schemas.microsoft.com/office/drawing/2017/decorative" val="1"/>
              </a:ext>
            </a:extLst>
          </p:cNvPr>
          <p:cNvPicPr>
            <a:picLocks noGrp="1" noChangeAspect="1"/>
          </p:cNvPicPr>
          <p:nvPr>
            <p:ph idx="8"/>
          </p:nvPr>
        </p:nvPicPr>
        <p:blipFill>
          <a:blip r:embed="rId4">
            <a:extLst>
              <a:ext uri="{28A0092B-C50C-407E-A947-70E740481C1C}">
                <a14:useLocalDpi xmlns:a14="http://schemas.microsoft.com/office/drawing/2010/main"/>
              </a:ext>
            </a:extLst>
          </a:blip>
          <a:stretch>
            <a:fillRect/>
          </a:stretch>
        </p:blipFill>
        <p:spPr>
          <a:xfrm>
            <a:off x="204080" y="1080382"/>
            <a:ext cx="1266720" cy="1920240"/>
          </a:xfrm>
        </p:spPr>
      </p:pic>
      <p:sp>
        <p:nvSpPr>
          <p:cNvPr id="31" name="TextBox 30">
            <a:extLst>
              <a:ext uri="{FF2B5EF4-FFF2-40B4-BE49-F238E27FC236}">
                <a16:creationId xmlns:a16="http://schemas.microsoft.com/office/drawing/2014/main" id="{40F42A6F-A22C-48D7-A50C-B86E38345360}"/>
              </a:ext>
            </a:extLst>
          </p:cNvPr>
          <p:cNvSpPr txBox="1"/>
          <p:nvPr/>
        </p:nvSpPr>
        <p:spPr>
          <a:xfrm>
            <a:off x="203361" y="2855080"/>
            <a:ext cx="1266720" cy="646331"/>
          </a:xfrm>
          <a:prstGeom prst="rect">
            <a:avLst/>
          </a:prstGeom>
          <a:noFill/>
        </p:spPr>
        <p:txBody>
          <a:bodyPr wrap="square" rtlCol="0">
            <a:spAutoFit/>
          </a:bodyPr>
          <a:lstStyle/>
          <a:p>
            <a:pPr algn="ctr"/>
            <a:r>
              <a:rPr lang="en-US" dirty="0"/>
              <a:t>Data engineer</a:t>
            </a:r>
          </a:p>
        </p:txBody>
      </p:sp>
      <p:sp>
        <p:nvSpPr>
          <p:cNvPr id="24" name="Text Placeholder 25">
            <a:extLst>
              <a:ext uri="{FF2B5EF4-FFF2-40B4-BE49-F238E27FC236}">
                <a16:creationId xmlns:a16="http://schemas.microsoft.com/office/drawing/2014/main" id="{34F7996D-1DBB-42C0-887D-016D7E10AD95}"/>
              </a:ext>
            </a:extLst>
          </p:cNvPr>
          <p:cNvSpPr txBox="1">
            <a:spLocks/>
          </p:cNvSpPr>
          <p:nvPr/>
        </p:nvSpPr>
        <p:spPr>
          <a:xfrm>
            <a:off x="1470081" y="1210694"/>
            <a:ext cx="10464888" cy="2078606"/>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a:spcBef>
                <a:spcPts val="0"/>
              </a:spcBef>
            </a:pPr>
            <a:r>
              <a:rPr lang="en-US" sz="1600" dirty="0"/>
              <a:t>Does the organization have the data that addresses the need? Where is the data stored and in what format? </a:t>
            </a:r>
          </a:p>
          <a:p>
            <a:pPr>
              <a:spcBef>
                <a:spcPts val="0"/>
              </a:spcBef>
            </a:pPr>
            <a:r>
              <a:rPr lang="en-US" sz="1600" dirty="0"/>
              <a:t>Will I need to combine data from multiple sources?</a:t>
            </a:r>
          </a:p>
          <a:p>
            <a:pPr>
              <a:spcBef>
                <a:spcPts val="0"/>
              </a:spcBef>
            </a:pPr>
            <a:r>
              <a:rPr lang="en-US" sz="1600" dirty="0"/>
              <a:t>What is the type and quality of data? What will be the source of truth?</a:t>
            </a:r>
          </a:p>
          <a:p>
            <a:pPr>
              <a:spcBef>
                <a:spcPts val="0"/>
              </a:spcBef>
            </a:pPr>
            <a:r>
              <a:rPr lang="en-US" sz="1600" dirty="0"/>
              <a:t>What are the security requirements for this data? Who needs access to it and in what state?</a:t>
            </a:r>
          </a:p>
          <a:p>
            <a:pPr>
              <a:spcBef>
                <a:spcPts val="0"/>
              </a:spcBef>
            </a:pPr>
            <a:r>
              <a:rPr lang="en-US" sz="1600" dirty="0"/>
              <a:t>What types of mechanisms are needed to transfer the data from its locations into the pipeline?</a:t>
            </a:r>
          </a:p>
          <a:p>
            <a:pPr>
              <a:spcBef>
                <a:spcPts val="0"/>
              </a:spcBef>
            </a:pPr>
            <a:r>
              <a:rPr lang="en-US" sz="1600" dirty="0"/>
              <a:t>How much data is there, and how frequently is it updated or processed?</a:t>
            </a:r>
          </a:p>
          <a:p>
            <a:pPr>
              <a:spcBef>
                <a:spcPts val="0"/>
              </a:spcBef>
            </a:pPr>
            <a:r>
              <a:rPr lang="en-US" sz="1600" dirty="0"/>
              <a:t>How important is speed when data is requested?</a:t>
            </a:r>
            <a:endParaRPr lang="en-US" sz="1800" dirty="0"/>
          </a:p>
        </p:txBody>
      </p:sp>
      <p:pic>
        <p:nvPicPr>
          <p:cNvPr id="30" name="DataScientistPic">
            <a:extLst>
              <a:ext uri="{FF2B5EF4-FFF2-40B4-BE49-F238E27FC236}">
                <a16:creationId xmlns:a16="http://schemas.microsoft.com/office/drawing/2014/main" id="{51DC20CF-D836-484B-9512-996FFFC73D98}"/>
              </a:ext>
              <a:ext uri="{C183D7F6-B498-43B3-948B-1728B52AA6E4}">
                <adec:decorative xmlns:adec="http://schemas.microsoft.com/office/drawing/2017/decorative" val="1"/>
              </a:ext>
            </a:extLst>
          </p:cNvPr>
          <p:cNvPicPr>
            <a:picLocks noGrp="1" noChangeAspect="1"/>
          </p:cNvPicPr>
          <p:nvPr>
            <p:ph idx="7"/>
          </p:nvPr>
        </p:nvPicPr>
        <p:blipFill>
          <a:blip r:embed="rId5">
            <a:extLst>
              <a:ext uri="{28A0092B-C50C-407E-A947-70E740481C1C}">
                <a14:useLocalDpi xmlns:a14="http://schemas.microsoft.com/office/drawing/2010/main"/>
              </a:ext>
            </a:extLst>
          </a:blip>
          <a:stretch>
            <a:fillRect/>
          </a:stretch>
        </p:blipFill>
        <p:spPr>
          <a:xfrm>
            <a:off x="10557758" y="4135842"/>
            <a:ext cx="1153761" cy="1920240"/>
          </a:xfrm>
        </p:spPr>
      </p:pic>
      <p:sp>
        <p:nvSpPr>
          <p:cNvPr id="32" name="TextBox 31">
            <a:extLst>
              <a:ext uri="{FF2B5EF4-FFF2-40B4-BE49-F238E27FC236}">
                <a16:creationId xmlns:a16="http://schemas.microsoft.com/office/drawing/2014/main" id="{F17E3B1D-D0CF-4256-B7AB-7A781F51B3B6}"/>
              </a:ext>
            </a:extLst>
          </p:cNvPr>
          <p:cNvSpPr txBox="1"/>
          <p:nvPr/>
        </p:nvSpPr>
        <p:spPr>
          <a:xfrm>
            <a:off x="10501278" y="5867319"/>
            <a:ext cx="1266720" cy="646331"/>
          </a:xfrm>
          <a:prstGeom prst="rect">
            <a:avLst/>
          </a:prstGeom>
          <a:noFill/>
        </p:spPr>
        <p:txBody>
          <a:bodyPr wrap="square" rtlCol="0">
            <a:spAutoFit/>
          </a:bodyPr>
          <a:lstStyle/>
          <a:p>
            <a:pPr algn="ctr"/>
            <a:r>
              <a:rPr lang="en-US" dirty="0"/>
              <a:t>Data scientist</a:t>
            </a:r>
          </a:p>
        </p:txBody>
      </p:sp>
      <p:sp>
        <p:nvSpPr>
          <p:cNvPr id="28" name="Text Placeholder 25">
            <a:extLst>
              <a:ext uri="{FF2B5EF4-FFF2-40B4-BE49-F238E27FC236}">
                <a16:creationId xmlns:a16="http://schemas.microsoft.com/office/drawing/2014/main" id="{03CE40FE-D5FC-445B-938A-7D1B7E1CDDBB}"/>
              </a:ext>
            </a:extLst>
          </p:cNvPr>
          <p:cNvSpPr txBox="1">
            <a:spLocks/>
          </p:cNvSpPr>
          <p:nvPr/>
        </p:nvSpPr>
        <p:spPr>
          <a:xfrm>
            <a:off x="5004707" y="4437677"/>
            <a:ext cx="6397614" cy="1747499"/>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marL="285750" indent="-285750">
              <a:spcBef>
                <a:spcPts val="0"/>
              </a:spcBef>
              <a:buFont typeface="Arial" panose="020B0604020202020204" pitchFamily="34" charset="0"/>
              <a:buChar char="•"/>
            </a:pPr>
            <a:r>
              <a:rPr lang="en-US" sz="1600" dirty="0"/>
              <a:t>What can the data tell me? </a:t>
            </a:r>
          </a:p>
          <a:p>
            <a:pPr marL="285750" indent="-285750">
              <a:spcBef>
                <a:spcPts val="0"/>
              </a:spcBef>
              <a:buFont typeface="Arial" panose="020B0604020202020204" pitchFamily="34" charset="0"/>
              <a:buChar char="•"/>
            </a:pPr>
            <a:r>
              <a:rPr lang="en-US" sz="1600" dirty="0"/>
              <a:t>How will I evaluate the results? </a:t>
            </a:r>
          </a:p>
          <a:p>
            <a:pPr marL="285750" indent="-285750">
              <a:spcBef>
                <a:spcPts val="0"/>
              </a:spcBef>
              <a:buFont typeface="Arial" panose="020B0604020202020204" pitchFamily="34" charset="0"/>
              <a:buChar char="•"/>
            </a:pPr>
            <a:r>
              <a:rPr lang="en-US" sz="1600" dirty="0"/>
              <a:t>What kind of visualization do I need?</a:t>
            </a:r>
          </a:p>
          <a:p>
            <a:pPr marL="285750" indent="-285750">
              <a:spcBef>
                <a:spcPts val="0"/>
              </a:spcBef>
              <a:buFont typeface="Arial" panose="020B0604020202020204" pitchFamily="34" charset="0"/>
              <a:buChar char="•"/>
            </a:pPr>
            <a:r>
              <a:rPr lang="en-US" sz="1600" dirty="0"/>
              <a:t>Which formats and tools are the analysts familiar with?</a:t>
            </a:r>
          </a:p>
          <a:p>
            <a:pPr marL="285750" indent="-285750">
              <a:spcBef>
                <a:spcPts val="0"/>
              </a:spcBef>
              <a:buFont typeface="Arial" panose="020B0604020202020204" pitchFamily="34" charset="0"/>
              <a:buChar char="•"/>
            </a:pPr>
            <a:r>
              <a:rPr lang="en-US" sz="1600" dirty="0"/>
              <a:t>Do I need a big data framework?</a:t>
            </a:r>
          </a:p>
          <a:p>
            <a:pPr marL="285750" indent="-285750">
              <a:spcBef>
                <a:spcPts val="0"/>
              </a:spcBef>
              <a:buFont typeface="Arial" panose="020B0604020202020204" pitchFamily="34" charset="0"/>
              <a:buChar char="•"/>
            </a:pPr>
            <a:r>
              <a:rPr lang="en-US" sz="1600" dirty="0"/>
              <a:t>Which type of AI/ML models fit? </a:t>
            </a:r>
          </a:p>
          <a:p>
            <a:pPr marL="285750" indent="-285750">
              <a:spcBef>
                <a:spcPts val="0"/>
              </a:spcBef>
              <a:buFont typeface="Arial" panose="020B0604020202020204" pitchFamily="34" charset="0"/>
              <a:buChar char="•"/>
            </a:pPr>
            <a:r>
              <a:rPr lang="en-US" sz="1600" dirty="0"/>
              <a:t>What is the simplest way to implement AI/ML?</a:t>
            </a:r>
          </a:p>
        </p:txBody>
      </p:sp>
      <p:pic>
        <p:nvPicPr>
          <p:cNvPr id="14" name="Picture 13">
            <a:extLst>
              <a:ext uri="{FF2B5EF4-FFF2-40B4-BE49-F238E27FC236}">
                <a16:creationId xmlns:a16="http://schemas.microsoft.com/office/drawing/2014/main" id="{098F7E33-B004-44D0-936E-3357A63986D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5616" y="3289300"/>
            <a:ext cx="6160768" cy="1005840"/>
          </a:xfrm>
          <a:prstGeom prst="rect">
            <a:avLst/>
          </a:prstGeom>
        </p:spPr>
      </p:pic>
    </p:spTree>
    <p:custDataLst>
      <p:tags r:id="rId1"/>
    </p:custDataLst>
    <p:extLst>
      <p:ext uri="{BB962C8B-B14F-4D97-AF65-F5344CB8AC3E}">
        <p14:creationId xmlns:p14="http://schemas.microsoft.com/office/powerpoint/2010/main" val="298480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13</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normAutofit fontScale="90000"/>
          </a:bodyPr>
          <a:lstStyle/>
          <a:p>
            <a:r>
              <a:rPr lang="en-US" dirty="0"/>
              <a:t>Key takeaways: The role of the data engineer in data-driven organizations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968565" y="2892425"/>
            <a:ext cx="2511045" cy="2743200"/>
          </a:xfrm>
        </p:spPr>
      </p:pic>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Both </a:t>
            </a:r>
            <a:r>
              <a:rPr lang="en-US" dirty="0">
                <a:solidFill>
                  <a:srgbClr val="FF0000"/>
                </a:solidFill>
              </a:rPr>
              <a:t>data scientist </a:t>
            </a:r>
            <a:r>
              <a:rPr lang="en-US" dirty="0"/>
              <a:t>roles and </a:t>
            </a:r>
            <a:r>
              <a:rPr lang="en-US" dirty="0">
                <a:solidFill>
                  <a:srgbClr val="FF0000"/>
                </a:solidFill>
              </a:rPr>
              <a:t>data engineering </a:t>
            </a:r>
            <a:r>
              <a:rPr lang="en-US" dirty="0"/>
              <a:t>roles work with the data pipeline, and tasks might be performed by someone in either role.</a:t>
            </a:r>
          </a:p>
          <a:p>
            <a:r>
              <a:rPr lang="en-US" dirty="0">
                <a:solidFill>
                  <a:srgbClr val="FF0000"/>
                </a:solidFill>
              </a:rPr>
              <a:t>Data engineering is primarily focused on the infrastructure that the data passes through while the data scientist works with the data in the pipeline.</a:t>
            </a:r>
          </a:p>
          <a:p>
            <a:r>
              <a:rPr lang="en-US" dirty="0"/>
              <a:t>To build the right pipeline, you need to ask questions about the desired outcomes and the data and then iterate on your answers as you learn more.</a:t>
            </a:r>
          </a:p>
        </p:txBody>
      </p:sp>
    </p:spTree>
    <p:custDataLst>
      <p:tags r:id="rId1"/>
    </p:custDataLst>
    <p:extLst>
      <p:ext uri="{BB962C8B-B14F-4D97-AF65-F5344CB8AC3E}">
        <p14:creationId xmlns:p14="http://schemas.microsoft.com/office/powerpoint/2010/main" val="4291193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lstStyle/>
          <a:p>
            <a:r>
              <a:rPr lang="en-US" dirty="0"/>
              <a:t>Modern data strategies</a:t>
            </a:r>
          </a:p>
        </p:txBody>
      </p:sp>
      <p:sp>
        <p:nvSpPr>
          <p:cNvPr id="2" name="Subtitle 1">
            <a:extLst>
              <a:ext uri="{FF2B5EF4-FFF2-40B4-BE49-F238E27FC236}">
                <a16:creationId xmlns:a16="http://schemas.microsoft.com/office/drawing/2014/main" id="{FCE771CF-14A4-4A6A-B35C-2E9410529AF1}"/>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1943459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1">
            <a:extLst>
              <a:ext uri="{FF2B5EF4-FFF2-40B4-BE49-F238E27FC236}">
                <a16:creationId xmlns:a16="http://schemas.microsoft.com/office/drawing/2014/main" id="{A3BC2A3F-B4B8-4CC6-9FFA-16A76F8DC330}"/>
              </a:ext>
            </a:extLst>
          </p:cNvPr>
          <p:cNvSpPr>
            <a:spLocks noGrp="1"/>
          </p:cNvSpPr>
          <p:nvPr>
            <p:ph type="sldNum" sz="quarter" idx="12"/>
          </p:nvPr>
        </p:nvSpPr>
        <p:spPr/>
        <p:txBody>
          <a:bodyPr/>
          <a:lstStyle/>
          <a:p>
            <a:fld id="{363DB862-5E2B-42BB-8337-D46E9881345F}" type="slidenum">
              <a:rPr lang="en-US" smtClean="0"/>
              <a:t>15</a:t>
            </a:fld>
            <a:endParaRPr lang="en-US" dirty="0"/>
          </a:p>
        </p:txBody>
      </p:sp>
      <p:sp>
        <p:nvSpPr>
          <p:cNvPr id="7" name="Title 6">
            <a:extLst>
              <a:ext uri="{FF2B5EF4-FFF2-40B4-BE49-F238E27FC236}">
                <a16:creationId xmlns:a16="http://schemas.microsoft.com/office/drawing/2014/main" id="{481510EC-FA1B-46A2-945D-7017D76AB480}"/>
              </a:ext>
            </a:extLst>
          </p:cNvPr>
          <p:cNvSpPr>
            <a:spLocks noGrp="1"/>
          </p:cNvSpPr>
          <p:nvPr>
            <p:ph type="title"/>
          </p:nvPr>
        </p:nvSpPr>
        <p:spPr/>
        <p:txBody>
          <a:bodyPr>
            <a:normAutofit/>
          </a:bodyPr>
          <a:lstStyle/>
          <a:p>
            <a:r>
              <a:rPr lang="en-US" dirty="0"/>
              <a:t>Three-pronged strategy to build data infrastructure</a:t>
            </a:r>
          </a:p>
        </p:txBody>
      </p:sp>
      <p:pic>
        <p:nvPicPr>
          <p:cNvPr id="3" name="Content Placeholder 2">
            <a:extLst>
              <a:ext uri="{FF2B5EF4-FFF2-40B4-BE49-F238E27FC236}">
                <a16:creationId xmlns:a16="http://schemas.microsoft.com/office/drawing/2014/main" id="{E4AC3C10-DCFE-457F-A7C2-E3F880F9E83D}"/>
              </a:ext>
              <a:ext uri="{C183D7F6-B498-43B3-948B-1728B52AA6E4}">
                <adec:decorative xmlns:adec="http://schemas.microsoft.com/office/drawing/2017/decorative" val="1"/>
              </a:ext>
            </a:extLst>
          </p:cNvPr>
          <p:cNvPicPr>
            <a:picLocks noGrp="1" noChangeAspect="1"/>
          </p:cNvPicPr>
          <p:nvPr>
            <p:ph idx="7"/>
          </p:nvPr>
        </p:nvPicPr>
        <p:blipFill>
          <a:blip r:embed="rId4">
            <a:extLst>
              <a:ext uri="{28A0092B-C50C-407E-A947-70E740481C1C}">
                <a14:useLocalDpi xmlns:a14="http://schemas.microsoft.com/office/drawing/2010/main"/>
              </a:ext>
            </a:extLst>
          </a:blip>
          <a:stretch>
            <a:fillRect/>
          </a:stretch>
        </p:blipFill>
        <p:spPr>
          <a:xfrm>
            <a:off x="1430655" y="1531778"/>
            <a:ext cx="1619250" cy="1619250"/>
          </a:xfrm>
        </p:spPr>
      </p:pic>
      <p:sp>
        <p:nvSpPr>
          <p:cNvPr id="11" name="Subtitle 10">
            <a:extLst>
              <a:ext uri="{FF2B5EF4-FFF2-40B4-BE49-F238E27FC236}">
                <a16:creationId xmlns:a16="http://schemas.microsoft.com/office/drawing/2014/main" id="{4BD760BA-256E-4B9A-A55B-8BBAAE520481}"/>
              </a:ext>
            </a:extLst>
          </p:cNvPr>
          <p:cNvSpPr>
            <a:spLocks noGrp="1"/>
          </p:cNvSpPr>
          <p:nvPr>
            <p:ph type="subTitle" idx="4"/>
          </p:nvPr>
        </p:nvSpPr>
        <p:spPr>
          <a:xfrm>
            <a:off x="365760" y="3596451"/>
            <a:ext cx="3749040" cy="440329"/>
          </a:xfrm>
          <a:solidFill>
            <a:schemeClr val="accent6"/>
          </a:solidFill>
        </p:spPr>
        <p:style>
          <a:lnRef idx="3">
            <a:schemeClr val="lt1"/>
          </a:lnRef>
          <a:fillRef idx="1">
            <a:schemeClr val="accent5"/>
          </a:fillRef>
          <a:effectRef idx="1">
            <a:schemeClr val="accent5"/>
          </a:effectRef>
          <a:fontRef idx="minor">
            <a:schemeClr val="lt1"/>
          </a:fontRef>
        </p:style>
        <p:txBody>
          <a:bodyPr/>
          <a:lstStyle/>
          <a:p>
            <a:pPr algn="ctr"/>
            <a:r>
              <a:rPr lang="en-US" dirty="0"/>
              <a:t>Modernize</a:t>
            </a:r>
          </a:p>
        </p:txBody>
      </p:sp>
      <p:pic>
        <p:nvPicPr>
          <p:cNvPr id="5" name="Content Placeholder 4">
            <a:extLst>
              <a:ext uri="{FF2B5EF4-FFF2-40B4-BE49-F238E27FC236}">
                <a16:creationId xmlns:a16="http://schemas.microsoft.com/office/drawing/2014/main" id="{EEB724C2-2807-4E81-8B53-5676A8F9B004}"/>
              </a:ext>
              <a:ext uri="{C183D7F6-B498-43B3-948B-1728B52AA6E4}">
                <adec:decorative xmlns:adec="http://schemas.microsoft.com/office/drawing/2017/decorative" val="1"/>
              </a:ext>
            </a:extLst>
          </p:cNvPr>
          <p:cNvPicPr>
            <a:picLocks noGrp="1" noChangeAspect="1"/>
          </p:cNvPicPr>
          <p:nvPr>
            <p:ph idx="8"/>
          </p:nvPr>
        </p:nvPicPr>
        <p:blipFill>
          <a:blip r:embed="rId5">
            <a:extLst>
              <a:ext uri="{28A0092B-C50C-407E-A947-70E740481C1C}">
                <a14:useLocalDpi xmlns:a14="http://schemas.microsoft.com/office/drawing/2010/main"/>
              </a:ext>
            </a:extLst>
          </a:blip>
          <a:stretch>
            <a:fillRect/>
          </a:stretch>
        </p:blipFill>
        <p:spPr>
          <a:xfrm>
            <a:off x="5316855" y="1531778"/>
            <a:ext cx="1619250" cy="1619250"/>
          </a:xfrm>
        </p:spPr>
      </p:pic>
      <p:sp>
        <p:nvSpPr>
          <p:cNvPr id="12" name="Subtitle 11">
            <a:extLst>
              <a:ext uri="{FF2B5EF4-FFF2-40B4-BE49-F238E27FC236}">
                <a16:creationId xmlns:a16="http://schemas.microsoft.com/office/drawing/2014/main" id="{665A89B7-CFDB-4007-A7EF-8CE15DA0CD27}"/>
              </a:ext>
            </a:extLst>
          </p:cNvPr>
          <p:cNvSpPr>
            <a:spLocks noGrp="1"/>
          </p:cNvSpPr>
          <p:nvPr>
            <p:ph type="subTitle" idx="5"/>
          </p:nvPr>
        </p:nvSpPr>
        <p:spPr>
          <a:xfrm>
            <a:off x="4251960" y="3596451"/>
            <a:ext cx="3749040" cy="440329"/>
          </a:xfrm>
          <a:solidFill>
            <a:srgbClr val="9E1F63"/>
          </a:solidFill>
          <a:ln>
            <a:solidFill>
              <a:schemeClr val="accent5"/>
            </a:solidFill>
          </a:ln>
        </p:spPr>
        <p:txBody>
          <a:bodyPr/>
          <a:lstStyle/>
          <a:p>
            <a:pPr algn="ctr"/>
            <a:r>
              <a:rPr lang="en-US" dirty="0"/>
              <a:t>Unify</a:t>
            </a:r>
          </a:p>
        </p:txBody>
      </p:sp>
      <p:pic>
        <p:nvPicPr>
          <p:cNvPr id="37" name="Content Placeholder 36">
            <a:extLst>
              <a:ext uri="{FF2B5EF4-FFF2-40B4-BE49-F238E27FC236}">
                <a16:creationId xmlns:a16="http://schemas.microsoft.com/office/drawing/2014/main" id="{212A5FCB-086E-4904-9259-97DD0393289C}"/>
              </a:ext>
              <a:ext uri="{C183D7F6-B498-43B3-948B-1728B52AA6E4}">
                <adec:decorative xmlns:adec="http://schemas.microsoft.com/office/drawing/2017/decorative" val="1"/>
              </a:ext>
            </a:extLst>
          </p:cNvPr>
          <p:cNvPicPr>
            <a:picLocks noGrp="1" noChangeAspect="1"/>
          </p:cNvPicPr>
          <p:nvPr>
            <p:ph idx="9"/>
          </p:nvPr>
        </p:nvPicPr>
        <p:blipFill>
          <a:blip r:embed="rId6">
            <a:extLst>
              <a:ext uri="{28A0092B-C50C-407E-A947-70E740481C1C}">
                <a14:useLocalDpi xmlns:a14="http://schemas.microsoft.com/office/drawing/2010/main"/>
              </a:ext>
            </a:extLst>
          </a:blip>
          <a:stretch>
            <a:fillRect/>
          </a:stretch>
        </p:blipFill>
        <p:spPr>
          <a:xfrm>
            <a:off x="9203055" y="1531778"/>
            <a:ext cx="1619250" cy="1619250"/>
          </a:xfrm>
        </p:spPr>
      </p:pic>
      <p:sp>
        <p:nvSpPr>
          <p:cNvPr id="13" name="Subtitle 12">
            <a:extLst>
              <a:ext uri="{FF2B5EF4-FFF2-40B4-BE49-F238E27FC236}">
                <a16:creationId xmlns:a16="http://schemas.microsoft.com/office/drawing/2014/main" id="{0EDE8FAC-181C-439A-9E79-32E8C81CFD81}"/>
              </a:ext>
            </a:extLst>
          </p:cNvPr>
          <p:cNvSpPr>
            <a:spLocks noGrp="1"/>
          </p:cNvSpPr>
          <p:nvPr>
            <p:ph type="subTitle" idx="6"/>
          </p:nvPr>
        </p:nvSpPr>
        <p:spPr>
          <a:xfrm>
            <a:off x="8138160" y="3596451"/>
            <a:ext cx="3749040" cy="440329"/>
          </a:xfrm>
          <a:solidFill>
            <a:schemeClr val="accent1"/>
          </a:solidFill>
          <a:ln>
            <a:solidFill>
              <a:schemeClr val="accent1"/>
            </a:solidFill>
          </a:ln>
        </p:spPr>
        <p:txBody>
          <a:bodyPr/>
          <a:lstStyle/>
          <a:p>
            <a:pPr algn="ctr"/>
            <a:r>
              <a:rPr lang="en-US" dirty="0"/>
              <a:t>Innovate</a:t>
            </a:r>
          </a:p>
        </p:txBody>
      </p:sp>
      <p:sp>
        <p:nvSpPr>
          <p:cNvPr id="4" name="TextBox 3">
            <a:extLst>
              <a:ext uri="{FF2B5EF4-FFF2-40B4-BE49-F238E27FC236}">
                <a16:creationId xmlns:a16="http://schemas.microsoft.com/office/drawing/2014/main" id="{BDE4644F-9F2C-AFF7-9388-49372B15B141}"/>
              </a:ext>
            </a:extLst>
          </p:cNvPr>
          <p:cNvSpPr txBox="1"/>
          <p:nvPr/>
        </p:nvSpPr>
        <p:spPr>
          <a:xfrm>
            <a:off x="365760" y="4583533"/>
            <a:ext cx="11521440" cy="1477328"/>
          </a:xfrm>
          <a:prstGeom prst="rect">
            <a:avLst/>
          </a:prstGeom>
          <a:noFill/>
        </p:spPr>
        <p:txBody>
          <a:bodyPr wrap="square">
            <a:spAutoFit/>
          </a:bodyPr>
          <a:lstStyle/>
          <a:p>
            <a:pPr marL="285750" indent="-285750">
              <a:buFont typeface="Arial" panose="020B0604020202020204" pitchFamily="34" charset="0"/>
              <a:buChar char="•"/>
            </a:pPr>
            <a:r>
              <a:rPr lang="en-US" dirty="0"/>
              <a:t>If you go to work for an organization that aspires to use its data as a </a:t>
            </a:r>
            <a:r>
              <a:rPr lang="en-US" dirty="0">
                <a:solidFill>
                  <a:srgbClr val="FF0000"/>
                </a:solidFill>
              </a:rPr>
              <a:t>strategic asset</a:t>
            </a:r>
            <a:r>
              <a:rPr lang="en-US" dirty="0"/>
              <a:t>, you will likely spend time helping the organization to </a:t>
            </a:r>
            <a:r>
              <a:rPr lang="en-US" dirty="0">
                <a:solidFill>
                  <a:srgbClr val="FF0000"/>
                </a:solidFill>
              </a:rPr>
              <a:t>adapt</a:t>
            </a:r>
            <a:r>
              <a:rPr lang="en-US" dirty="0"/>
              <a:t> more traditional infrastructures </a:t>
            </a:r>
            <a:r>
              <a:rPr lang="en-US" dirty="0">
                <a:solidFill>
                  <a:srgbClr val="FF0000"/>
                </a:solidFill>
              </a:rPr>
              <a:t>toward those that are designed to better support data analytics and AI/ML.</a:t>
            </a:r>
            <a:r>
              <a:rPr lang="en-US" dirty="0"/>
              <a:t> </a:t>
            </a:r>
          </a:p>
          <a:p>
            <a:pPr marL="285750" indent="-285750">
              <a:buFont typeface="Arial" panose="020B0604020202020204" pitchFamily="34" charset="0"/>
              <a:buChar char="•"/>
            </a:pPr>
            <a:r>
              <a:rPr lang="en-US" dirty="0"/>
              <a:t>Amazon Web Services (AWS) advises its customers to approach this type of data infrastructure along three strategies: </a:t>
            </a:r>
            <a:r>
              <a:rPr lang="en-US" dirty="0">
                <a:solidFill>
                  <a:srgbClr val="FF0000"/>
                </a:solidFill>
              </a:rPr>
              <a:t>modernize, unify, and innovate</a:t>
            </a:r>
            <a:r>
              <a:rPr lang="en-US" dirty="0"/>
              <a:t>.</a:t>
            </a:r>
          </a:p>
        </p:txBody>
      </p:sp>
    </p:spTree>
    <p:custDataLst>
      <p:tags r:id="rId1"/>
    </p:custDataLst>
    <p:extLst>
      <p:ext uri="{BB962C8B-B14F-4D97-AF65-F5344CB8AC3E}">
        <p14:creationId xmlns:p14="http://schemas.microsoft.com/office/powerpoint/2010/main" val="262209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BE6C776-CCC0-4E8D-8894-B57DB22F8601}"/>
              </a:ext>
            </a:extLst>
          </p:cNvPr>
          <p:cNvSpPr>
            <a:spLocks noGrp="1"/>
          </p:cNvSpPr>
          <p:nvPr>
            <p:ph type="sldNum" sz="quarter" idx="12"/>
          </p:nvPr>
        </p:nvSpPr>
        <p:spPr/>
        <p:txBody>
          <a:bodyPr/>
          <a:lstStyle/>
          <a:p>
            <a:fld id="{363DB862-5E2B-42BB-8337-D46E9881345F}" type="slidenum">
              <a:rPr lang="en-US" smtClean="0"/>
              <a:t>16</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Modernize</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chemeClr val="accent6"/>
          </a:solidFill>
        </p:spPr>
        <p:txBody>
          <a:bodyPr/>
          <a:lstStyle/>
          <a:p>
            <a:r>
              <a:rPr lang="en-US" dirty="0"/>
              <a:t>Increase agility and reduce undifferentiated lifting</a:t>
            </a:r>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10334400" y="2929771"/>
            <a:ext cx="1619250" cy="1619250"/>
          </a:xfrm>
        </p:spPr>
      </p:pic>
      <p:sp>
        <p:nvSpPr>
          <p:cNvPr id="3" name="TextBox 2">
            <a:extLst>
              <a:ext uri="{FF2B5EF4-FFF2-40B4-BE49-F238E27FC236}">
                <a16:creationId xmlns:a16="http://schemas.microsoft.com/office/drawing/2014/main" id="{FC0899D3-F4B6-7EC9-F4BF-66AC4A5481FD}"/>
              </a:ext>
            </a:extLst>
          </p:cNvPr>
          <p:cNvSpPr txBox="1"/>
          <p:nvPr/>
        </p:nvSpPr>
        <p:spPr>
          <a:xfrm>
            <a:off x="365759" y="1629697"/>
            <a:ext cx="9879453" cy="443198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Modernizing the infrastructure gives an organization the agility it needs to respond quickly to changes in the business landscape and incorporate new features.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18AB4B"/>
                </a:solidFill>
              </a:rPr>
              <a:t>AWS use the term undifferentiated heavy lifting to refer to the IT tasks that don't really help a business focus on their core value to customers, but take a lot of their time and resources. For example, managing data centers and hardware, or patching operating systems and databases.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By </a:t>
            </a:r>
            <a:r>
              <a:rPr lang="en-US" dirty="0">
                <a:solidFill>
                  <a:srgbClr val="FF0000"/>
                </a:solidFill>
              </a:rPr>
              <a:t>migrating applications and databases to the cloud</a:t>
            </a:r>
            <a:r>
              <a:rPr lang="en-US" dirty="0"/>
              <a:t>, an organization can </a:t>
            </a:r>
            <a:r>
              <a:rPr lang="en-US" dirty="0">
                <a:solidFill>
                  <a:srgbClr val="FF0000"/>
                </a:solidFill>
              </a:rPr>
              <a:t>reduce</a:t>
            </a:r>
            <a:r>
              <a:rPr lang="en-US" dirty="0"/>
              <a:t> its </a:t>
            </a:r>
            <a:r>
              <a:rPr lang="en-US" dirty="0">
                <a:solidFill>
                  <a:srgbClr val="FF0000"/>
                </a:solidFill>
              </a:rPr>
              <a:t>focus on administrative activities </a:t>
            </a:r>
            <a:r>
              <a:rPr lang="en-US" dirty="0"/>
              <a:t>and instead focus development resources on business functionality.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cloud also makes it easier to start up different infrastructure to serve different use cases.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They can also experiment with new environment types or services without committing to resources long term.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Another advantage of using cloud services is the ability to use purpose-built data stores rather than trying to use a single type of database to serve all needs. Choose a data store that matches the data structure and scalability that are required for each use case.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Together with purpose-built data stores, use loosely coupled components so that you can use services that are designed for a targeted purpose and modify or scale them independently from each other. This greatly increases the flexibility of the infrastructure.</a:t>
            </a:r>
          </a:p>
        </p:txBody>
      </p:sp>
    </p:spTree>
    <p:custDataLst>
      <p:tags r:id="rId1"/>
    </p:custDataLst>
    <p:extLst>
      <p:ext uri="{BB962C8B-B14F-4D97-AF65-F5344CB8AC3E}">
        <p14:creationId xmlns:p14="http://schemas.microsoft.com/office/powerpoint/2010/main" val="1278595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68EC5A-6517-4CAF-BD53-D85C475D63F7}"/>
              </a:ext>
            </a:extLst>
          </p:cNvPr>
          <p:cNvSpPr>
            <a:spLocks noGrp="1"/>
          </p:cNvSpPr>
          <p:nvPr>
            <p:ph type="sldNum" sz="quarter" idx="12"/>
          </p:nvPr>
        </p:nvSpPr>
        <p:spPr/>
        <p:txBody>
          <a:bodyPr/>
          <a:lstStyle/>
          <a:p>
            <a:fld id="{363DB862-5E2B-42BB-8337-D46E9881345F}" type="slidenum">
              <a:rPr lang="en-US" smtClean="0"/>
              <a:t>17</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Unify</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rgbClr val="9E1F63"/>
          </a:solidFill>
          <a:ln>
            <a:solidFill>
              <a:schemeClr val="accent5"/>
            </a:solidFill>
          </a:ln>
        </p:spPr>
        <p:txBody>
          <a:bodyPr/>
          <a:lstStyle/>
          <a:p>
            <a:r>
              <a:rPr lang="en-US" dirty="0"/>
              <a:t>Create a single source of truth</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a:xfrm>
            <a:off x="365759" y="1591056"/>
            <a:ext cx="9810627" cy="4854665"/>
          </a:xfrm>
        </p:spPr>
        <p:txBody>
          <a:bodyPr/>
          <a:lstStyle/>
          <a:p>
            <a:r>
              <a:rPr lang="en-US" dirty="0"/>
              <a:t>Break down data silos, unify data to create a single source of truth.</a:t>
            </a:r>
          </a:p>
          <a:p>
            <a:r>
              <a:rPr lang="en-US" dirty="0"/>
              <a:t>Democratize access, less depending on IT staff.</a:t>
            </a:r>
          </a:p>
          <a:p>
            <a:r>
              <a:rPr lang="en-US" dirty="0"/>
              <a:t>Equip users with tools to visualize their own insights.</a:t>
            </a:r>
          </a:p>
          <a:p>
            <a:r>
              <a:rPr lang="en-US" dirty="0"/>
              <a:t>Use a data lake and run queries directly on data.</a:t>
            </a:r>
          </a:p>
          <a:p>
            <a:r>
              <a:rPr lang="en-US" dirty="0"/>
              <a:t>Support simplified governance and movement between the data lake and purpose-built stores.</a:t>
            </a:r>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10206991" y="3160055"/>
            <a:ext cx="1619250" cy="1619250"/>
          </a:xfrm>
        </p:spPr>
      </p:pic>
    </p:spTree>
    <p:custDataLst>
      <p:tags r:id="rId1"/>
    </p:custDataLst>
    <p:extLst>
      <p:ext uri="{BB962C8B-B14F-4D97-AF65-F5344CB8AC3E}">
        <p14:creationId xmlns:p14="http://schemas.microsoft.com/office/powerpoint/2010/main" val="1405370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A6648B-F724-4110-A634-34D997274DB9}"/>
              </a:ext>
            </a:extLst>
          </p:cNvPr>
          <p:cNvSpPr>
            <a:spLocks noGrp="1"/>
          </p:cNvSpPr>
          <p:nvPr>
            <p:ph type="sldNum" sz="quarter" idx="12"/>
          </p:nvPr>
        </p:nvSpPr>
        <p:spPr/>
        <p:txBody>
          <a:bodyPr/>
          <a:lstStyle/>
          <a:p>
            <a:fld id="{363DB862-5E2B-42BB-8337-D46E9881345F}" type="slidenum">
              <a:rPr lang="en-US" smtClean="0"/>
              <a:t>18</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Innovate</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chemeClr val="accent1"/>
          </a:solidFill>
          <a:ln>
            <a:solidFill>
              <a:schemeClr val="accent1"/>
            </a:solidFill>
          </a:ln>
        </p:spPr>
        <p:txBody>
          <a:bodyPr/>
          <a:lstStyle/>
          <a:p>
            <a:r>
              <a:rPr lang="en-US" dirty="0"/>
              <a:t>Use AI and ML to discover new insights faster</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p:txBody>
          <a:bodyPr/>
          <a:lstStyle/>
          <a:p>
            <a:r>
              <a:rPr lang="en-US" dirty="0"/>
              <a:t>Incorporate AI/ML into decision-making, and tap into new insights in vast amounts of unstructured data. Move from reactive to proactive decision-making.</a:t>
            </a:r>
          </a:p>
          <a:p>
            <a:pPr lvl="1"/>
            <a:r>
              <a:rPr lang="en-US" sz="1600" dirty="0"/>
              <a:t>The exploding availability of data and the lower costs of applying AI make it possible to incorporate AI and ML into more decision-making. Organizations that take advantage of this can drive value in new ways and adapt to changing business needs more proactively.</a:t>
            </a:r>
            <a:endParaRPr lang="en-US" dirty="0"/>
          </a:p>
          <a:p>
            <a:r>
              <a:rPr lang="en-US" dirty="0"/>
              <a:t>Take advantage of cloud services with AI/ML features that democratize who can use ML.</a:t>
            </a:r>
          </a:p>
          <a:p>
            <a:pPr lvl="1"/>
            <a:r>
              <a:rPr lang="en-US" sz="1600" dirty="0"/>
              <a:t>One trend in AWS service features is an increasing ability to apply an AI/ML type of functionality, without as much overhead or required experience as more traditional ML infrastructures. For example, Amazon </a:t>
            </a:r>
            <a:r>
              <a:rPr lang="en-US" sz="1600" dirty="0" err="1"/>
              <a:t>SageMaker</a:t>
            </a:r>
            <a:r>
              <a:rPr lang="en-US" sz="1600" dirty="0"/>
              <a:t> Studio provides fully managed ML infrastructure and a no-code visual interface for business analysts. Amazon Redshift is a data warehouse service, and one of its features, Redshift ML, helps users to create, train, and deploy </a:t>
            </a:r>
            <a:r>
              <a:rPr lang="en-US" sz="1600" dirty="0" err="1"/>
              <a:t>SageMaker</a:t>
            </a:r>
            <a:r>
              <a:rPr lang="en-US" sz="1600" dirty="0"/>
              <a:t> models by using familiar SQL syntax.</a:t>
            </a:r>
            <a:endParaRPr lang="en-US" dirty="0"/>
          </a:p>
          <a:p>
            <a:endParaRPr lang="en-US" dirty="0"/>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9451975" y="3192463"/>
            <a:ext cx="1619250" cy="1619250"/>
          </a:xfrm>
        </p:spPr>
      </p:pic>
    </p:spTree>
    <p:custDataLst>
      <p:tags r:id="rId1"/>
    </p:custDataLst>
    <p:extLst>
      <p:ext uri="{BB962C8B-B14F-4D97-AF65-F5344CB8AC3E}">
        <p14:creationId xmlns:p14="http://schemas.microsoft.com/office/powerpoint/2010/main" val="2068767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BC16DC-14BF-4819-8314-8A20786C849C}"/>
              </a:ext>
            </a:extLst>
          </p:cNvPr>
          <p:cNvSpPr>
            <a:spLocks noGrp="1"/>
          </p:cNvSpPr>
          <p:nvPr>
            <p:ph type="title"/>
          </p:nvPr>
        </p:nvSpPr>
        <p:spPr>
          <a:xfrm>
            <a:off x="667750" y="1787236"/>
            <a:ext cx="9774108" cy="2121448"/>
          </a:xfrm>
        </p:spPr>
        <p:txBody>
          <a:bodyPr>
            <a:noAutofit/>
          </a:bodyPr>
          <a:lstStyle/>
          <a:p>
            <a:r>
              <a:rPr lang="en-US" sz="3200" dirty="0"/>
              <a:t>"Being a data-driven organization means culturally treating data as a </a:t>
            </a:r>
            <a:r>
              <a:rPr lang="en-US" sz="3200" dirty="0">
                <a:solidFill>
                  <a:srgbClr val="FF0000"/>
                </a:solidFill>
              </a:rPr>
              <a:t>strategic asset </a:t>
            </a:r>
            <a:r>
              <a:rPr lang="en-US" sz="3200" dirty="0"/>
              <a:t>and then building capabilities to put that asset to use – </a:t>
            </a:r>
            <a:r>
              <a:rPr lang="en-US" sz="3200" dirty="0">
                <a:solidFill>
                  <a:srgbClr val="F3E502"/>
                </a:solidFill>
              </a:rPr>
              <a:t>not just for big decisions but also for everyday action on the front line</a:t>
            </a:r>
            <a:r>
              <a:rPr lang="en-US" sz="3200" dirty="0"/>
              <a:t>."</a:t>
            </a:r>
          </a:p>
        </p:txBody>
      </p:sp>
      <p:sp>
        <p:nvSpPr>
          <p:cNvPr id="5" name="Text Placeholder 4">
            <a:extLst>
              <a:ext uri="{FF2B5EF4-FFF2-40B4-BE49-F238E27FC236}">
                <a16:creationId xmlns:a16="http://schemas.microsoft.com/office/drawing/2014/main" id="{B3E4A8F9-FDD4-41AE-AADD-0140B0C7F605}"/>
              </a:ext>
            </a:extLst>
          </p:cNvPr>
          <p:cNvSpPr>
            <a:spLocks noGrp="1"/>
          </p:cNvSpPr>
          <p:nvPr>
            <p:ph type="subTitle" idx="14"/>
          </p:nvPr>
        </p:nvSpPr>
        <p:spPr>
          <a:xfrm>
            <a:off x="666271" y="4738255"/>
            <a:ext cx="9340846" cy="1355841"/>
          </a:xfrm>
        </p:spPr>
        <p:txBody>
          <a:bodyPr/>
          <a:lstStyle/>
          <a:p>
            <a:r>
              <a:rPr lang="en-US" dirty="0"/>
              <a:t>Ishit Vachhrajani, AWS Enterprise Strategist</a:t>
            </a:r>
          </a:p>
        </p:txBody>
      </p:sp>
      <p:sp>
        <p:nvSpPr>
          <p:cNvPr id="3" name="Slide Number Placeholder 2">
            <a:extLst>
              <a:ext uri="{FF2B5EF4-FFF2-40B4-BE49-F238E27FC236}">
                <a16:creationId xmlns:a16="http://schemas.microsoft.com/office/drawing/2014/main" id="{E58F7309-D3C3-4A7B-8C1C-20D5A125CEBF}"/>
              </a:ext>
            </a:extLst>
          </p:cNvPr>
          <p:cNvSpPr>
            <a:spLocks noGrp="1"/>
          </p:cNvSpPr>
          <p:nvPr>
            <p:ph type="sldNum" sz="quarter" idx="10"/>
          </p:nvPr>
        </p:nvSpPr>
        <p:spPr/>
        <p:txBody>
          <a:bodyPr/>
          <a:lstStyle/>
          <a:p>
            <a:fld id="{363DB862-5E2B-42BB-8337-D46E9881345F}" type="slidenum">
              <a:rPr lang="en-US" smtClean="0"/>
              <a:pPr/>
              <a:t>19</a:t>
            </a:fld>
            <a:endParaRPr lang="en-US" dirty="0"/>
          </a:p>
        </p:txBody>
      </p:sp>
    </p:spTree>
    <p:custDataLst>
      <p:tags r:id="rId1"/>
    </p:custDataLst>
    <p:extLst>
      <p:ext uri="{BB962C8B-B14F-4D97-AF65-F5344CB8AC3E}">
        <p14:creationId xmlns:p14="http://schemas.microsoft.com/office/powerpoint/2010/main" val="3318095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20</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lstStyle/>
          <a:p>
            <a:r>
              <a:rPr lang="en-US" dirty="0"/>
              <a:t>Key takeaways: Modern data strategies</a:t>
            </a:r>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Organizations that want to become data driven should </a:t>
            </a:r>
            <a:r>
              <a:rPr lang="en-US" dirty="0">
                <a:solidFill>
                  <a:srgbClr val="FF0000"/>
                </a:solidFill>
              </a:rPr>
              <a:t>modernize, unify, and innovate </a:t>
            </a:r>
            <a:r>
              <a:rPr lang="en-US" dirty="0"/>
              <a:t>with their data infrastructures.</a:t>
            </a:r>
          </a:p>
          <a:p>
            <a:r>
              <a:rPr lang="en-US" dirty="0">
                <a:solidFill>
                  <a:srgbClr val="FF0000"/>
                </a:solidFill>
              </a:rPr>
              <a:t>Modernizing is about moving to cloud-based infrastructures and purpose-built services to reduce administrative and operational effort.</a:t>
            </a:r>
          </a:p>
          <a:p>
            <a:r>
              <a:rPr lang="en-US" dirty="0">
                <a:solidFill>
                  <a:srgbClr val="FF0000"/>
                </a:solidFill>
              </a:rPr>
              <a:t>Unifying is about creating a single source of truth for data and making the data available across the organization.</a:t>
            </a:r>
          </a:p>
          <a:p>
            <a:r>
              <a:rPr lang="en-US" dirty="0"/>
              <a:t>Innovating is about looking for new ways to find value in the data—specifically, applying AI and ML to find new insights.</a:t>
            </a:r>
          </a:p>
        </p:txBody>
      </p:sp>
      <p:pic>
        <p:nvPicPr>
          <p:cNvPr id="8" name="Content Placeholder 13">
            <a:extLst>
              <a:ext uri="{FF2B5EF4-FFF2-40B4-BE49-F238E27FC236}">
                <a16:creationId xmlns:a16="http://schemas.microsoft.com/office/drawing/2014/main" id="{0F7BD07C-1009-459B-8905-05F647FD5A5C}"/>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549783" y="2435225"/>
            <a:ext cx="3348610" cy="3657600"/>
          </a:xfrm>
        </p:spPr>
      </p:pic>
    </p:spTree>
    <p:custDataLst>
      <p:tags r:id="rId1"/>
    </p:custDataLst>
    <p:extLst>
      <p:ext uri="{BB962C8B-B14F-4D97-AF65-F5344CB8AC3E}">
        <p14:creationId xmlns:p14="http://schemas.microsoft.com/office/powerpoint/2010/main" val="398094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474184-7142-4729-BCE5-A7B82CFF49A3}"/>
              </a:ext>
            </a:extLst>
          </p:cNvPr>
          <p:cNvSpPr>
            <a:spLocks noGrp="1"/>
          </p:cNvSpPr>
          <p:nvPr>
            <p:ph type="title"/>
          </p:nvPr>
        </p:nvSpPr>
        <p:spPr/>
        <p:txBody>
          <a:bodyPr/>
          <a:lstStyle/>
          <a:p>
            <a:r>
              <a:rPr lang="en-US" dirty="0"/>
              <a:t>Module wrap-up</a:t>
            </a:r>
          </a:p>
        </p:txBody>
      </p:sp>
      <p:sp>
        <p:nvSpPr>
          <p:cNvPr id="7" name="Subtitle 6">
            <a:extLst>
              <a:ext uri="{FF2B5EF4-FFF2-40B4-BE49-F238E27FC236}">
                <a16:creationId xmlns:a16="http://schemas.microsoft.com/office/drawing/2014/main" id="{975628F3-D2E2-470F-A74D-05AF9321A222}"/>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3270937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4A1B25-3EEB-4F55-8AAF-C003F7769E50}"/>
              </a:ext>
            </a:extLst>
          </p:cNvPr>
          <p:cNvSpPr>
            <a:spLocks noGrp="1"/>
          </p:cNvSpPr>
          <p:nvPr>
            <p:ph type="sldNum" sz="quarter" idx="10"/>
          </p:nvPr>
        </p:nvSpPr>
        <p:spPr/>
        <p:txBody>
          <a:bodyPr/>
          <a:lstStyle/>
          <a:p>
            <a:fld id="{363DB862-5E2B-42BB-8337-D46E9881345F}" type="slidenum">
              <a:rPr lang="en-US" smtClean="0"/>
              <a:t>22</a:t>
            </a:fld>
            <a:endParaRPr lang="en-US" dirty="0"/>
          </a:p>
        </p:txBody>
      </p:sp>
      <p:sp>
        <p:nvSpPr>
          <p:cNvPr id="3" name="Title 2">
            <a:extLst>
              <a:ext uri="{FF2B5EF4-FFF2-40B4-BE49-F238E27FC236}">
                <a16:creationId xmlns:a16="http://schemas.microsoft.com/office/drawing/2014/main" id="{60D3CFE4-3665-4747-9810-A852E9A9624C}"/>
              </a:ext>
            </a:extLst>
          </p:cNvPr>
          <p:cNvSpPr>
            <a:spLocks noGrp="1"/>
          </p:cNvSpPr>
          <p:nvPr>
            <p:ph type="title"/>
          </p:nvPr>
        </p:nvSpPr>
        <p:spPr/>
        <p:txBody>
          <a:bodyPr/>
          <a:lstStyle/>
          <a:p>
            <a:r>
              <a:rPr lang="en-US" dirty="0"/>
              <a:t>Module summary</a:t>
            </a:r>
          </a:p>
        </p:txBody>
      </p:sp>
      <p:sp>
        <p:nvSpPr>
          <p:cNvPr id="6" name="Text Placeholder 5">
            <a:extLst>
              <a:ext uri="{FF2B5EF4-FFF2-40B4-BE49-F238E27FC236}">
                <a16:creationId xmlns:a16="http://schemas.microsoft.com/office/drawing/2014/main" id="{0B8E4784-7CEA-4846-AE67-E276715926FA}"/>
              </a:ext>
            </a:extLst>
          </p:cNvPr>
          <p:cNvSpPr>
            <a:spLocks noGrp="1"/>
          </p:cNvSpPr>
          <p:nvPr>
            <p:ph type="body" idx="1"/>
          </p:nvPr>
        </p:nvSpPr>
        <p:spPr/>
        <p:txBody>
          <a:bodyPr/>
          <a:lstStyle/>
          <a:p>
            <a:pPr marL="0" indent="0">
              <a:spcAft>
                <a:spcPts val="1200"/>
              </a:spcAft>
              <a:buNone/>
            </a:pPr>
            <a:r>
              <a:rPr lang="en-US" dirty="0"/>
              <a:t>This module prepared you to do the following:</a:t>
            </a:r>
          </a:p>
          <a:p>
            <a:r>
              <a:rPr lang="en-US" dirty="0"/>
              <a:t>Compare and contrast how data analytics and AI/ML are applied to data-driven decision-making.</a:t>
            </a:r>
          </a:p>
          <a:p>
            <a:r>
              <a:rPr lang="en-US" dirty="0"/>
              <a:t>Name and describe each layer in a data pipeline.</a:t>
            </a:r>
          </a:p>
          <a:p>
            <a:r>
              <a:rPr lang="en-US" dirty="0"/>
              <a:t>List ways in which data is acted upon as it passes through a pipeline.</a:t>
            </a:r>
          </a:p>
          <a:p>
            <a:r>
              <a:rPr lang="en-US" dirty="0"/>
              <a:t>List responsibilities for data engineer roles and data scientist roles in processing data through a pipeline.</a:t>
            </a:r>
          </a:p>
          <a:p>
            <a:r>
              <a:rPr lang="en-US" dirty="0"/>
              <a:t>Define three modern data strategies that influence how you build your data infrastructure.</a:t>
            </a:r>
          </a:p>
        </p:txBody>
      </p:sp>
    </p:spTree>
    <p:custDataLst>
      <p:tags r:id="rId1"/>
    </p:custDataLst>
    <p:extLst>
      <p:ext uri="{BB962C8B-B14F-4D97-AF65-F5344CB8AC3E}">
        <p14:creationId xmlns:p14="http://schemas.microsoft.com/office/powerpoint/2010/main" val="2508318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048BAD-8E95-4C2F-817A-40E752258665}"/>
              </a:ext>
            </a:extLst>
          </p:cNvPr>
          <p:cNvSpPr>
            <a:spLocks noGrp="1"/>
          </p:cNvSpPr>
          <p:nvPr>
            <p:ph type="sldNum" sz="quarter" idx="20"/>
          </p:nvPr>
        </p:nvSpPr>
        <p:spPr/>
        <p:txBody>
          <a:bodyPr/>
          <a:lstStyle/>
          <a:p>
            <a:fld id="{363DB862-5E2B-42BB-8337-D46E9881345F}" type="slidenum">
              <a:rPr lang="en-US" smtClean="0"/>
              <a:t>23</a:t>
            </a:fld>
            <a:endParaRPr lang="en-US" dirty="0"/>
          </a:p>
        </p:txBody>
      </p:sp>
      <p:sp>
        <p:nvSpPr>
          <p:cNvPr id="5" name="Title 4">
            <a:extLst>
              <a:ext uri="{FF2B5EF4-FFF2-40B4-BE49-F238E27FC236}">
                <a16:creationId xmlns:a16="http://schemas.microsoft.com/office/drawing/2014/main" id="{30E2ADCF-E553-4066-968B-56D52C65E43A}"/>
              </a:ext>
            </a:extLst>
          </p:cNvPr>
          <p:cNvSpPr>
            <a:spLocks noGrp="1"/>
          </p:cNvSpPr>
          <p:nvPr>
            <p:ph type="ctrTitle"/>
          </p:nvPr>
        </p:nvSpPr>
        <p:spPr/>
        <p:txBody>
          <a:bodyPr/>
          <a:lstStyle/>
          <a:p>
            <a:r>
              <a:rPr lang="en-US" dirty="0"/>
              <a:t>Module knowledge check</a:t>
            </a:r>
          </a:p>
        </p:txBody>
      </p:sp>
      <p:pic>
        <p:nvPicPr>
          <p:cNvPr id="10" name="Content Placeholder 9">
            <a:extLst>
              <a:ext uri="{FF2B5EF4-FFF2-40B4-BE49-F238E27FC236}">
                <a16:creationId xmlns:a16="http://schemas.microsoft.com/office/drawing/2014/main" id="{01BCCE43-A6A8-49B9-BC4D-16C17AD67AE3}"/>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1411658" y="3044661"/>
            <a:ext cx="1624858" cy="2438728"/>
          </a:xfrm>
        </p:spPr>
      </p:pic>
      <p:sp>
        <p:nvSpPr>
          <p:cNvPr id="7" name="Text Placeholder 6">
            <a:extLst>
              <a:ext uri="{FF2B5EF4-FFF2-40B4-BE49-F238E27FC236}">
                <a16:creationId xmlns:a16="http://schemas.microsoft.com/office/drawing/2014/main" id="{FA143EC0-8A7F-4DD3-8445-CB0F5138A5C5}"/>
              </a:ext>
            </a:extLst>
          </p:cNvPr>
          <p:cNvSpPr>
            <a:spLocks noGrp="1"/>
          </p:cNvSpPr>
          <p:nvPr>
            <p:ph type="body" idx="1"/>
          </p:nvPr>
        </p:nvSpPr>
        <p:spPr/>
        <p:txBody>
          <a:bodyPr/>
          <a:lstStyle/>
          <a:p>
            <a:r>
              <a:rPr lang="en-US" dirty="0"/>
              <a:t>The knowledge check is delivered online within your course.</a:t>
            </a:r>
          </a:p>
          <a:p>
            <a:r>
              <a:rPr lang="en-US" dirty="0"/>
              <a:t>The knowledge check includes 10 questions that are based on material from the slides and slide notes.</a:t>
            </a:r>
          </a:p>
          <a:p>
            <a:r>
              <a:rPr lang="en-US" dirty="0"/>
              <a:t>You can retake the knowledge check as many times as you would like.</a:t>
            </a:r>
          </a:p>
        </p:txBody>
      </p:sp>
    </p:spTree>
    <p:custDataLst>
      <p:tags r:id="rId1"/>
    </p:custDataLst>
    <p:extLst>
      <p:ext uri="{BB962C8B-B14F-4D97-AF65-F5344CB8AC3E}">
        <p14:creationId xmlns:p14="http://schemas.microsoft.com/office/powerpoint/2010/main" val="1818896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AB12282-FDF0-4AA8-9BB0-321EA315B189}"/>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24</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61520" cy="1705178"/>
          </a:xfrm>
        </p:spPr>
        <p:txBody>
          <a:bodyPr>
            <a:noAutofit/>
          </a:bodyPr>
          <a:lstStyle/>
          <a:p>
            <a:r>
              <a:rPr lang="en-US" sz="1600" dirty="0"/>
              <a:t>A traditional retailer with a relatively small online presence recently decided that they need to expand their online presence to increase sales. After a major marketing push and investing in IT infrastructure to support increased online transactions, quarterly results show that online sales results are far below expectations. The business wants to find ways to improve the poor online sales performance.</a:t>
            </a:r>
          </a:p>
          <a:p>
            <a:r>
              <a:rPr lang="en-US" sz="1600" dirty="0"/>
              <a:t>Which action represents an appropriate first step to address the request in a data-driven way?</a:t>
            </a:r>
          </a:p>
        </p:txBody>
      </p:sp>
      <p:sp>
        <p:nvSpPr>
          <p:cNvPr id="22" name="Text Placeholder 3">
            <a:extLst>
              <a:ext uri="{FF2B5EF4-FFF2-40B4-BE49-F238E27FC236}">
                <a16:creationId xmlns:a16="http://schemas.microsoft.com/office/drawing/2014/main" id="{1BED0184-30B4-4AF4-B65A-3D9EF7132106}"/>
              </a:ext>
            </a:extLst>
          </p:cNvPr>
          <p:cNvSpPr txBox="1">
            <a:spLocks/>
          </p:cNvSpPr>
          <p:nvPr/>
        </p:nvSpPr>
        <p:spPr>
          <a:xfrm>
            <a:off x="1" y="2394128"/>
            <a:ext cx="12161520" cy="558729"/>
          </a:xfrm>
          <a:prstGeom prst="rect">
            <a:avLst/>
          </a:prstGeom>
          <a:noFill/>
        </p:spPr>
        <p:txBody>
          <a:bodyPr vert="horz" lIns="228600" tIns="182880" rIns="182880" bIns="0" rtlCol="0">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solidFill>
                  <a:schemeClr val="tx2"/>
                </a:solidFill>
              </a:rPr>
              <a:t>Identify the key words and phrases before continuing.</a:t>
            </a:r>
          </a:p>
        </p:txBody>
      </p:sp>
      <p:sp>
        <p:nvSpPr>
          <p:cNvPr id="23" name="Text Placeholder 3">
            <a:extLst>
              <a:ext uri="{FF2B5EF4-FFF2-40B4-BE49-F238E27FC236}">
                <a16:creationId xmlns:a16="http://schemas.microsoft.com/office/drawing/2014/main" id="{E79CAD48-6194-4ACE-BB60-4D876274A1D3}"/>
              </a:ext>
            </a:extLst>
          </p:cNvPr>
          <p:cNvSpPr txBox="1">
            <a:spLocks/>
          </p:cNvSpPr>
          <p:nvPr/>
        </p:nvSpPr>
        <p:spPr>
          <a:xfrm>
            <a:off x="1" y="2952857"/>
            <a:ext cx="12161520" cy="2405743"/>
          </a:xfrm>
          <a:prstGeom prst="rect">
            <a:avLst/>
          </a:prstGeom>
          <a:noFill/>
        </p:spPr>
        <p:txBody>
          <a:bodyPr vert="horz" lIns="228600" tIns="182880" rIns="182880" bIns="0" rtlCol="0">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b="1" dirty="0">
                <a:solidFill>
                  <a:schemeClr val="tx2"/>
                </a:solidFill>
                <a:latin typeface="+mn-lt"/>
                <a:ea typeface="Amazon Ember Heavy" panose="020B0803020204020204" pitchFamily="34" charset="0"/>
                <a:cs typeface="Amazon Ember Heavy" panose="020B0803020204020204" pitchFamily="34" charset="0"/>
              </a:rPr>
              <a:t>The following are the key words and phrases:</a:t>
            </a:r>
          </a:p>
          <a:p>
            <a:pPr marL="285750" indent="-285750">
              <a:buFont typeface="Arial" panose="020B0604020202020204" pitchFamily="34" charset="0"/>
              <a:buChar char="•"/>
            </a:pPr>
            <a:r>
              <a:rPr lang="en-US" b="1" dirty="0">
                <a:solidFill>
                  <a:schemeClr val="tx2"/>
                </a:solidFill>
                <a:latin typeface="+mn-lt"/>
              </a:rPr>
              <a:t>Improve online sales</a:t>
            </a:r>
            <a:endParaRPr lang="en-US" dirty="0">
              <a:solidFill>
                <a:schemeClr val="tx2"/>
              </a:solidFill>
              <a:latin typeface="+mn-lt"/>
              <a:ea typeface="Amazon Ember Heavy" panose="020B0803020204020204" pitchFamily="34" charset="0"/>
              <a:cs typeface="Amazon Ember Heavy" panose="020B0803020204020204" pitchFamily="34" charset="0"/>
            </a:endParaRPr>
          </a:p>
          <a:p>
            <a:pPr marL="285750" indent="-285750">
              <a:buFont typeface="Arial" panose="020B0604020202020204" pitchFamily="34" charset="0"/>
              <a:buChar char="•"/>
            </a:pPr>
            <a:r>
              <a:rPr lang="en-US" dirty="0">
                <a:solidFill>
                  <a:schemeClr val="tx2"/>
                </a:solidFill>
                <a:latin typeface="+mn-lt"/>
                <a:ea typeface="Amazon Ember Heavy" panose="020B0803020204020204" pitchFamily="34" charset="0"/>
                <a:cs typeface="Amazon Ember Heavy" panose="020B0803020204020204" pitchFamily="34" charset="0"/>
              </a:rPr>
              <a:t>Appropriate </a:t>
            </a:r>
            <a:r>
              <a:rPr lang="en-US" b="1" dirty="0">
                <a:solidFill>
                  <a:schemeClr val="tx2"/>
                </a:solidFill>
                <a:latin typeface="+mn-lt"/>
                <a:ea typeface="Amazon Ember Heavy" panose="020B0803020204020204" pitchFamily="34" charset="0"/>
                <a:cs typeface="Amazon Ember Heavy" panose="020B0803020204020204" pitchFamily="34" charset="0"/>
              </a:rPr>
              <a:t>first step</a:t>
            </a:r>
          </a:p>
          <a:p>
            <a:pPr marL="285750" indent="-285750">
              <a:buFont typeface="Arial" panose="020B0604020202020204" pitchFamily="34" charset="0"/>
              <a:buChar char="•"/>
            </a:pPr>
            <a:r>
              <a:rPr lang="en-US" b="1" dirty="0">
                <a:solidFill>
                  <a:schemeClr val="tx2"/>
                </a:solidFill>
                <a:latin typeface="+mn-lt"/>
                <a:ea typeface="Amazon Ember Heavy" panose="020B0803020204020204" pitchFamily="34" charset="0"/>
                <a:cs typeface="Amazon Ember Heavy" panose="020B0803020204020204" pitchFamily="34" charset="0"/>
              </a:rPr>
              <a:t>Data-driven </a:t>
            </a:r>
            <a:r>
              <a:rPr lang="en-US" dirty="0">
                <a:solidFill>
                  <a:schemeClr val="tx2"/>
                </a:solidFill>
                <a:latin typeface="+mn-lt"/>
                <a:ea typeface="Amazon Ember Heavy" panose="020B0803020204020204" pitchFamily="34" charset="0"/>
                <a:cs typeface="Amazon Ember Heavy" panose="020B0803020204020204" pitchFamily="34" charset="0"/>
              </a:rPr>
              <a:t>way</a:t>
            </a:r>
          </a:p>
        </p:txBody>
      </p:sp>
    </p:spTree>
    <p:custDataLst>
      <p:tags r:id="rId1"/>
    </p:custDataLst>
    <p:extLst>
      <p:ext uri="{BB962C8B-B14F-4D97-AF65-F5344CB8AC3E}">
        <p14:creationId xmlns:p14="http://schemas.microsoft.com/office/powerpoint/2010/main" val="90479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4973A-0B31-42C9-9441-0999C712AE77}"/>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25</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 Response choices</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91998" cy="1729472"/>
          </a:xfrm>
        </p:spPr>
        <p:txBody>
          <a:bodyPr>
            <a:noAutofit/>
          </a:bodyPr>
          <a:lstStyle/>
          <a:p>
            <a:r>
              <a:rPr lang="en-US" sz="1600" dirty="0"/>
              <a:t>A traditional retailer with a relatively small online presence recently decided that they need to expand their online presence to increase sales. After a major marketing push and investing in IT infrastructure to support increased online transactions, quarterly results show that online sales results are far below expectations. The business wants to find ways to </a:t>
            </a:r>
            <a:r>
              <a:rPr lang="en-US" sz="1600" b="1" dirty="0"/>
              <a:t>improve the poor online sales </a:t>
            </a:r>
            <a:r>
              <a:rPr lang="en-US" sz="1600" dirty="0"/>
              <a:t>performance.</a:t>
            </a:r>
          </a:p>
          <a:p>
            <a:r>
              <a:rPr lang="en-US" sz="1600" dirty="0"/>
              <a:t>Which action represents an appropriate </a:t>
            </a:r>
            <a:r>
              <a:rPr lang="en-US" sz="1600" b="1" dirty="0"/>
              <a:t>first step</a:t>
            </a:r>
            <a:r>
              <a:rPr lang="en-US" sz="1600" dirty="0"/>
              <a:t> to address the request in a </a:t>
            </a:r>
            <a:r>
              <a:rPr lang="en-US" sz="1600" b="1" dirty="0"/>
              <a:t>data-driven way</a:t>
            </a:r>
            <a:r>
              <a:rPr lang="en-US" sz="1600" dirty="0"/>
              <a:t>?</a:t>
            </a:r>
          </a:p>
        </p:txBody>
      </p:sp>
      <p:grpSp>
        <p:nvGrpSpPr>
          <p:cNvPr id="6" name="Group choices and responses">
            <a:extLst>
              <a:ext uri="{FF2B5EF4-FFF2-40B4-BE49-F238E27FC236}">
                <a16:creationId xmlns:a16="http://schemas.microsoft.com/office/drawing/2014/main" id="{8B9194E8-1E8C-4845-A5AA-0A0C648DD869}"/>
              </a:ext>
            </a:extLst>
          </p:cNvPr>
          <p:cNvGrpSpPr/>
          <p:nvPr/>
        </p:nvGrpSpPr>
        <p:grpSpPr>
          <a:xfrm>
            <a:off x="0" y="2492562"/>
            <a:ext cx="12192000" cy="2977990"/>
            <a:chOff x="0" y="2492562"/>
            <a:chExt cx="12192000" cy="2977990"/>
          </a:xfrm>
        </p:grpSpPr>
        <p:sp>
          <p:nvSpPr>
            <p:cNvPr id="7" name="Choice Header">
              <a:extLst>
                <a:ext uri="{FF2B5EF4-FFF2-40B4-BE49-F238E27FC236}">
                  <a16:creationId xmlns:a16="http://schemas.microsoft.com/office/drawing/2014/main" id="{3E3755FE-66B5-49CC-855D-2AFAAF8A73A6}"/>
                </a:ext>
              </a:extLst>
            </p:cNvPr>
            <p:cNvSpPr txBox="1">
              <a:spLocks/>
            </p:cNvSpPr>
            <p:nvPr/>
          </p:nvSpPr>
          <p:spPr>
            <a:xfrm>
              <a:off x="0" y="2492562"/>
              <a:ext cx="887413" cy="317500"/>
            </a:xfrm>
            <a:prstGeom prst="rect">
              <a:avLst/>
            </a:prstGeom>
            <a:solidFill>
              <a:schemeClr val="accent2"/>
            </a:solidFill>
            <a:ln>
              <a:noFill/>
            </a:ln>
          </p:spPr>
          <p:txBody>
            <a:bodyPr lIns="0" rIns="0">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Choice</a:t>
              </a:r>
            </a:p>
          </p:txBody>
        </p:sp>
        <p:sp>
          <p:nvSpPr>
            <p:cNvPr id="8" name="Response Header">
              <a:extLst>
                <a:ext uri="{FF2B5EF4-FFF2-40B4-BE49-F238E27FC236}">
                  <a16:creationId xmlns:a16="http://schemas.microsoft.com/office/drawing/2014/main" id="{60558D72-BD1A-4B7D-9939-2FCA132FBF6D}"/>
                </a:ext>
              </a:extLst>
            </p:cNvPr>
            <p:cNvSpPr txBox="1">
              <a:spLocks/>
            </p:cNvSpPr>
            <p:nvPr/>
          </p:nvSpPr>
          <p:spPr>
            <a:xfrm>
              <a:off x="907950" y="2492562"/>
              <a:ext cx="11284050" cy="317500"/>
            </a:xfrm>
            <a:prstGeom prst="rect">
              <a:avLst/>
            </a:prstGeom>
            <a:solidFill>
              <a:schemeClr val="accent2"/>
            </a:solidFill>
            <a:ln>
              <a:noFill/>
            </a:ln>
          </p:spPr>
          <p:txBody>
            <a:bodyPr lIns="91440" rIns="0">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Response</a:t>
              </a:r>
            </a:p>
          </p:txBody>
        </p:sp>
        <p:sp>
          <p:nvSpPr>
            <p:cNvPr id="9" name="First Resp #">
              <a:extLst>
                <a:ext uri="{FF2B5EF4-FFF2-40B4-BE49-F238E27FC236}">
                  <a16:creationId xmlns:a16="http://schemas.microsoft.com/office/drawing/2014/main" id="{65A4A2A3-944B-4A39-AAC8-A3FA4ACE17D0}"/>
                </a:ext>
              </a:extLst>
            </p:cNvPr>
            <p:cNvSpPr txBox="1">
              <a:spLocks/>
            </p:cNvSpPr>
            <p:nvPr/>
          </p:nvSpPr>
          <p:spPr>
            <a:xfrm>
              <a:off x="1" y="2810026"/>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A</a:t>
              </a:r>
            </a:p>
          </p:txBody>
        </p:sp>
        <p:sp>
          <p:nvSpPr>
            <p:cNvPr id="10" name="First Resp Text">
              <a:extLst>
                <a:ext uri="{FF2B5EF4-FFF2-40B4-BE49-F238E27FC236}">
                  <a16:creationId xmlns:a16="http://schemas.microsoft.com/office/drawing/2014/main" id="{8EE2B018-D421-43B3-B700-1A833B27E6DF}"/>
                </a:ext>
              </a:extLst>
            </p:cNvPr>
            <p:cNvSpPr txBox="1">
              <a:spLocks/>
            </p:cNvSpPr>
            <p:nvPr/>
          </p:nvSpPr>
          <p:spPr>
            <a:xfrm>
              <a:off x="907950" y="2810026"/>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Develop an ML model that analyzes customer comments to determine where customers are unsatisfied.</a:t>
              </a:r>
            </a:p>
          </p:txBody>
        </p:sp>
        <p:sp>
          <p:nvSpPr>
            <p:cNvPr id="11" name="Second Resp #">
              <a:extLst>
                <a:ext uri="{FF2B5EF4-FFF2-40B4-BE49-F238E27FC236}">
                  <a16:creationId xmlns:a16="http://schemas.microsoft.com/office/drawing/2014/main" id="{0BCD2BF9-FDB8-4214-922C-6D75F9BC5A8D}"/>
                </a:ext>
              </a:extLst>
            </p:cNvPr>
            <p:cNvSpPr txBox="1">
              <a:spLocks/>
            </p:cNvSpPr>
            <p:nvPr/>
          </p:nvSpPr>
          <p:spPr>
            <a:xfrm>
              <a:off x="1" y="3483508"/>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B</a:t>
              </a:r>
            </a:p>
          </p:txBody>
        </p:sp>
        <p:sp>
          <p:nvSpPr>
            <p:cNvPr id="12" name="Second Resp Text">
              <a:extLst>
                <a:ext uri="{FF2B5EF4-FFF2-40B4-BE49-F238E27FC236}">
                  <a16:creationId xmlns:a16="http://schemas.microsoft.com/office/drawing/2014/main" id="{F41F4413-7F37-426A-8D49-D62F69440F7B}"/>
                </a:ext>
              </a:extLst>
            </p:cNvPr>
            <p:cNvSpPr txBox="1">
              <a:spLocks/>
            </p:cNvSpPr>
            <p:nvPr/>
          </p:nvSpPr>
          <p:spPr>
            <a:xfrm>
              <a:off x="907950" y="3483508"/>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A/B testing to provide some customers with a new UI that is designed to simplify the purchasing process. Then, compare sales results from the old and new UIs.</a:t>
              </a:r>
            </a:p>
          </p:txBody>
        </p:sp>
        <p:sp>
          <p:nvSpPr>
            <p:cNvPr id="13" name="Third Resp #">
              <a:extLst>
                <a:ext uri="{FF2B5EF4-FFF2-40B4-BE49-F238E27FC236}">
                  <a16:creationId xmlns:a16="http://schemas.microsoft.com/office/drawing/2014/main" id="{D3D9828D-2026-4471-8E3E-251D638B962F}"/>
                </a:ext>
              </a:extLst>
            </p:cNvPr>
            <p:cNvSpPr txBox="1">
              <a:spLocks/>
            </p:cNvSpPr>
            <p:nvPr/>
          </p:nvSpPr>
          <p:spPr>
            <a:xfrm>
              <a:off x="1" y="4156990"/>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C</a:t>
              </a:r>
            </a:p>
          </p:txBody>
        </p:sp>
        <p:sp>
          <p:nvSpPr>
            <p:cNvPr id="14" name="Third Resp Text">
              <a:extLst>
                <a:ext uri="{FF2B5EF4-FFF2-40B4-BE49-F238E27FC236}">
                  <a16:creationId xmlns:a16="http://schemas.microsoft.com/office/drawing/2014/main" id="{C77A67E1-7AFF-48EB-A76D-E090A7C28BB9}"/>
                </a:ext>
              </a:extLst>
            </p:cNvPr>
            <p:cNvSpPr txBox="1">
              <a:spLocks/>
            </p:cNvSpPr>
            <p:nvPr/>
          </p:nvSpPr>
          <p:spPr>
            <a:xfrm>
              <a:off x="907950" y="4156990"/>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 business intelligence (BI) tool to analyze sales data for the previous two quarters. Then, generate a hypothesis as to why the online sales are not in line with expectations.</a:t>
              </a:r>
            </a:p>
          </p:txBody>
        </p:sp>
        <p:sp>
          <p:nvSpPr>
            <p:cNvPr id="15" name="Fourth Resp #">
              <a:extLst>
                <a:ext uri="{FF2B5EF4-FFF2-40B4-BE49-F238E27FC236}">
                  <a16:creationId xmlns:a16="http://schemas.microsoft.com/office/drawing/2014/main" id="{4450AE74-48CE-4056-9DF0-FCAD15DA0510}"/>
                </a:ext>
              </a:extLst>
            </p:cNvPr>
            <p:cNvSpPr txBox="1">
              <a:spLocks/>
            </p:cNvSpPr>
            <p:nvPr/>
          </p:nvSpPr>
          <p:spPr>
            <a:xfrm>
              <a:off x="1" y="4830472"/>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D</a:t>
              </a:r>
            </a:p>
          </p:txBody>
        </p:sp>
        <p:sp>
          <p:nvSpPr>
            <p:cNvPr id="16" name="Fourth Resp Text">
              <a:extLst>
                <a:ext uri="{FF2B5EF4-FFF2-40B4-BE49-F238E27FC236}">
                  <a16:creationId xmlns:a16="http://schemas.microsoft.com/office/drawing/2014/main" id="{27F046F0-2E53-4A9E-8143-0C3117088354}"/>
                </a:ext>
              </a:extLst>
            </p:cNvPr>
            <p:cNvSpPr txBox="1">
              <a:spLocks/>
            </p:cNvSpPr>
            <p:nvPr/>
          </p:nvSpPr>
          <p:spPr>
            <a:xfrm>
              <a:off x="907950" y="4830472"/>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Analyze the total revenue per customer, and create customer segments that receive different types of offers based on their segment.</a:t>
              </a:r>
            </a:p>
          </p:txBody>
        </p:sp>
      </p:grpSp>
    </p:spTree>
    <p:custDataLst>
      <p:tags r:id="rId1"/>
    </p:custDataLst>
    <p:extLst>
      <p:ext uri="{BB962C8B-B14F-4D97-AF65-F5344CB8AC3E}">
        <p14:creationId xmlns:p14="http://schemas.microsoft.com/office/powerpoint/2010/main" val="2725213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21C522-C212-427C-9881-AC675D2F5697}"/>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26</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 Answer</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91998" cy="1729472"/>
          </a:xfrm>
        </p:spPr>
        <p:txBody>
          <a:bodyPr>
            <a:noAutofit/>
          </a:bodyPr>
          <a:lstStyle/>
          <a:p>
            <a:r>
              <a:rPr lang="en-US" sz="1600" dirty="0"/>
              <a:t>The correct answer is C. </a:t>
            </a:r>
          </a:p>
        </p:txBody>
      </p:sp>
      <p:grpSp>
        <p:nvGrpSpPr>
          <p:cNvPr id="6" name="Group choices and responses">
            <a:extLst>
              <a:ext uri="{FF2B5EF4-FFF2-40B4-BE49-F238E27FC236}">
                <a16:creationId xmlns:a16="http://schemas.microsoft.com/office/drawing/2014/main" id="{8B9194E8-1E8C-4845-A5AA-0A0C648DD869}"/>
              </a:ext>
            </a:extLst>
          </p:cNvPr>
          <p:cNvGrpSpPr/>
          <p:nvPr/>
        </p:nvGrpSpPr>
        <p:grpSpPr>
          <a:xfrm>
            <a:off x="0" y="2492562"/>
            <a:ext cx="12192000" cy="2304508"/>
            <a:chOff x="0" y="2492562"/>
            <a:chExt cx="12192000" cy="2304508"/>
          </a:xfrm>
        </p:grpSpPr>
        <p:sp>
          <p:nvSpPr>
            <p:cNvPr id="7" name="Choice Header">
              <a:extLst>
                <a:ext uri="{FF2B5EF4-FFF2-40B4-BE49-F238E27FC236}">
                  <a16:creationId xmlns:a16="http://schemas.microsoft.com/office/drawing/2014/main" id="{3E3755FE-66B5-49CC-855D-2AFAAF8A73A6}"/>
                </a:ext>
              </a:extLst>
            </p:cNvPr>
            <p:cNvSpPr txBox="1">
              <a:spLocks/>
            </p:cNvSpPr>
            <p:nvPr/>
          </p:nvSpPr>
          <p:spPr>
            <a:xfrm>
              <a:off x="0" y="2492562"/>
              <a:ext cx="887413" cy="317500"/>
            </a:xfrm>
            <a:prstGeom prst="rect">
              <a:avLst/>
            </a:prstGeom>
            <a:solidFill>
              <a:schemeClr val="accent2"/>
            </a:solidFill>
            <a:ln>
              <a:noFill/>
            </a:ln>
          </p:spPr>
          <p:txBody>
            <a:bodyPr lIns="0" rIns="0">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Choice</a:t>
              </a:r>
            </a:p>
          </p:txBody>
        </p:sp>
        <p:sp>
          <p:nvSpPr>
            <p:cNvPr id="8" name="Response Header">
              <a:extLst>
                <a:ext uri="{FF2B5EF4-FFF2-40B4-BE49-F238E27FC236}">
                  <a16:creationId xmlns:a16="http://schemas.microsoft.com/office/drawing/2014/main" id="{60558D72-BD1A-4B7D-9939-2FCA132FBF6D}"/>
                </a:ext>
              </a:extLst>
            </p:cNvPr>
            <p:cNvSpPr txBox="1">
              <a:spLocks/>
            </p:cNvSpPr>
            <p:nvPr/>
          </p:nvSpPr>
          <p:spPr>
            <a:xfrm>
              <a:off x="907950" y="2492562"/>
              <a:ext cx="11284050" cy="317500"/>
            </a:xfrm>
            <a:prstGeom prst="rect">
              <a:avLst/>
            </a:prstGeom>
            <a:solidFill>
              <a:schemeClr val="accent2"/>
            </a:solidFill>
            <a:ln>
              <a:noFill/>
            </a:ln>
          </p:spPr>
          <p:txBody>
            <a:bodyPr lIns="91440" rIns="0">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Response</a:t>
              </a:r>
            </a:p>
          </p:txBody>
        </p:sp>
        <p:sp>
          <p:nvSpPr>
            <p:cNvPr id="13" name="Third Resp #">
              <a:extLst>
                <a:ext uri="{FF2B5EF4-FFF2-40B4-BE49-F238E27FC236}">
                  <a16:creationId xmlns:a16="http://schemas.microsoft.com/office/drawing/2014/main" id="{D3D9828D-2026-4471-8E3E-251D638B962F}"/>
                </a:ext>
              </a:extLst>
            </p:cNvPr>
            <p:cNvSpPr txBox="1">
              <a:spLocks/>
            </p:cNvSpPr>
            <p:nvPr/>
          </p:nvSpPr>
          <p:spPr>
            <a:xfrm>
              <a:off x="1" y="4156990"/>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C</a:t>
              </a:r>
            </a:p>
          </p:txBody>
        </p:sp>
        <p:sp>
          <p:nvSpPr>
            <p:cNvPr id="14" name="Third Resp Text">
              <a:extLst>
                <a:ext uri="{FF2B5EF4-FFF2-40B4-BE49-F238E27FC236}">
                  <a16:creationId xmlns:a16="http://schemas.microsoft.com/office/drawing/2014/main" id="{C77A67E1-7AFF-48EB-A76D-E090A7C28BB9}"/>
                </a:ext>
              </a:extLst>
            </p:cNvPr>
            <p:cNvSpPr txBox="1">
              <a:spLocks/>
            </p:cNvSpPr>
            <p:nvPr/>
          </p:nvSpPr>
          <p:spPr>
            <a:xfrm>
              <a:off x="907950" y="4156990"/>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 business intelligence (BI) tool to analyze sales data for the previous two quarters. Then, generate a hypothesis as to why the online sales are not in line with expectations.</a:t>
              </a:r>
            </a:p>
          </p:txBody>
        </p:sp>
      </p:grpSp>
    </p:spTree>
    <p:custDataLst>
      <p:tags r:id="rId1"/>
    </p:custDataLst>
    <p:extLst>
      <p:ext uri="{BB962C8B-B14F-4D97-AF65-F5344CB8AC3E}">
        <p14:creationId xmlns:p14="http://schemas.microsoft.com/office/powerpoint/2010/main" val="2265557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TC-2022-ONEBRAND" val="yGLem5Ht"/>
  <p:tag name="ARTICULATE_DESIGN_ID_2_TC-2022-ONEBRAND" val="1VP7P7TR"/>
  <p:tag name="ARTICULATE_DESIGN_ID_1_TC-2022-ONEBRAND" val="iaDyUU6p"/>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2022-OneBrand" id="{D85F030C-8C8F-4415-B192-649216BDD928}" vid="{148CE638-F90D-4279-BD5C-0F02BBE424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TC-2022-OneBrand</Template>
  <TotalTime>26879</TotalTime>
  <Words>5611</Words>
  <Application>Microsoft Office PowerPoint</Application>
  <PresentationFormat>Widescreen</PresentationFormat>
  <Paragraphs>352</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Amazon Ember</vt:lpstr>
      <vt:lpstr>Amazon Ember Heavy</vt:lpstr>
      <vt:lpstr>Arial</vt:lpstr>
      <vt:lpstr>Calibri</vt:lpstr>
      <vt:lpstr>Lucida Console</vt:lpstr>
      <vt:lpstr>1_TC-2022-OneBrand</vt:lpstr>
      <vt:lpstr>AWS Academy Data Engineering</vt:lpstr>
      <vt:lpstr>Data-Driven Organizations</vt:lpstr>
      <vt:lpstr>The data pipeline – infrastructure for data-driven decisions</vt:lpstr>
      <vt:lpstr>A data pipeline in its simplest terms</vt:lpstr>
      <vt:lpstr>Work backwards to design your infrastructure</vt:lpstr>
      <vt:lpstr>Layers of the pipeline infrastructure</vt:lpstr>
      <vt:lpstr>Actions taken with data in the pipeline</vt:lpstr>
      <vt:lpstr>Iterative processing through the pipeline</vt:lpstr>
      <vt:lpstr>Example: A simple pipeline</vt:lpstr>
      <vt:lpstr>Key takeaways: The data pipeline – infrastructure for data-driven decisions</vt:lpstr>
      <vt:lpstr>The role of the data engineer  in data-driven organizations</vt:lpstr>
      <vt:lpstr>Common data pipeline questions</vt:lpstr>
      <vt:lpstr>Key takeaways: The role of the data engineer in data-driven organizations</vt:lpstr>
      <vt:lpstr>Modern data strategies</vt:lpstr>
      <vt:lpstr>Three-pronged strategy to build data infrastructure</vt:lpstr>
      <vt:lpstr>Modernize</vt:lpstr>
      <vt:lpstr>Unify</vt:lpstr>
      <vt:lpstr>Innovate</vt:lpstr>
      <vt:lpstr>"Being a data-driven organization means culturally treating data as a strategic asset and then building capabilities to put that asset to use – not just for big decisions but also for everyday action on the front line."</vt:lpstr>
      <vt:lpstr>Key takeaways: Modern data strategies</vt:lpstr>
      <vt:lpstr>Module wrap-up</vt:lpstr>
      <vt:lpstr>Module summary</vt:lpstr>
      <vt:lpstr>Module knowledge check</vt:lpstr>
      <vt:lpstr>Sample exam question</vt:lpstr>
      <vt:lpstr>Sample exam question: Response choices</vt:lpstr>
      <vt:lpstr>Sample exam question: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Academy Data Engineering</dc:title>
  <dc:creator>Raymond, Patty</dc:creator>
  <cp:lastModifiedBy>Mohammed Fasha</cp:lastModifiedBy>
  <cp:revision>626</cp:revision>
  <dcterms:created xsi:type="dcterms:W3CDTF">2022-02-21T17:12:34Z</dcterms:created>
  <dcterms:modified xsi:type="dcterms:W3CDTF">2025-04-05T18:51:51Z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1B9067DC-C585-4732-A227-FB3BF7346ACA</vt:lpwstr>
  </property>
  <property fmtid="{D5CDD505-2E9C-101B-9397-08002B2CF9AE}" pid="3" name="ArticulatePath">
    <vt:lpwstr>Presentation1</vt:lpwstr>
  </property>
</Properties>
</file>